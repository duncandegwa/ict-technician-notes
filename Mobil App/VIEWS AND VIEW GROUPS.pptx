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83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9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1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9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3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69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4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7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4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37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44B04-C6E5-4B2C-BB24-60A443E729BE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7426C-37BC-4E0F-B2C3-7943A848E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VIEWS AND VIEW GROUPS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 Android mobile application development, the </a:t>
            </a:r>
            <a:r>
              <a:rPr lang="en-US" b="1" dirty="0" smtClean="0"/>
              <a:t>user interface (UI)</a:t>
            </a:r>
            <a:r>
              <a:rPr lang="en-US" dirty="0" smtClean="0"/>
              <a:t> is built using </a:t>
            </a:r>
            <a:r>
              <a:rPr lang="en-US" b="1" dirty="0" smtClean="0"/>
              <a:t>Views</a:t>
            </a:r>
            <a:r>
              <a:rPr lang="en-US" dirty="0" smtClean="0"/>
              <a:t> and </a:t>
            </a:r>
            <a:r>
              <a:rPr lang="en-US" b="1" dirty="0" err="1" smtClean="0"/>
              <a:t>ViewGroups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They work together to display and arrange components on the screen.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6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View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 smtClean="0"/>
              <a:t>View</a:t>
            </a:r>
            <a:r>
              <a:rPr lang="en-US" dirty="0" smtClean="0"/>
              <a:t> is the </a:t>
            </a:r>
            <a:r>
              <a:rPr lang="en-US" b="1" dirty="0" smtClean="0"/>
              <a:t>basic building block of the Android UI</a:t>
            </a:r>
            <a:r>
              <a:rPr lang="en-US" dirty="0" smtClean="0"/>
              <a:t>. It represents a </a:t>
            </a:r>
            <a:r>
              <a:rPr lang="en-US" b="1" dirty="0" smtClean="0"/>
              <a:t>single visual component</a:t>
            </a:r>
            <a:r>
              <a:rPr lang="en-US" dirty="0" smtClean="0"/>
              <a:t> that users can see and interact with.</a:t>
            </a:r>
          </a:p>
          <a:p>
            <a:pPr marL="0" indent="0">
              <a:buNone/>
            </a:pPr>
            <a:r>
              <a:rPr lang="en-US" b="1" dirty="0" smtClean="0"/>
              <a:t>Key Characteristics of a View</a:t>
            </a:r>
          </a:p>
          <a:p>
            <a:r>
              <a:rPr lang="en-US" dirty="0" smtClean="0"/>
              <a:t>Occupies a </a:t>
            </a:r>
            <a:r>
              <a:rPr lang="en-US" b="1" dirty="0" smtClean="0"/>
              <a:t>rectangular area</a:t>
            </a:r>
            <a:r>
              <a:rPr lang="en-US" dirty="0" smtClean="0"/>
              <a:t> on the screen</a:t>
            </a:r>
          </a:p>
          <a:p>
            <a:r>
              <a:rPr lang="en-US" dirty="0" smtClean="0"/>
              <a:t>Can </a:t>
            </a:r>
            <a:r>
              <a:rPr lang="en-US" b="1" dirty="0" smtClean="0"/>
              <a:t>display content</a:t>
            </a:r>
            <a:r>
              <a:rPr lang="en-US" dirty="0" smtClean="0"/>
              <a:t> or </a:t>
            </a:r>
            <a:r>
              <a:rPr lang="en-US" b="1" dirty="0" smtClean="0"/>
              <a:t>receive user input</a:t>
            </a:r>
            <a:endParaRPr lang="en-US" dirty="0" smtClean="0"/>
          </a:p>
          <a:p>
            <a:r>
              <a:rPr lang="en-US" b="1" dirty="0" smtClean="0"/>
              <a:t>Cannot contain other views</a:t>
            </a:r>
            <a:endParaRPr lang="en-US" dirty="0" smtClean="0"/>
          </a:p>
          <a:p>
            <a:r>
              <a:rPr lang="en-US" dirty="0" smtClean="0"/>
              <a:t>Responds to user events such as clicks and touches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0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Common Types of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TextView</a:t>
            </a:r>
            <a:r>
              <a:rPr lang="en-US" dirty="0" smtClean="0"/>
              <a:t> – displays text</a:t>
            </a:r>
          </a:p>
          <a:p>
            <a:pPr marL="0" indent="0">
              <a:buNone/>
            </a:pPr>
            <a:r>
              <a:rPr lang="en-US" b="1" dirty="0" err="1" smtClean="0"/>
              <a:t>EditText</a:t>
            </a:r>
            <a:r>
              <a:rPr lang="en-US" dirty="0" smtClean="0"/>
              <a:t> – allows text input</a:t>
            </a:r>
          </a:p>
          <a:p>
            <a:pPr marL="0" indent="0">
              <a:buNone/>
            </a:pPr>
            <a:r>
              <a:rPr lang="en-US" b="1" dirty="0" smtClean="0"/>
              <a:t>Button</a:t>
            </a:r>
            <a:r>
              <a:rPr lang="en-US" dirty="0" smtClean="0"/>
              <a:t> – clickable button</a:t>
            </a:r>
          </a:p>
          <a:p>
            <a:pPr marL="0" indent="0">
              <a:buNone/>
            </a:pPr>
            <a:r>
              <a:rPr lang="en-US" b="1" dirty="0" err="1" smtClean="0"/>
              <a:t>ImageView</a:t>
            </a:r>
            <a:r>
              <a:rPr lang="en-US" dirty="0" smtClean="0"/>
              <a:t> – displays images</a:t>
            </a:r>
          </a:p>
          <a:p>
            <a:pPr marL="0" indent="0">
              <a:buNone/>
            </a:pPr>
            <a:r>
              <a:rPr lang="en-US" b="1" dirty="0" err="1" smtClean="0"/>
              <a:t>CheckBox</a:t>
            </a:r>
            <a:r>
              <a:rPr lang="en-US" dirty="0" smtClean="0"/>
              <a:t> – multiple selections</a:t>
            </a:r>
          </a:p>
          <a:p>
            <a:pPr marL="0" indent="0">
              <a:buNone/>
            </a:pPr>
            <a:r>
              <a:rPr lang="en-US" b="1" dirty="0" err="1" smtClean="0"/>
              <a:t>RadioButton</a:t>
            </a:r>
            <a:r>
              <a:rPr lang="en-US" dirty="0" smtClean="0"/>
              <a:t> – single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3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ViewGroup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 err="1" smtClean="0"/>
              <a:t>ViewGroup</a:t>
            </a:r>
            <a:r>
              <a:rPr lang="en-US" dirty="0" smtClean="0"/>
              <a:t> is a </a:t>
            </a:r>
            <a:r>
              <a:rPr lang="en-US" b="1" dirty="0" smtClean="0"/>
              <a:t>special type of View</a:t>
            </a:r>
            <a:r>
              <a:rPr lang="en-US" dirty="0" smtClean="0"/>
              <a:t> that acts as a </a:t>
            </a:r>
            <a:r>
              <a:rPr lang="en-US" b="1" dirty="0" smtClean="0"/>
              <a:t>container</a:t>
            </a:r>
            <a:r>
              <a:rPr lang="en-US" dirty="0" smtClean="0"/>
              <a:t> for other Views and </a:t>
            </a:r>
            <a:r>
              <a:rPr lang="en-US" dirty="0" err="1" smtClean="0"/>
              <a:t>ViewGroups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controls the </a:t>
            </a:r>
            <a:r>
              <a:rPr lang="en-US" b="1" dirty="0" smtClean="0"/>
              <a:t>layout and positioning</a:t>
            </a:r>
            <a:r>
              <a:rPr lang="en-US" dirty="0" smtClean="0"/>
              <a:t> of its child views.</a:t>
            </a:r>
          </a:p>
          <a:p>
            <a:pPr marL="0" indent="0">
              <a:buNone/>
            </a:pPr>
            <a:r>
              <a:rPr lang="en-US" b="1" dirty="0" smtClean="0"/>
              <a:t>Key Characteristics of a </a:t>
            </a:r>
            <a:r>
              <a:rPr lang="en-US" b="1" dirty="0" err="1" smtClean="0"/>
              <a:t>ViewGroup</a:t>
            </a:r>
            <a:endParaRPr lang="en-US" b="1" dirty="0" smtClean="0"/>
          </a:p>
          <a:p>
            <a:r>
              <a:rPr lang="en-US" dirty="0" smtClean="0"/>
              <a:t>Can </a:t>
            </a:r>
            <a:r>
              <a:rPr lang="en-US" b="1" dirty="0" smtClean="0"/>
              <a:t>contain multiple Views</a:t>
            </a:r>
            <a:endParaRPr lang="en-US" dirty="0" smtClean="0"/>
          </a:p>
          <a:p>
            <a:r>
              <a:rPr lang="en-US" dirty="0" smtClean="0"/>
              <a:t>Manages </a:t>
            </a:r>
            <a:r>
              <a:rPr lang="en-US" b="1" dirty="0" smtClean="0"/>
              <a:t>layout arrangement</a:t>
            </a:r>
            <a:endParaRPr lang="en-US" dirty="0" smtClean="0"/>
          </a:p>
          <a:p>
            <a:r>
              <a:rPr lang="en-US" dirty="0" smtClean="0"/>
              <a:t>Determines how child views appear on the screen</a:t>
            </a:r>
          </a:p>
          <a:p>
            <a:r>
              <a:rPr lang="en-US" dirty="0" smtClean="0"/>
              <a:t>Can be nested inside another </a:t>
            </a:r>
            <a:r>
              <a:rPr lang="en-US" dirty="0" err="1" smtClean="0"/>
              <a:t>ViewGroup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65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ViewGroup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Common Types of </a:t>
            </a:r>
            <a:r>
              <a:rPr lang="en-US" b="1" dirty="0" err="1" smtClean="0"/>
              <a:t>ViewGroups</a:t>
            </a:r>
            <a:r>
              <a:rPr lang="en-US" b="1" dirty="0" smtClean="0"/>
              <a:t> (Layouts)</a:t>
            </a:r>
          </a:p>
          <a:p>
            <a:r>
              <a:rPr lang="en-US" b="1" dirty="0" err="1" smtClean="0"/>
              <a:t>LinearLayout</a:t>
            </a:r>
            <a:r>
              <a:rPr lang="en-US" dirty="0" smtClean="0"/>
              <a:t> – arranges views vertically or horizontally</a:t>
            </a:r>
          </a:p>
          <a:p>
            <a:r>
              <a:rPr lang="en-US" b="1" dirty="0" err="1" smtClean="0"/>
              <a:t>RelativeLayout</a:t>
            </a:r>
            <a:r>
              <a:rPr lang="en-US" dirty="0" smtClean="0"/>
              <a:t> – positions views relative to others</a:t>
            </a:r>
          </a:p>
          <a:p>
            <a:r>
              <a:rPr lang="en-US" b="1" dirty="0" err="1" smtClean="0"/>
              <a:t>ConstraintLayout</a:t>
            </a:r>
            <a:r>
              <a:rPr lang="en-US" dirty="0" smtClean="0"/>
              <a:t> – uses constraints for flexible UI design</a:t>
            </a:r>
          </a:p>
          <a:p>
            <a:r>
              <a:rPr lang="en-US" b="1" dirty="0" err="1" smtClean="0"/>
              <a:t>FrameLayout</a:t>
            </a:r>
            <a:r>
              <a:rPr lang="en-US" dirty="0" smtClean="0"/>
              <a:t> – stacks views on top of each other</a:t>
            </a:r>
          </a:p>
          <a:p>
            <a:r>
              <a:rPr lang="en-US" b="1" dirty="0" err="1" smtClean="0"/>
              <a:t>GridLayout</a:t>
            </a:r>
            <a:r>
              <a:rPr lang="en-US" dirty="0" smtClean="0"/>
              <a:t> – arranges views in a grid</a:t>
            </a:r>
          </a:p>
          <a:p>
            <a:pPr marL="0" indent="0">
              <a:buNone/>
            </a:pPr>
            <a:r>
              <a:rPr lang="en-US" b="1" dirty="0" smtClean="0"/>
              <a:t>Examples of </a:t>
            </a:r>
            <a:r>
              <a:rPr lang="en-US" b="1" dirty="0" err="1" smtClean="0"/>
              <a:t>ViewGroup</a:t>
            </a:r>
            <a:r>
              <a:rPr lang="en-US" b="1" dirty="0" smtClean="0"/>
              <a:t> Usage</a:t>
            </a:r>
          </a:p>
          <a:p>
            <a:r>
              <a:rPr lang="en-US" dirty="0" smtClean="0"/>
              <a:t>Organizing a login screen</a:t>
            </a:r>
          </a:p>
          <a:p>
            <a:r>
              <a:rPr lang="en-US" dirty="0" smtClean="0"/>
              <a:t>Arranging buttons in a row</a:t>
            </a:r>
          </a:p>
        </p:txBody>
      </p:sp>
    </p:spTree>
    <p:extLst>
      <p:ext uri="{BB962C8B-B14F-4D97-AF65-F5344CB8AC3E}">
        <p14:creationId xmlns:p14="http://schemas.microsoft.com/office/powerpoint/2010/main" val="239723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</a:rPr>
              <a:t>ViewGroup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Common Types of </a:t>
            </a:r>
            <a:r>
              <a:rPr lang="en-US" b="1" dirty="0" err="1" smtClean="0"/>
              <a:t>ViewGroups</a:t>
            </a:r>
            <a:r>
              <a:rPr lang="en-US" b="1" dirty="0" smtClean="0"/>
              <a:t> (Layouts)</a:t>
            </a:r>
          </a:p>
          <a:p>
            <a:r>
              <a:rPr lang="en-US" b="1" dirty="0" err="1" smtClean="0"/>
              <a:t>LinearLayout</a:t>
            </a:r>
            <a:r>
              <a:rPr lang="en-US" dirty="0" smtClean="0"/>
              <a:t> – arranges views vertically or horizontally</a:t>
            </a:r>
          </a:p>
          <a:p>
            <a:r>
              <a:rPr lang="en-US" b="1" dirty="0" err="1" smtClean="0"/>
              <a:t>RelativeLayout</a:t>
            </a:r>
            <a:r>
              <a:rPr lang="en-US" dirty="0" smtClean="0"/>
              <a:t> – positions views relative to others</a:t>
            </a:r>
          </a:p>
          <a:p>
            <a:r>
              <a:rPr lang="en-US" b="1" dirty="0" err="1" smtClean="0"/>
              <a:t>ConstraintLayout</a:t>
            </a:r>
            <a:r>
              <a:rPr lang="en-US" dirty="0" smtClean="0"/>
              <a:t> – uses constraints for flexible UI design</a:t>
            </a:r>
          </a:p>
          <a:p>
            <a:r>
              <a:rPr lang="en-US" b="1" dirty="0" err="1" smtClean="0"/>
              <a:t>FrameLayout</a:t>
            </a:r>
            <a:r>
              <a:rPr lang="en-US" dirty="0" smtClean="0"/>
              <a:t> – stacks views on top of each other</a:t>
            </a:r>
          </a:p>
          <a:p>
            <a:r>
              <a:rPr lang="en-US" b="1" dirty="0" err="1" smtClean="0"/>
              <a:t>GridLayout</a:t>
            </a:r>
            <a:r>
              <a:rPr lang="en-US" dirty="0" smtClean="0"/>
              <a:t> – arranges views in a grid</a:t>
            </a:r>
          </a:p>
          <a:p>
            <a:pPr marL="0" indent="0">
              <a:buNone/>
            </a:pPr>
            <a:r>
              <a:rPr lang="en-US" b="1" dirty="0" smtClean="0"/>
              <a:t>Examples of </a:t>
            </a:r>
            <a:r>
              <a:rPr lang="en-US" b="1" dirty="0" err="1" smtClean="0"/>
              <a:t>ViewGroup</a:t>
            </a:r>
            <a:r>
              <a:rPr lang="en-US" b="1" dirty="0" smtClean="0"/>
              <a:t> Usage</a:t>
            </a:r>
          </a:p>
          <a:p>
            <a:r>
              <a:rPr lang="en-US" dirty="0" smtClean="0"/>
              <a:t>Organizing a login screen</a:t>
            </a:r>
          </a:p>
          <a:p>
            <a:r>
              <a:rPr lang="en-US" dirty="0" smtClean="0"/>
              <a:t>Arranging buttons in a row</a:t>
            </a:r>
          </a:p>
        </p:txBody>
      </p:sp>
    </p:spTree>
    <p:extLst>
      <p:ext uri="{BB962C8B-B14F-4D97-AF65-F5344CB8AC3E}">
        <p14:creationId xmlns:p14="http://schemas.microsoft.com/office/powerpoint/2010/main" val="245205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300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VIEWS AND VIEW GROUPS</vt:lpstr>
      <vt:lpstr>View</vt:lpstr>
      <vt:lpstr>Common Types of Views</vt:lpstr>
      <vt:lpstr>ViewGroup</vt:lpstr>
      <vt:lpstr>ViewGroup</vt:lpstr>
      <vt:lpstr>ViewGroup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VIEWS AND VIEW GROUPS</dc:title>
  <dc:creator>DUNCAN</dc:creator>
  <cp:lastModifiedBy>DUNCAN</cp:lastModifiedBy>
  <cp:revision>2</cp:revision>
  <dcterms:created xsi:type="dcterms:W3CDTF">2026-01-19T09:16:17Z</dcterms:created>
  <dcterms:modified xsi:type="dcterms:W3CDTF">2026-01-26T10:49:04Z</dcterms:modified>
</cp:coreProperties>
</file>