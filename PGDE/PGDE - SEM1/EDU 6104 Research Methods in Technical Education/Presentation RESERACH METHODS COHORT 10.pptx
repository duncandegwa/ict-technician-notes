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63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8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732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5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5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3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16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2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60147F-56C9-4326-820E-062EC64F04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3AAFDBA-C311-409F-99F0-B9D9AD8265F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12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426" y="371061"/>
            <a:ext cx="10082254" cy="12722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COHORT TEN ;EDU 6102 RESEARCH </a:t>
            </a:r>
            <a:r>
              <a:rPr lang="en-US" dirty="0" smtClean="0">
                <a:solidFill>
                  <a:srgbClr val="FF0000"/>
                </a:solidFill>
              </a:rPr>
              <a:t>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26" y="2107096"/>
            <a:ext cx="10082254" cy="3761998"/>
          </a:xfrm>
        </p:spPr>
        <p:txBody>
          <a:bodyPr>
            <a:normAutofit lnSpcReduction="10000"/>
          </a:bodyPr>
          <a:lstStyle/>
          <a:p>
            <a:r>
              <a:rPr lang="en-US" sz="4000" dirty="0"/>
              <a:t>Research in education as in other fields is a search for knowledge.  The course is therefore designed to give essential research skills </a:t>
            </a:r>
            <a:r>
              <a:rPr lang="en-US" sz="4000" dirty="0" smtClean="0"/>
              <a:t>to post </a:t>
            </a:r>
            <a:r>
              <a:rPr lang="en-US" sz="4000" dirty="0"/>
              <a:t>graduate students in order for them to obtain an active role in the conduct of research or desire to keep themselves abreast of new developments in education</a:t>
            </a:r>
          </a:p>
        </p:txBody>
      </p:sp>
    </p:spTree>
    <p:extLst>
      <p:ext uri="{BB962C8B-B14F-4D97-AF65-F5344CB8AC3E}">
        <p14:creationId xmlns:p14="http://schemas.microsoft.com/office/powerpoint/2010/main" val="53325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COURSE OBJECTIVES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4034"/>
            <a:ext cx="10515600" cy="4922929"/>
          </a:xfrm>
        </p:spPr>
        <p:txBody>
          <a:bodyPr>
            <a:normAutofit/>
          </a:bodyPr>
          <a:lstStyle/>
          <a:p>
            <a:r>
              <a:rPr lang="en-US" b="1" dirty="0"/>
              <a:t>By the end of the course, the student should be able to:</a:t>
            </a:r>
          </a:p>
          <a:p>
            <a:pPr lvl="0"/>
            <a:r>
              <a:rPr lang="en-US" sz="2800" dirty="0"/>
              <a:t>Explain the meaning and purpose of research in education.</a:t>
            </a:r>
          </a:p>
          <a:p>
            <a:pPr lvl="0"/>
            <a:r>
              <a:rPr lang="en-US" sz="2800" dirty="0"/>
              <a:t>Identify and clearly state an educational research problem.</a:t>
            </a:r>
          </a:p>
          <a:p>
            <a:pPr lvl="0"/>
            <a:r>
              <a:rPr lang="en-US" sz="2800" dirty="0"/>
              <a:t>Formulate objectives and hypotheses in educational research.</a:t>
            </a:r>
          </a:p>
          <a:p>
            <a:pPr lvl="0"/>
            <a:r>
              <a:rPr lang="en-US" sz="2800" dirty="0"/>
              <a:t>Design data collection instruments/tools.</a:t>
            </a:r>
          </a:p>
          <a:p>
            <a:pPr lvl="0"/>
            <a:r>
              <a:rPr lang="en-US" sz="2800" dirty="0"/>
              <a:t>Demonstrate ability to choose a theory that informs a study.</a:t>
            </a:r>
          </a:p>
          <a:p>
            <a:pPr lvl="0"/>
            <a:r>
              <a:rPr lang="en-US" sz="2800" dirty="0"/>
              <a:t>Demonstrate ability to choose an appropriate research design.</a:t>
            </a:r>
          </a:p>
          <a:p>
            <a:pPr lvl="0"/>
            <a:r>
              <a:rPr lang="en-US" sz="2800" dirty="0"/>
              <a:t>Use conventions governing educational research in developing a research proposal and in writing a research report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92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outcomes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By the end of the course, students will be able to:</a:t>
            </a:r>
          </a:p>
          <a:p>
            <a:pPr lvl="0"/>
            <a:r>
              <a:rPr lang="en-US" sz="3200" b="1" dirty="0"/>
              <a:t>Formulate a relevant research problem.</a:t>
            </a:r>
          </a:p>
          <a:p>
            <a:pPr lvl="0"/>
            <a:r>
              <a:rPr lang="en-US" sz="3200" b="1" dirty="0"/>
              <a:t>Construct a hypothesis in relation to the research problem.</a:t>
            </a:r>
          </a:p>
          <a:p>
            <a:pPr lvl="0"/>
            <a:r>
              <a:rPr lang="en-US" sz="3200" b="1" dirty="0"/>
              <a:t>Develop research objectives.</a:t>
            </a:r>
          </a:p>
          <a:p>
            <a:pPr lvl="0"/>
            <a:r>
              <a:rPr lang="en-US" sz="3200" b="1" dirty="0"/>
              <a:t>Select an appropriate research design.</a:t>
            </a:r>
          </a:p>
          <a:p>
            <a:pPr lvl="0"/>
            <a:r>
              <a:rPr lang="en-US" sz="3200" b="1" dirty="0"/>
              <a:t>Review literature related to a chosen topic.</a:t>
            </a:r>
          </a:p>
          <a:p>
            <a:pPr lvl="0"/>
            <a:r>
              <a:rPr lang="en-US" sz="1400" b="1" dirty="0" smtClean="0"/>
              <a:t>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4330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 </a:t>
            </a:r>
            <a:r>
              <a:rPr lang="en-US" dirty="0" err="1" smtClean="0"/>
              <a:t>cont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800" b="1" dirty="0"/>
              <a:t>Design research tools appropriate for an identified study.</a:t>
            </a:r>
          </a:p>
          <a:p>
            <a:pPr lvl="0"/>
            <a:r>
              <a:rPr lang="en-US" sz="2800" b="1" dirty="0"/>
              <a:t>Demonstrate an understanding of basic data generating methods and ethical procedures.</a:t>
            </a:r>
          </a:p>
          <a:p>
            <a:pPr lvl="0"/>
            <a:r>
              <a:rPr lang="en-US" sz="2800" b="1" dirty="0"/>
              <a:t>Demonstrate knowledge of basic data analysis methods.</a:t>
            </a:r>
          </a:p>
          <a:p>
            <a:pPr lvl="0"/>
            <a:r>
              <a:rPr lang="en-US" sz="2800" b="1" dirty="0"/>
              <a:t>Articulate the purpose of each component of a research proposal.</a:t>
            </a:r>
          </a:p>
          <a:p>
            <a:pPr lvl="0"/>
            <a:r>
              <a:rPr lang="en-US" sz="2800" b="1" dirty="0"/>
              <a:t>Use APA Style of writing appropriately. </a:t>
            </a:r>
          </a:p>
          <a:p>
            <a:pPr lvl="0"/>
            <a:r>
              <a:rPr lang="en-US" sz="2800" b="1" dirty="0"/>
              <a:t>Produce a research proposal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613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0"/>
            <a:ext cx="10175966" cy="184573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reasons why you need to take the course in 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GB" dirty="0"/>
              <a:t> 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REASONS FOR TAKING RESEARCH </a:t>
            </a:r>
            <a:r>
              <a:rPr lang="en-GB" smtClean="0"/>
              <a:t>METHODOLOGY COURSE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GB" sz="2400" b="1" dirty="0" smtClean="0"/>
              <a:t>To </a:t>
            </a:r>
            <a:r>
              <a:rPr lang="en-GB" sz="2400" b="1" dirty="0"/>
              <a:t>become "research literate." </a:t>
            </a:r>
            <a:endParaRPr lang="en-US" sz="2400" b="1" dirty="0"/>
          </a:p>
          <a:p>
            <a:pPr marL="0" indent="0">
              <a:buNone/>
            </a:pPr>
            <a:r>
              <a:rPr lang="en-GB" sz="2400" b="1" dirty="0"/>
              <a:t> </a:t>
            </a:r>
            <a:endParaRPr lang="en-US" sz="2400" b="1" dirty="0"/>
          </a:p>
          <a:p>
            <a:pPr marL="0" lvl="0" indent="0">
              <a:buNone/>
            </a:pPr>
            <a:r>
              <a:rPr lang="en-GB" sz="2400" b="1" dirty="0" smtClean="0"/>
              <a:t> </a:t>
            </a:r>
            <a:r>
              <a:rPr lang="en-GB" sz="2400" b="1" dirty="0"/>
              <a:t>we live in a society that's driven by research. </a:t>
            </a:r>
            <a:endParaRPr lang="en-US" sz="2400" b="1" dirty="0"/>
          </a:p>
          <a:p>
            <a:pPr marL="0" indent="0">
              <a:buNone/>
            </a:pPr>
            <a:r>
              <a:rPr lang="en-GB" sz="2400" b="1" dirty="0"/>
              <a:t> </a:t>
            </a:r>
            <a:endParaRPr lang="en-US" sz="2400" b="1" dirty="0"/>
          </a:p>
          <a:p>
            <a:pPr lvl="0"/>
            <a:r>
              <a:rPr lang="en-GB" sz="2400" b="1" dirty="0"/>
              <a:t>To improve your critical thinking skills. </a:t>
            </a:r>
            <a:endParaRPr lang="en-US" sz="2400" b="1" dirty="0"/>
          </a:p>
          <a:p>
            <a:pPr marL="0" indent="0">
              <a:buNone/>
            </a:pPr>
            <a:r>
              <a:rPr lang="en-GB" sz="2400" b="1" dirty="0"/>
              <a:t> </a:t>
            </a:r>
            <a:endParaRPr lang="en-US" sz="2400" b="1" dirty="0"/>
          </a:p>
          <a:p>
            <a:pPr lvl="0"/>
            <a:r>
              <a:rPr lang="en-GB" sz="2400" b="1" dirty="0"/>
              <a:t>To learn how to read and critically evaluate published research. 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lvl="0"/>
            <a:r>
              <a:rPr lang="en-GB" sz="2400" b="1" dirty="0"/>
              <a:t>To learn how to design and conduct research in case the need arises one day.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879767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</TotalTime>
  <Words>263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COHORT TEN ;EDU 6102 RESEARCH METHODS</vt:lpstr>
      <vt:lpstr>COURSE OBJECTIVES </vt:lpstr>
      <vt:lpstr>Learning outcomes </vt:lpstr>
      <vt:lpstr>Learning outcomes cont</vt:lpstr>
      <vt:lpstr>reasons why you need to take the course in                REASONS FOR TAKING RESEARCH METHODOLOGY COURSE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Dr. Gatembu</cp:lastModifiedBy>
  <cp:revision>10</cp:revision>
  <dcterms:created xsi:type="dcterms:W3CDTF">2022-06-23T08:42:11Z</dcterms:created>
  <dcterms:modified xsi:type="dcterms:W3CDTF">2025-11-12T12:20:39Z</dcterms:modified>
</cp:coreProperties>
</file>