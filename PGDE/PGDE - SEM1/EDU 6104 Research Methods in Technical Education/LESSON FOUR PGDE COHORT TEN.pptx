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1"/>
  </p:notesMasterIdLst>
  <p:sldIdLst>
    <p:sldId id="312" r:id="rId2"/>
    <p:sldId id="297" r:id="rId3"/>
    <p:sldId id="310" r:id="rId4"/>
    <p:sldId id="257" r:id="rId5"/>
    <p:sldId id="286" r:id="rId6"/>
    <p:sldId id="258" r:id="rId7"/>
    <p:sldId id="259" r:id="rId8"/>
    <p:sldId id="260" r:id="rId9"/>
    <p:sldId id="261" r:id="rId10"/>
    <p:sldId id="300" r:id="rId11"/>
    <p:sldId id="262" r:id="rId12"/>
    <p:sldId id="294" r:id="rId13"/>
    <p:sldId id="267" r:id="rId14"/>
    <p:sldId id="268" r:id="rId15"/>
    <p:sldId id="266" r:id="rId16"/>
    <p:sldId id="298" r:id="rId17"/>
    <p:sldId id="299" r:id="rId18"/>
    <p:sldId id="301" r:id="rId19"/>
    <p:sldId id="302" r:id="rId20"/>
    <p:sldId id="303" r:id="rId21"/>
    <p:sldId id="314" r:id="rId22"/>
    <p:sldId id="315" r:id="rId23"/>
    <p:sldId id="316" r:id="rId24"/>
    <p:sldId id="263" r:id="rId25"/>
    <p:sldId id="317" r:id="rId26"/>
    <p:sldId id="319" r:id="rId27"/>
    <p:sldId id="318" r:id="rId28"/>
    <p:sldId id="264" r:id="rId29"/>
    <p:sldId id="320" r:id="rId30"/>
    <p:sldId id="321" r:id="rId31"/>
    <p:sldId id="265" r:id="rId32"/>
    <p:sldId id="295" r:id="rId33"/>
    <p:sldId id="296" r:id="rId34"/>
    <p:sldId id="306" r:id="rId35"/>
    <p:sldId id="269" r:id="rId36"/>
    <p:sldId id="270" r:id="rId37"/>
    <p:sldId id="271" r:id="rId38"/>
    <p:sldId id="287" r:id="rId39"/>
    <p:sldId id="272" r:id="rId40"/>
    <p:sldId id="273" r:id="rId41"/>
    <p:sldId id="288" r:id="rId42"/>
    <p:sldId id="274" r:id="rId43"/>
    <p:sldId id="289" r:id="rId44"/>
    <p:sldId id="275" r:id="rId45"/>
    <p:sldId id="276" r:id="rId46"/>
    <p:sldId id="277" r:id="rId47"/>
    <p:sldId id="291" r:id="rId48"/>
    <p:sldId id="290" r:id="rId49"/>
    <p:sldId id="278" r:id="rId50"/>
    <p:sldId id="305" r:id="rId51"/>
    <p:sldId id="304" r:id="rId52"/>
    <p:sldId id="309" r:id="rId53"/>
    <p:sldId id="282" r:id="rId54"/>
    <p:sldId id="292" r:id="rId55"/>
    <p:sldId id="283" r:id="rId56"/>
    <p:sldId id="284" r:id="rId57"/>
    <p:sldId id="307" r:id="rId58"/>
    <p:sldId id="308" r:id="rId59"/>
    <p:sldId id="293" r:id="rId6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94654" autoAdjust="0"/>
  </p:normalViewPr>
  <p:slideViewPr>
    <p:cSldViewPr snapToGrid="0">
      <p:cViewPr varScale="1">
        <p:scale>
          <a:sx n="68" d="100"/>
          <a:sy n="68" d="100"/>
        </p:scale>
        <p:origin x="60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C67C65-E802-4C53-AB57-4D34B88765B3}" type="datetimeFigureOut">
              <a:rPr lang="en-US" smtClean="0"/>
              <a:t>11/22/2025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46515-D81E-44E6-8394-0E2370517DEF}" type="slidenum">
              <a:rPr lang="en-US" smtClean="0"/>
              <a:t>‹#›</a:t>
            </a:fld>
            <a:endParaRPr lang="en-US"/>
          </a:p>
        </p:txBody>
      </p:sp>
    </p:spTree>
    <p:extLst>
      <p:ext uri="{BB962C8B-B14F-4D97-AF65-F5344CB8AC3E}">
        <p14:creationId xmlns:p14="http://schemas.microsoft.com/office/powerpoint/2010/main" val="4204163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11/22/2025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RESEARCH METHODS </a:t>
            </a:r>
            <a:r>
              <a:rPr lang="en-US" b="1" smtClean="0"/>
              <a:t>LESSON 4 PGDE</a:t>
            </a:r>
            <a:endParaRPr lang="en-US" b="1" dirty="0"/>
          </a:p>
        </p:txBody>
      </p:sp>
      <p:sp>
        <p:nvSpPr>
          <p:cNvPr id="3" name="Content Placeholder 2"/>
          <p:cNvSpPr>
            <a:spLocks noGrp="1"/>
          </p:cNvSpPr>
          <p:nvPr>
            <p:ph idx="1"/>
          </p:nvPr>
        </p:nvSpPr>
        <p:spPr/>
        <p:txBody>
          <a:bodyPr/>
          <a:lstStyle/>
          <a:p>
            <a:endParaRPr lang="en-US" dirty="0" smtClean="0"/>
          </a:p>
          <a:p>
            <a:r>
              <a:rPr lang="en-US" sz="7200" b="1" dirty="0" smtClean="0"/>
              <a:t>RESEARCH PARADIGMS</a:t>
            </a:r>
            <a:endParaRPr lang="en-US" sz="7200" b="1" dirty="0"/>
          </a:p>
        </p:txBody>
      </p:sp>
    </p:spTree>
    <p:extLst>
      <p:ext uri="{BB962C8B-B14F-4D97-AF65-F5344CB8AC3E}">
        <p14:creationId xmlns:p14="http://schemas.microsoft.com/office/powerpoint/2010/main" val="3910161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1690688"/>
          </a:xfrm>
        </p:spPr>
        <p:txBody>
          <a:bodyPr/>
          <a:lstStyle/>
          <a:p>
            <a:r>
              <a:rPr lang="en-US" b="1" dirty="0" smtClean="0"/>
              <a:t>Expectations &amp;Learning outcomes</a:t>
            </a:r>
            <a:endParaRPr lang="en-US" b="1" dirty="0"/>
          </a:p>
        </p:txBody>
      </p:sp>
      <p:sp>
        <p:nvSpPr>
          <p:cNvPr id="3" name="Content Placeholder 2"/>
          <p:cNvSpPr>
            <a:spLocks noGrp="1"/>
          </p:cNvSpPr>
          <p:nvPr>
            <p:ph idx="1"/>
          </p:nvPr>
        </p:nvSpPr>
        <p:spPr>
          <a:xfrm>
            <a:off x="682171" y="1364342"/>
            <a:ext cx="10671629" cy="5355771"/>
          </a:xfrm>
        </p:spPr>
        <p:txBody>
          <a:bodyPr/>
          <a:lstStyle/>
          <a:p>
            <a:r>
              <a:rPr lang="en-US" sz="3200" b="1" dirty="0" smtClean="0"/>
              <a:t>Research paradigms</a:t>
            </a:r>
          </a:p>
          <a:p>
            <a:r>
              <a:rPr lang="en-US" sz="3200" b="1" dirty="0" smtClean="0"/>
              <a:t>Variables : meaning, types ,classification ,explanation</a:t>
            </a:r>
          </a:p>
          <a:p>
            <a:r>
              <a:rPr lang="en-US" sz="3200" b="1" dirty="0" smtClean="0"/>
              <a:t>Research design- Experimental, Non- experimental , Mixed Methods </a:t>
            </a:r>
          </a:p>
          <a:p>
            <a:r>
              <a:rPr lang="en-US" sz="3200" b="1" dirty="0" smtClean="0"/>
              <a:t>Take away revision questions </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624113"/>
          </a:xfrm>
        </p:spPr>
        <p:txBody>
          <a:bodyPr>
            <a:normAutofit fontScale="90000"/>
          </a:bodyPr>
          <a:lstStyle/>
          <a:p>
            <a:r>
              <a:rPr lang="en-GB" b="1" dirty="0" smtClean="0"/>
              <a:t>             Three </a:t>
            </a:r>
            <a:r>
              <a:rPr lang="en-GB" b="1" dirty="0"/>
              <a:t>Research Paradigms</a:t>
            </a:r>
            <a:endParaRPr lang="en-US" dirty="0"/>
          </a:p>
        </p:txBody>
      </p:sp>
      <p:sp>
        <p:nvSpPr>
          <p:cNvPr id="3" name="Content Placeholder 2"/>
          <p:cNvSpPr>
            <a:spLocks noGrp="1"/>
          </p:cNvSpPr>
          <p:nvPr>
            <p:ph idx="1"/>
          </p:nvPr>
        </p:nvSpPr>
        <p:spPr>
          <a:xfrm>
            <a:off x="754743" y="943428"/>
            <a:ext cx="10599057" cy="5921829"/>
          </a:xfrm>
        </p:spPr>
        <p:txBody>
          <a:bodyPr>
            <a:normAutofit fontScale="40000" lnSpcReduction="20000"/>
          </a:bodyPr>
          <a:lstStyle/>
          <a:p>
            <a:pPr marL="0" indent="0">
              <a:buNone/>
            </a:pPr>
            <a:r>
              <a:rPr lang="en-GB" sz="7400" dirty="0"/>
              <a:t>A paradigm is a perspective based on a set of assumptions, concepts, and values that are held by a community or researchers. </a:t>
            </a:r>
            <a:endParaRPr lang="en-US" sz="7400" dirty="0"/>
          </a:p>
          <a:p>
            <a:pPr marL="0" indent="0">
              <a:buNone/>
            </a:pPr>
            <a:endParaRPr lang="en-GB" sz="7400" dirty="0" smtClean="0"/>
          </a:p>
          <a:p>
            <a:pPr marL="0" indent="0">
              <a:buNone/>
            </a:pPr>
            <a:r>
              <a:rPr lang="en-GB" sz="7400" dirty="0" smtClean="0"/>
              <a:t>There </a:t>
            </a:r>
            <a:r>
              <a:rPr lang="en-GB" sz="7400" dirty="0"/>
              <a:t>are currently three major research paradigms. These are quantitative research, qualitative research, and mixed research. </a:t>
            </a:r>
            <a:endParaRPr lang="en-US" sz="7400" dirty="0"/>
          </a:p>
          <a:p>
            <a:pPr marL="0" indent="0">
              <a:buNone/>
            </a:pPr>
            <a:r>
              <a:rPr lang="en-GB" sz="7400" dirty="0"/>
              <a:t> </a:t>
            </a:r>
            <a:endParaRPr lang="en-US" sz="7400" dirty="0"/>
          </a:p>
          <a:p>
            <a:pPr lvl="0"/>
            <a:r>
              <a:rPr lang="en-GB" sz="7400" b="1" dirty="0"/>
              <a:t>Quantitative research</a:t>
            </a:r>
            <a:r>
              <a:rPr lang="en-GB" sz="7400" dirty="0"/>
              <a:t> – research that relies primarily on the collection of quantitative data based on precise measurement using structured and validated data collection instruments</a:t>
            </a:r>
            <a:endParaRPr lang="en-US" sz="7400" dirty="0"/>
          </a:p>
          <a:p>
            <a:pPr lvl="0"/>
            <a:r>
              <a:rPr lang="en-GB" sz="7400" b="1" dirty="0"/>
              <a:t>Qualitative research</a:t>
            </a:r>
            <a:r>
              <a:rPr lang="en-GB" sz="7400" dirty="0"/>
              <a:t> – research that relies on the collection of qualitative data e.g. in-depth interview, participant observation, field notes and open-ended questions.</a:t>
            </a:r>
            <a:endParaRPr lang="en-US" sz="7400" dirty="0"/>
          </a:p>
          <a:p>
            <a:pPr lvl="0"/>
            <a:r>
              <a:rPr lang="en-GB" sz="7400" b="1" dirty="0"/>
              <a:t>Mixed research</a:t>
            </a:r>
            <a:r>
              <a:rPr lang="en-GB" sz="7400" dirty="0"/>
              <a:t> – research that involves the mixing of quantitative and qualitative methods or paradigm characteristics. </a:t>
            </a:r>
            <a:endParaRPr lang="en-US" sz="7400" dirty="0"/>
          </a:p>
          <a:p>
            <a:r>
              <a:rPr lang="en-GB" dirty="0"/>
              <a:t> </a:t>
            </a:r>
            <a:endParaRPr lang="en-US" dirty="0"/>
          </a:p>
          <a:p>
            <a:r>
              <a:rPr lang="en-GB" dirty="0"/>
              <a:t> </a:t>
            </a:r>
            <a:endParaRPr lang="en-US" dirty="0"/>
          </a:p>
          <a:p>
            <a:endParaRPr lang="en-US" dirty="0"/>
          </a:p>
        </p:txBody>
      </p:sp>
    </p:spTree>
    <p:extLst>
      <p:ext uri="{BB962C8B-B14F-4D97-AF65-F5344CB8AC3E}">
        <p14:creationId xmlns:p14="http://schemas.microsoft.com/office/powerpoint/2010/main" val="527616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174" y="422275"/>
            <a:ext cx="11791949" cy="1325563"/>
          </a:xfrm>
        </p:spPr>
        <p:txBody>
          <a:bodyPr/>
          <a:lstStyle/>
          <a:p>
            <a:r>
              <a:rPr lang="en-US" dirty="0" smtClean="0"/>
              <a:t>                                </a:t>
            </a:r>
            <a:r>
              <a:rPr lang="en-US" b="1" dirty="0" smtClean="0"/>
              <a:t>VARIABLES</a:t>
            </a:r>
            <a:endParaRPr lang="en-US" b="1" dirty="0"/>
          </a:p>
        </p:txBody>
      </p:sp>
      <p:sp>
        <p:nvSpPr>
          <p:cNvPr id="3" name="Content Placeholder 2"/>
          <p:cNvSpPr>
            <a:spLocks noGrp="1"/>
          </p:cNvSpPr>
          <p:nvPr>
            <p:ph idx="1"/>
          </p:nvPr>
        </p:nvSpPr>
        <p:spPr>
          <a:xfrm>
            <a:off x="998620" y="1747838"/>
            <a:ext cx="10323095" cy="4300537"/>
          </a:xfrm>
        </p:spPr>
        <p:txBody>
          <a:bodyPr>
            <a:normAutofit/>
          </a:bodyPr>
          <a:lstStyle/>
          <a:p>
            <a:pPr>
              <a:buFont typeface="Wingdings" panose="05000000000000000000" pitchFamily="2" charset="2"/>
              <a:buChar char="v"/>
            </a:pPr>
            <a:r>
              <a:rPr lang="en-US" dirty="0" smtClean="0"/>
              <a:t>   The </a:t>
            </a:r>
            <a:r>
              <a:rPr lang="en-US" dirty="0"/>
              <a:t>term variable is derived </a:t>
            </a:r>
            <a:r>
              <a:rPr lang="en-US" dirty="0" smtClean="0"/>
              <a:t>from the word  variations which means differences (Kombo and </a:t>
            </a:r>
            <a:r>
              <a:rPr lang="en-US" dirty="0" err="1"/>
              <a:t>Delno</a:t>
            </a:r>
            <a:r>
              <a:rPr lang="en-US" dirty="0"/>
              <a:t>, 2009) </a:t>
            </a:r>
          </a:p>
          <a:p>
            <a:pPr>
              <a:buFont typeface="Wingdings" panose="05000000000000000000" pitchFamily="2" charset="2"/>
              <a:buChar char="v"/>
            </a:pPr>
            <a:r>
              <a:rPr lang="en-US" dirty="0"/>
              <a:t> </a:t>
            </a:r>
            <a:r>
              <a:rPr lang="en-US" dirty="0" smtClean="0"/>
              <a:t>Therefore a variable </a:t>
            </a:r>
            <a:r>
              <a:rPr lang="en-US" dirty="0"/>
              <a:t>is anything that varies or changes in value. </a:t>
            </a:r>
            <a:endParaRPr lang="en-US" dirty="0" smtClean="0"/>
          </a:p>
          <a:p>
            <a:pPr>
              <a:buFont typeface="Wingdings" panose="05000000000000000000" pitchFamily="2" charset="2"/>
              <a:buChar char="v"/>
            </a:pPr>
            <a:r>
              <a:rPr lang="en-US" dirty="0"/>
              <a:t> </a:t>
            </a:r>
            <a:r>
              <a:rPr lang="en-US" dirty="0" smtClean="0"/>
              <a:t>Variables </a:t>
            </a:r>
            <a:r>
              <a:rPr lang="en-US" dirty="0"/>
              <a:t>take on two or more values and represent an equality that can exhibit differences in value usually </a:t>
            </a:r>
            <a:r>
              <a:rPr lang="en-US" dirty="0" smtClean="0"/>
              <a:t>in magnitude </a:t>
            </a:r>
            <a:r>
              <a:rPr lang="en-US" dirty="0"/>
              <a:t>or strength. </a:t>
            </a:r>
            <a:endParaRPr lang="en-US" dirty="0" smtClean="0"/>
          </a:p>
          <a:p>
            <a:pPr>
              <a:buFont typeface="Wingdings" panose="05000000000000000000" pitchFamily="2" charset="2"/>
              <a:buChar char="v"/>
            </a:pPr>
            <a:r>
              <a:rPr lang="en-US" dirty="0" smtClean="0"/>
              <a:t>A </a:t>
            </a:r>
            <a:r>
              <a:rPr lang="en-US" dirty="0"/>
              <a:t>variable is a measureable characteristic (</a:t>
            </a:r>
            <a:r>
              <a:rPr lang="en-US" dirty="0" err="1"/>
              <a:t>Mugenda</a:t>
            </a:r>
            <a:r>
              <a:rPr lang="en-US" dirty="0"/>
              <a:t> &amp; </a:t>
            </a:r>
            <a:r>
              <a:rPr lang="en-US" dirty="0" err="1"/>
              <a:t>Mugenda</a:t>
            </a:r>
            <a:r>
              <a:rPr lang="en-US" dirty="0"/>
              <a:t>, 2003). It is that attribute or equality of the case we measure or </a:t>
            </a:r>
            <a:r>
              <a:rPr lang="en-US" dirty="0" smtClean="0"/>
              <a:t>record</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Variables </a:t>
            </a:r>
            <a:r>
              <a:rPr lang="en-US" dirty="0" err="1" smtClean="0"/>
              <a:t>cont</a:t>
            </a:r>
            <a:r>
              <a:rPr lang="en-US" dirty="0" smtClean="0"/>
              <a:t>…</a:t>
            </a:r>
            <a:endParaRPr lang="en-US" dirty="0"/>
          </a:p>
        </p:txBody>
      </p:sp>
      <p:sp>
        <p:nvSpPr>
          <p:cNvPr id="3" name="Content Placeholder 2"/>
          <p:cNvSpPr>
            <a:spLocks noGrp="1"/>
          </p:cNvSpPr>
          <p:nvPr>
            <p:ph idx="1"/>
          </p:nvPr>
        </p:nvSpPr>
        <p:spPr/>
        <p:txBody>
          <a:bodyPr/>
          <a:lstStyle/>
          <a:p>
            <a:r>
              <a:rPr lang="en-US" dirty="0" smtClean="0"/>
              <a:t>If </a:t>
            </a:r>
            <a:r>
              <a:rPr lang="en-US" dirty="0"/>
              <a:t>the cases are persons the variables could be height, weight, age, gender, level of empowerment etc.</a:t>
            </a:r>
          </a:p>
          <a:p>
            <a:r>
              <a:rPr lang="en-US" dirty="0"/>
              <a:t>The basic assumption is that the cases will vary in their scores on these attributes.</a:t>
            </a:r>
          </a:p>
          <a:p>
            <a:r>
              <a:rPr lang="en-US" dirty="0"/>
              <a:t>It terms of gender, variables can take two values, male or female</a:t>
            </a:r>
            <a:r>
              <a:rPr lang="en-US" dirty="0" smtClean="0"/>
              <a:t>.?</a:t>
            </a:r>
            <a:endParaRPr lang="en-US" dirty="0"/>
          </a:p>
          <a:p>
            <a:r>
              <a:rPr lang="en-US" dirty="0"/>
              <a:t>The person’s marital status variable and can take on values of married, unmarried, divorced, widowed etc. </a:t>
            </a:r>
          </a:p>
          <a:p>
            <a:r>
              <a:rPr lang="en-US" dirty="0"/>
              <a:t>Family income </a:t>
            </a:r>
            <a:r>
              <a:rPr lang="en-US" dirty="0" smtClean="0"/>
              <a:t>as  </a:t>
            </a:r>
            <a:r>
              <a:rPr lang="en-US" dirty="0"/>
              <a:t>a variable and can take on values from zero to billions of shillings and more.</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a:t>
            </a:r>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a:bodyPr>
          <a:lstStyle/>
          <a:p>
            <a:r>
              <a:rPr lang="en-US" dirty="0"/>
              <a:t>A variable is an observable characteristic of an object or event that can be described according to some well defined classification or measurement scheme.</a:t>
            </a:r>
          </a:p>
          <a:p>
            <a:r>
              <a:rPr lang="en-US" dirty="0"/>
              <a:t>Some variables are expressed quantitatively e.g. height in </a:t>
            </a:r>
            <a:r>
              <a:rPr lang="en-US" dirty="0" err="1"/>
              <a:t>CMS,age</a:t>
            </a:r>
            <a:r>
              <a:rPr lang="en-US" dirty="0"/>
              <a:t> in yeas, area in square </a:t>
            </a:r>
            <a:r>
              <a:rPr lang="en-US" dirty="0" err="1"/>
              <a:t>metres</a:t>
            </a:r>
            <a:r>
              <a:rPr lang="en-US" dirty="0"/>
              <a:t>.</a:t>
            </a:r>
          </a:p>
          <a:p>
            <a:r>
              <a:rPr lang="en-US" dirty="0"/>
              <a:t>Other variables are expressed in categories e.g. occupation – Teachers, farmers, nurses etc. Gender- male, </a:t>
            </a:r>
            <a:r>
              <a:rPr lang="en-US" dirty="0" smtClean="0"/>
              <a:t>female or </a:t>
            </a:r>
            <a:r>
              <a:rPr lang="en-US" dirty="0" err="1" smtClean="0"/>
              <a:t>Colour</a:t>
            </a:r>
            <a:r>
              <a:rPr lang="en-US" dirty="0" smtClean="0"/>
              <a:t> </a:t>
            </a:r>
            <a:r>
              <a:rPr lang="en-US" dirty="0"/>
              <a:t>green, red, white, yellow etc.</a:t>
            </a:r>
          </a:p>
          <a:p>
            <a:r>
              <a:rPr lang="en-US" dirty="0"/>
              <a:t>Some variables can be situation specific. For example gender in a class of only boys will not be considered as a variable.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Variables </a:t>
            </a:r>
            <a:r>
              <a:rPr lang="en-US" b="1" dirty="0" err="1" smtClean="0"/>
              <a:t>cont</a:t>
            </a:r>
            <a:r>
              <a:rPr lang="en-US" b="1" dirty="0" smtClean="0"/>
              <a:t>……</a:t>
            </a:r>
            <a:endParaRPr lang="en-US" b="1" dirty="0"/>
          </a:p>
        </p:txBody>
      </p:sp>
      <p:sp>
        <p:nvSpPr>
          <p:cNvPr id="3" name="Content Placeholder 2"/>
          <p:cNvSpPr>
            <a:spLocks noGrp="1"/>
          </p:cNvSpPr>
          <p:nvPr>
            <p:ph idx="1"/>
          </p:nvPr>
        </p:nvSpPr>
        <p:spPr/>
        <p:txBody>
          <a:bodyPr/>
          <a:lstStyle/>
          <a:p>
            <a:pPr marL="0" indent="0">
              <a:buNone/>
            </a:pPr>
            <a:endParaRPr lang="en-US" dirty="0" smtClean="0"/>
          </a:p>
          <a:p>
            <a:pPr marL="0" indent="0">
              <a:buNone/>
            </a:pPr>
            <a:r>
              <a:rPr lang="en-US" sz="3200" dirty="0" smtClean="0"/>
              <a:t>There </a:t>
            </a:r>
            <a:r>
              <a:rPr lang="en-US" sz="3200" dirty="0"/>
              <a:t>are </a:t>
            </a:r>
            <a:r>
              <a:rPr lang="en-US" sz="3200" dirty="0" smtClean="0"/>
              <a:t>variables </a:t>
            </a:r>
            <a:r>
              <a:rPr lang="en-US" sz="3200" dirty="0"/>
              <a:t>without an agreed standard measure. These include sadness, happiness, religiosity, </a:t>
            </a:r>
            <a:r>
              <a:rPr lang="en-US" sz="3200" dirty="0" smtClean="0"/>
              <a:t>satisfaction (Purity et al). </a:t>
            </a:r>
          </a:p>
          <a:p>
            <a:pPr marL="0" indent="0">
              <a:buNone/>
            </a:pPr>
            <a:endParaRPr lang="en-US" sz="3200" dirty="0" smtClean="0"/>
          </a:p>
          <a:p>
            <a:pPr marL="0" indent="0">
              <a:buNone/>
            </a:pPr>
            <a:r>
              <a:rPr lang="en-US" sz="3200" dirty="0" err="1" smtClean="0"/>
              <a:t>Kerlinger</a:t>
            </a:r>
            <a:r>
              <a:rPr lang="en-US" sz="3200" dirty="0" smtClean="0"/>
              <a:t> </a:t>
            </a:r>
            <a:r>
              <a:rPr lang="en-US" sz="3200" dirty="0"/>
              <a:t>(1973) refers to variables as the construct or properties being investigated</a:t>
            </a:r>
            <a:r>
              <a:rPr lang="en-U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Types of </a:t>
            </a:r>
            <a:r>
              <a:rPr lang="en-US" b="1" dirty="0"/>
              <a:t>variables</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 </a:t>
            </a:r>
            <a:r>
              <a:rPr lang="en-US" dirty="0" smtClean="0"/>
              <a:t>Various types of variables:-</a:t>
            </a:r>
            <a:endParaRPr lang="en-US" dirty="0"/>
          </a:p>
          <a:p>
            <a:pPr lvl="0">
              <a:buFont typeface="Wingdings" panose="05000000000000000000" pitchFamily="2" charset="2"/>
              <a:buChar char="v"/>
            </a:pPr>
            <a:r>
              <a:rPr lang="en-US" dirty="0"/>
              <a:t>D</a:t>
            </a:r>
            <a:r>
              <a:rPr lang="en-US" dirty="0" smtClean="0"/>
              <a:t>ependent</a:t>
            </a:r>
            <a:endParaRPr lang="en-US" dirty="0"/>
          </a:p>
          <a:p>
            <a:pPr lvl="0">
              <a:buFont typeface="Wingdings" panose="05000000000000000000" pitchFamily="2" charset="2"/>
              <a:buChar char="v"/>
            </a:pPr>
            <a:r>
              <a:rPr lang="en-US" dirty="0"/>
              <a:t>Independent         </a:t>
            </a:r>
          </a:p>
          <a:p>
            <a:pPr lvl="0">
              <a:buFont typeface="Wingdings" panose="05000000000000000000" pitchFamily="2" charset="2"/>
              <a:buChar char="v"/>
            </a:pPr>
            <a:r>
              <a:rPr lang="en-US" dirty="0" smtClean="0"/>
              <a:t>Control</a:t>
            </a:r>
            <a:endParaRPr lang="en-US" dirty="0"/>
          </a:p>
          <a:p>
            <a:pPr lvl="0">
              <a:buFont typeface="Wingdings" panose="05000000000000000000" pitchFamily="2" charset="2"/>
              <a:buChar char="v"/>
            </a:pPr>
            <a:r>
              <a:rPr lang="en-US" dirty="0"/>
              <a:t>Extraneous</a:t>
            </a:r>
          </a:p>
          <a:p>
            <a:pPr lvl="0">
              <a:buFont typeface="Wingdings" panose="05000000000000000000" pitchFamily="2" charset="2"/>
              <a:buChar char="v"/>
            </a:pPr>
            <a:r>
              <a:rPr lang="en-US" dirty="0" smtClean="0"/>
              <a:t>Intervening</a:t>
            </a:r>
            <a:endParaRPr lang="en-US" dirty="0"/>
          </a:p>
          <a:p>
            <a:pPr lvl="0">
              <a:buFont typeface="Wingdings" panose="05000000000000000000" pitchFamily="2" charset="2"/>
              <a:buChar char="v"/>
            </a:pPr>
            <a:r>
              <a:rPr lang="en-US" dirty="0"/>
              <a:t>Antecedent</a:t>
            </a:r>
          </a:p>
          <a:p>
            <a:pPr lvl="0">
              <a:buFont typeface="Wingdings" panose="05000000000000000000" pitchFamily="2" charset="2"/>
              <a:buChar char="v"/>
            </a:pPr>
            <a:r>
              <a:rPr lang="en-US" dirty="0"/>
              <a:t>Suppressor</a:t>
            </a:r>
          </a:p>
          <a:p>
            <a:pPr lvl="0">
              <a:buFont typeface="Wingdings" panose="05000000000000000000" pitchFamily="2" charset="2"/>
              <a:buChar char="v"/>
            </a:pPr>
            <a:r>
              <a:rPr lang="en-US" dirty="0"/>
              <a:t>Distorter</a:t>
            </a:r>
          </a:p>
          <a:p>
            <a:pPr lvl="0">
              <a:buFont typeface="Wingdings" panose="05000000000000000000" pitchFamily="2" charset="2"/>
              <a:buChar char="v"/>
            </a:pPr>
            <a:r>
              <a:rPr lang="en-US" dirty="0"/>
              <a:t>Exogenous and endogenous variables.</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35025"/>
          </a:xfrm>
        </p:spPr>
        <p:txBody>
          <a:bodyPr>
            <a:normAutofit/>
          </a:bodyPr>
          <a:lstStyle/>
          <a:p>
            <a:r>
              <a:rPr lang="en-US" sz="2400" b="1" dirty="0" smtClean="0"/>
              <a:t>                      </a:t>
            </a:r>
            <a:r>
              <a:rPr lang="en-US" sz="3200" b="1" dirty="0" smtClean="0"/>
              <a:t> Classification </a:t>
            </a:r>
            <a:r>
              <a:rPr lang="en-US" sz="3200" b="1" dirty="0"/>
              <a:t>of Variables and their examples</a:t>
            </a:r>
          </a:p>
        </p:txBody>
      </p:sp>
      <p:sp>
        <p:nvSpPr>
          <p:cNvPr id="3" name="Content Placeholder 2"/>
          <p:cNvSpPr>
            <a:spLocks noGrp="1"/>
          </p:cNvSpPr>
          <p:nvPr>
            <p:ph idx="1"/>
          </p:nvPr>
        </p:nvSpPr>
        <p:spPr>
          <a:xfrm>
            <a:off x="1117599" y="1511299"/>
            <a:ext cx="10619289" cy="5152548"/>
          </a:xfrm>
        </p:spPr>
        <p:txBody>
          <a:bodyPr>
            <a:normAutofit/>
          </a:bodyPr>
          <a:lstStyle/>
          <a:p>
            <a:pPr marL="0" lvl="0" indent="0">
              <a:buNone/>
            </a:pPr>
            <a:r>
              <a:rPr lang="en-GB" b="1" dirty="0" smtClean="0"/>
              <a:t>    1)By </a:t>
            </a:r>
            <a:r>
              <a:rPr lang="en-GB" b="1" dirty="0"/>
              <a:t>Level of measurement</a:t>
            </a:r>
            <a:endParaRPr lang="en-US" sz="1800" dirty="0"/>
          </a:p>
          <a:p>
            <a:pPr marL="0" indent="0">
              <a:buNone/>
            </a:pPr>
            <a:r>
              <a:rPr lang="en-GB" b="1" dirty="0"/>
              <a:t> </a:t>
            </a:r>
            <a:endParaRPr lang="en-US" dirty="0"/>
          </a:p>
          <a:p>
            <a:pPr lvl="1"/>
            <a:r>
              <a:rPr lang="en-GB" sz="2800" b="1" dirty="0"/>
              <a:t>Categorical variable</a:t>
            </a:r>
            <a:r>
              <a:rPr lang="en-GB" sz="2800" dirty="0"/>
              <a:t>: is a variable that is made up of different types </a:t>
            </a:r>
            <a:endParaRPr lang="en-GB" sz="2800" dirty="0" smtClean="0"/>
          </a:p>
          <a:p>
            <a:pPr marL="457200" lvl="1" indent="0">
              <a:buNone/>
            </a:pPr>
            <a:r>
              <a:rPr lang="en-GB" sz="2800" dirty="0"/>
              <a:t> </a:t>
            </a:r>
            <a:r>
              <a:rPr lang="en-GB" sz="2800" dirty="0" smtClean="0"/>
              <a:t>    or </a:t>
            </a:r>
            <a:r>
              <a:rPr lang="en-GB" sz="2800" dirty="0"/>
              <a:t>categories of a phenomenon e.g., the variable gender is made up of male and female</a:t>
            </a:r>
            <a:endParaRPr lang="en-US" sz="2800" dirty="0"/>
          </a:p>
          <a:p>
            <a:pPr marL="0" indent="0">
              <a:buNone/>
            </a:pPr>
            <a:r>
              <a:rPr lang="en-GB" dirty="0"/>
              <a:t> </a:t>
            </a:r>
            <a:endParaRPr lang="en-US" dirty="0"/>
          </a:p>
          <a:p>
            <a:pPr lvl="1"/>
            <a:r>
              <a:rPr lang="en-GB" sz="2800" b="1" dirty="0"/>
              <a:t>Quantitative variable</a:t>
            </a:r>
            <a:r>
              <a:rPr lang="en-GB" sz="2800" dirty="0"/>
              <a:t>: is a variable that varies in degree or amount of a phenomenon </a:t>
            </a:r>
            <a:endParaRPr lang="en-GB" sz="2800" dirty="0" smtClean="0"/>
          </a:p>
          <a:p>
            <a:pPr marL="457200" lvl="1" indent="0">
              <a:buNone/>
            </a:pPr>
            <a:r>
              <a:rPr lang="en-GB" sz="2800" dirty="0" smtClean="0"/>
              <a:t>    e.g</a:t>
            </a:r>
            <a:r>
              <a:rPr lang="en-GB" sz="2800" dirty="0"/>
              <a:t>., the </a:t>
            </a:r>
            <a:r>
              <a:rPr lang="en-GB" sz="2800" b="1" dirty="0"/>
              <a:t>variable annual income </a:t>
            </a:r>
            <a:r>
              <a:rPr lang="en-GB" sz="2800" dirty="0"/>
              <a:t>varies from zero to a very high income level.</a:t>
            </a:r>
            <a:endParaRPr lang="en-US" sz="2800" dirty="0"/>
          </a:p>
          <a:p>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r"/>
            <a:r>
              <a:rPr lang="en-US" dirty="0" smtClean="0"/>
              <a:t>Categorical </a:t>
            </a:r>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                                                        Dichotomous</a:t>
            </a:r>
          </a:p>
          <a:p>
            <a:pPr>
              <a:buFont typeface="Wingdings" panose="05000000000000000000" pitchFamily="2" charset="2"/>
              <a:buChar char="v"/>
            </a:pPr>
            <a:r>
              <a:rPr lang="en-US" b="1" dirty="0" smtClean="0"/>
              <a:t> </a:t>
            </a:r>
            <a:r>
              <a:rPr lang="en-US" dirty="0" smtClean="0"/>
              <a:t>Gender</a:t>
            </a:r>
            <a:r>
              <a:rPr lang="en-US" dirty="0"/>
              <a:t>: Male and </a:t>
            </a:r>
            <a:r>
              <a:rPr lang="en-US" dirty="0" smtClean="0"/>
              <a:t>female. </a:t>
            </a:r>
          </a:p>
          <a:p>
            <a:pPr>
              <a:buFont typeface="Wingdings" panose="05000000000000000000" pitchFamily="2" charset="2"/>
              <a:buChar char="v"/>
            </a:pPr>
            <a:r>
              <a:rPr lang="en-US" dirty="0" smtClean="0"/>
              <a:t>Type </a:t>
            </a:r>
            <a:r>
              <a:rPr lang="en-US" dirty="0"/>
              <a:t>of property: Commercial and residential </a:t>
            </a:r>
            <a:endParaRPr lang="en-US" dirty="0" smtClean="0"/>
          </a:p>
          <a:p>
            <a:pPr>
              <a:buFont typeface="Wingdings" panose="05000000000000000000" pitchFamily="2" charset="2"/>
              <a:buChar char="v"/>
            </a:pPr>
            <a:r>
              <a:rPr lang="en-US" dirty="0" smtClean="0"/>
              <a:t>Living  ;  Alive </a:t>
            </a:r>
            <a:r>
              <a:rPr lang="en-US" dirty="0"/>
              <a:t>and dead </a:t>
            </a:r>
            <a:r>
              <a:rPr lang="en-US" dirty="0" smtClean="0"/>
              <a:t>.</a:t>
            </a:r>
          </a:p>
          <a:p>
            <a:pPr>
              <a:buFont typeface="Wingdings" panose="05000000000000000000" pitchFamily="2" charset="2"/>
              <a:buChar char="v"/>
            </a:pPr>
            <a:r>
              <a:rPr lang="en-US" dirty="0" smtClean="0">
                <a:solidFill>
                  <a:srgbClr val="FF0000"/>
                </a:solidFill>
              </a:rPr>
              <a:t>HIV Status   ;  HIV positive </a:t>
            </a:r>
            <a:r>
              <a:rPr lang="en-US" dirty="0">
                <a:solidFill>
                  <a:srgbClr val="FF0000"/>
                </a:solidFill>
              </a:rPr>
              <a:t>and HIV negative </a:t>
            </a:r>
            <a:r>
              <a:rPr lang="en-US" dirty="0" smtClean="0">
                <a:solidFill>
                  <a:srgbClr val="FF0000"/>
                </a:solidFill>
              </a:rPr>
              <a:t>                      </a:t>
            </a:r>
            <a:r>
              <a:rPr lang="en-US" dirty="0" smtClean="0"/>
              <a:t>.                          </a:t>
            </a:r>
          </a:p>
          <a:p>
            <a:pPr>
              <a:buFont typeface="Wingdings" panose="05000000000000000000" pitchFamily="2" charset="2"/>
              <a:buChar char="v"/>
            </a:pPr>
            <a:r>
              <a:rPr lang="en-US" dirty="0" smtClean="0"/>
              <a:t>Education</a:t>
            </a:r>
            <a:r>
              <a:rPr lang="en-US" dirty="0"/>
              <a:t>: Literate and illiterate </a:t>
            </a:r>
            <a:endParaRPr lang="en-US" dirty="0" smtClean="0"/>
          </a:p>
          <a:p>
            <a:pPr marL="0" indent="0">
              <a:buNone/>
            </a:pPr>
            <a:r>
              <a:rPr lang="en-US" b="1" dirty="0" smtClean="0"/>
              <a:t>                        </a:t>
            </a:r>
            <a:r>
              <a:rPr lang="en-US" b="1" dirty="0" err="1" smtClean="0"/>
              <a:t>Trichotomous</a:t>
            </a:r>
            <a:r>
              <a:rPr lang="en-US" dirty="0" smtClean="0"/>
              <a:t> </a:t>
            </a:r>
          </a:p>
          <a:p>
            <a:pPr>
              <a:buFont typeface="Wingdings" panose="05000000000000000000" pitchFamily="2" charset="2"/>
              <a:buChar char="v"/>
            </a:pPr>
            <a:r>
              <a:rPr lang="en-US" dirty="0" smtClean="0"/>
              <a:t>   Residence</a:t>
            </a:r>
            <a:r>
              <a:rPr lang="en-US" dirty="0"/>
              <a:t>: Urban, semi urban and </a:t>
            </a:r>
            <a:r>
              <a:rPr lang="en-US" dirty="0" smtClean="0"/>
              <a:t>rural</a:t>
            </a:r>
          </a:p>
          <a:p>
            <a:pPr>
              <a:buFont typeface="Wingdings" panose="05000000000000000000" pitchFamily="2" charset="2"/>
              <a:buChar char="v"/>
            </a:pPr>
            <a:r>
              <a:rPr lang="en-US" dirty="0" smtClean="0"/>
              <a:t>   Religion</a:t>
            </a:r>
            <a:r>
              <a:rPr lang="en-US" dirty="0"/>
              <a:t>: Hindu, </a:t>
            </a:r>
            <a:r>
              <a:rPr lang="en-US" dirty="0" err="1"/>
              <a:t>muslim</a:t>
            </a:r>
            <a:r>
              <a:rPr lang="en-US" dirty="0"/>
              <a:t>, and Christianity. </a:t>
            </a:r>
            <a:endParaRPr lang="en-US" dirty="0" smtClean="0"/>
          </a:p>
          <a:p>
            <a:pPr>
              <a:buFont typeface="Wingdings" panose="05000000000000000000" pitchFamily="2" charset="2"/>
              <a:buChar char="v"/>
            </a:pPr>
            <a:r>
              <a:rPr lang="en-US" dirty="0" smtClean="0"/>
              <a:t>   Multiple </a:t>
            </a:r>
            <a:r>
              <a:rPr lang="en-US" dirty="0"/>
              <a:t>Blood groups: A,B,AB and O Variables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43225" y="384176"/>
            <a:ext cx="8477250" cy="1244600"/>
          </a:xfrm>
        </p:spPr>
        <p:txBody>
          <a:bodyPr>
            <a:normAutofit/>
          </a:bodyPr>
          <a:lstStyle/>
          <a:p>
            <a:r>
              <a:rPr lang="en-US" sz="3600" b="1" dirty="0" smtClean="0"/>
              <a:t>Classification of variables </a:t>
            </a:r>
            <a:r>
              <a:rPr lang="en-US" sz="3600" b="1" dirty="0" err="1" smtClean="0"/>
              <a:t>cont</a:t>
            </a:r>
            <a:r>
              <a:rPr lang="en-US" sz="3600" b="1" dirty="0" smtClean="0"/>
              <a:t>;</a:t>
            </a:r>
            <a:endParaRPr lang="en-US" sz="3600" b="1" dirty="0"/>
          </a:p>
        </p:txBody>
      </p:sp>
      <p:sp>
        <p:nvSpPr>
          <p:cNvPr id="3" name="Content Placeholder 2"/>
          <p:cNvSpPr>
            <a:spLocks noGrp="1"/>
          </p:cNvSpPr>
          <p:nvPr>
            <p:ph idx="1"/>
          </p:nvPr>
        </p:nvSpPr>
        <p:spPr>
          <a:xfrm>
            <a:off x="1002082" y="1628775"/>
            <a:ext cx="11094668" cy="4548187"/>
          </a:xfrm>
        </p:spPr>
        <p:txBody>
          <a:bodyPr>
            <a:normAutofit/>
          </a:bodyPr>
          <a:lstStyle/>
          <a:p>
            <a:endParaRPr lang="en-US" dirty="0" smtClean="0"/>
          </a:p>
          <a:p>
            <a:endParaRPr lang="en-US" dirty="0"/>
          </a:p>
          <a:p>
            <a:pPr marL="0" indent="0">
              <a:buNone/>
            </a:pPr>
            <a:r>
              <a:rPr lang="en-US" sz="4400" dirty="0" smtClean="0"/>
              <a:t>2)</a:t>
            </a:r>
            <a:r>
              <a:rPr lang="en-US" sz="4400" dirty="0"/>
              <a:t>	</a:t>
            </a:r>
            <a:r>
              <a:rPr lang="en-US" sz="3200" b="1" dirty="0"/>
              <a:t>By Role taken by the variable </a:t>
            </a:r>
            <a:r>
              <a:rPr lang="en-US" sz="3200" dirty="0"/>
              <a:t>- </a:t>
            </a:r>
            <a:r>
              <a:rPr lang="en-US" sz="3200" dirty="0" smtClean="0"/>
              <a:t>This are variables </a:t>
            </a:r>
            <a:r>
              <a:rPr lang="en-US" sz="3200" dirty="0"/>
              <a:t>we talk about when </a:t>
            </a:r>
            <a:r>
              <a:rPr lang="en-US" sz="3200" dirty="0" smtClean="0"/>
              <a:t>we </a:t>
            </a:r>
            <a:r>
              <a:rPr lang="en-US" sz="3200" dirty="0"/>
              <a:t>design a quantitative research study.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smtClean="0"/>
              <a:t>          Independent </a:t>
            </a:r>
            <a:r>
              <a:rPr lang="en-US" sz="5400" b="1" dirty="0"/>
              <a:t>variable</a:t>
            </a:r>
          </a:p>
        </p:txBody>
      </p:sp>
      <p:sp>
        <p:nvSpPr>
          <p:cNvPr id="3" name="Content Placeholder 2"/>
          <p:cNvSpPr>
            <a:spLocks noGrp="1"/>
          </p:cNvSpPr>
          <p:nvPr>
            <p:ph idx="1"/>
          </p:nvPr>
        </p:nvSpPr>
        <p:spPr/>
        <p:txBody>
          <a:bodyPr/>
          <a:lstStyle/>
          <a:p>
            <a:pPr marL="0" indent="0">
              <a:lnSpc>
                <a:spcPct val="150000"/>
              </a:lnSpc>
              <a:buNone/>
            </a:pPr>
            <a:r>
              <a:rPr lang="en-US" dirty="0" smtClean="0"/>
              <a:t>Independent </a:t>
            </a:r>
            <a:r>
              <a:rPr lang="en-US" dirty="0"/>
              <a:t>variable </a:t>
            </a:r>
            <a:r>
              <a:rPr lang="en-US" dirty="0" smtClean="0"/>
              <a:t>( </a:t>
            </a:r>
            <a:r>
              <a:rPr lang="en-US" dirty="0" err="1" smtClean="0"/>
              <a:t>Symbolised</a:t>
            </a:r>
            <a:r>
              <a:rPr lang="en-US" dirty="0" smtClean="0"/>
              <a:t> </a:t>
            </a:r>
            <a:r>
              <a:rPr lang="en-US" dirty="0"/>
              <a:t>as IV): is a variable that is presumed </a:t>
            </a:r>
            <a:r>
              <a:rPr lang="en-US" dirty="0">
                <a:solidFill>
                  <a:srgbClr val="FF0000"/>
                </a:solidFill>
              </a:rPr>
              <a:t>to cause changes </a:t>
            </a:r>
            <a:r>
              <a:rPr lang="en-US" dirty="0"/>
              <a:t>to occur in another variable, also known as causal variable e.g., the amount of studying by students in this course (IV) affects the test results they would obtain (DV). Another example would be smoking (IV) causes lung cancer (DV).</a:t>
            </a:r>
          </a:p>
          <a:p>
            <a:pPr>
              <a:lnSpc>
                <a:spcPct val="150000"/>
              </a:lnSpc>
            </a:pPr>
            <a:endParaRPr lang="en-US" dirty="0"/>
          </a:p>
          <a:p>
            <a:pPr>
              <a:lnSpc>
                <a:spcPct val="150000"/>
              </a:lnSpc>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Independent variable </a:t>
            </a:r>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r>
              <a:rPr lang="en-US" dirty="0" smtClean="0"/>
              <a:t>Independent variable according to Williams </a:t>
            </a:r>
            <a:r>
              <a:rPr lang="en-US" dirty="0"/>
              <a:t>&amp; </a:t>
            </a:r>
            <a:r>
              <a:rPr lang="en-US" dirty="0" err="1"/>
              <a:t>Monge</a:t>
            </a:r>
            <a:r>
              <a:rPr lang="en-US" dirty="0"/>
              <a:t> (</a:t>
            </a:r>
            <a:r>
              <a:rPr lang="en-US" dirty="0" smtClean="0"/>
              <a:t>2001 </a:t>
            </a:r>
            <a:r>
              <a:rPr lang="en-US" dirty="0"/>
              <a:t>is a phenomenon manipulated by a researcher and is predicted to have an effect on other </a:t>
            </a:r>
            <a:r>
              <a:rPr lang="en-US" dirty="0" smtClean="0"/>
              <a:t>phenomena</a:t>
            </a:r>
            <a:r>
              <a:rPr lang="en-US" dirty="0"/>
              <a:t>.</a:t>
            </a:r>
          </a:p>
          <a:p>
            <a:r>
              <a:rPr lang="en-US" dirty="0"/>
              <a:t>An independent variable also known as predictor or explanatory </a:t>
            </a:r>
            <a:r>
              <a:rPr lang="en-US" dirty="0" smtClean="0"/>
              <a:t>variable. It is </a:t>
            </a:r>
            <a:r>
              <a:rPr lang="en-US" dirty="0"/>
              <a:t>the variable that a researcher manipulates in order to determine its effect or influence on another variable (the dependent</a:t>
            </a:r>
            <a:r>
              <a:rPr lang="en-US" dirty="0" smtClean="0"/>
              <a:t>).</a:t>
            </a:r>
          </a:p>
          <a:p>
            <a:r>
              <a:rPr lang="en-US" dirty="0" smtClean="0"/>
              <a:t> </a:t>
            </a:r>
            <a:r>
              <a:rPr lang="en-US" dirty="0"/>
              <a:t>It’s the </a:t>
            </a:r>
            <a:r>
              <a:rPr lang="en-US" dirty="0" smtClean="0"/>
              <a:t>factor </a:t>
            </a:r>
            <a:r>
              <a:rPr lang="en-US" dirty="0"/>
              <a:t>that the researcher thinks explain variation in the other variable (dependent variable).</a:t>
            </a:r>
          </a:p>
          <a:p>
            <a:r>
              <a:rPr lang="en-US" dirty="0"/>
              <a:t>The independent variable is the cause  variable </a:t>
            </a:r>
            <a:endParaRPr lang="en-US" dirty="0" smtClean="0"/>
          </a:p>
          <a:p>
            <a:pPr marL="0" indent="0">
              <a:buNone/>
            </a:pPr>
            <a:r>
              <a:rPr lang="en-US" dirty="0" smtClean="0"/>
              <a:t>   </a:t>
            </a:r>
            <a:r>
              <a:rPr lang="en-US" dirty="0" err="1" smtClean="0"/>
              <a:t>Eg</a:t>
            </a:r>
            <a:r>
              <a:rPr lang="en-US" dirty="0" smtClean="0"/>
              <a:t>. Teaching method, Medical treatment </a:t>
            </a:r>
            <a:r>
              <a:rPr lang="en-US" dirty="0" err="1" smtClean="0"/>
              <a:t>etc</a:t>
            </a:r>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For example: Influence of various amount of fertilizer on potato yields. Amount of fertilizer is the measurement type of independent variable</a:t>
            </a:r>
          </a:p>
          <a:p>
            <a:r>
              <a:rPr lang="en-US" dirty="0" err="1"/>
              <a:t>Kerlinger</a:t>
            </a:r>
            <a:r>
              <a:rPr lang="en-US" dirty="0"/>
              <a:t> (1973) notes that if there is grouping in the study, the independent variable is the basis on which grouping is made.</a:t>
            </a:r>
          </a:p>
          <a:p>
            <a:r>
              <a:rPr lang="en-US" dirty="0" smtClean="0">
                <a:solidFill>
                  <a:srgbClr val="FF0000"/>
                </a:solidFill>
              </a:rPr>
              <a:t>Teacher motivation </a:t>
            </a:r>
            <a:r>
              <a:rPr lang="en-US" dirty="0" smtClean="0"/>
              <a:t>and </a:t>
            </a:r>
            <a:r>
              <a:rPr lang="en-US" dirty="0" smtClean="0">
                <a:solidFill>
                  <a:schemeClr val="accent1"/>
                </a:solidFill>
              </a:rPr>
              <a:t>students performance in mathematics</a:t>
            </a:r>
            <a:endParaRPr lang="en-US" dirty="0">
              <a:solidFill>
                <a:schemeClr val="accen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Dependent Variable</a:t>
            </a:r>
            <a:endParaRPr lang="en-US" dirty="0"/>
          </a:p>
        </p:txBody>
      </p:sp>
      <p:sp>
        <p:nvSpPr>
          <p:cNvPr id="3" name="Content Placeholder 2"/>
          <p:cNvSpPr>
            <a:spLocks noGrp="1"/>
          </p:cNvSpPr>
          <p:nvPr>
            <p:ph idx="1"/>
          </p:nvPr>
        </p:nvSpPr>
        <p:spPr/>
        <p:txBody>
          <a:bodyPr>
            <a:normAutofit/>
          </a:bodyPr>
          <a:lstStyle/>
          <a:p>
            <a:r>
              <a:rPr lang="en-US" dirty="0"/>
              <a:t>Dependent variable </a:t>
            </a:r>
            <a:r>
              <a:rPr lang="en-US" dirty="0" smtClean="0"/>
              <a:t>(Symbolized </a:t>
            </a:r>
            <a:r>
              <a:rPr lang="en-US" dirty="0"/>
              <a:t>as DV): is a variable that changes because of another variable, also known as the effect or outcome variable e.g., amount of studying by pupils in this course (IV) affects the test results they would obtain (DV) and smoking (IV) causes lung cancer (DV).</a:t>
            </a:r>
          </a:p>
          <a:p>
            <a:r>
              <a:rPr lang="en-US" dirty="0" smtClean="0"/>
              <a:t>The </a:t>
            </a:r>
            <a:r>
              <a:rPr lang="en-US" dirty="0"/>
              <a:t>dependent variable is also referred to as the criterion variable (</a:t>
            </a:r>
            <a:r>
              <a:rPr lang="en-US" dirty="0" err="1"/>
              <a:t>Mugenda</a:t>
            </a:r>
            <a:r>
              <a:rPr lang="en-US" dirty="0"/>
              <a:t> &amp; </a:t>
            </a:r>
            <a:r>
              <a:rPr lang="en-US" dirty="0" err="1"/>
              <a:t>Mugenda</a:t>
            </a:r>
            <a:r>
              <a:rPr lang="en-US" dirty="0"/>
              <a:t>, 2003) attempts to indicate the total influence arising from the effects of the independent variable.</a:t>
            </a:r>
          </a:p>
          <a:p>
            <a:r>
              <a:rPr lang="en-US" dirty="0"/>
              <a:t>The dependent variable is the outcome variable that the researcher attempts to predict.</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descr="Flowers Independent and Dependent Variable Exampl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19727" y="1731837"/>
            <a:ext cx="8710862" cy="48998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r>
              <a:rPr lang="en-US" dirty="0"/>
              <a:t> </a:t>
            </a:r>
            <a:r>
              <a:rPr lang="en-US" dirty="0" err="1" smtClean="0">
                <a:solidFill>
                  <a:srgbClr val="FF0000"/>
                </a:solidFill>
              </a:rPr>
              <a:t>E.g</a:t>
            </a:r>
            <a:r>
              <a:rPr lang="en-US" dirty="0" smtClean="0"/>
              <a:t> A  4</a:t>
            </a:r>
            <a:r>
              <a:rPr lang="en-US" baseline="30000" dirty="0" smtClean="0"/>
              <a:t>th</a:t>
            </a:r>
            <a:r>
              <a:rPr lang="en-US" dirty="0" smtClean="0"/>
              <a:t> year Student </a:t>
            </a:r>
            <a:r>
              <a:rPr lang="en-US" dirty="0"/>
              <a:t> </a:t>
            </a:r>
            <a:r>
              <a:rPr lang="en-US" dirty="0" smtClean="0"/>
              <a:t>Researcher from </a:t>
            </a:r>
            <a:r>
              <a:rPr lang="en-US" dirty="0" err="1" smtClean="0"/>
              <a:t>DeKUT</a:t>
            </a:r>
            <a:r>
              <a:rPr lang="en-US" dirty="0" smtClean="0"/>
              <a:t> wants </a:t>
            </a:r>
            <a:r>
              <a:rPr lang="en-US" dirty="0"/>
              <a:t>to know if </a:t>
            </a:r>
            <a:r>
              <a:rPr lang="en-US" u="sng" dirty="0"/>
              <a:t>education level </a:t>
            </a:r>
            <a:r>
              <a:rPr lang="en-US" u="sng" dirty="0" smtClean="0"/>
              <a:t>have an </a:t>
            </a:r>
            <a:r>
              <a:rPr lang="en-US" dirty="0" smtClean="0"/>
              <a:t>impact on how </a:t>
            </a:r>
            <a:r>
              <a:rPr lang="en-US" dirty="0"/>
              <a:t>much a person </a:t>
            </a:r>
            <a:r>
              <a:rPr lang="en-US" u="sng" dirty="0"/>
              <a:t>earns</a:t>
            </a:r>
            <a:r>
              <a:rPr lang="en-US" dirty="0"/>
              <a:t> in their job. </a:t>
            </a:r>
            <a:endParaRPr lang="en-US" dirty="0" smtClean="0"/>
          </a:p>
          <a:p>
            <a:r>
              <a:rPr lang="en-US" dirty="0" smtClean="0"/>
              <a:t>Therefore the 4</a:t>
            </a:r>
            <a:r>
              <a:rPr lang="en-US" baseline="30000" dirty="0" smtClean="0"/>
              <a:t>th</a:t>
            </a:r>
            <a:r>
              <a:rPr lang="en-US" dirty="0" smtClean="0"/>
              <a:t> student research is based on  </a:t>
            </a:r>
            <a:r>
              <a:rPr lang="en-US" dirty="0"/>
              <a:t>the amount of education a person has in their life to their current earnings.</a:t>
            </a:r>
          </a:p>
          <a:p>
            <a:r>
              <a:rPr lang="en-US" b="1" dirty="0" smtClean="0"/>
              <a:t>Variables are ;</a:t>
            </a:r>
          </a:p>
          <a:p>
            <a:r>
              <a:rPr lang="en-US" b="1" dirty="0"/>
              <a:t>I</a:t>
            </a:r>
            <a:r>
              <a:rPr lang="en-US" b="1" dirty="0" smtClean="0"/>
              <a:t>ndependent </a:t>
            </a:r>
            <a:r>
              <a:rPr lang="en-US" b="1" dirty="0"/>
              <a:t>variable </a:t>
            </a:r>
            <a:r>
              <a:rPr lang="en-US" dirty="0"/>
              <a:t>- highest level of educational attainment</a:t>
            </a:r>
          </a:p>
          <a:p>
            <a:endParaRPr lang="en-US" b="1" dirty="0" smtClean="0"/>
          </a:p>
          <a:p>
            <a:r>
              <a:rPr lang="en-US" b="1" dirty="0"/>
              <a:t>D</a:t>
            </a:r>
            <a:r>
              <a:rPr lang="en-US" b="1" dirty="0" smtClean="0"/>
              <a:t>ependent </a:t>
            </a:r>
            <a:r>
              <a:rPr lang="en-US" b="1" dirty="0"/>
              <a:t>variable</a:t>
            </a:r>
            <a:r>
              <a:rPr lang="en-US" dirty="0"/>
              <a:t> - earnings (salary or wages)</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err="1" smtClean="0">
                <a:solidFill>
                  <a:srgbClr val="FF0000"/>
                </a:solidFill>
              </a:rPr>
              <a:t>Eg</a:t>
            </a:r>
            <a:r>
              <a:rPr lang="en-US" dirty="0" smtClean="0"/>
              <a:t> .study </a:t>
            </a:r>
            <a:r>
              <a:rPr lang="en-US" dirty="0"/>
              <a:t>to test whether changes in room temperature have an effect on </a:t>
            </a:r>
            <a:r>
              <a:rPr lang="en-US" dirty="0" smtClean="0"/>
              <a:t>Engineering Drawing II </a:t>
            </a:r>
            <a:r>
              <a:rPr lang="en-US" dirty="0"/>
              <a:t>test scores</a:t>
            </a:r>
            <a:r>
              <a:rPr lang="en-US" dirty="0" smtClean="0"/>
              <a:t>.</a:t>
            </a:r>
            <a:r>
              <a:rPr lang="en-US" dirty="0"/>
              <a:t> </a:t>
            </a:r>
            <a:endParaRPr lang="en-US" dirty="0" smtClean="0"/>
          </a:p>
          <a:p>
            <a:pPr marL="0" indent="0">
              <a:buNone/>
            </a:pPr>
            <a:r>
              <a:rPr lang="en-US" b="1" dirty="0"/>
              <a:t>I</a:t>
            </a:r>
            <a:r>
              <a:rPr lang="en-US" b="1" dirty="0" smtClean="0"/>
              <a:t>ndependent </a:t>
            </a:r>
            <a:r>
              <a:rPr lang="en-US" b="1" dirty="0"/>
              <a:t>variable</a:t>
            </a:r>
            <a:r>
              <a:rPr lang="en-US" dirty="0"/>
              <a:t> is the temperature of the room. </a:t>
            </a:r>
            <a:r>
              <a:rPr lang="en-US" dirty="0" smtClean="0"/>
              <a:t> </a:t>
            </a:r>
            <a:r>
              <a:rPr lang="en-US" dirty="0"/>
              <a:t>V</a:t>
            </a:r>
            <a:r>
              <a:rPr lang="en-US" dirty="0" smtClean="0"/>
              <a:t>ary </a:t>
            </a:r>
            <a:r>
              <a:rPr lang="en-US" dirty="0"/>
              <a:t>the room temperature by making it cooler for half the participants, and warmer for the other half.</a:t>
            </a:r>
          </a:p>
          <a:p>
            <a:pPr marL="0" indent="0">
              <a:buNone/>
            </a:pPr>
            <a:r>
              <a:rPr lang="en-US" b="1" dirty="0"/>
              <a:t>D</a:t>
            </a:r>
            <a:r>
              <a:rPr lang="en-US" b="1" dirty="0" smtClean="0"/>
              <a:t>ependent </a:t>
            </a:r>
            <a:r>
              <a:rPr lang="en-US" b="1" dirty="0"/>
              <a:t>variable</a:t>
            </a:r>
            <a:r>
              <a:rPr lang="en-US" dirty="0"/>
              <a:t> </a:t>
            </a:r>
            <a:r>
              <a:rPr lang="en-US" dirty="0" smtClean="0"/>
              <a:t>is Engineering Drawing II scores. </a:t>
            </a:r>
            <a:r>
              <a:rPr lang="en-US" dirty="0"/>
              <a:t>You measure </a:t>
            </a:r>
            <a:r>
              <a:rPr lang="en-US" dirty="0" smtClean="0"/>
              <a:t>Engineering Drawing II skills </a:t>
            </a:r>
            <a:r>
              <a:rPr lang="en-US" dirty="0"/>
              <a:t>of all participants using a standardized test and check whether they differ based on room temperature</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1810941" y="1752726"/>
            <a:ext cx="7657912" cy="510527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lvl="0" indent="0">
              <a:buNone/>
            </a:pPr>
            <a:r>
              <a:rPr lang="en-US" dirty="0" err="1" smtClean="0">
                <a:solidFill>
                  <a:srgbClr val="FF0000"/>
                </a:solidFill>
              </a:rPr>
              <a:t>Eg</a:t>
            </a:r>
            <a:r>
              <a:rPr lang="en-US" dirty="0" err="1" smtClean="0"/>
              <a:t>.</a:t>
            </a:r>
            <a:r>
              <a:rPr lang="en-US" b="1" dirty="0" err="1" smtClean="0"/>
              <a:t>Sleep</a:t>
            </a:r>
            <a:r>
              <a:rPr lang="en-US" b="1" dirty="0" smtClean="0"/>
              <a:t> </a:t>
            </a:r>
            <a:r>
              <a:rPr lang="en-US" dirty="0"/>
              <a:t>the night before </a:t>
            </a:r>
            <a:r>
              <a:rPr lang="en-US" dirty="0" smtClean="0"/>
              <a:t>a Physics  </a:t>
            </a:r>
            <a:r>
              <a:rPr lang="en-US" dirty="0"/>
              <a:t>exam </a:t>
            </a:r>
            <a:r>
              <a:rPr lang="en-US" dirty="0" smtClean="0"/>
              <a:t>and effect on </a:t>
            </a:r>
            <a:r>
              <a:rPr lang="en-US" b="1" dirty="0" smtClean="0"/>
              <a:t>scores</a:t>
            </a:r>
            <a:r>
              <a:rPr lang="en-US" dirty="0" smtClean="0"/>
              <a:t> </a:t>
            </a:r>
            <a:r>
              <a:rPr lang="en-US" dirty="0"/>
              <a:t>in students? </a:t>
            </a:r>
          </a:p>
          <a:p>
            <a:pPr marL="0" lvl="0" indent="0">
              <a:buNone/>
            </a:pPr>
            <a:r>
              <a:rPr lang="en-US" b="1" dirty="0" smtClean="0"/>
              <a:t>Independent</a:t>
            </a:r>
            <a:r>
              <a:rPr lang="en-US" dirty="0" smtClean="0"/>
              <a:t> </a:t>
            </a:r>
            <a:r>
              <a:rPr lang="en-US" dirty="0"/>
              <a:t>variable is the amount of time slept (in hours), and the </a:t>
            </a:r>
            <a:r>
              <a:rPr lang="en-US" b="1" dirty="0" smtClean="0"/>
              <a:t>Dependent</a:t>
            </a:r>
            <a:r>
              <a:rPr lang="en-US" dirty="0" smtClean="0"/>
              <a:t> </a:t>
            </a:r>
            <a:r>
              <a:rPr lang="en-US" dirty="0"/>
              <a:t>variable is the test </a:t>
            </a:r>
            <a:r>
              <a:rPr lang="en-US" dirty="0" smtClean="0"/>
              <a:t> score in Physics</a:t>
            </a:r>
          </a:p>
          <a:p>
            <a:pPr marL="0" lvl="0" indent="0">
              <a:buNone/>
            </a:pPr>
            <a:r>
              <a:rPr lang="en-US" dirty="0" smtClean="0"/>
              <a:t> </a:t>
            </a:r>
            <a:r>
              <a:rPr lang="en-US" dirty="0" err="1" smtClean="0">
                <a:solidFill>
                  <a:srgbClr val="FF0000"/>
                </a:solidFill>
              </a:rPr>
              <a:t>Eg</a:t>
            </a:r>
            <a:r>
              <a:rPr lang="en-US" dirty="0" smtClean="0">
                <a:solidFill>
                  <a:srgbClr val="FF0000"/>
                </a:solidFill>
              </a:rPr>
              <a:t> </a:t>
            </a:r>
            <a:r>
              <a:rPr lang="en-US" dirty="0" smtClean="0"/>
              <a:t>Does </a:t>
            </a:r>
            <a:r>
              <a:rPr lang="en-US" dirty="0"/>
              <a:t>listening to classical music help young children develop their reading abilities? </a:t>
            </a:r>
            <a:endParaRPr lang="en-US" dirty="0" smtClean="0"/>
          </a:p>
          <a:p>
            <a:pPr marL="0" lvl="0" indent="0">
              <a:buNone/>
            </a:pPr>
            <a:r>
              <a:rPr lang="en-US" dirty="0" smtClean="0"/>
              <a:t>The </a:t>
            </a:r>
            <a:r>
              <a:rPr lang="en-US" dirty="0"/>
              <a:t>frequency and level of classical music exposure would be the independent </a:t>
            </a:r>
            <a:r>
              <a:rPr lang="en-US" dirty="0" smtClean="0"/>
              <a:t>variable, </a:t>
            </a:r>
            <a:r>
              <a:rPr lang="en-US" dirty="0"/>
              <a:t>and reading scores would be the dependent variable.</a:t>
            </a:r>
          </a:p>
          <a:p>
            <a:endParaRPr lang="en-US" dirty="0" smtClean="0"/>
          </a:p>
          <a:p>
            <a:endParaRPr 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GROUP DISCUSSION</a:t>
            </a:r>
            <a:endParaRPr lang="en-US" dirty="0"/>
          </a:p>
        </p:txBody>
      </p:sp>
      <p:sp>
        <p:nvSpPr>
          <p:cNvPr id="3" name="Content Placeholder 2"/>
          <p:cNvSpPr>
            <a:spLocks noGrp="1"/>
          </p:cNvSpPr>
          <p:nvPr>
            <p:ph idx="1"/>
          </p:nvPr>
        </p:nvSpPr>
        <p:spPr/>
        <p:txBody>
          <a:bodyPr/>
          <a:lstStyle/>
          <a:p>
            <a:pPr marL="0" indent="0">
              <a:buNone/>
            </a:pPr>
            <a:r>
              <a:rPr lang="en-US" dirty="0" smtClean="0"/>
              <a:t>DISCUSS THE FOLLOWING VARIABLES CITING EXAMPLES FROM PROPOSED RESEARCH TITLES</a:t>
            </a:r>
          </a:p>
          <a:p>
            <a:r>
              <a:rPr lang="en-US" dirty="0" smtClean="0"/>
              <a:t>MEDIATING VARIABLE/Intervening variable</a:t>
            </a:r>
          </a:p>
          <a:p>
            <a:r>
              <a:rPr lang="en-US" dirty="0" smtClean="0"/>
              <a:t>MODERATOR VARIABLE</a:t>
            </a:r>
          </a:p>
          <a:p>
            <a:r>
              <a:rPr lang="en-US" dirty="0" smtClean="0"/>
              <a:t>CONTROL VARIABLES</a:t>
            </a:r>
          </a:p>
          <a:p>
            <a:r>
              <a:rPr lang="en-US" dirty="0" smtClean="0"/>
              <a:t>EXTRANEOUS  VARIABLE </a:t>
            </a:r>
          </a:p>
          <a:p>
            <a:r>
              <a:rPr lang="en-US" dirty="0" smtClean="0"/>
              <a:t>CONFOUNDING VARIABLE</a:t>
            </a:r>
            <a:endParaRPr lang="en-US" dirty="0"/>
          </a:p>
        </p:txBody>
      </p:sp>
    </p:spTree>
    <p:extLst>
      <p:ext uri="{BB962C8B-B14F-4D97-AF65-F5344CB8AC3E}">
        <p14:creationId xmlns:p14="http://schemas.microsoft.com/office/powerpoint/2010/main" val="1969333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solidFill>
                  <a:srgbClr val="FF0000"/>
                </a:solidFill>
              </a:rPr>
              <a:t>3.Impact </a:t>
            </a:r>
            <a:r>
              <a:rPr lang="en-US" b="1" dirty="0">
                <a:solidFill>
                  <a:srgbClr val="FF0000"/>
                </a:solidFill>
              </a:rPr>
              <a:t>of Classroom Interaction Patterns on Learners’ Participation in Mixed-Ability Schools</a:t>
            </a:r>
            <a:endParaRPr lang="en-US" dirty="0">
              <a:solidFill>
                <a:srgbClr val="FF0000"/>
              </a:solidFill>
            </a:endParaRPr>
          </a:p>
          <a:p>
            <a:pPr lvl="0"/>
            <a:r>
              <a:rPr lang="en-US" b="1" dirty="0"/>
              <a:t>Independent Variable (IV):</a:t>
            </a:r>
            <a:r>
              <a:rPr lang="en-US" dirty="0"/>
              <a:t> Classroom interaction patterns</a:t>
            </a:r>
          </a:p>
          <a:p>
            <a:pPr lvl="0"/>
            <a:r>
              <a:rPr lang="en-US" b="1" dirty="0">
                <a:solidFill>
                  <a:srgbClr val="00B0F0"/>
                </a:solidFill>
              </a:rPr>
              <a:t>Dependent Variable </a:t>
            </a:r>
            <a:r>
              <a:rPr lang="en-US" b="1" dirty="0"/>
              <a:t>(DV):</a:t>
            </a:r>
            <a:r>
              <a:rPr lang="en-US" dirty="0"/>
              <a:t> Learners’ participation</a:t>
            </a:r>
          </a:p>
          <a:p>
            <a:pPr marL="0" indent="0">
              <a:buNone/>
            </a:pPr>
            <a:r>
              <a:rPr lang="en-US" b="1" dirty="0" smtClean="0">
                <a:solidFill>
                  <a:srgbClr val="FF0000"/>
                </a:solidFill>
              </a:rPr>
              <a:t>4.Influence </a:t>
            </a:r>
            <a:r>
              <a:rPr lang="en-US" b="1" dirty="0">
                <a:solidFill>
                  <a:srgbClr val="FF0000"/>
                </a:solidFill>
              </a:rPr>
              <a:t>of Peer Group Dynamics on Students’ Discipline in Boarding Schools</a:t>
            </a:r>
            <a:endParaRPr lang="en-US" dirty="0">
              <a:solidFill>
                <a:srgbClr val="FF0000"/>
              </a:solidFill>
            </a:endParaRPr>
          </a:p>
          <a:p>
            <a:pPr lvl="0"/>
            <a:r>
              <a:rPr lang="en-US" b="1" dirty="0"/>
              <a:t>Independent Variable (IV):</a:t>
            </a:r>
            <a:r>
              <a:rPr lang="en-US" dirty="0"/>
              <a:t> Peer group dynamics</a:t>
            </a:r>
          </a:p>
          <a:p>
            <a:pPr lvl="0"/>
            <a:r>
              <a:rPr lang="en-US" b="1" dirty="0">
                <a:solidFill>
                  <a:srgbClr val="00B0F0"/>
                </a:solidFill>
              </a:rPr>
              <a:t>Dependent Variable </a:t>
            </a:r>
            <a:r>
              <a:rPr lang="en-US" b="1" dirty="0"/>
              <a:t>(DV):</a:t>
            </a:r>
            <a:r>
              <a:rPr lang="en-US" dirty="0"/>
              <a:t> Students’ discipline</a:t>
            </a:r>
          </a:p>
          <a:p>
            <a:endParaRPr lang="en-US" dirty="0"/>
          </a:p>
        </p:txBody>
      </p:sp>
    </p:spTree>
    <p:extLst>
      <p:ext uri="{BB962C8B-B14F-4D97-AF65-F5344CB8AC3E}">
        <p14:creationId xmlns:p14="http://schemas.microsoft.com/office/powerpoint/2010/main" val="3702694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249" y="281354"/>
            <a:ext cx="10678551" cy="1547446"/>
          </a:xfrm>
        </p:spPr>
        <p:txBody>
          <a:bodyPr>
            <a:normAutofit fontScale="90000"/>
          </a:bodyPr>
          <a:lstStyle/>
          <a:p>
            <a:r>
              <a:rPr lang="en-US" dirty="0" smtClean="0"/>
              <a:t/>
            </a:r>
            <a:br>
              <a:rPr lang="en-US" dirty="0" smtClean="0"/>
            </a:br>
            <a:r>
              <a:rPr lang="en-US" dirty="0" smtClean="0"/>
              <a:t>Can you identify the independent and Dependent variables in the following research titles?</a:t>
            </a:r>
            <a:r>
              <a:rPr lang="en-US" sz="3600" dirty="0">
                <a:latin typeface="Calibri" panose="020F0502020204030204" pitchFamily="34" charset="0"/>
                <a:ea typeface="Calibri" panose="020F0502020204030204" pitchFamily="34" charset="0"/>
                <a:cs typeface="Times New Roman" panose="02020603050405020304" pitchFamily="18" charset="0"/>
              </a:rPr>
              <a:t/>
            </a:r>
            <a:br>
              <a:rPr lang="en-US" sz="3600" dirty="0">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13" name="Rectangle 12"/>
          <p:cNvSpPr/>
          <p:nvPr/>
        </p:nvSpPr>
        <p:spPr>
          <a:xfrm>
            <a:off x="956603" y="1688123"/>
            <a:ext cx="10888394" cy="4367093"/>
          </a:xfrm>
          <a:prstGeom prst="rect">
            <a:avLst/>
          </a:prstGeom>
        </p:spPr>
        <p:txBody>
          <a:bodyPr wrap="square">
            <a:spAutoFit/>
          </a:bodyPr>
          <a:lstStyle/>
          <a:p>
            <a:pPr>
              <a:lnSpc>
                <a:spcPct val="107000"/>
              </a:lnSpc>
              <a:spcAft>
                <a:spcPts val="800"/>
              </a:spcAf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Research Title:</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Influence of Parental Socioeconomic Status on Students’ Academic Achievement in Public Secondary Schools</a:t>
            </a:r>
            <a:endPar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R="0" lvl="0">
              <a:lnSpc>
                <a:spcPct val="107000"/>
              </a:lnSpc>
              <a:spcBef>
                <a:spcPts val="0"/>
              </a:spcBef>
              <a:spcAft>
                <a:spcPts val="800"/>
              </a:spcAft>
              <a:buSzPts val="1000"/>
              <a:tabLst>
                <a:tab pos="457200" algn="l"/>
              </a:tabLst>
            </a:pP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1.Independent </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Variable (IV):</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Parental socioeconomic status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Dependent Variable (DV):</a:t>
            </a:r>
            <a:r>
              <a:rPr lang="en-US" sz="2000"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Students’ academic achievement</a:t>
            </a:r>
            <a:endParaRPr lang="en-US" sz="1600" dirty="0">
              <a:solidFill>
                <a:srgbClr val="00B0F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b="1" dirty="0" smtClean="0">
                <a:latin typeface="Times New Roman" panose="02020603050405020304" pitchFamily="18" charset="0"/>
                <a:ea typeface="Times New Roman" panose="02020603050405020304" pitchFamily="18" charset="0"/>
                <a:cs typeface="Times New Roman" panose="02020603050405020304" pitchFamily="18" charset="0"/>
              </a:rPr>
              <a:t>What about for the following  research title</a:t>
            </a: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400" b="1" dirty="0" smtClean="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2.Effect </a:t>
            </a:r>
            <a:r>
              <a:rPr lang="en-US" sz="24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of School Leadership Styles on Teacher Job Satisfaction in Secondary Schools</a:t>
            </a:r>
            <a:endParaRPr lang="en-US" dirty="0">
              <a:solidFill>
                <a:srgbClr val="FF0000"/>
              </a:solidFill>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Times New Roman" panose="02020603050405020304" pitchFamily="18" charset="0"/>
                <a:cs typeface="Times New Roman" panose="02020603050405020304" pitchFamily="18" charset="0"/>
              </a:rPr>
              <a:t>Independent Variable (IV):</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 School leadership styles</a:t>
            </a:r>
            <a:endParaRPr lang="en-US" sz="1600" dirty="0">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2000" b="1"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Dependent Variable (DV):</a:t>
            </a:r>
            <a:r>
              <a:rPr lang="en-US" sz="2000" dirty="0">
                <a:solidFill>
                  <a:srgbClr val="00B0F0"/>
                </a:solidFill>
                <a:latin typeface="Times New Roman" panose="02020603050405020304" pitchFamily="18" charset="0"/>
                <a:ea typeface="Times New Roman" panose="02020603050405020304" pitchFamily="18" charset="0"/>
                <a:cs typeface="Times New Roman" panose="02020603050405020304" pitchFamily="18" charset="0"/>
              </a:rPr>
              <a:t> Teacher job satisfaction</a:t>
            </a:r>
            <a:endParaRPr lang="en-US" sz="16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178546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Mediating </a:t>
            </a:r>
            <a:r>
              <a:rPr lang="en-US" b="1" dirty="0"/>
              <a:t>variable</a:t>
            </a:r>
          </a:p>
        </p:txBody>
      </p:sp>
      <p:sp>
        <p:nvSpPr>
          <p:cNvPr id="3" name="Content Placeholder 2"/>
          <p:cNvSpPr>
            <a:spLocks noGrp="1"/>
          </p:cNvSpPr>
          <p:nvPr>
            <p:ph idx="1"/>
          </p:nvPr>
        </p:nvSpPr>
        <p:spPr/>
        <p:txBody>
          <a:bodyPr/>
          <a:lstStyle/>
          <a:p>
            <a:pPr marL="0" indent="0">
              <a:lnSpc>
                <a:spcPct val="100000"/>
              </a:lnSpc>
              <a:buNone/>
            </a:pPr>
            <a:r>
              <a:rPr lang="en-US" dirty="0" smtClean="0"/>
              <a:t>(</a:t>
            </a:r>
            <a:r>
              <a:rPr lang="en-US" dirty="0"/>
              <a:t>A</a:t>
            </a:r>
            <a:r>
              <a:rPr lang="en-US" dirty="0" smtClean="0"/>
              <a:t>lso </a:t>
            </a:r>
            <a:r>
              <a:rPr lang="en-US" dirty="0"/>
              <a:t>known as intervening variable): is a variable that comes in between other variables and helps to delineate the process through which variables affect one another </a:t>
            </a:r>
            <a:r>
              <a:rPr lang="en-US" dirty="0" smtClean="0"/>
              <a:t>.</a:t>
            </a:r>
            <a:r>
              <a:rPr lang="en-US" dirty="0" err="1" smtClean="0"/>
              <a:t>Eg</a:t>
            </a:r>
            <a:r>
              <a:rPr lang="en-US" dirty="0" smtClean="0"/>
              <a:t>. </a:t>
            </a:r>
            <a:r>
              <a:rPr lang="en-US" dirty="0"/>
              <a:t>tissue damage is an intervening variable in the smoking and lung cancer relationship. We can use arrows (which mean causes or affects) and draw the relationship that includes an intervening variable like this: Smoking----&gt;Tissue Damage---&gt;Lung Cancer.</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Can you identify the </a:t>
            </a:r>
            <a:r>
              <a:rPr lang="en-US" dirty="0" smtClean="0"/>
              <a:t>Independent </a:t>
            </a:r>
            <a:r>
              <a:rPr lang="en-US" dirty="0"/>
              <a:t>,</a:t>
            </a:r>
            <a:r>
              <a:rPr lang="en-US" dirty="0" smtClean="0"/>
              <a:t> </a:t>
            </a:r>
            <a:r>
              <a:rPr lang="en-US" dirty="0"/>
              <a:t>Dependent </a:t>
            </a:r>
            <a:r>
              <a:rPr lang="en-US" dirty="0" smtClean="0"/>
              <a:t>and Moderating variables </a:t>
            </a:r>
            <a:r>
              <a:rPr lang="en-US" dirty="0"/>
              <a:t>in the following research titles?</a:t>
            </a:r>
          </a:p>
        </p:txBody>
      </p:sp>
      <p:sp>
        <p:nvSpPr>
          <p:cNvPr id="3" name="Content Placeholder 2"/>
          <p:cNvSpPr>
            <a:spLocks noGrp="1"/>
          </p:cNvSpPr>
          <p:nvPr>
            <p:ph idx="1"/>
          </p:nvPr>
        </p:nvSpPr>
        <p:spPr/>
        <p:txBody>
          <a:bodyPr/>
          <a:lstStyle/>
          <a:p>
            <a:pPr marL="0" indent="0">
              <a:buNone/>
            </a:pPr>
            <a:r>
              <a:rPr lang="en-US" b="1" dirty="0" smtClean="0">
                <a:solidFill>
                  <a:srgbClr val="FF0000"/>
                </a:solidFill>
              </a:rPr>
              <a:t>1.Effect </a:t>
            </a:r>
            <a:r>
              <a:rPr lang="en-US" b="1" dirty="0">
                <a:solidFill>
                  <a:srgbClr val="FF0000"/>
                </a:solidFill>
              </a:rPr>
              <a:t>of Parental Involvement on Students’ Academic Achievement: The Mediating Role of Learning Attitudes</a:t>
            </a:r>
            <a:endParaRPr lang="en-US" dirty="0">
              <a:solidFill>
                <a:srgbClr val="FF0000"/>
              </a:solidFill>
            </a:endParaRPr>
          </a:p>
          <a:p>
            <a:pPr lvl="0"/>
            <a:r>
              <a:rPr lang="en-US" b="1" dirty="0"/>
              <a:t>Independent Variable (IV):</a:t>
            </a:r>
            <a:r>
              <a:rPr lang="en-US" dirty="0"/>
              <a:t> Parental involvement</a:t>
            </a:r>
          </a:p>
          <a:p>
            <a:pPr lvl="0"/>
            <a:r>
              <a:rPr lang="en-US" b="1" dirty="0"/>
              <a:t>Mediating Variable (MV):</a:t>
            </a:r>
            <a:r>
              <a:rPr lang="en-US" dirty="0"/>
              <a:t> Students’ learning attitudes</a:t>
            </a:r>
          </a:p>
          <a:p>
            <a:pPr lvl="0"/>
            <a:r>
              <a:rPr lang="en-US" b="1" dirty="0"/>
              <a:t>Dependent Variable (DV):</a:t>
            </a:r>
            <a:r>
              <a:rPr lang="en-US" dirty="0"/>
              <a:t> Students’ academic achievement</a:t>
            </a:r>
          </a:p>
          <a:p>
            <a:endParaRPr lang="en-US" dirty="0"/>
          </a:p>
        </p:txBody>
      </p:sp>
    </p:spTree>
    <p:extLst>
      <p:ext uri="{BB962C8B-B14F-4D97-AF65-F5344CB8AC3E}">
        <p14:creationId xmlns:p14="http://schemas.microsoft.com/office/powerpoint/2010/main" val="40388345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solidFill>
                  <a:srgbClr val="FF0000"/>
                </a:solidFill>
              </a:rPr>
              <a:t>2.Effect </a:t>
            </a:r>
            <a:r>
              <a:rPr lang="en-US" b="1" dirty="0">
                <a:solidFill>
                  <a:srgbClr val="FF0000"/>
                </a:solidFill>
              </a:rPr>
              <a:t>of Parental Involvement on Students’ Academic Achievement: The Mediating Role of Learning Attitudes</a:t>
            </a:r>
            <a:endParaRPr lang="en-US" dirty="0">
              <a:solidFill>
                <a:srgbClr val="FF0000"/>
              </a:solidFill>
            </a:endParaRPr>
          </a:p>
          <a:p>
            <a:pPr lvl="0"/>
            <a:r>
              <a:rPr lang="en-US" b="1" dirty="0"/>
              <a:t>Independent Variable (IV):</a:t>
            </a:r>
            <a:r>
              <a:rPr lang="en-US" dirty="0"/>
              <a:t> Parental involvement</a:t>
            </a:r>
          </a:p>
          <a:p>
            <a:pPr lvl="0"/>
            <a:r>
              <a:rPr lang="en-US" b="1" dirty="0"/>
              <a:t>Mediating Variable (MV):</a:t>
            </a:r>
            <a:r>
              <a:rPr lang="en-US" dirty="0"/>
              <a:t> Students’ learning attitudes</a:t>
            </a:r>
          </a:p>
          <a:p>
            <a:pPr lvl="0"/>
            <a:r>
              <a:rPr lang="en-US" b="1" dirty="0"/>
              <a:t>Dependent Variable (DV):</a:t>
            </a:r>
            <a:r>
              <a:rPr lang="en-US" dirty="0"/>
              <a:t> Students’ academic achievement</a:t>
            </a:r>
          </a:p>
          <a:p>
            <a:endParaRPr lang="en-US" dirty="0"/>
          </a:p>
        </p:txBody>
      </p:sp>
    </p:spTree>
    <p:extLst>
      <p:ext uri="{BB962C8B-B14F-4D97-AF65-F5344CB8AC3E}">
        <p14:creationId xmlns:p14="http://schemas.microsoft.com/office/powerpoint/2010/main" val="496641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solidFill>
                  <a:srgbClr val="FF0000"/>
                </a:solidFill>
              </a:rPr>
              <a:t>1.The </a:t>
            </a:r>
            <a:r>
              <a:rPr lang="en-US" b="1" dirty="0">
                <a:solidFill>
                  <a:srgbClr val="FF0000"/>
                </a:solidFill>
              </a:rPr>
              <a:t>Influence of School Leadership Style on Teacher Performance: The Mediating Role of Teacher Motivation</a:t>
            </a:r>
            <a:endParaRPr lang="en-US" dirty="0">
              <a:solidFill>
                <a:srgbClr val="FF0000"/>
              </a:solidFill>
            </a:endParaRPr>
          </a:p>
          <a:p>
            <a:pPr lvl="0"/>
            <a:r>
              <a:rPr lang="en-US" b="1" dirty="0"/>
              <a:t>Independent Variable (IV):</a:t>
            </a:r>
            <a:r>
              <a:rPr lang="en-US" dirty="0"/>
              <a:t> School leadership style</a:t>
            </a:r>
          </a:p>
          <a:p>
            <a:pPr lvl="0"/>
            <a:r>
              <a:rPr lang="en-US" b="1" dirty="0"/>
              <a:t>Mediating Variable (MV):</a:t>
            </a:r>
            <a:r>
              <a:rPr lang="en-US" dirty="0"/>
              <a:t> Teacher motivation</a:t>
            </a:r>
          </a:p>
          <a:p>
            <a:pPr lvl="0"/>
            <a:r>
              <a:rPr lang="en-US" b="1" dirty="0"/>
              <a:t>Dependent Variable (DV):</a:t>
            </a:r>
            <a:r>
              <a:rPr lang="en-US" dirty="0"/>
              <a:t> Teacher performance</a:t>
            </a:r>
          </a:p>
          <a:p>
            <a:endParaRPr lang="en-US" dirty="0"/>
          </a:p>
        </p:txBody>
      </p:sp>
    </p:spTree>
    <p:extLst>
      <p:ext uri="{BB962C8B-B14F-4D97-AF65-F5344CB8AC3E}">
        <p14:creationId xmlns:p14="http://schemas.microsoft.com/office/powerpoint/2010/main" val="39246859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Moderator </a:t>
            </a:r>
            <a:r>
              <a:rPr lang="en-US" dirty="0"/>
              <a:t>variable:</a:t>
            </a:r>
          </a:p>
        </p:txBody>
      </p:sp>
      <p:sp>
        <p:nvSpPr>
          <p:cNvPr id="3" name="Content Placeholder 2"/>
          <p:cNvSpPr>
            <a:spLocks noGrp="1"/>
          </p:cNvSpPr>
          <p:nvPr>
            <p:ph idx="1"/>
          </p:nvPr>
        </p:nvSpPr>
        <p:spPr/>
        <p:txBody>
          <a:bodyPr/>
          <a:lstStyle/>
          <a:p>
            <a:pPr marL="0" indent="0">
              <a:lnSpc>
                <a:spcPct val="100000"/>
              </a:lnSpc>
              <a:buNone/>
            </a:pPr>
            <a:r>
              <a:rPr lang="en-US" dirty="0" smtClean="0"/>
              <a:t>is </a:t>
            </a:r>
            <a:r>
              <a:rPr lang="en-US" dirty="0"/>
              <a:t>a variable that delineates how a relationship of interest changes under different conditions or circumstances e.g., perhaps </a:t>
            </a:r>
            <a:r>
              <a:rPr lang="en-US" dirty="0" err="1"/>
              <a:t>behavioural</a:t>
            </a:r>
            <a:r>
              <a:rPr lang="en-US" dirty="0"/>
              <a:t> therapy works better for </a:t>
            </a:r>
            <a:r>
              <a:rPr lang="en-US" sz="3200" dirty="0"/>
              <a:t>males</a:t>
            </a:r>
            <a:r>
              <a:rPr lang="en-US" dirty="0"/>
              <a:t> and cognitive therapy works better for females. In this case, gender is the moderator variable. The relationship between type of therapy (</a:t>
            </a:r>
            <a:r>
              <a:rPr lang="en-US" dirty="0" err="1"/>
              <a:t>behavioural</a:t>
            </a:r>
            <a:r>
              <a:rPr lang="en-US" dirty="0"/>
              <a:t> versus cognitive) and psychological relief is moderated by gender.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solidFill>
                  <a:srgbClr val="FF0000"/>
                </a:solidFill>
              </a:rPr>
              <a:t>1The </a:t>
            </a:r>
            <a:r>
              <a:rPr lang="en-US" b="1" dirty="0">
                <a:solidFill>
                  <a:srgbClr val="FF0000"/>
                </a:solidFill>
              </a:rPr>
              <a:t>Relationship Between Teacher Feedback Practices and Student Academic Performance: The Moderating Role of Student Self-Efficacy</a:t>
            </a:r>
            <a:endParaRPr lang="en-US" dirty="0">
              <a:solidFill>
                <a:srgbClr val="FF0000"/>
              </a:solidFill>
            </a:endParaRPr>
          </a:p>
          <a:p>
            <a:pPr lvl="0"/>
            <a:r>
              <a:rPr lang="en-US" b="1" dirty="0"/>
              <a:t>Independent Variable (IV):</a:t>
            </a:r>
            <a:r>
              <a:rPr lang="en-US" dirty="0"/>
              <a:t> Teacher feedback practices</a:t>
            </a:r>
          </a:p>
          <a:p>
            <a:pPr lvl="0"/>
            <a:r>
              <a:rPr lang="en-US" b="1" dirty="0"/>
              <a:t>Dependent Variable (DV):</a:t>
            </a:r>
            <a:r>
              <a:rPr lang="en-US" dirty="0"/>
              <a:t> Student academic performance</a:t>
            </a:r>
          </a:p>
          <a:p>
            <a:pPr lvl="0"/>
            <a:r>
              <a:rPr lang="en-US" b="1" dirty="0"/>
              <a:t>Moderator Variable (</a:t>
            </a:r>
            <a:r>
              <a:rPr lang="en-US" b="1" dirty="0" err="1"/>
              <a:t>MoV</a:t>
            </a:r>
            <a:r>
              <a:rPr lang="en-US" b="1" dirty="0"/>
              <a:t>):</a:t>
            </a:r>
            <a:r>
              <a:rPr lang="en-US" dirty="0"/>
              <a:t> Student self-efficacy</a:t>
            </a:r>
          </a:p>
          <a:p>
            <a:endParaRPr lang="en-US" dirty="0"/>
          </a:p>
        </p:txBody>
      </p:sp>
    </p:spTree>
    <p:extLst>
      <p:ext uri="{BB962C8B-B14F-4D97-AF65-F5344CB8AC3E}">
        <p14:creationId xmlns:p14="http://schemas.microsoft.com/office/powerpoint/2010/main" val="275524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smtClean="0">
                <a:solidFill>
                  <a:srgbClr val="FF0000"/>
                </a:solidFill>
              </a:rPr>
              <a:t>2.Influence </a:t>
            </a:r>
            <a:r>
              <a:rPr lang="en-US" b="1" dirty="0">
                <a:solidFill>
                  <a:srgbClr val="FF0000"/>
                </a:solidFill>
              </a:rPr>
              <a:t>of Parental Involvement on Student </a:t>
            </a:r>
            <a:r>
              <a:rPr lang="en-US" b="1" dirty="0" err="1">
                <a:solidFill>
                  <a:srgbClr val="FF0000"/>
                </a:solidFill>
              </a:rPr>
              <a:t>Behaviour</a:t>
            </a:r>
            <a:r>
              <a:rPr lang="en-US" b="1" dirty="0">
                <a:solidFill>
                  <a:srgbClr val="FF0000"/>
                </a:solidFill>
              </a:rPr>
              <a:t> in Secondary Schools: The Moderating Role of School Climate</a:t>
            </a:r>
            <a:endParaRPr lang="en-US" dirty="0">
              <a:solidFill>
                <a:srgbClr val="FF0000"/>
              </a:solidFill>
            </a:endParaRPr>
          </a:p>
          <a:p>
            <a:pPr lvl="0"/>
            <a:r>
              <a:rPr lang="en-US" b="1" dirty="0"/>
              <a:t>Independent Variable (IV):</a:t>
            </a:r>
            <a:r>
              <a:rPr lang="en-US" dirty="0"/>
              <a:t> Parental involvement</a:t>
            </a:r>
          </a:p>
          <a:p>
            <a:pPr lvl="0"/>
            <a:r>
              <a:rPr lang="en-US" b="1" dirty="0"/>
              <a:t>Dependent Variable (DV):</a:t>
            </a:r>
            <a:r>
              <a:rPr lang="en-US" dirty="0"/>
              <a:t> Student </a:t>
            </a:r>
            <a:r>
              <a:rPr lang="en-US" dirty="0" err="1"/>
              <a:t>behaviour</a:t>
            </a:r>
            <a:endParaRPr lang="en-US" dirty="0"/>
          </a:p>
          <a:p>
            <a:pPr lvl="0"/>
            <a:r>
              <a:rPr lang="en-US" b="1" dirty="0"/>
              <a:t>Moderator Variable (</a:t>
            </a:r>
            <a:r>
              <a:rPr lang="en-US" b="1" dirty="0" err="1"/>
              <a:t>MoV</a:t>
            </a:r>
            <a:r>
              <a:rPr lang="en-US" b="1" dirty="0"/>
              <a:t>):</a:t>
            </a:r>
            <a:r>
              <a:rPr lang="en-US" dirty="0"/>
              <a:t> School climate</a:t>
            </a:r>
          </a:p>
          <a:p>
            <a:endParaRPr lang="en-US" dirty="0"/>
          </a:p>
        </p:txBody>
      </p:sp>
    </p:spTree>
    <p:extLst>
      <p:ext uri="{BB962C8B-B14F-4D97-AF65-F5344CB8AC3E}">
        <p14:creationId xmlns:p14="http://schemas.microsoft.com/office/powerpoint/2010/main" val="9351037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Control </a:t>
            </a:r>
            <a:r>
              <a:rPr lang="en-US" dirty="0"/>
              <a:t>variables</a:t>
            </a:r>
          </a:p>
        </p:txBody>
      </p:sp>
      <p:sp>
        <p:nvSpPr>
          <p:cNvPr id="3" name="Content Placeholder 2"/>
          <p:cNvSpPr>
            <a:spLocks noGrp="1"/>
          </p:cNvSpPr>
          <p:nvPr>
            <p:ph idx="1"/>
          </p:nvPr>
        </p:nvSpPr>
        <p:spPr/>
        <p:txBody>
          <a:bodyPr/>
          <a:lstStyle/>
          <a:p>
            <a:pPr marL="0" indent="0">
              <a:lnSpc>
                <a:spcPct val="100000"/>
              </a:lnSpc>
              <a:buNone/>
            </a:pPr>
            <a:r>
              <a:rPr lang="en-US" dirty="0" smtClean="0"/>
              <a:t>These </a:t>
            </a:r>
            <a:r>
              <a:rPr lang="en-US" dirty="0"/>
              <a:t>are factors that are controlled by the experimenter to cancel out or neutralize any effect they might have on the observed phenomenon. Effects of control variables can be neutralized by elimination, equating across groups or randomization. Examples of such variables are: sex, age, IQ, economic status, past experience etc. In an experiment the researcher must decide which variables will be studied and which will be controlled. </a:t>
            </a:r>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Research Design ….brief re-focus</a:t>
            </a:r>
            <a:endParaRPr lang="en-US" dirty="0"/>
          </a:p>
        </p:txBody>
      </p:sp>
      <p:sp>
        <p:nvSpPr>
          <p:cNvPr id="3" name="Content Placeholder 2"/>
          <p:cNvSpPr>
            <a:spLocks noGrp="1"/>
          </p:cNvSpPr>
          <p:nvPr>
            <p:ph idx="1"/>
          </p:nvPr>
        </p:nvSpPr>
        <p:spPr/>
        <p:txBody>
          <a:bodyPr/>
          <a:lstStyle/>
          <a:p>
            <a:r>
              <a:rPr lang="en-US" dirty="0" smtClean="0"/>
              <a:t>A </a:t>
            </a:r>
            <a:r>
              <a:rPr lang="en-US" dirty="0"/>
              <a:t>research design is a blueprint or a detailed plan for how a research study will be conducted (</a:t>
            </a:r>
            <a:r>
              <a:rPr lang="en-US" dirty="0" err="1"/>
              <a:t>Polit</a:t>
            </a:r>
            <a:r>
              <a:rPr lang="en-US" dirty="0"/>
              <a:t> &amp; Beck, 2004</a:t>
            </a:r>
            <a:r>
              <a:rPr lang="en-US" dirty="0" smtClean="0"/>
              <a:t>).</a:t>
            </a:r>
          </a:p>
          <a:p>
            <a:r>
              <a:rPr lang="en-US" dirty="0" smtClean="0"/>
              <a:t> It is the </a:t>
            </a:r>
            <a:r>
              <a:rPr lang="en-US" dirty="0" err="1" smtClean="0"/>
              <a:t>the</a:t>
            </a:r>
            <a:r>
              <a:rPr lang="en-US" dirty="0" smtClean="0"/>
              <a:t> conceptual structure within which research should be conducted. </a:t>
            </a:r>
          </a:p>
          <a:p>
            <a:r>
              <a:rPr lang="en-US" dirty="0" smtClean="0"/>
              <a:t>It indicates how all the major parts of the research project will work together in addressing the main research questions and objectives of the research.</a:t>
            </a:r>
          </a:p>
          <a:p>
            <a:r>
              <a:rPr lang="en-US" dirty="0" smtClean="0"/>
              <a:t>Therefore it is the blueprint for the collection ,measurement and analysis of data.</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In selecting a research design one asks the following questions ;</a:t>
            </a:r>
          </a:p>
          <a:p>
            <a:pPr marL="0" indent="0">
              <a:buNone/>
            </a:pPr>
            <a:r>
              <a:rPr lang="en-US" dirty="0" smtClean="0"/>
              <a:t>A)What the study is about ?</a:t>
            </a:r>
          </a:p>
          <a:p>
            <a:pPr marL="0" indent="0">
              <a:buNone/>
            </a:pPr>
            <a:r>
              <a:rPr lang="en-US" dirty="0" smtClean="0"/>
              <a:t>B)Why the study is being carried out?</a:t>
            </a:r>
          </a:p>
          <a:p>
            <a:pPr marL="0" indent="0">
              <a:buNone/>
            </a:pPr>
            <a:r>
              <a:rPr lang="en-US" dirty="0" smtClean="0"/>
              <a:t>C)Where the study will be carried out?</a:t>
            </a:r>
          </a:p>
          <a:p>
            <a:pPr marL="0" indent="0">
              <a:buNone/>
            </a:pPr>
            <a:r>
              <a:rPr lang="en-US" dirty="0" smtClean="0"/>
              <a:t>D)Which methods for data collection will be employed?</a:t>
            </a:r>
          </a:p>
          <a:p>
            <a:pPr marL="0" indent="0">
              <a:buNone/>
            </a:pPr>
            <a:r>
              <a:rPr lang="en-US" dirty="0" smtClean="0"/>
              <a:t>E)What is the time frame for conducting this research?</a:t>
            </a:r>
          </a:p>
          <a:p>
            <a:pPr marL="0" indent="0">
              <a:buNone/>
            </a:pPr>
            <a:r>
              <a:rPr lang="en-US" dirty="0" smtClean="0"/>
              <a:t>F)How will the data be analyzed ?</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b="1" dirty="0" smtClean="0"/>
              <a:t>Experimental Research?</a:t>
            </a:r>
            <a:endParaRPr lang="en-US" b="1" dirty="0"/>
          </a:p>
        </p:txBody>
      </p:sp>
      <p:pic>
        <p:nvPicPr>
          <p:cNvPr id="4" name="Content Placeholder 3"/>
          <p:cNvPicPr>
            <a:picLocks noGrp="1" noChangeAspect="1"/>
          </p:cNvPicPr>
          <p:nvPr>
            <p:ph idx="1"/>
          </p:nvPr>
        </p:nvPicPr>
        <p:blipFill>
          <a:blip r:embed="rId2"/>
          <a:stretch>
            <a:fillRect/>
          </a:stretch>
        </p:blipFill>
        <p:spPr>
          <a:xfrm>
            <a:off x="2310063" y="1376413"/>
            <a:ext cx="8241632" cy="461531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Experimental </a:t>
            </a:r>
            <a:r>
              <a:rPr lang="en-US" dirty="0"/>
              <a:t>Research </a:t>
            </a:r>
          </a:p>
        </p:txBody>
      </p:sp>
      <p:sp>
        <p:nvSpPr>
          <p:cNvPr id="3" name="Content Placeholder 2"/>
          <p:cNvSpPr>
            <a:spLocks noGrp="1"/>
          </p:cNvSpPr>
          <p:nvPr>
            <p:ph idx="1"/>
          </p:nvPr>
        </p:nvSpPr>
        <p:spPr/>
        <p:txBody>
          <a:bodyPr>
            <a:normAutofit fontScale="92500"/>
          </a:bodyPr>
          <a:lstStyle/>
          <a:p>
            <a:pPr marL="0" indent="0">
              <a:buNone/>
            </a:pPr>
            <a:r>
              <a:rPr lang="en-US" dirty="0" smtClean="0"/>
              <a:t>The </a:t>
            </a:r>
            <a:r>
              <a:rPr lang="en-US" dirty="0"/>
              <a:t>purpose of experimental research is to study cause and affect relationships. Its defining characteristic is active manipulation of an independent variable (i.e., it is only in experimental research that “manipulation” is present). Also, random assignment (which creates "equivalent" groups) is used in the strongest experimental research designs. </a:t>
            </a:r>
          </a:p>
          <a:p>
            <a:endParaRPr lang="en-US" dirty="0"/>
          </a:p>
          <a:p>
            <a:pPr marL="0" indent="0">
              <a:buNone/>
            </a:pPr>
            <a:r>
              <a:rPr lang="en-US" dirty="0" smtClean="0"/>
              <a:t>Experimental research </a:t>
            </a:r>
            <a:r>
              <a:rPr lang="en-US" dirty="0"/>
              <a:t>normally begins by formulating a hypothesis which is an educated or informed guess or a possible explanation for a </a:t>
            </a:r>
            <a:r>
              <a:rPr lang="en-US" dirty="0" err="1"/>
              <a:t>behaviour</a:t>
            </a:r>
            <a:r>
              <a:rPr lang="en-US" dirty="0"/>
              <a:t> being studied.  It is usually expressed as a prediction or a statement of cause and effect.  A scientific hypothesis is based on facts and theories that have been gathered and investigated by previous researchers.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Experimental Controls</a:t>
            </a:r>
          </a:p>
          <a:p>
            <a:pPr marL="0" indent="0">
              <a:buNone/>
            </a:pPr>
            <a:r>
              <a:rPr lang="en-US" dirty="0" smtClean="0"/>
              <a:t>In </a:t>
            </a:r>
            <a:r>
              <a:rPr lang="en-US" dirty="0"/>
              <a:t>an experiment, the researcher randomly assigns subjects to experimental and control groups.  </a:t>
            </a:r>
            <a:endParaRPr lang="en-US" dirty="0" smtClean="0"/>
          </a:p>
          <a:p>
            <a:pPr marL="0" indent="0">
              <a:buNone/>
            </a:pPr>
            <a:r>
              <a:rPr lang="en-US" dirty="0" smtClean="0"/>
              <a:t>The </a:t>
            </a:r>
            <a:r>
              <a:rPr lang="en-US" dirty="0"/>
              <a:t>experimental group receives treatment with the aim of discovering whether the treatment has a predictable effect on some outcome or </a:t>
            </a:r>
            <a:r>
              <a:rPr lang="en-US" dirty="0" err="1"/>
              <a:t>behaviour</a:t>
            </a:r>
            <a:r>
              <a:rPr lang="en-US" dirty="0"/>
              <a:t> (dependent variable).  </a:t>
            </a:r>
            <a:endParaRPr lang="en-US" dirty="0" smtClean="0"/>
          </a:p>
          <a:p>
            <a:pPr marL="0" indent="0">
              <a:buNone/>
            </a:pPr>
            <a:r>
              <a:rPr lang="en-US" dirty="0" smtClean="0"/>
              <a:t>The </a:t>
            </a:r>
            <a:r>
              <a:rPr lang="en-US" dirty="0"/>
              <a:t>control group (non-treatment group) does not receive such treatment so as to ensure that any changes in the dependent variable are due to the treatment administered.  </a:t>
            </a:r>
            <a:endParaRPr lang="en-US" dirty="0" smtClean="0"/>
          </a:p>
          <a:p>
            <a:pPr marL="0" indent="0">
              <a:buNone/>
            </a:pPr>
            <a:r>
              <a:rPr lang="en-US" dirty="0" smtClean="0"/>
              <a:t>The </a:t>
            </a:r>
            <a:r>
              <a:rPr lang="en-US" dirty="0"/>
              <a:t>two groups are expected to have similar attributes or characteristics.  The effect of the treatment is assessed by comparing the two groups after treatment is given to the experimental group.</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Experimental Research Design</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1</a:t>
            </a:r>
            <a:r>
              <a:rPr lang="en-US" dirty="0"/>
              <a:t>.	Researcher is able to establish cause-and-effect relationships between variables.</a:t>
            </a:r>
          </a:p>
          <a:p>
            <a:pPr marL="0" indent="0">
              <a:buNone/>
            </a:pPr>
            <a:r>
              <a:rPr lang="en-US" dirty="0" smtClean="0"/>
              <a:t>2</a:t>
            </a:r>
            <a:r>
              <a:rPr lang="en-US" dirty="0"/>
              <a:t>	Other conditions/factors can be controlled or kept constant.</a:t>
            </a:r>
          </a:p>
          <a:p>
            <a:pPr marL="0" indent="0">
              <a:buNone/>
            </a:pPr>
            <a:r>
              <a:rPr lang="en-US" dirty="0" smtClean="0"/>
              <a:t>3</a:t>
            </a:r>
            <a:r>
              <a:rPr lang="en-US" dirty="0"/>
              <a:t>	Experiments can be easily replicated and thus the reliability of the findings can be confirmed</a:t>
            </a:r>
            <a:r>
              <a:rPr lang="en-US" dirty="0" smtClean="0"/>
              <a:t>.</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t>
            </a:r>
            <a:r>
              <a:rPr lang="en-US" b="1" dirty="0" smtClean="0"/>
              <a:t>Disadvantages of Experimental Research Design</a:t>
            </a:r>
            <a:r>
              <a:rPr lang="en-US" dirty="0"/>
              <a:t/>
            </a:r>
            <a:br>
              <a:rPr lang="en-US" dirty="0"/>
            </a:br>
            <a:endParaRPr lang="en-US" dirty="0"/>
          </a:p>
        </p:txBody>
      </p:sp>
      <p:sp>
        <p:nvSpPr>
          <p:cNvPr id="3" name="Content Placeholder 2"/>
          <p:cNvSpPr>
            <a:spLocks noGrp="1"/>
          </p:cNvSpPr>
          <p:nvPr>
            <p:ph idx="1"/>
          </p:nvPr>
        </p:nvSpPr>
        <p:spPr/>
        <p:txBody>
          <a:bodyPr/>
          <a:lstStyle/>
          <a:p>
            <a:pPr marL="0" indent="0">
              <a:lnSpc>
                <a:spcPct val="100000"/>
              </a:lnSpc>
              <a:buNone/>
            </a:pPr>
            <a:r>
              <a:rPr lang="en-US" sz="3200" dirty="0" smtClean="0"/>
              <a:t>1.Some </a:t>
            </a:r>
            <a:r>
              <a:rPr lang="en-US" sz="3200" dirty="0"/>
              <a:t>experiments can pose risk or danger to human subjects.  For example, you cannot administer drugs to pupils to study their effect on </a:t>
            </a:r>
            <a:r>
              <a:rPr lang="en-US" sz="3200" dirty="0" err="1"/>
              <a:t>behaviour</a:t>
            </a:r>
            <a:r>
              <a:rPr lang="en-US" sz="3200" dirty="0"/>
              <a:t>.</a:t>
            </a:r>
          </a:p>
          <a:p>
            <a:pPr marL="0" indent="0">
              <a:lnSpc>
                <a:spcPct val="100000"/>
              </a:lnSpc>
              <a:buNone/>
            </a:pPr>
            <a:r>
              <a:rPr lang="en-US" sz="3200" dirty="0" smtClean="0"/>
              <a:t>2.The </a:t>
            </a:r>
            <a:r>
              <a:rPr lang="en-US" sz="3200" dirty="0"/>
              <a:t>observed change in </a:t>
            </a:r>
            <a:r>
              <a:rPr lang="en-US" sz="3200" dirty="0" err="1"/>
              <a:t>behaviour</a:t>
            </a:r>
            <a:r>
              <a:rPr lang="en-US" sz="3200" dirty="0"/>
              <a:t> may be due to the artificial experimental situation.  Therefore, application to the real-world may be limited.  For example, the awareness that one is participating in an experiment may make him/her change his/her </a:t>
            </a:r>
            <a:r>
              <a:rPr lang="en-US" sz="3200" dirty="0" err="1"/>
              <a:t>behaviour</a:t>
            </a:r>
            <a:r>
              <a:rPr lang="en-US" sz="3200" dirty="0"/>
              <a:t>.</a:t>
            </a:r>
          </a:p>
          <a:p>
            <a:endParaRPr lang="en-US" dirty="0"/>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Example of an experiment</a:t>
            </a:r>
          </a:p>
        </p:txBody>
      </p:sp>
      <p:sp>
        <p:nvSpPr>
          <p:cNvPr id="3" name="Content Placeholder 2"/>
          <p:cNvSpPr>
            <a:spLocks noGrp="1"/>
          </p:cNvSpPr>
          <p:nvPr>
            <p:ph idx="1"/>
          </p:nvPr>
        </p:nvSpPr>
        <p:spPr/>
        <p:txBody>
          <a:bodyPr>
            <a:normAutofit fontScale="85000" lnSpcReduction="10000"/>
          </a:bodyPr>
          <a:lstStyle/>
          <a:p>
            <a:endParaRPr lang="en-US" dirty="0"/>
          </a:p>
          <a:p>
            <a:r>
              <a:rPr lang="en-US" dirty="0"/>
              <a:t>A teacher intends to use experimental research to study how a new method of teaching is different from an old method in producing results among learners. </a:t>
            </a:r>
          </a:p>
          <a:p>
            <a:pPr marL="0" indent="0">
              <a:buNone/>
            </a:pPr>
            <a:r>
              <a:rPr lang="en-US" dirty="0"/>
              <a:t> </a:t>
            </a:r>
          </a:p>
          <a:p>
            <a:r>
              <a:rPr lang="en-US" dirty="0"/>
              <a:t>Because the best way to make the two groups similar in the above research design is to randomly assign the participants to the experimental and control groups, let us assume that he has a convenience sample of 50 trainees and that he randomly assign them to the two groups in his experiment.</a:t>
            </a:r>
          </a:p>
          <a:p>
            <a:endParaRPr lang="en-US" dirty="0"/>
          </a:p>
          <a:p>
            <a:r>
              <a:rPr lang="en-US" dirty="0"/>
              <a:t>Here is the logic of this experiment. First, he made his groups approximately the same at the start of the study by using random assignment (i.e., the groups are “equated”). </a:t>
            </a:r>
          </a:p>
          <a:p>
            <a:endParaRPr lang="en-US" dirty="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He pre-tests the participants to see how much they know. Next, he manipulates the independent variable by using the new teaching approach with the experimental group and using the old teaching approach for the control group. Now (after the manipulation) he measures the participants’ knowledge to see how much they know after having participated in his experiment. Let’s say that the learners in the experimental group show more knowledge improvement than those in the control group. What would he conclude? In this case, he can conclude that there is a causal relationship between the IV, new teaching method, and the DV, knowledge, and specifically he can conclude that the new teaching approach is better than the old teaching approach. Make sense?</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r>
              <a:rPr lang="en-US" dirty="0"/>
              <a:t>Now, let’s say that in the above experiment he could not use random assignment to equate our groups. Let’s say that, instead, he had his best teacher use the new teaching approach with his trainees in the experimental group and he had a newer and less experienced teacher use the old teaching approach with the control group. Let’s again say that the experimental group did better than the control group. Do you see any problems with claiming that the reason for the difference between the two groups is because of the teaching method? </a:t>
            </a:r>
          </a:p>
          <a:p>
            <a:endParaRPr lang="en-US" dirty="0"/>
          </a:p>
          <a:p>
            <a:r>
              <a:rPr lang="en-US" dirty="0"/>
              <a:t>The problem is that there are alternative explanations. First, perhaps the difference is because the experienced teacher is the better instructor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Second, perhaps experienced teacher had smarter learners (remember the learners were not randomly assigned to the two groups; instead, he used two intact groups). </a:t>
            </a:r>
          </a:p>
          <a:p>
            <a:endParaRPr lang="en-US" dirty="0"/>
          </a:p>
          <a:p>
            <a:r>
              <a:rPr lang="en-US" dirty="0"/>
              <a:t>We have a name for the problems just mentioned. It is the problem of alternative explanations. In particular, it is very possible that the difference he saw between the two groups was due to other variables other than the IV. In particular, the difference might have been due to the experienced teacher or to the IQ levels of the groups. There is a special name for these kinds of variables. They are called extraneous variables.</a:t>
            </a:r>
          </a:p>
          <a:p>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t>It is important to remember the definition of extraneous variables because they can destroy the integrity of a research study that claims to show a cause-and-effect relationship. </a:t>
            </a:r>
            <a:endParaRPr lang="en-US" dirty="0" smtClean="0"/>
          </a:p>
          <a:p>
            <a:pPr marL="0" indent="0">
              <a:buNone/>
            </a:pPr>
            <a:r>
              <a:rPr lang="en-US" dirty="0" smtClean="0">
                <a:solidFill>
                  <a:srgbClr val="00B0F0"/>
                </a:solidFill>
              </a:rPr>
              <a:t>An </a:t>
            </a:r>
            <a:r>
              <a:rPr lang="en-US" dirty="0">
                <a:solidFill>
                  <a:srgbClr val="00B0F0"/>
                </a:solidFill>
              </a:rPr>
              <a:t>extraneous </a:t>
            </a:r>
            <a:r>
              <a:rPr lang="en-US" dirty="0"/>
              <a:t>variable is a variable that may compete with the independent variable in explaining the outcome. Remember this, if you are ever interested in identifying cause and effect relationships you must always determine whether there are any extraneous variables you need to worry about. If an extraneous variable really is the reason for an outcome (rather than the IV) then we sometimes call it a </a:t>
            </a:r>
            <a:r>
              <a:rPr lang="en-US" b="1" dirty="0"/>
              <a:t>confounding</a:t>
            </a:r>
            <a:r>
              <a:rPr lang="en-US" dirty="0"/>
              <a:t> variable because it has confused or confounded the relationship we are interested in. </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 experimental Research </a:t>
            </a:r>
          </a:p>
        </p:txBody>
      </p:sp>
      <p:sp>
        <p:nvSpPr>
          <p:cNvPr id="3" name="Content Placeholder 2"/>
          <p:cNvSpPr>
            <a:spLocks noGrp="1"/>
          </p:cNvSpPr>
          <p:nvPr>
            <p:ph idx="1"/>
          </p:nvPr>
        </p:nvSpPr>
        <p:spPr/>
        <p:txBody>
          <a:bodyPr>
            <a:normAutofit fontScale="85000" lnSpcReduction="20000"/>
          </a:bodyPr>
          <a:lstStyle/>
          <a:p>
            <a:endParaRPr lang="en-US" dirty="0"/>
          </a:p>
          <a:p>
            <a:r>
              <a:rPr lang="en-US" dirty="0"/>
              <a:t>Remember that the defining characteristic of experimental research was manipulation of the IV. </a:t>
            </a:r>
            <a:endParaRPr lang="en-US" dirty="0" smtClean="0"/>
          </a:p>
          <a:p>
            <a:r>
              <a:rPr lang="en-US" dirty="0" smtClean="0"/>
              <a:t>Well</a:t>
            </a:r>
            <a:r>
              <a:rPr lang="en-US" dirty="0"/>
              <a:t>, in </a:t>
            </a:r>
            <a:r>
              <a:rPr lang="en-US" dirty="0" err="1"/>
              <a:t>nonexperimental</a:t>
            </a:r>
            <a:r>
              <a:rPr lang="en-US" dirty="0"/>
              <a:t> research there is no manipulation of the independent variable. There is also no random assignment of participants to groups. </a:t>
            </a:r>
          </a:p>
          <a:p>
            <a:endParaRPr lang="en-US" dirty="0"/>
          </a:p>
          <a:p>
            <a:r>
              <a:rPr lang="en-US" dirty="0"/>
              <a:t>What this means is that if you ever see a relationship between two variables in </a:t>
            </a:r>
            <a:r>
              <a:rPr lang="en-US" dirty="0" smtClean="0"/>
              <a:t>none-</a:t>
            </a:r>
            <a:r>
              <a:rPr lang="en-US" dirty="0" err="1" smtClean="0"/>
              <a:t>xperimental</a:t>
            </a:r>
            <a:r>
              <a:rPr lang="en-US" dirty="0" smtClean="0"/>
              <a:t> </a:t>
            </a:r>
            <a:r>
              <a:rPr lang="en-US" dirty="0"/>
              <a:t>research you cannot jump to a conclusion of cause and effect because there will be too many other alternative explanations for the relationship. </a:t>
            </a:r>
          </a:p>
          <a:p>
            <a:endParaRPr lang="en-US" dirty="0"/>
          </a:p>
          <a:p>
            <a:r>
              <a:rPr lang="en-US" dirty="0" smtClean="0"/>
              <a:t>Lets make a distinction </a:t>
            </a:r>
            <a:r>
              <a:rPr lang="en-US" dirty="0"/>
              <a:t>between two examples of </a:t>
            </a:r>
            <a:r>
              <a:rPr lang="en-US" dirty="0" smtClean="0"/>
              <a:t>non-experimental </a:t>
            </a:r>
            <a:r>
              <a:rPr lang="en-US" dirty="0"/>
              <a:t>research: causal-comparative research and Correlational research. </a:t>
            </a:r>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Causal-comparative </a:t>
            </a:r>
            <a:r>
              <a:rPr lang="en-US" b="1" dirty="0"/>
              <a:t>research</a:t>
            </a:r>
          </a:p>
        </p:txBody>
      </p:sp>
      <p:sp>
        <p:nvSpPr>
          <p:cNvPr id="3" name="Content Placeholder 2"/>
          <p:cNvSpPr>
            <a:spLocks noGrp="1"/>
          </p:cNvSpPr>
          <p:nvPr>
            <p:ph idx="1"/>
          </p:nvPr>
        </p:nvSpPr>
        <p:spPr/>
        <p:txBody>
          <a:bodyPr>
            <a:normAutofit fontScale="85000" lnSpcReduction="20000"/>
          </a:bodyPr>
          <a:lstStyle/>
          <a:p>
            <a:r>
              <a:rPr lang="en-US" dirty="0"/>
              <a:t>In </a:t>
            </a:r>
            <a:r>
              <a:rPr lang="en-US" dirty="0" smtClean="0"/>
              <a:t>a "basic </a:t>
            </a:r>
            <a:r>
              <a:rPr lang="en-US" dirty="0"/>
              <a:t>case" of causal-comparative research, there is one </a:t>
            </a:r>
            <a:r>
              <a:rPr lang="en-US" b="1" dirty="0"/>
              <a:t>categorical</a:t>
            </a:r>
            <a:r>
              <a:rPr lang="en-US" dirty="0"/>
              <a:t> IV and one </a:t>
            </a:r>
            <a:r>
              <a:rPr lang="en-US" b="1" dirty="0"/>
              <a:t>quantitative</a:t>
            </a:r>
            <a:r>
              <a:rPr lang="en-US" dirty="0"/>
              <a:t> DV. </a:t>
            </a:r>
          </a:p>
          <a:p>
            <a:endParaRPr lang="en-US" dirty="0"/>
          </a:p>
          <a:p>
            <a:pPr marL="0" indent="0">
              <a:buNone/>
            </a:pPr>
            <a:r>
              <a:rPr lang="en-US" dirty="0"/>
              <a:t>• Example: Gender (IV) and academic performance (DV). </a:t>
            </a:r>
          </a:p>
          <a:p>
            <a:endParaRPr lang="en-US" dirty="0"/>
          </a:p>
          <a:p>
            <a:pPr marL="0" indent="0">
              <a:buNone/>
            </a:pPr>
            <a:r>
              <a:rPr lang="en-US" dirty="0"/>
              <a:t>• You would look for the relationship by comparing the male and female average student performance levels. </a:t>
            </a:r>
          </a:p>
          <a:p>
            <a:endParaRPr lang="en-US" dirty="0"/>
          </a:p>
          <a:p>
            <a:r>
              <a:rPr lang="en-US" dirty="0"/>
              <a:t>In the simple case of correlational research, there is one </a:t>
            </a:r>
            <a:r>
              <a:rPr lang="en-US" b="1" dirty="0"/>
              <a:t>quantitative </a:t>
            </a:r>
            <a:r>
              <a:rPr lang="en-US" dirty="0"/>
              <a:t>IV and one </a:t>
            </a:r>
            <a:r>
              <a:rPr lang="en-US" b="1" dirty="0"/>
              <a:t>quantitative</a:t>
            </a:r>
            <a:r>
              <a:rPr lang="en-US" dirty="0"/>
              <a:t> DV. </a:t>
            </a:r>
          </a:p>
          <a:p>
            <a:pPr marL="0" indent="0">
              <a:buNone/>
            </a:pPr>
            <a:endParaRPr lang="en-US" dirty="0"/>
          </a:p>
          <a:p>
            <a:pPr marL="0" indent="0">
              <a:buNone/>
            </a:pPr>
            <a:r>
              <a:rPr lang="en-US" dirty="0"/>
              <a:t>• Example: Self-esteem (IV) and academic performance (DV). </a:t>
            </a:r>
          </a:p>
          <a:p>
            <a:endParaRPr lang="en-US"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 </a:t>
            </a:r>
            <a:r>
              <a:rPr lang="en-US" b="1" dirty="0" smtClean="0"/>
              <a:t>Correlation Coefficient</a:t>
            </a:r>
            <a:endParaRPr lang="en-US" b="1" dirty="0"/>
          </a:p>
        </p:txBody>
      </p:sp>
      <p:sp>
        <p:nvSpPr>
          <p:cNvPr id="3" name="Content Placeholder 2"/>
          <p:cNvSpPr>
            <a:spLocks noGrp="1"/>
          </p:cNvSpPr>
          <p:nvPr>
            <p:ph idx="1"/>
          </p:nvPr>
        </p:nvSpPr>
        <p:spPr/>
        <p:txBody>
          <a:bodyPr>
            <a:normAutofit/>
          </a:bodyPr>
          <a:lstStyle/>
          <a:p>
            <a:r>
              <a:rPr lang="en-US" sz="3600" dirty="0"/>
              <a:t>You would look for the relationship by calculating the correlation coefficient. </a:t>
            </a:r>
          </a:p>
          <a:p>
            <a:endParaRPr lang="en-US" sz="3600" dirty="0"/>
          </a:p>
          <a:p>
            <a:pPr marL="0" indent="0">
              <a:buNone/>
            </a:pPr>
            <a:r>
              <a:rPr lang="en-US" sz="3600" dirty="0"/>
              <a:t>• The correlation coefficient is a number that varies between –1 and +1, and 0 stands for no relationship. The </a:t>
            </a:r>
            <a:r>
              <a:rPr lang="en-US" sz="3600" dirty="0" smtClean="0"/>
              <a:t>further </a:t>
            </a:r>
            <a:r>
              <a:rPr lang="en-US" sz="3600" dirty="0"/>
              <a:t>the number is from 0, the stronger the relationship. </a:t>
            </a:r>
          </a:p>
          <a:p>
            <a:endParaRPr lang="en-US" dirty="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Positive Correlation</a:t>
            </a:r>
            <a:endParaRPr lang="en-US" dirty="0"/>
          </a:p>
        </p:txBody>
      </p:sp>
      <p:sp>
        <p:nvSpPr>
          <p:cNvPr id="3" name="Content Placeholder 2"/>
          <p:cNvSpPr>
            <a:spLocks noGrp="1"/>
          </p:cNvSpPr>
          <p:nvPr>
            <p:ph idx="1"/>
          </p:nvPr>
        </p:nvSpPr>
        <p:spPr/>
        <p:txBody>
          <a:bodyPr>
            <a:normAutofit fontScale="92500"/>
          </a:bodyPr>
          <a:lstStyle/>
          <a:p>
            <a:pPr marL="0" indent="0">
              <a:buNone/>
            </a:pPr>
            <a:r>
              <a:rPr lang="en-US" sz="4000" dirty="0"/>
              <a:t>• If the sign of the correlation coefficient is positive (e.g., +.65) then you have a positive correlation, which means the two variables move in the same direction (as one variable increases, so does the other variable</a:t>
            </a:r>
            <a:r>
              <a:rPr lang="en-US" sz="4000" dirty="0" smtClean="0"/>
              <a:t>).</a:t>
            </a:r>
            <a:r>
              <a:rPr lang="en-US" sz="4000" b="1" dirty="0" err="1" smtClean="0"/>
              <a:t>eg</a:t>
            </a:r>
            <a:r>
              <a:rPr lang="en-US" sz="4000" b="1" dirty="0" smtClean="0"/>
              <a:t> </a:t>
            </a:r>
            <a:r>
              <a:rPr lang="en-US" sz="4000" dirty="0"/>
              <a:t>Learners’ level of motivation and academic performance are positively correlated (i.e., the higher the learners’ level of motivation the higher their academic performance). </a:t>
            </a:r>
          </a:p>
          <a:p>
            <a:endParaRPr lang="en-US" dirty="0"/>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Negative Correlation </a:t>
            </a:r>
            <a:endParaRPr lang="en-US" dirty="0"/>
          </a:p>
        </p:txBody>
      </p:sp>
      <p:sp>
        <p:nvSpPr>
          <p:cNvPr id="3" name="Content Placeholder 2"/>
          <p:cNvSpPr>
            <a:spLocks noGrp="1"/>
          </p:cNvSpPr>
          <p:nvPr>
            <p:ph idx="1"/>
          </p:nvPr>
        </p:nvSpPr>
        <p:spPr/>
        <p:txBody>
          <a:bodyPr/>
          <a:lstStyle/>
          <a:p>
            <a:pPr marL="0" indent="0">
              <a:buNone/>
            </a:pPr>
            <a:r>
              <a:rPr lang="en-US" dirty="0" smtClean="0"/>
              <a:t> </a:t>
            </a:r>
            <a:r>
              <a:rPr lang="en-US" sz="4000" dirty="0"/>
              <a:t>If the sign of the correlation coefficient is negative (e.g., -.71) then you have a negative correlation, which means the two variables move in opposite directions (as one variable increases, the other decreases). Smoking and life expectancy are negatively correlated (i.e., the higher the smoking, the lower the life expectancy). </a:t>
            </a:r>
          </a:p>
          <a:p>
            <a:endParaRPr lang="en-US" sz="4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NB</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t>•</a:t>
            </a:r>
            <a:r>
              <a:rPr lang="en-US" dirty="0"/>
              <a:t>	You can obtain much stronger evidence for causality from experimental research than from </a:t>
            </a:r>
            <a:r>
              <a:rPr lang="en-US" dirty="0" err="1"/>
              <a:t>nonexperimental</a:t>
            </a:r>
            <a:r>
              <a:rPr lang="en-US" dirty="0"/>
              <a:t> research (e.g., a strong experiment is better than causal-comparative and correlation research). </a:t>
            </a:r>
          </a:p>
          <a:p>
            <a:pPr marL="0" indent="0">
              <a:buNone/>
            </a:pPr>
            <a:r>
              <a:rPr lang="en-US" dirty="0"/>
              <a:t>•	You cannot conclude that a relationship is causal when you only have one IV and one DV in </a:t>
            </a:r>
            <a:r>
              <a:rPr lang="en-US" dirty="0" err="1"/>
              <a:t>nonexperimental</a:t>
            </a:r>
            <a:r>
              <a:rPr lang="en-US" dirty="0"/>
              <a:t> research (without controls). Therefore, the basic cases of both causal-comparative and correlation research are severely flawed! </a:t>
            </a:r>
          </a:p>
          <a:p>
            <a:pPr marL="0" indent="0">
              <a:buNone/>
            </a:pPr>
            <a:r>
              <a:rPr lang="en-US" dirty="0"/>
              <a:t>•	</a:t>
            </a:r>
            <a:r>
              <a:rPr lang="en-US" dirty="0" smtClean="0"/>
              <a:t> The  </a:t>
            </a:r>
            <a:r>
              <a:rPr lang="en-US" dirty="0"/>
              <a:t>necessary conditions for causality (relationship, temporal order, and lack of alternative explanations) </a:t>
            </a:r>
            <a:r>
              <a:rPr lang="en-US" dirty="0" smtClean="0"/>
              <a:t>would be discussed later </a:t>
            </a:r>
            <a:endParaRPr lang="en-US" dirty="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Historical </a:t>
            </a:r>
            <a:r>
              <a:rPr lang="en-US" dirty="0"/>
              <a:t>Research ,Grounded theory</a:t>
            </a:r>
          </a:p>
        </p:txBody>
      </p:sp>
      <p:pic>
        <p:nvPicPr>
          <p:cNvPr id="4" name="Content Placeholder 3"/>
          <p:cNvPicPr>
            <a:picLocks noGrp="1" noChangeAspect="1"/>
          </p:cNvPicPr>
          <p:nvPr>
            <p:ph idx="1"/>
          </p:nvPr>
        </p:nvPicPr>
        <p:blipFill>
          <a:blip r:embed="rId2"/>
          <a:stretch>
            <a:fillRect/>
          </a:stretch>
        </p:blipFill>
        <p:spPr>
          <a:xfrm>
            <a:off x="1594637" y="2033337"/>
            <a:ext cx="7044037" cy="4687487"/>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Historical Research ,Grounded theory</a:t>
            </a:r>
            <a:endParaRPr lang="en-US" dirty="0"/>
          </a:p>
        </p:txBody>
      </p:sp>
      <p:pic>
        <p:nvPicPr>
          <p:cNvPr id="6" name="Content Placeholder 5"/>
          <p:cNvPicPr>
            <a:picLocks noGrp="1" noChangeAspect="1"/>
          </p:cNvPicPr>
          <p:nvPr>
            <p:ph idx="1"/>
          </p:nvPr>
        </p:nvPicPr>
        <p:blipFill>
          <a:blip r:embed="rId2"/>
          <a:stretch>
            <a:fillRect/>
          </a:stretch>
        </p:blipFill>
        <p:spPr>
          <a:xfrm>
            <a:off x="2153653" y="1915541"/>
            <a:ext cx="6737684" cy="502735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Rectangle 3"/>
          <p:cNvSpPr/>
          <p:nvPr/>
        </p:nvSpPr>
        <p:spPr>
          <a:xfrm>
            <a:off x="1082841" y="2418346"/>
            <a:ext cx="10094495" cy="2862322"/>
          </a:xfrm>
          <a:prstGeom prst="rect">
            <a:avLst/>
          </a:prstGeom>
        </p:spPr>
        <p:txBody>
          <a:bodyPr wrap="square">
            <a:spAutoFit/>
          </a:bodyPr>
          <a:lstStyle/>
          <a:p>
            <a:r>
              <a:rPr lang="en-US" sz="3600" b="1" dirty="0"/>
              <a:t>Historical research </a:t>
            </a:r>
            <a:r>
              <a:rPr lang="en-US" sz="3600" dirty="0"/>
              <a:t>– research about events that occurred in the past. An example, you might study the genesis of post elections violence from independence to present day or government spending on education from the year 1963 to 2007.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4800" dirty="0" smtClean="0"/>
              <a:t>           Mixed </a:t>
            </a:r>
            <a:r>
              <a:rPr lang="en-GB" sz="4800" dirty="0"/>
              <a:t>Research Methods </a:t>
            </a:r>
            <a:r>
              <a:rPr lang="en-US" sz="4800" dirty="0"/>
              <a:t/>
            </a:r>
            <a:br>
              <a:rPr lang="en-US" sz="4800" dirty="0"/>
            </a:br>
            <a:endParaRPr lang="en-US" sz="4800" dirty="0"/>
          </a:p>
        </p:txBody>
      </p:sp>
      <p:sp>
        <p:nvSpPr>
          <p:cNvPr id="3" name="Content Placeholder 2"/>
          <p:cNvSpPr>
            <a:spLocks noGrp="1"/>
          </p:cNvSpPr>
          <p:nvPr>
            <p:ph idx="1"/>
          </p:nvPr>
        </p:nvSpPr>
        <p:spPr/>
        <p:txBody>
          <a:bodyPr>
            <a:normAutofit lnSpcReduction="10000"/>
          </a:bodyPr>
          <a:lstStyle/>
          <a:p>
            <a:pPr marL="0" indent="0">
              <a:buNone/>
            </a:pPr>
            <a:r>
              <a:rPr lang="en-GB" sz="3600" dirty="0" smtClean="0"/>
              <a:t>Mixed </a:t>
            </a:r>
            <a:r>
              <a:rPr lang="en-GB" sz="3600" dirty="0"/>
              <a:t>research is a general type of research (it’s one of the three paradigms) in which quantitative and qualitative methods, techniques, or other paradigm characteristics are mixed in one overall study. </a:t>
            </a:r>
            <a:endParaRPr lang="en-GB" sz="3600" dirty="0" smtClean="0"/>
          </a:p>
          <a:p>
            <a:pPr marL="0" indent="0">
              <a:buNone/>
            </a:pPr>
            <a:r>
              <a:rPr lang="en-GB" sz="3600" dirty="0" smtClean="0"/>
              <a:t>There </a:t>
            </a:r>
            <a:r>
              <a:rPr lang="en-GB" sz="3600" dirty="0"/>
              <a:t>are two major types of mixed </a:t>
            </a:r>
            <a:r>
              <a:rPr lang="en-GB" sz="3600" dirty="0" smtClean="0"/>
              <a:t>research</a:t>
            </a:r>
          </a:p>
          <a:p>
            <a:pPr marL="0" indent="0">
              <a:buNone/>
            </a:pPr>
            <a:r>
              <a:rPr lang="en-GB" sz="3600" dirty="0" smtClean="0"/>
              <a:t> </a:t>
            </a:r>
            <a:r>
              <a:rPr lang="en-GB" sz="3600" b="1" dirty="0" smtClean="0"/>
              <a:t>(a) </a:t>
            </a:r>
            <a:r>
              <a:rPr lang="en-GB" sz="3600" dirty="0" smtClean="0"/>
              <a:t> </a:t>
            </a:r>
            <a:r>
              <a:rPr lang="en-GB" sz="3600" dirty="0"/>
              <a:t>mixed method </a:t>
            </a:r>
            <a:r>
              <a:rPr lang="en-GB" sz="3600" dirty="0" smtClean="0"/>
              <a:t>research</a:t>
            </a:r>
          </a:p>
          <a:p>
            <a:pPr marL="0" indent="0">
              <a:buNone/>
            </a:pPr>
            <a:r>
              <a:rPr lang="en-GB" sz="3600" dirty="0" smtClean="0"/>
              <a:t> (</a:t>
            </a:r>
            <a:r>
              <a:rPr lang="en-GB" sz="3600" b="1" dirty="0" smtClean="0"/>
              <a:t>b)</a:t>
            </a:r>
            <a:r>
              <a:rPr lang="en-GB" sz="3600" dirty="0" smtClean="0"/>
              <a:t>mixed </a:t>
            </a:r>
            <a:r>
              <a:rPr lang="en-GB" sz="3600" dirty="0"/>
              <a:t>model research. </a:t>
            </a:r>
            <a:endParaRPr lang="en-US" sz="3600" dirty="0"/>
          </a:p>
          <a:p>
            <a:r>
              <a:rPr lang="en-GB" sz="3600" dirty="0"/>
              <a:t> </a:t>
            </a:r>
            <a:endParaRPr lang="en-US" sz="3600" dirty="0"/>
          </a:p>
          <a:p>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               Mixed </a:t>
            </a:r>
            <a:r>
              <a:rPr lang="en-GB" b="1" dirty="0"/>
              <a:t>method research</a:t>
            </a:r>
            <a:endParaRPr lang="en-US" dirty="0"/>
          </a:p>
        </p:txBody>
      </p:sp>
      <p:sp>
        <p:nvSpPr>
          <p:cNvPr id="3" name="Content Placeholder 2"/>
          <p:cNvSpPr>
            <a:spLocks noGrp="1"/>
          </p:cNvSpPr>
          <p:nvPr>
            <p:ph idx="1"/>
          </p:nvPr>
        </p:nvSpPr>
        <p:spPr/>
        <p:txBody>
          <a:bodyPr>
            <a:noAutofit/>
          </a:bodyPr>
          <a:lstStyle/>
          <a:p>
            <a:pPr lvl="0"/>
            <a:r>
              <a:rPr lang="en-GB" sz="3200" b="1" dirty="0"/>
              <a:t>Mixed method research </a:t>
            </a:r>
            <a:r>
              <a:rPr lang="en-GB" sz="3200" dirty="0"/>
              <a:t>– is research in which the researcher uses the qualitative research paradigm for one phase of a research study and the quantitative research paradigm for another phase of the study. For example, a researcher might conduct an experiment (quantitative) and after the experiment conduct an interview study with the participants (qualitative) to see how they viewed the experiment and to see if they agreed with the results. Mixed method research is like conducting two mini-studies within one overall research study. </a:t>
            </a:r>
            <a:endParaRPr lang="en-US" sz="3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The Advantages of Mixed Research </a:t>
            </a:r>
          </a:p>
        </p:txBody>
      </p:sp>
      <p:sp>
        <p:nvSpPr>
          <p:cNvPr id="3" name="Content Placeholder 2"/>
          <p:cNvSpPr>
            <a:spLocks noGrp="1"/>
          </p:cNvSpPr>
          <p:nvPr>
            <p:ph idx="1"/>
          </p:nvPr>
        </p:nvSpPr>
        <p:spPr/>
        <p:txBody>
          <a:bodyPr>
            <a:normAutofit fontScale="92500"/>
          </a:bodyPr>
          <a:lstStyle/>
          <a:p>
            <a:pPr marL="0" indent="0">
              <a:buNone/>
            </a:pPr>
            <a:r>
              <a:rPr lang="en-US" dirty="0" smtClean="0"/>
              <a:t>First </a:t>
            </a:r>
            <a:r>
              <a:rPr lang="en-US" dirty="0"/>
              <a:t>of all, we advocate the use of mixed research when it is feasible. We are excited about this new movement in research and believe it will help qualitative and quantitative researchers to get along better and, more importantly; it will promote the conduct of excellent research. </a:t>
            </a:r>
          </a:p>
          <a:p>
            <a:pPr marL="0" indent="0">
              <a:buNone/>
            </a:pPr>
            <a:r>
              <a:rPr lang="en-US" dirty="0" smtClean="0"/>
              <a:t>•Perhaps </a:t>
            </a:r>
            <a:r>
              <a:rPr lang="en-US" dirty="0"/>
              <a:t>the major goal for a researcher who design and conduct mixed research is to follow the fundamental principle of mixed research. </a:t>
            </a:r>
            <a:endParaRPr lang="en-US" dirty="0" smtClean="0"/>
          </a:p>
          <a:p>
            <a:pPr marL="0" indent="0">
              <a:buNone/>
            </a:pPr>
            <a:r>
              <a:rPr lang="en-US" dirty="0" smtClean="0"/>
              <a:t>According </a:t>
            </a:r>
            <a:r>
              <a:rPr lang="en-US" dirty="0"/>
              <a:t>to this principle, the researcher should mix quantitative and qualitative research methods, procedures, and paradigm characteristics in a way that the resulting mixture or combination has complementary strengths and </a:t>
            </a:r>
            <a:r>
              <a:rPr lang="en-US" dirty="0" smtClean="0"/>
              <a:t>non-overlapping </a:t>
            </a:r>
            <a:r>
              <a:rPr lang="en-US" dirty="0"/>
              <a:t>weaknesses. The examples just listed for mixed method and mixed model research can be viewed as following this principle. </a:t>
            </a:r>
          </a:p>
          <a:p>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Mixed research </a:t>
            </a:r>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sz="4000" dirty="0" smtClean="0"/>
              <a:t>Here </a:t>
            </a:r>
            <a:r>
              <a:rPr lang="en-US" sz="4000" dirty="0"/>
              <a:t>is a metaphor for thinking about mixed research: </a:t>
            </a:r>
            <a:endParaRPr lang="en-US" sz="4000" dirty="0" smtClean="0"/>
          </a:p>
          <a:p>
            <a:pPr marL="0" indent="0">
              <a:buNone/>
            </a:pPr>
            <a:r>
              <a:rPr lang="en-US" sz="4000" dirty="0" smtClean="0"/>
              <a:t>Construct </a:t>
            </a:r>
            <a:r>
              <a:rPr lang="en-US" sz="4000" dirty="0"/>
              <a:t>one fish net out of several fish nets that have holes in them by laying them on top of one another. </a:t>
            </a:r>
            <a:endParaRPr lang="en-US" sz="4000" dirty="0" smtClean="0"/>
          </a:p>
          <a:p>
            <a:pPr marL="0" indent="0">
              <a:buNone/>
            </a:pPr>
            <a:r>
              <a:rPr lang="en-US" sz="4000" dirty="0" smtClean="0"/>
              <a:t>The </a:t>
            </a:r>
            <a:r>
              <a:rPr lang="en-US" sz="4000" dirty="0"/>
              <a:t>"new" net will not have any holes in it. The use of multiple methods or approaches to research works the same way. </a:t>
            </a:r>
          </a:p>
          <a:p>
            <a:endParaRPr lang="en-US" dirty="0"/>
          </a:p>
          <a:p>
            <a:endParaRPr lang="en-US" dirty="0"/>
          </a:p>
          <a:p>
            <a:endParaRPr lang="en-US" dirty="0"/>
          </a:p>
          <a:p>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marL="0" indent="0">
              <a:buNone/>
            </a:pPr>
            <a:r>
              <a:rPr lang="en-US" sz="3600" dirty="0" smtClean="0"/>
              <a:t>When </a:t>
            </a:r>
            <a:r>
              <a:rPr lang="en-US" sz="3600" dirty="0"/>
              <a:t>different approaches are used to focus on the same phenomenon and they provide the same result, you have "</a:t>
            </a:r>
            <a:r>
              <a:rPr lang="en-US" sz="3600" b="1" dirty="0"/>
              <a:t>corroboration</a:t>
            </a:r>
            <a:r>
              <a:rPr lang="en-US" sz="3600" dirty="0"/>
              <a:t>" which means you have superior evidence for the result</a:t>
            </a:r>
            <a:r>
              <a:rPr lang="en-US" sz="3600" dirty="0" smtClean="0"/>
              <a:t>.</a:t>
            </a:r>
          </a:p>
          <a:p>
            <a:pPr marL="0" indent="0">
              <a:buNone/>
            </a:pPr>
            <a:r>
              <a:rPr lang="en-US" sz="3600" dirty="0" smtClean="0"/>
              <a:t> </a:t>
            </a:r>
            <a:r>
              <a:rPr lang="en-US" sz="3600" dirty="0"/>
              <a:t>Other important reasons for doing mixed research are to complement one set of results with another, to expand a set of results, or to discover something that would have been missed if only a quantitative or a qualitative approach had been used.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3600" dirty="0"/>
              <a:t>Some researchers like to conduct mixed research in a single study, and this is what is truly called mixed research. However, it is interesting to note that virtually all research literatures would be mixed at the aggregate level, even if no single researcher uses mixed research. That's because there will usually be some quantitative and some qualitative research studies in a research literature</a:t>
            </a:r>
            <a:r>
              <a:rPr lang="en-US" dirty="0"/>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Mixed Model Research –Students to find out?</a:t>
            </a:r>
            <a:endParaRPr lang="en-US"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smtClean="0"/>
              <a:t>Revision  questions :</a:t>
            </a:r>
          </a:p>
          <a:p>
            <a:pPr marL="0" indent="0">
              <a:buNone/>
            </a:pPr>
            <a:r>
              <a:rPr lang="en-US" dirty="0" smtClean="0"/>
              <a:t>1</a:t>
            </a:r>
            <a:r>
              <a:rPr lang="en-US" dirty="0"/>
              <a:t>.	Differentiate between Quantitative research, qualitative and mixed research</a:t>
            </a:r>
          </a:p>
          <a:p>
            <a:pPr marL="0" indent="0">
              <a:buNone/>
            </a:pPr>
            <a:r>
              <a:rPr lang="en-US" dirty="0"/>
              <a:t>2.	Explain what is involved in the experimental method of research</a:t>
            </a:r>
          </a:p>
          <a:p>
            <a:pPr marL="0" indent="0">
              <a:buNone/>
            </a:pPr>
            <a:r>
              <a:rPr lang="en-US" dirty="0"/>
              <a:t>3.	What is a case study?</a:t>
            </a:r>
          </a:p>
          <a:p>
            <a:pPr marL="0" indent="0">
              <a:buNone/>
            </a:pPr>
            <a:r>
              <a:rPr lang="en-US" dirty="0"/>
              <a:t>4.	Discuss the different types of variables</a:t>
            </a:r>
          </a:p>
          <a:p>
            <a:pPr marL="0" indent="0">
              <a:buNone/>
            </a:pPr>
            <a:r>
              <a:rPr lang="en-US" b="1" dirty="0"/>
              <a:t>5.</a:t>
            </a:r>
            <a:r>
              <a:rPr lang="en-US" dirty="0"/>
              <a:t>	Explain the following types of research:</a:t>
            </a:r>
          </a:p>
          <a:p>
            <a:pPr marL="0" indent="0">
              <a:buNone/>
            </a:pPr>
            <a:r>
              <a:rPr lang="en-US" dirty="0" smtClean="0"/>
              <a:t>                               a</a:t>
            </a:r>
            <a:r>
              <a:rPr lang="en-US" dirty="0"/>
              <a:t>.	Phenomenology</a:t>
            </a:r>
          </a:p>
          <a:p>
            <a:pPr marL="0" indent="0">
              <a:buNone/>
            </a:pPr>
            <a:r>
              <a:rPr lang="en-US" dirty="0" smtClean="0"/>
              <a:t>                               b</a:t>
            </a:r>
            <a:r>
              <a:rPr lang="en-US" dirty="0"/>
              <a:t>.	Ethnology</a:t>
            </a:r>
          </a:p>
          <a:p>
            <a:pPr marL="0" indent="0">
              <a:buNone/>
            </a:pPr>
            <a:r>
              <a:rPr lang="en-US" dirty="0" smtClean="0"/>
              <a:t>                               c</a:t>
            </a:r>
            <a:r>
              <a:rPr lang="en-US" dirty="0"/>
              <a:t>.	Historical research</a:t>
            </a:r>
          </a:p>
          <a:p>
            <a:pPr marL="0" indent="0">
              <a:buNone/>
            </a:pPr>
            <a:r>
              <a:rPr lang="en-US" dirty="0" smtClean="0"/>
              <a:t>                               d</a:t>
            </a:r>
            <a:r>
              <a:rPr lang="en-US" dirty="0"/>
              <a:t>.	Naturalistic</a:t>
            </a:r>
          </a:p>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471</TotalTime>
  <Words>3561</Words>
  <Application>Microsoft Office PowerPoint</Application>
  <PresentationFormat>Widescreen</PresentationFormat>
  <Paragraphs>261</Paragraphs>
  <Slides>59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59</vt:i4>
      </vt:variant>
    </vt:vector>
  </HeadingPairs>
  <TitlesOfParts>
    <vt:vector size="66" baseType="lpstr">
      <vt:lpstr>Arial</vt:lpstr>
      <vt:lpstr>Calibri</vt:lpstr>
      <vt:lpstr>Calibri Light</vt:lpstr>
      <vt:lpstr>Symbol</vt:lpstr>
      <vt:lpstr>Times New Roman</vt:lpstr>
      <vt:lpstr>Wingdings</vt:lpstr>
      <vt:lpstr>Office Theme</vt:lpstr>
      <vt:lpstr>RESEARCH METHODS LESSON 4 PGDE</vt:lpstr>
      <vt:lpstr>Expectations &amp;Learning outcomes</vt:lpstr>
      <vt:lpstr>             Three Research Paradigms</vt:lpstr>
      <vt:lpstr>                                VARIABLES</vt:lpstr>
      <vt:lpstr>              Variables cont…</vt:lpstr>
      <vt:lpstr>Variable cont…..</vt:lpstr>
      <vt:lpstr>Variables cont……</vt:lpstr>
      <vt:lpstr>               Types of variables</vt:lpstr>
      <vt:lpstr>                       Classification of Variables and their examples</vt:lpstr>
      <vt:lpstr>Categorical cont….</vt:lpstr>
      <vt:lpstr>Classification of variables cont;</vt:lpstr>
      <vt:lpstr>          Independent variable</vt:lpstr>
      <vt:lpstr>Independent variable cont…..</vt:lpstr>
      <vt:lpstr>PowerPoint Presentation</vt:lpstr>
      <vt:lpstr>                 Dependent Variable</vt:lpstr>
      <vt:lpstr>PowerPoint Presentation</vt:lpstr>
      <vt:lpstr>PowerPoint Presentation</vt:lpstr>
      <vt:lpstr>PowerPoint Presentation</vt:lpstr>
      <vt:lpstr>PowerPoint Presentation</vt:lpstr>
      <vt:lpstr>PowerPoint Presentation</vt:lpstr>
      <vt:lpstr>CLASS GROUP DISCUSSION</vt:lpstr>
      <vt:lpstr>PowerPoint Presentation</vt:lpstr>
      <vt:lpstr> Can you identify the independent and Dependent variables in the following research titles? </vt:lpstr>
      <vt:lpstr>                Mediating variable</vt:lpstr>
      <vt:lpstr>Can you identify the Independent , Dependent and Moderating variables in the following research titles?</vt:lpstr>
      <vt:lpstr>PowerPoint Presentation</vt:lpstr>
      <vt:lpstr>PowerPoint Presentation</vt:lpstr>
      <vt:lpstr>              Moderator variable:</vt:lpstr>
      <vt:lpstr>PowerPoint Presentation</vt:lpstr>
      <vt:lpstr>PowerPoint Presentation</vt:lpstr>
      <vt:lpstr>                Control variables</vt:lpstr>
      <vt:lpstr>Research Design ….brief re-focus</vt:lpstr>
      <vt:lpstr>PowerPoint Presentation</vt:lpstr>
      <vt:lpstr>                Experimental Research?</vt:lpstr>
      <vt:lpstr>             Experimental Research </vt:lpstr>
      <vt:lpstr>PowerPoint Presentation</vt:lpstr>
      <vt:lpstr>Advantages of Experimental Research Design</vt:lpstr>
      <vt:lpstr>   Disadvantages of Experimental Research Design </vt:lpstr>
      <vt:lpstr>An Example of an experiment</vt:lpstr>
      <vt:lpstr>PowerPoint Presentation</vt:lpstr>
      <vt:lpstr>PowerPoint Presentation</vt:lpstr>
      <vt:lpstr>PowerPoint Presentation</vt:lpstr>
      <vt:lpstr>PowerPoint Presentation</vt:lpstr>
      <vt:lpstr>Non experimental Research </vt:lpstr>
      <vt:lpstr>            Causal-comparative research</vt:lpstr>
      <vt:lpstr>     …… Correlation Coefficient</vt:lpstr>
      <vt:lpstr>+ Positive Correlation</vt:lpstr>
      <vt:lpstr>- Negative Correlation </vt:lpstr>
      <vt:lpstr>NB</vt:lpstr>
      <vt:lpstr>    Historical Research ,Grounded theory</vt:lpstr>
      <vt:lpstr>Historical Research ,Grounded theory</vt:lpstr>
      <vt:lpstr>PowerPoint Presentation</vt:lpstr>
      <vt:lpstr>           Mixed Research Methods  </vt:lpstr>
      <vt:lpstr>               Mixed method research</vt:lpstr>
      <vt:lpstr>The Advantages of Mixed Research </vt:lpstr>
      <vt:lpstr>Mixed research cont….</vt:lpstr>
      <vt:lpstr>PowerPoint Presentation</vt:lpstr>
      <vt:lpstr>PowerPoint Presentation</vt:lpstr>
      <vt:lpstr>Mixed Model Research –Students to find 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  EED 4120 RESEARCH METHODS YEAR 4.1</dc:title>
  <dc:creator>ADMIN</dc:creator>
  <cp:lastModifiedBy>Dr. Gatembu</cp:lastModifiedBy>
  <cp:revision>83</cp:revision>
  <dcterms:created xsi:type="dcterms:W3CDTF">2022-06-25T10:50:00Z</dcterms:created>
  <dcterms:modified xsi:type="dcterms:W3CDTF">2025-11-22T06:41:45Z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587CFDD8668647A7AE54B4F67D8CFB8F</vt:lpwstr>
  </property>
  <property fmtid="{D5CDD505-2E9C-101B-9397-08002B2CF9AE}" pid="3" name="KSOProductBuildVer">
    <vt:lpwstr>1033-11.2.0.11191</vt:lpwstr>
  </property>
</Properties>
</file>