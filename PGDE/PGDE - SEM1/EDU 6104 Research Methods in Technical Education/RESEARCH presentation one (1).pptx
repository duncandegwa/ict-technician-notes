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E9ABF-0CE8-4D53-B7AA-05D04114216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2C30-DDEB-4DE6-96EE-632801073F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E9ABF-0CE8-4D53-B7AA-05D04114216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2C30-DDEB-4DE6-96EE-632801073F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E9ABF-0CE8-4D53-B7AA-05D04114216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2C30-DDEB-4DE6-96EE-632801073F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E9ABF-0CE8-4D53-B7AA-05D04114216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2C30-DDEB-4DE6-96EE-632801073F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E9ABF-0CE8-4D53-B7AA-05D04114216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2C30-DDEB-4DE6-96EE-632801073F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E9ABF-0CE8-4D53-B7AA-05D04114216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2C30-DDEB-4DE6-96EE-632801073F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E9ABF-0CE8-4D53-B7AA-05D04114216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2C30-DDEB-4DE6-96EE-632801073F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E9ABF-0CE8-4D53-B7AA-05D04114216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2C30-DDEB-4DE6-96EE-632801073F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E9ABF-0CE8-4D53-B7AA-05D04114216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2C30-DDEB-4DE6-96EE-632801073F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E9ABF-0CE8-4D53-B7AA-05D04114216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2C30-DDEB-4DE6-96EE-632801073F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E9ABF-0CE8-4D53-B7AA-05D04114216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D2C30-DDEB-4DE6-96EE-632801073F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E9ABF-0CE8-4D53-B7AA-05D04114216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D2C30-DDEB-4DE6-96EE-632801073FE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461" y="940903"/>
            <a:ext cx="9382539" cy="209384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Presentation </a:t>
            </a:r>
            <a:r>
              <a:rPr lang="en-US" dirty="0"/>
              <a:t>T</a:t>
            </a:r>
            <a:r>
              <a:rPr lang="en-US" dirty="0" smtClean="0"/>
              <a:t>wo</a:t>
            </a:r>
            <a:br>
              <a:rPr lang="en-US" dirty="0" smtClean="0"/>
            </a:br>
            <a:r>
              <a:rPr lang="en-US" dirty="0" smtClean="0"/>
              <a:t>COHORT </a:t>
            </a:r>
            <a:r>
              <a:rPr lang="en-US" dirty="0" smtClean="0"/>
              <a:t>TEN(10)RESEARCH METHODS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1478" y="3604591"/>
            <a:ext cx="9276522" cy="2353854"/>
          </a:xfrm>
        </p:spPr>
        <p:txBody>
          <a:bodyPr/>
          <a:lstStyle/>
          <a:p>
            <a:endParaRPr lang="en-US" dirty="0"/>
          </a:p>
          <a:p>
            <a:r>
              <a:rPr lang="en-US" sz="3600" b="1" dirty="0"/>
              <a:t>Introductory review </a:t>
            </a:r>
            <a:r>
              <a:rPr lang="en-US" sz="3600" b="1" dirty="0" smtClean="0"/>
              <a:t>and understanding </a:t>
            </a:r>
            <a:r>
              <a:rPr lang="en-US" sz="3600" b="1" dirty="0"/>
              <a:t>of </a:t>
            </a:r>
            <a:r>
              <a:rPr lang="en-US" sz="3600" b="1" dirty="0" smtClean="0"/>
              <a:t>the terminology “RESEARCH”</a:t>
            </a:r>
            <a:endParaRPr lang="en-US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the term 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lvl="0" indent="0">
              <a:buNone/>
            </a:pPr>
            <a:r>
              <a:rPr lang="fr-FR" dirty="0"/>
              <a:t>The </a:t>
            </a:r>
            <a:r>
              <a:rPr lang="fr-FR" dirty="0" smtClean="0"/>
              <a:t>Word  </a:t>
            </a:r>
            <a:r>
              <a:rPr lang="fr-FR" dirty="0" err="1"/>
              <a:t>research</a:t>
            </a:r>
            <a:r>
              <a:rPr lang="fr-FR" b="1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composed</a:t>
            </a:r>
            <a:r>
              <a:rPr lang="fr-FR" dirty="0"/>
              <a:t> of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syllables</a:t>
            </a:r>
            <a:r>
              <a:rPr lang="fr-FR" dirty="0" smtClean="0"/>
              <a:t>, »  </a:t>
            </a:r>
            <a:r>
              <a:rPr lang="fr-FR" b="1" dirty="0" err="1" smtClean="0"/>
              <a:t>re</a:t>
            </a:r>
            <a:r>
              <a:rPr lang="fr-FR" b="1" dirty="0" smtClean="0"/>
              <a:t> »</a:t>
            </a:r>
            <a:r>
              <a:rPr lang="fr-FR" dirty="0" smtClean="0"/>
              <a:t> and » </a:t>
            </a:r>
            <a:r>
              <a:rPr lang="fr-FR" b="1" dirty="0" err="1" smtClean="0"/>
              <a:t>search</a:t>
            </a:r>
            <a:r>
              <a:rPr lang="fr-FR" b="1" dirty="0" smtClean="0"/>
              <a:t> »</a:t>
            </a:r>
            <a:r>
              <a:rPr lang="fr-FR" dirty="0" smtClean="0"/>
              <a:t>. </a:t>
            </a:r>
            <a:endParaRPr lang="en-US" dirty="0"/>
          </a:p>
          <a:p>
            <a:pPr marL="0" lvl="0" indent="0">
              <a:buNone/>
            </a:pPr>
            <a:r>
              <a:rPr lang="fr-FR" dirty="0"/>
              <a:t>The </a:t>
            </a:r>
            <a:r>
              <a:rPr lang="fr-FR" dirty="0" err="1"/>
              <a:t>dictionary</a:t>
            </a:r>
            <a:r>
              <a:rPr lang="fr-FR" dirty="0"/>
              <a:t> </a:t>
            </a:r>
            <a:r>
              <a:rPr lang="fr-FR" dirty="0" err="1"/>
              <a:t>defines</a:t>
            </a:r>
            <a:r>
              <a:rPr lang="fr-FR" dirty="0"/>
              <a:t> the </a:t>
            </a:r>
            <a:r>
              <a:rPr lang="fr-FR" dirty="0" smtClean="0"/>
              <a:t>former as </a:t>
            </a:r>
            <a:r>
              <a:rPr lang="fr-FR" dirty="0"/>
              <a:t>a </a:t>
            </a:r>
            <a:r>
              <a:rPr lang="fr-FR" dirty="0" err="1"/>
              <a:t>prefix</a:t>
            </a:r>
            <a:r>
              <a:rPr lang="fr-FR" dirty="0"/>
              <a:t> </a:t>
            </a:r>
            <a:r>
              <a:rPr lang="fr-FR" dirty="0" err="1"/>
              <a:t>meaning</a:t>
            </a:r>
            <a:r>
              <a:rPr lang="fr-FR" dirty="0"/>
              <a:t> </a:t>
            </a:r>
            <a:r>
              <a:rPr lang="fr-FR" dirty="0" err="1"/>
              <a:t>again</a:t>
            </a:r>
            <a:r>
              <a:rPr lang="fr-FR" dirty="0"/>
              <a:t>, a new, or over </a:t>
            </a:r>
            <a:r>
              <a:rPr lang="fr-FR" dirty="0" err="1"/>
              <a:t>again</a:t>
            </a:r>
            <a:r>
              <a:rPr lang="fr-FR"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                </a:t>
            </a:r>
            <a:r>
              <a:rPr lang="fr-FR" dirty="0"/>
              <a:t>and</a:t>
            </a:r>
            <a:endParaRPr lang="en-US" dirty="0"/>
          </a:p>
          <a:p>
            <a:pPr marL="0" lvl="0" indent="0">
              <a:buNone/>
            </a:pPr>
            <a:r>
              <a:rPr lang="fr-FR" dirty="0"/>
              <a:t>the </a:t>
            </a:r>
            <a:r>
              <a:rPr lang="fr-FR" dirty="0" smtClean="0"/>
              <a:t>latter(</a:t>
            </a:r>
            <a:r>
              <a:rPr lang="fr-FR" i="1" u="sng" dirty="0" err="1" smtClean="0">
                <a:solidFill>
                  <a:srgbClr val="FF0000"/>
                </a:solidFill>
              </a:rPr>
              <a:t>search</a:t>
            </a:r>
            <a:r>
              <a:rPr lang="fr-FR" dirty="0" smtClean="0"/>
              <a:t>) </a:t>
            </a:r>
            <a:r>
              <a:rPr lang="fr-FR" dirty="0"/>
              <a:t>as a </a:t>
            </a:r>
            <a:r>
              <a:rPr lang="fr-FR" dirty="0" err="1"/>
              <a:t>verb</a:t>
            </a:r>
            <a:r>
              <a:rPr lang="fr-FR" dirty="0"/>
              <a:t> </a:t>
            </a:r>
            <a:r>
              <a:rPr lang="fr-FR" dirty="0" err="1"/>
              <a:t>meaning</a:t>
            </a:r>
            <a:r>
              <a:rPr lang="fr-FR" dirty="0"/>
              <a:t> to examine </a:t>
            </a:r>
            <a:r>
              <a:rPr lang="fr-FR" dirty="0" err="1"/>
              <a:t>closely</a:t>
            </a:r>
            <a:r>
              <a:rPr lang="fr-FR" dirty="0"/>
              <a:t> and </a:t>
            </a:r>
            <a:r>
              <a:rPr lang="fr-FR" dirty="0" err="1"/>
              <a:t>carefully</a:t>
            </a:r>
            <a:r>
              <a:rPr lang="fr-FR" dirty="0"/>
              <a:t>, to test and </a:t>
            </a:r>
            <a:r>
              <a:rPr lang="fr-FR" dirty="0" err="1"/>
              <a:t>try</a:t>
            </a:r>
            <a:r>
              <a:rPr lang="fr-FR" dirty="0"/>
              <a:t>, or to probe. </a:t>
            </a:r>
            <a:endParaRPr lang="en-US" dirty="0"/>
          </a:p>
          <a:p>
            <a:pPr marL="0" lvl="0" indent="0">
              <a:buNone/>
            </a:pPr>
            <a:r>
              <a:rPr lang="fr-FR" dirty="0" err="1" smtClean="0"/>
              <a:t>Together</a:t>
            </a:r>
            <a:r>
              <a:rPr lang="fr-FR" dirty="0" smtClean="0"/>
              <a:t>(</a:t>
            </a:r>
            <a:r>
              <a:rPr lang="fr-FR" i="1" u="sng" dirty="0" err="1" smtClean="0">
                <a:solidFill>
                  <a:srgbClr val="FF0000"/>
                </a:solidFill>
              </a:rPr>
              <a:t>reserarch</a:t>
            </a:r>
            <a:r>
              <a:rPr lang="fr-FR" dirty="0" smtClean="0"/>
              <a:t>)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form</a:t>
            </a:r>
            <a:r>
              <a:rPr lang="fr-FR" dirty="0"/>
              <a:t> a </a:t>
            </a:r>
            <a:r>
              <a:rPr lang="fr-FR" dirty="0" err="1"/>
              <a:t>noun</a:t>
            </a:r>
            <a:r>
              <a:rPr lang="fr-FR" dirty="0"/>
              <a:t> </a:t>
            </a:r>
            <a:r>
              <a:rPr lang="fr-FR" dirty="0" err="1"/>
              <a:t>describing</a:t>
            </a:r>
            <a:r>
              <a:rPr lang="fr-FR" dirty="0"/>
              <a:t> a </a:t>
            </a:r>
            <a:r>
              <a:rPr lang="fr-FR" dirty="0" err="1"/>
              <a:t>careful</a:t>
            </a:r>
            <a:r>
              <a:rPr lang="fr-FR" dirty="0"/>
              <a:t>, </a:t>
            </a:r>
            <a:r>
              <a:rPr lang="fr-FR" dirty="0" err="1"/>
              <a:t>systematic</a:t>
            </a:r>
            <a:r>
              <a:rPr lang="fr-FR" dirty="0"/>
              <a:t>, patient </a:t>
            </a:r>
            <a:r>
              <a:rPr lang="fr-FR" dirty="0" err="1"/>
              <a:t>study</a:t>
            </a:r>
            <a:r>
              <a:rPr lang="fr-FR" dirty="0"/>
              <a:t> and investigation in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field</a:t>
            </a:r>
            <a:r>
              <a:rPr lang="fr-FR" dirty="0"/>
              <a:t> of </a:t>
            </a:r>
            <a:r>
              <a:rPr lang="fr-FR" dirty="0" err="1"/>
              <a:t>knowledge</a:t>
            </a:r>
            <a:r>
              <a:rPr lang="fr-FR" dirty="0"/>
              <a:t>, </a:t>
            </a:r>
            <a:r>
              <a:rPr lang="fr-FR" dirty="0" err="1"/>
              <a:t>undertaken</a:t>
            </a:r>
            <a:r>
              <a:rPr lang="fr-FR" dirty="0"/>
              <a:t> to </a:t>
            </a:r>
            <a:r>
              <a:rPr lang="fr-FR" dirty="0" err="1"/>
              <a:t>establish</a:t>
            </a:r>
            <a:r>
              <a:rPr lang="fr-FR" dirty="0"/>
              <a:t> </a:t>
            </a:r>
            <a:r>
              <a:rPr lang="fr-FR" dirty="0" err="1"/>
              <a:t>facts</a:t>
            </a:r>
            <a:r>
              <a:rPr lang="fr-FR" dirty="0"/>
              <a:t> or </a:t>
            </a:r>
            <a:r>
              <a:rPr lang="fr-FR" dirty="0" err="1"/>
              <a:t>principles</a:t>
            </a:r>
            <a:r>
              <a:rPr lang="fr-FR" dirty="0" smtClean="0"/>
              <a:t>.(</a:t>
            </a:r>
            <a:r>
              <a:rPr lang="fr-FR" i="1" dirty="0" err="1"/>
              <a:t>Grinnel</a:t>
            </a:r>
            <a:r>
              <a:rPr lang="fr-FR" i="1" dirty="0"/>
              <a:t> ,1993)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32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summary;-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 term “research” consists of two words</a:t>
            </a:r>
          </a:p>
          <a:p>
            <a:pPr marL="0" indent="0">
              <a:buNone/>
            </a:pPr>
            <a:r>
              <a:rPr lang="en-US" sz="3200" b="1" dirty="0" smtClean="0"/>
              <a:t>Research </a:t>
            </a:r>
            <a:r>
              <a:rPr lang="en-US" dirty="0" smtClean="0"/>
              <a:t>=    </a:t>
            </a:r>
            <a:r>
              <a:rPr lang="en-US" dirty="0" smtClean="0">
                <a:solidFill>
                  <a:srgbClr val="FF0000"/>
                </a:solidFill>
              </a:rPr>
              <a:t>“</a:t>
            </a:r>
            <a:r>
              <a:rPr lang="en-US" b="1" dirty="0" smtClean="0">
                <a:solidFill>
                  <a:srgbClr val="FF0000"/>
                </a:solidFill>
              </a:rPr>
              <a:t>Re”        </a:t>
            </a:r>
            <a:r>
              <a:rPr lang="en-US" dirty="0" smtClean="0"/>
              <a:t>+      </a:t>
            </a:r>
            <a:r>
              <a:rPr lang="en-US" dirty="0" smtClean="0">
                <a:solidFill>
                  <a:srgbClr val="FF0000"/>
                </a:solidFill>
              </a:rPr>
              <a:t>“</a:t>
            </a:r>
            <a:r>
              <a:rPr lang="en-US" b="1" dirty="0" smtClean="0">
                <a:solidFill>
                  <a:srgbClr val="FF0000"/>
                </a:solidFill>
              </a:rPr>
              <a:t>Search”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“Re”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means again and again 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“Search” </a:t>
            </a:r>
            <a:r>
              <a:rPr lang="en-US" dirty="0" smtClean="0"/>
              <a:t>means to find out something</a:t>
            </a:r>
          </a:p>
          <a:p>
            <a:r>
              <a:rPr lang="en-US" dirty="0" smtClean="0"/>
              <a:t>The process of research therefore implies </a:t>
            </a:r>
          </a:p>
          <a:p>
            <a:pPr marL="0" indent="0">
              <a:buNone/>
            </a:pPr>
            <a:r>
              <a:rPr lang="en-US" dirty="0" smtClean="0"/>
              <a:t>  Person        observes          Phenomenon         collection of data        </a:t>
            </a:r>
          </a:p>
          <a:p>
            <a:pPr marL="0" indent="0">
              <a:buNone/>
            </a:pPr>
            <a:r>
              <a:rPr lang="en-US" dirty="0" smtClean="0"/>
              <a:t>Analysis of </a:t>
            </a:r>
            <a:r>
              <a:rPr lang="en-US" dirty="0"/>
              <a:t>data </a:t>
            </a:r>
            <a:r>
              <a:rPr lang="en-US" dirty="0" smtClean="0"/>
              <a:t>              conclusion                      </a:t>
            </a:r>
            <a:r>
              <a:rPr lang="en-US" dirty="0"/>
              <a:t>Again and Again </a:t>
            </a:r>
            <a:endParaRPr lang="en-US" dirty="0" smtClean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435531" y="4140926"/>
            <a:ext cx="1175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ight Arrow 3"/>
          <p:cNvSpPr/>
          <p:nvPr/>
        </p:nvSpPr>
        <p:spPr>
          <a:xfrm>
            <a:off x="2090057" y="4465122"/>
            <a:ext cx="617517" cy="5083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4049486" y="4465122"/>
            <a:ext cx="724395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7125195" y="4465122"/>
            <a:ext cx="344384" cy="484632"/>
          </a:xfrm>
          <a:prstGeom prst="rightArrow">
            <a:avLst>
              <a:gd name="adj1" fmla="val 50000"/>
              <a:gd name="adj2" fmla="val 568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3764478" y="5130140"/>
            <a:ext cx="570016" cy="190005"/>
          </a:xfrm>
          <a:prstGeom prst="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6068291" y="4973505"/>
            <a:ext cx="1626919" cy="3466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Scholarly definitions 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Kombo &amp; </a:t>
            </a:r>
            <a:r>
              <a:rPr lang="en-US" dirty="0" err="1"/>
              <a:t>Delno</a:t>
            </a:r>
            <a:r>
              <a:rPr lang="en-US" dirty="0"/>
              <a:t> (2009)   states  the term “research” means to look for, examine, investigate or explore . Research  </a:t>
            </a:r>
            <a:r>
              <a:rPr lang="en-US" dirty="0" err="1"/>
              <a:t>therefore,is</a:t>
            </a:r>
            <a:r>
              <a:rPr lang="en-US" dirty="0"/>
              <a:t>  a </a:t>
            </a:r>
            <a:r>
              <a:rPr lang="en-US" dirty="0" smtClean="0"/>
              <a:t>systematic </a:t>
            </a:r>
            <a:r>
              <a:rPr lang="en-US" dirty="0"/>
              <a:t>process of collecting, examining and interpreting </a:t>
            </a:r>
            <a:r>
              <a:rPr lang="en-US" dirty="0" smtClean="0"/>
              <a:t>data</a:t>
            </a:r>
          </a:p>
          <a:p>
            <a:endParaRPr lang="en-US" dirty="0"/>
          </a:p>
          <a:p>
            <a:r>
              <a:rPr lang="en-US" dirty="0" err="1" smtClean="0"/>
              <a:t>Mugenda</a:t>
            </a:r>
            <a:r>
              <a:rPr lang="en-US" dirty="0" smtClean="0"/>
              <a:t> </a:t>
            </a:r>
            <a:r>
              <a:rPr lang="en-US" dirty="0"/>
              <a:t>&amp; </a:t>
            </a:r>
            <a:r>
              <a:rPr lang="en-US" dirty="0" err="1"/>
              <a:t>Mugenda</a:t>
            </a:r>
            <a:r>
              <a:rPr lang="en-US" dirty="0"/>
              <a:t> (2003) states to ‘research’ is to carryout a diligent inquiry or critical examination of a given phenomenon.  It implies exhaustive study, investigation or experimentation following some logical sequence. Research also involves a critical analysis of existing conclusions or theories with regard to newly defined facts.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Research, therefore means a continued search for new knowledge and understanding of the world around us. </a:t>
            </a:r>
            <a:r>
              <a:rPr lang="en-US" dirty="0" err="1"/>
              <a:t>Kerlinger</a:t>
            </a:r>
            <a:r>
              <a:rPr lang="en-US" dirty="0"/>
              <a:t> (1973:11) defines research as a systematically controlled, empirical and critical investigation of hypothetical propositions about the presumed relations among natural phenomenon. Tuchman (1978:1) describes research as a systematic attempt to provide answers to </a:t>
            </a:r>
            <a:r>
              <a:rPr lang="en-US" dirty="0" smtClean="0"/>
              <a:t>questions</a:t>
            </a:r>
          </a:p>
          <a:p>
            <a:r>
              <a:rPr lang="en-US" dirty="0" smtClean="0"/>
              <a:t>Johnson </a:t>
            </a:r>
            <a:r>
              <a:rPr lang="en-US" dirty="0"/>
              <a:t>(1994) defines research as a focused and systematic inquiry that goes beyond generally available knowledge to acquire socialized and detailed information, providing a basis for analysis and elucidatory comment on the topic of enquiry.</a:t>
            </a:r>
          </a:p>
          <a:p>
            <a:r>
              <a:rPr lang="en-US" dirty="0"/>
              <a:t>Research is the systematic investigation into and study of materials and sources in order to establish facts  and reach new conclusions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F0"/>
                </a:solidFill>
              </a:rPr>
              <a:t>General Characteristics of research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Gathers new knowledge or data from primary sources</a:t>
            </a:r>
          </a:p>
          <a:p>
            <a:r>
              <a:rPr lang="en-US" dirty="0" smtClean="0"/>
              <a:t>Places emphasis upon discovery of general principles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It is an exact ,systematic and accurate investigation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Its logical and objective</a:t>
            </a:r>
          </a:p>
          <a:p>
            <a:r>
              <a:rPr lang="en-US" dirty="0" smtClean="0"/>
              <a:t>Researcher eliminates personal feelings and preferences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Research is carefully recorded and reported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338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Presentation Two COHORT TEN(10)RESEARCH METHODS</vt:lpstr>
      <vt:lpstr>Defining the term Research</vt:lpstr>
      <vt:lpstr>In summary;-</vt:lpstr>
      <vt:lpstr>Scholarly definitions </vt:lpstr>
      <vt:lpstr>PowerPoint Presentation</vt:lpstr>
      <vt:lpstr>General Characteristics of research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</dc:title>
  <dc:creator>ADMIN</dc:creator>
  <cp:lastModifiedBy>Dr. Gatembu</cp:lastModifiedBy>
  <cp:revision>16</cp:revision>
  <dcterms:created xsi:type="dcterms:W3CDTF">2021-11-01T02:50:00Z</dcterms:created>
  <dcterms:modified xsi:type="dcterms:W3CDTF">2025-11-12T12:19:19Z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03665119A02645CDB02F7971A7257AAD</vt:lpwstr>
  </property>
  <property fmtid="{D5CDD505-2E9C-101B-9397-08002B2CF9AE}" pid="3" name="KSOProductBuildVer">
    <vt:lpwstr>1033-11.2.0.11440</vt:lpwstr>
  </property>
</Properties>
</file>