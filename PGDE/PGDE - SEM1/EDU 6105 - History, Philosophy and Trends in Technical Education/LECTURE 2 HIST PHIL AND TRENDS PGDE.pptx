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59" r:id="rId5"/>
    <p:sldId id="260" r:id="rId6"/>
    <p:sldId id="261" r:id="rId7"/>
    <p:sldId id="263" r:id="rId8"/>
    <p:sldId id="262"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60"/>
  </p:normalViewPr>
  <p:slideViewPr>
    <p:cSldViewPr snapToGrid="0">
      <p:cViewPr varScale="1">
        <p:scale>
          <a:sx n="72" d="100"/>
          <a:sy n="72" d="100"/>
        </p:scale>
        <p:origin x="61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2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36089780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26465688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194AA7-2891-4D4B-A432-A9DAF8023B2B}"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3288218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194AA7-2891-4D4B-A432-A9DAF8023B2B}"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82867547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5194AA7-2891-4D4B-A432-A9DAF8023B2B}"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695515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194AA7-2891-4D4B-A432-A9DAF8023B2B}"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2550315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194AA7-2891-4D4B-A432-A9DAF8023B2B}"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338511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194AA7-2891-4D4B-A432-A9DAF8023B2B}"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1607773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94AA7-2891-4D4B-A432-A9DAF8023B2B}"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1295567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194AA7-2891-4D4B-A432-A9DAF8023B2B}"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58583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194AA7-2891-4D4B-A432-A9DAF8023B2B}"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3877643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194AA7-2891-4D4B-A432-A9DAF8023B2B}"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3643028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194AA7-2891-4D4B-A432-A9DAF8023B2B}"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B7049-2042-43C5-9EB9-C95B6315FDCC}" type="slidenum">
              <a:rPr lang="en-US" smtClean="0"/>
              <a:t>‹#›</a:t>
            </a:fld>
            <a:endParaRPr lang="en-US"/>
          </a:p>
        </p:txBody>
      </p:sp>
    </p:spTree>
    <p:extLst>
      <p:ext uri="{BB962C8B-B14F-4D97-AF65-F5344CB8AC3E}">
        <p14:creationId xmlns:p14="http://schemas.microsoft.com/office/powerpoint/2010/main" val="1771823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194AA7-2891-4D4B-A432-A9DAF8023B2B}" type="datetimeFigureOut">
              <a:rPr lang="en-US" smtClean="0"/>
              <a:t>11/22/2025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3B7049-2042-43C5-9EB9-C95B6315FDCC}" type="slidenum">
              <a:rPr lang="en-US" smtClean="0"/>
              <a:t>‹#›</a:t>
            </a:fld>
            <a:endParaRPr lang="en-US"/>
          </a:p>
        </p:txBody>
      </p:sp>
    </p:spTree>
    <p:extLst>
      <p:ext uri="{BB962C8B-B14F-4D97-AF65-F5344CB8AC3E}">
        <p14:creationId xmlns:p14="http://schemas.microsoft.com/office/powerpoint/2010/main" val="339691512"/>
      </p:ext>
    </p:extLst>
  </p:cSld>
  <p:clrMap bg1="lt1" tx1="dk1" bg2="lt2" tx2="dk2" accent1="accent1" accent2="accent2" accent3="accent3" accent4="accent4" accent5="accent5" accent6="accent6" hlink="hlink" folHlink="folHlink"/>
  <p:sldLayoutIdLst>
    <p:sldLayoutId id="2147483662" r:id="rId1"/>
    <p:sldLayoutId id="2147483661"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 </a:t>
            </a:r>
            <a:r>
              <a:rPr lang="en-US" dirty="0" smtClean="0"/>
              <a:t>2 PGDE COHORT TEN</a:t>
            </a:r>
            <a:endParaRPr lang="en-US" dirty="0"/>
          </a:p>
        </p:txBody>
      </p:sp>
      <p:sp>
        <p:nvSpPr>
          <p:cNvPr id="3" name="Content Placeholder 2"/>
          <p:cNvSpPr>
            <a:spLocks noGrp="1"/>
          </p:cNvSpPr>
          <p:nvPr>
            <p:ph idx="1"/>
          </p:nvPr>
        </p:nvSpPr>
        <p:spPr>
          <a:xfrm>
            <a:off x="838200" y="1995055"/>
            <a:ext cx="10158351" cy="4181908"/>
          </a:xfrm>
        </p:spPr>
        <p:txBody>
          <a:bodyPr>
            <a:normAutofit/>
          </a:bodyPr>
          <a:lstStyle/>
          <a:p>
            <a:endParaRPr lang="en-US" dirty="0" smtClean="0"/>
          </a:p>
          <a:p>
            <a:pPr marL="0" indent="0">
              <a:buNone/>
            </a:pPr>
            <a:r>
              <a:rPr lang="en-US" sz="5400" dirty="0" smtClean="0">
                <a:solidFill>
                  <a:srgbClr val="002060"/>
                </a:solidFill>
              </a:rPr>
              <a:t>HISTORY,PHILOSOPHY AND TRENDS   </a:t>
            </a:r>
          </a:p>
          <a:p>
            <a:pPr marL="0" indent="0">
              <a:buNone/>
            </a:pPr>
            <a:r>
              <a:rPr lang="en-US" sz="5400" dirty="0" smtClean="0">
                <a:solidFill>
                  <a:srgbClr val="002060"/>
                </a:solidFill>
              </a:rPr>
              <a:t>        IN TECHNICAL EDUCATION</a:t>
            </a:r>
          </a:p>
          <a:p>
            <a:endParaRPr lang="en-US" sz="4400" dirty="0" smtClean="0"/>
          </a:p>
        </p:txBody>
      </p:sp>
    </p:spTree>
    <p:extLst>
      <p:ext uri="{BB962C8B-B14F-4D97-AF65-F5344CB8AC3E}">
        <p14:creationId xmlns:p14="http://schemas.microsoft.com/office/powerpoint/2010/main" val="1332599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TRACING THE ORIGINS OF </a:t>
            </a:r>
            <a:r>
              <a:rPr lang="en-US" b="1" dirty="0" smtClean="0"/>
              <a:t>TECHNICAL VOCATIONAL EDUCATIONAL TRAINING </a:t>
            </a:r>
            <a:r>
              <a:rPr lang="en-US" b="1" dirty="0"/>
              <a:t>IN KENYA’S EDUCATION</a:t>
            </a:r>
            <a:endParaRPr lang="en-US" dirty="0"/>
          </a:p>
        </p:txBody>
      </p:sp>
      <p:sp>
        <p:nvSpPr>
          <p:cNvPr id="3" name="Content Placeholder 2"/>
          <p:cNvSpPr>
            <a:spLocks noGrp="1"/>
          </p:cNvSpPr>
          <p:nvPr>
            <p:ph idx="1"/>
          </p:nvPr>
        </p:nvSpPr>
        <p:spPr/>
        <p:txBody>
          <a:bodyPr/>
          <a:lstStyle/>
          <a:p>
            <a:r>
              <a:rPr lang="en-US" dirty="0"/>
              <a:t>Traditional education was integrated with the social, cultural, artistic, </a:t>
            </a:r>
            <a:r>
              <a:rPr lang="en-US" dirty="0" smtClean="0"/>
              <a:t>religious and recreational life</a:t>
            </a:r>
          </a:p>
          <a:p>
            <a:r>
              <a:rPr lang="en-US" dirty="0"/>
              <a:t>This type of education provided skills and knowledge, and was a socializing agent that transmitted cultural values from one generation to another. </a:t>
            </a:r>
            <a:endParaRPr lang="en-US" dirty="0" smtClean="0"/>
          </a:p>
          <a:p>
            <a:r>
              <a:rPr lang="en-US" dirty="0" smtClean="0"/>
              <a:t>Define term socializing agent</a:t>
            </a:r>
          </a:p>
          <a:p>
            <a:r>
              <a:rPr lang="en-US" dirty="0" smtClean="0"/>
              <a:t>We intend to </a:t>
            </a:r>
            <a:r>
              <a:rPr lang="en-US" dirty="0"/>
              <a:t>trace TVET education system in </a:t>
            </a:r>
            <a:r>
              <a:rPr lang="en-US" dirty="0" smtClean="0"/>
              <a:t>Kenya</a:t>
            </a:r>
          </a:p>
          <a:p>
            <a:r>
              <a:rPr lang="en-US" dirty="0" smtClean="0">
                <a:solidFill>
                  <a:srgbClr val="FF0000"/>
                </a:solidFill>
              </a:rPr>
              <a:t> (a)pre-colonization </a:t>
            </a:r>
            <a:r>
              <a:rPr lang="en-US" dirty="0" smtClean="0"/>
              <a:t>(</a:t>
            </a:r>
            <a:r>
              <a:rPr lang="en-US" dirty="0" smtClean="0">
                <a:solidFill>
                  <a:schemeClr val="accent1"/>
                </a:solidFill>
              </a:rPr>
              <a:t>b)during </a:t>
            </a:r>
            <a:r>
              <a:rPr lang="en-US" dirty="0">
                <a:solidFill>
                  <a:schemeClr val="accent1"/>
                </a:solidFill>
              </a:rPr>
              <a:t>colonization </a:t>
            </a:r>
            <a:r>
              <a:rPr lang="en-US" dirty="0"/>
              <a:t>and </a:t>
            </a:r>
            <a:r>
              <a:rPr lang="en-US" dirty="0" smtClean="0"/>
              <a:t>( </a:t>
            </a:r>
            <a:r>
              <a:rPr lang="en-US" dirty="0" smtClean="0">
                <a:solidFill>
                  <a:srgbClr val="FF0000"/>
                </a:solidFill>
              </a:rPr>
              <a:t>c)post </a:t>
            </a:r>
            <a:r>
              <a:rPr lang="en-US" dirty="0">
                <a:solidFill>
                  <a:srgbClr val="FF0000"/>
                </a:solidFill>
              </a:rPr>
              <a:t>colonization</a:t>
            </a:r>
          </a:p>
        </p:txBody>
      </p:sp>
    </p:spTree>
    <p:extLst>
      <p:ext uri="{BB962C8B-B14F-4D97-AF65-F5344CB8AC3E}">
        <p14:creationId xmlns:p14="http://schemas.microsoft.com/office/powerpoint/2010/main" val="3607974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TVET in Kenya before colonization.</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Technical training as an art and science began in Kenya a very long time ago. </a:t>
            </a:r>
            <a:endParaRPr lang="en-US" dirty="0" smtClean="0"/>
          </a:p>
          <a:p>
            <a:r>
              <a:rPr lang="en-US" dirty="0" smtClean="0"/>
              <a:t>Long </a:t>
            </a:r>
            <a:r>
              <a:rPr lang="en-US" dirty="0"/>
              <a:t>before the arrival of the Europeans, Kenyans knew how to build their houses, fashion agricultural implements; and make spears, knives, hoes, axes, cooking utensils and water containers, etc. </a:t>
            </a:r>
            <a:endParaRPr lang="en-US" dirty="0" smtClean="0"/>
          </a:p>
          <a:p>
            <a:r>
              <a:rPr lang="en-US" dirty="0" smtClean="0"/>
              <a:t>The </a:t>
            </a:r>
            <a:r>
              <a:rPr lang="en-US" dirty="0"/>
              <a:t>ancient art and technical skills made the life of our people relatively more comfortable to a degree allowed by their own natural environment and skill competencies</a:t>
            </a:r>
          </a:p>
        </p:txBody>
      </p:sp>
    </p:spTree>
    <p:extLst>
      <p:ext uri="{BB962C8B-B14F-4D97-AF65-F5344CB8AC3E}">
        <p14:creationId xmlns:p14="http://schemas.microsoft.com/office/powerpoint/2010/main" val="3289455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Traditionally, these skills were passed from father to son within the family or clan in form of an apprenticeship system.</a:t>
            </a:r>
          </a:p>
          <a:p>
            <a:r>
              <a:rPr lang="en-US" dirty="0"/>
              <a:t>However, not much is documented about the training scene in Kenya. </a:t>
            </a:r>
            <a:endParaRPr lang="en-US" dirty="0" smtClean="0"/>
          </a:p>
          <a:p>
            <a:r>
              <a:rPr lang="en-US" dirty="0" smtClean="0"/>
              <a:t>There </a:t>
            </a:r>
            <a:r>
              <a:rPr lang="en-US" dirty="0"/>
              <a:t>is no adequate documentation of the history and scope of education and training in Africa, and in Kenya in particular, especially before </a:t>
            </a:r>
            <a:r>
              <a:rPr lang="en-US" dirty="0" smtClean="0"/>
              <a:t>the </a:t>
            </a:r>
            <a:r>
              <a:rPr lang="en-US" dirty="0"/>
              <a:t>coming of the European </a:t>
            </a:r>
            <a:r>
              <a:rPr lang="en-US" dirty="0" smtClean="0"/>
              <a:t>colonizers</a:t>
            </a:r>
          </a:p>
          <a:p>
            <a:r>
              <a:rPr lang="en-US" dirty="0"/>
              <a:t>The little that was written about education that was happening was aimed more at discrediting the traditional Kenyan education system and thus they are not very objective. This is because, pre-independence, most of the African education was oral and not written even when some communities knew how to read and write like the Swahili, Zulu, Xhosa.</a:t>
            </a:r>
          </a:p>
          <a:p>
            <a:endParaRPr lang="en-US" dirty="0"/>
          </a:p>
        </p:txBody>
      </p:sp>
    </p:spTree>
    <p:extLst>
      <p:ext uri="{BB962C8B-B14F-4D97-AF65-F5344CB8AC3E}">
        <p14:creationId xmlns:p14="http://schemas.microsoft.com/office/powerpoint/2010/main" val="175498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In the precolonial Kenya, Education was </a:t>
            </a:r>
            <a:r>
              <a:rPr lang="en-US" dirty="0" smtClean="0"/>
              <a:t>starting </a:t>
            </a:r>
            <a:r>
              <a:rPr lang="en-US" dirty="0"/>
              <a:t>at birth</a:t>
            </a:r>
            <a:r>
              <a:rPr lang="en-US" dirty="0" smtClean="0"/>
              <a:t>.</a:t>
            </a:r>
          </a:p>
          <a:p>
            <a:r>
              <a:rPr lang="en-US" dirty="0" smtClean="0"/>
              <a:t> </a:t>
            </a:r>
            <a:r>
              <a:rPr lang="en-US" dirty="0"/>
              <a:t>This started by the children </a:t>
            </a:r>
            <a:r>
              <a:rPr lang="en-US" dirty="0">
                <a:solidFill>
                  <a:srgbClr val="FF0000"/>
                </a:solidFill>
              </a:rPr>
              <a:t>being orally taught </a:t>
            </a:r>
            <a:r>
              <a:rPr lang="en-US" dirty="0"/>
              <a:t>their role in society. </a:t>
            </a:r>
            <a:endParaRPr lang="en-US" dirty="0" smtClean="0"/>
          </a:p>
          <a:p>
            <a:r>
              <a:rPr lang="en-US" dirty="0" smtClean="0"/>
              <a:t>They </a:t>
            </a:r>
            <a:r>
              <a:rPr lang="en-US" dirty="0"/>
              <a:t>also learned </a:t>
            </a:r>
            <a:r>
              <a:rPr lang="en-US" dirty="0">
                <a:solidFill>
                  <a:srgbClr val="FF0000"/>
                </a:solidFill>
              </a:rPr>
              <a:t>by observing </a:t>
            </a:r>
            <a:r>
              <a:rPr lang="en-US" dirty="0"/>
              <a:t>what the adult were doing. </a:t>
            </a:r>
            <a:endParaRPr lang="en-US" dirty="0" smtClean="0"/>
          </a:p>
          <a:p>
            <a:r>
              <a:rPr lang="en-US" dirty="0" smtClean="0"/>
              <a:t>Traditionally</a:t>
            </a:r>
            <a:r>
              <a:rPr lang="en-US" dirty="0"/>
              <a:t>, the skills were passed from </a:t>
            </a:r>
            <a:r>
              <a:rPr lang="en-US" dirty="0">
                <a:solidFill>
                  <a:srgbClr val="FF0000"/>
                </a:solidFill>
              </a:rPr>
              <a:t>father to son</a:t>
            </a:r>
            <a:r>
              <a:rPr lang="en-US" dirty="0"/>
              <a:t>, from </a:t>
            </a:r>
            <a:r>
              <a:rPr lang="en-US" dirty="0">
                <a:solidFill>
                  <a:srgbClr val="FF0000"/>
                </a:solidFill>
              </a:rPr>
              <a:t>mother to daughter</a:t>
            </a:r>
            <a:r>
              <a:rPr lang="en-US" dirty="0"/>
              <a:t> and within the family or clan in the form of an apprentice-ship system</a:t>
            </a:r>
            <a:r>
              <a:rPr lang="en-US" dirty="0" smtClean="0"/>
              <a:t>.</a:t>
            </a:r>
          </a:p>
          <a:p>
            <a:r>
              <a:rPr lang="en-US" dirty="0" smtClean="0"/>
              <a:t> </a:t>
            </a:r>
            <a:r>
              <a:rPr lang="en-US" dirty="0"/>
              <a:t>The kind of African education and training before the coming of any foreigners was </a:t>
            </a:r>
            <a:r>
              <a:rPr lang="en-US" dirty="0">
                <a:solidFill>
                  <a:srgbClr val="FF0000"/>
                </a:solidFill>
              </a:rPr>
              <a:t>complete. </a:t>
            </a:r>
            <a:endParaRPr lang="en-US" dirty="0" smtClean="0">
              <a:solidFill>
                <a:srgbClr val="FF0000"/>
              </a:solidFill>
            </a:endParaRPr>
          </a:p>
          <a:p>
            <a:r>
              <a:rPr lang="en-US" dirty="0" smtClean="0"/>
              <a:t>It </a:t>
            </a:r>
            <a:r>
              <a:rPr lang="en-US" dirty="0"/>
              <a:t>was </a:t>
            </a:r>
            <a:r>
              <a:rPr lang="en-US" dirty="0">
                <a:solidFill>
                  <a:srgbClr val="FF0000"/>
                </a:solidFill>
              </a:rPr>
              <a:t>complete in the sense that children were taught social norms and how to survive in their environment.</a:t>
            </a:r>
          </a:p>
        </p:txBody>
      </p:sp>
    </p:spTree>
    <p:extLst>
      <p:ext uri="{BB962C8B-B14F-4D97-AF65-F5344CB8AC3E}">
        <p14:creationId xmlns:p14="http://schemas.microsoft.com/office/powerpoint/2010/main" val="8320900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They were living in great harmony and peace with their environment. </a:t>
            </a:r>
            <a:endParaRPr lang="en-US" dirty="0" smtClean="0"/>
          </a:p>
          <a:p>
            <a:pPr marL="0" indent="0">
              <a:buNone/>
            </a:pPr>
            <a:r>
              <a:rPr lang="en-US" sz="3200" dirty="0" smtClean="0">
                <a:solidFill>
                  <a:srgbClr val="FF0000"/>
                </a:solidFill>
              </a:rPr>
              <a:t>                                  What was taught?</a:t>
            </a:r>
          </a:p>
          <a:p>
            <a:r>
              <a:rPr lang="en-US" dirty="0" smtClean="0"/>
              <a:t>The </a:t>
            </a:r>
            <a:r>
              <a:rPr lang="en-US" dirty="0"/>
              <a:t>traditional education entailed, social education, language, ethics, sex education, become adult, how to be productive and feed families. </a:t>
            </a:r>
            <a:endParaRPr lang="en-US" dirty="0" smtClean="0"/>
          </a:p>
          <a:p>
            <a:r>
              <a:rPr lang="en-US" dirty="0" smtClean="0"/>
              <a:t>This </a:t>
            </a:r>
            <a:r>
              <a:rPr lang="en-US" dirty="0"/>
              <a:t>was vocational </a:t>
            </a:r>
            <a:r>
              <a:rPr lang="en-US" dirty="0" smtClean="0"/>
              <a:t>education</a:t>
            </a:r>
          </a:p>
          <a:p>
            <a:r>
              <a:rPr lang="en-US" dirty="0">
                <a:solidFill>
                  <a:srgbClr val="FF0000"/>
                </a:solidFill>
              </a:rPr>
              <a:t>Proverbs</a:t>
            </a:r>
            <a:r>
              <a:rPr lang="en-US" dirty="0"/>
              <a:t> were used to demonstrate intellectualism in African traditional communications. </a:t>
            </a:r>
            <a:endParaRPr lang="en-US" dirty="0" smtClean="0"/>
          </a:p>
          <a:p>
            <a:r>
              <a:rPr lang="en-US" dirty="0" smtClean="0"/>
              <a:t>Children </a:t>
            </a:r>
            <a:r>
              <a:rPr lang="en-US" dirty="0"/>
              <a:t>were made to </a:t>
            </a:r>
            <a:r>
              <a:rPr lang="en-US" dirty="0">
                <a:solidFill>
                  <a:srgbClr val="FF0000"/>
                </a:solidFill>
              </a:rPr>
              <a:t>believe that proverbs </a:t>
            </a:r>
            <a:r>
              <a:rPr lang="en-US" dirty="0"/>
              <a:t>were given by the ancestors and a good use of </a:t>
            </a:r>
            <a:r>
              <a:rPr lang="en-US" dirty="0" smtClean="0"/>
              <a:t>them means you are as good as the ancestors were</a:t>
            </a:r>
            <a:endParaRPr lang="en-US" dirty="0"/>
          </a:p>
          <a:p>
            <a:endParaRPr lang="en-US" dirty="0"/>
          </a:p>
        </p:txBody>
      </p:sp>
    </p:spTree>
    <p:extLst>
      <p:ext uri="{BB962C8B-B14F-4D97-AF65-F5344CB8AC3E}">
        <p14:creationId xmlns:p14="http://schemas.microsoft.com/office/powerpoint/2010/main" val="24558501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a:bodyPr>
          <a:lstStyle/>
          <a:p>
            <a:pPr marL="0" indent="0">
              <a:buNone/>
            </a:pPr>
            <a:r>
              <a:rPr lang="en-US" b="1" dirty="0"/>
              <a:t>Vocational Aspects of Traditional Education</a:t>
            </a:r>
          </a:p>
          <a:p>
            <a:r>
              <a:rPr lang="en-US" dirty="0"/>
              <a:t>One of the mistakes that early Europeans made in Africa was assuming that they brought education to an entirely uneducated people. </a:t>
            </a:r>
            <a:endParaRPr lang="en-US" dirty="0" smtClean="0"/>
          </a:p>
          <a:p>
            <a:r>
              <a:rPr lang="en-US" dirty="0" smtClean="0"/>
              <a:t>They </a:t>
            </a:r>
            <a:r>
              <a:rPr lang="en-US" dirty="0"/>
              <a:t>claimed that, before their arrival in Africa, all the young were left in total </a:t>
            </a:r>
            <a:r>
              <a:rPr lang="en-US" dirty="0" smtClean="0"/>
              <a:t>ignorance</a:t>
            </a:r>
            <a:r>
              <a:rPr lang="en-US" dirty="0"/>
              <a:t> </a:t>
            </a:r>
            <a:endParaRPr lang="en-US" dirty="0" smtClean="0"/>
          </a:p>
          <a:p>
            <a:r>
              <a:rPr lang="en-US" dirty="0" smtClean="0"/>
              <a:t>They </a:t>
            </a:r>
            <a:r>
              <a:rPr lang="en-US" dirty="0"/>
              <a:t>also argued that, if there was any learning at all before their arrival in Africa, it was by the young imitating the old (Smith, 1934). </a:t>
            </a:r>
            <a:endParaRPr lang="en-US" dirty="0" smtClean="0"/>
          </a:p>
          <a:p>
            <a:r>
              <a:rPr lang="en-US" dirty="0" smtClean="0"/>
              <a:t>If </a:t>
            </a:r>
            <a:r>
              <a:rPr lang="en-US" dirty="0"/>
              <a:t>only literacy and formal western schooling constituted education, they were right; but, as education is a preparation for living in the society into which one is born, they were profoundly wrong (</a:t>
            </a:r>
            <a:r>
              <a:rPr lang="en-US" dirty="0" err="1"/>
              <a:t>Sifuna</a:t>
            </a:r>
            <a:r>
              <a:rPr lang="en-US" dirty="0"/>
              <a:t>, 1976). </a:t>
            </a:r>
          </a:p>
        </p:txBody>
      </p:sp>
    </p:spTree>
    <p:extLst>
      <p:ext uri="{BB962C8B-B14F-4D97-AF65-F5344CB8AC3E}">
        <p14:creationId xmlns:p14="http://schemas.microsoft.com/office/powerpoint/2010/main" val="763913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r>
              <a:rPr lang="en-US" dirty="0"/>
              <a:t>Proverbs provided succinct ways of winning an argument</a:t>
            </a:r>
            <a:r>
              <a:rPr lang="en-US" dirty="0" smtClean="0"/>
              <a:t>,</a:t>
            </a:r>
          </a:p>
          <a:p>
            <a:r>
              <a:rPr lang="en-US" dirty="0" smtClean="0"/>
              <a:t> </a:t>
            </a:r>
            <a:r>
              <a:rPr lang="en-US" dirty="0"/>
              <a:t>easily remembered summaries of important ideas, experiences since writing culture was not in place. </a:t>
            </a:r>
            <a:endParaRPr lang="en-US" dirty="0" smtClean="0"/>
          </a:p>
          <a:p>
            <a:r>
              <a:rPr lang="en-US" dirty="0" smtClean="0"/>
              <a:t>Proverbs </a:t>
            </a:r>
            <a:r>
              <a:rPr lang="en-US" dirty="0"/>
              <a:t>provided means of educating people about handwork, philosophy, trustfulness, spirituality, justice, principled leadership, courage, good neighborliness, collective action, freedoms, sharing servility, and cronyism. </a:t>
            </a:r>
            <a:endParaRPr lang="en-US" dirty="0" smtClean="0"/>
          </a:p>
          <a:p>
            <a:r>
              <a:rPr lang="en-US" dirty="0" smtClean="0">
                <a:solidFill>
                  <a:srgbClr val="FF0000"/>
                </a:solidFill>
              </a:rPr>
              <a:t>Character </a:t>
            </a:r>
            <a:r>
              <a:rPr lang="en-US" dirty="0">
                <a:solidFill>
                  <a:srgbClr val="FF0000"/>
                </a:solidFill>
              </a:rPr>
              <a:t>formation was the cornerstone of African education and training.</a:t>
            </a:r>
          </a:p>
          <a:p>
            <a:endParaRPr lang="en-US" dirty="0"/>
          </a:p>
        </p:txBody>
      </p:sp>
    </p:spTree>
    <p:extLst>
      <p:ext uri="{BB962C8B-B14F-4D97-AF65-F5344CB8AC3E}">
        <p14:creationId xmlns:p14="http://schemas.microsoft.com/office/powerpoint/2010/main" val="17371558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F0"/>
                </a:solidFill>
              </a:rPr>
              <a:t>What were the aims of African Indigenous Education?</a:t>
            </a:r>
            <a:endParaRPr lang="en-US" dirty="0">
              <a:solidFill>
                <a:srgbClr val="00B0F0"/>
              </a:solidFill>
            </a:endParaRPr>
          </a:p>
        </p:txBody>
      </p:sp>
      <p:sp>
        <p:nvSpPr>
          <p:cNvPr id="3" name="Content Placeholder 2"/>
          <p:cNvSpPr>
            <a:spLocks noGrp="1"/>
          </p:cNvSpPr>
          <p:nvPr>
            <p:ph idx="1"/>
          </p:nvPr>
        </p:nvSpPr>
        <p:spPr/>
        <p:txBody>
          <a:bodyPr/>
          <a:lstStyle/>
          <a:p>
            <a:pPr marL="0" indent="0">
              <a:buNone/>
            </a:pPr>
            <a:r>
              <a:rPr lang="en-US" dirty="0" smtClean="0">
                <a:solidFill>
                  <a:srgbClr val="FF0000"/>
                </a:solidFill>
              </a:rPr>
              <a:t>The aims of African Indigenous education  </a:t>
            </a:r>
            <a:r>
              <a:rPr lang="en-US" dirty="0">
                <a:solidFill>
                  <a:srgbClr val="FF0000"/>
                </a:solidFill>
              </a:rPr>
              <a:t>were:</a:t>
            </a:r>
          </a:p>
          <a:p>
            <a:pPr lvl="0"/>
            <a:r>
              <a:rPr lang="en-US" dirty="0"/>
              <a:t>“ to conserve the cultural heritage of family, clan and society;</a:t>
            </a:r>
          </a:p>
          <a:p>
            <a:pPr lvl="0"/>
            <a:r>
              <a:rPr lang="en-US" dirty="0"/>
              <a:t>to adapt children to their physical environment and teach them how to use it;</a:t>
            </a:r>
          </a:p>
          <a:p>
            <a:pPr lvl="0"/>
            <a:r>
              <a:rPr lang="en-US" dirty="0"/>
              <a:t>to explain to them their own future and that of their community depended on the perpetuation and understanding of their tribal institution, </a:t>
            </a:r>
            <a:r>
              <a:rPr lang="en-US" dirty="0" smtClean="0"/>
              <a:t> </a:t>
            </a:r>
            <a:r>
              <a:rPr lang="en-US" dirty="0"/>
              <a:t>laws, language and values they had inherited from the past (Castle, 1996, p.39)”.</a:t>
            </a:r>
          </a:p>
          <a:p>
            <a:endParaRPr lang="en-US" dirty="0"/>
          </a:p>
        </p:txBody>
      </p:sp>
    </p:spTree>
    <p:extLst>
      <p:ext uri="{BB962C8B-B14F-4D97-AF65-F5344CB8AC3E}">
        <p14:creationId xmlns:p14="http://schemas.microsoft.com/office/powerpoint/2010/main" val="1865493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F0"/>
                </a:solidFill>
              </a:rPr>
              <a:t>In terms of occupation how was traditional African Education divided?</a:t>
            </a:r>
            <a:endParaRPr lang="en-US" dirty="0">
              <a:solidFill>
                <a:srgbClr val="00B0F0"/>
              </a:solidFill>
            </a:endParaRPr>
          </a:p>
        </p:txBody>
      </p:sp>
      <p:sp>
        <p:nvSpPr>
          <p:cNvPr id="3" name="Content Placeholder 2"/>
          <p:cNvSpPr>
            <a:spLocks noGrp="1"/>
          </p:cNvSpPr>
          <p:nvPr>
            <p:ph idx="1"/>
          </p:nvPr>
        </p:nvSpPr>
        <p:spPr/>
        <p:txBody>
          <a:bodyPr/>
          <a:lstStyle/>
          <a:p>
            <a:r>
              <a:rPr lang="en-US" dirty="0" err="1"/>
              <a:t>Fafunwa</a:t>
            </a:r>
            <a:r>
              <a:rPr lang="en-US" dirty="0"/>
              <a:t> (1974) stated that, generally speaking, vocational education in traditional African education has been divided on the basis of occupation type into three broad categories;</a:t>
            </a:r>
            <a:endParaRPr lang="en-US" sz="2000" dirty="0"/>
          </a:p>
          <a:p>
            <a:pPr marL="457200" lvl="1" indent="0">
              <a:buNone/>
            </a:pPr>
            <a:r>
              <a:rPr lang="en-US" sz="2800" dirty="0" smtClean="0"/>
              <a:t>1)agriculturally-related </a:t>
            </a:r>
            <a:r>
              <a:rPr lang="en-US" sz="2800" dirty="0"/>
              <a:t>occupations- Crop and animal husbandry.</a:t>
            </a:r>
            <a:endParaRPr lang="en-US" sz="1800" dirty="0"/>
          </a:p>
          <a:p>
            <a:pPr marL="457200" lvl="1" indent="0">
              <a:buNone/>
            </a:pPr>
            <a:r>
              <a:rPr lang="en-US" sz="2800" dirty="0" smtClean="0"/>
              <a:t>2)trades </a:t>
            </a:r>
            <a:r>
              <a:rPr lang="en-US" sz="2800" dirty="0"/>
              <a:t>and crafts- Blacksmith, sculptures, music, building houses, cooking,</a:t>
            </a:r>
            <a:endParaRPr lang="en-US" sz="1800" dirty="0"/>
          </a:p>
          <a:p>
            <a:pPr marL="457200" lvl="1" indent="0">
              <a:buNone/>
            </a:pPr>
            <a:r>
              <a:rPr lang="en-US" sz="2800" dirty="0" smtClean="0"/>
              <a:t>3)professions- </a:t>
            </a:r>
            <a:r>
              <a:rPr lang="en-US" sz="2800" dirty="0"/>
              <a:t>doctors, priests, witch doctors (traditional healers), civil servant, village heads, chiefs and kings, tax collectors, judges, messengers, shrine keepers, soldiers</a:t>
            </a:r>
            <a:endParaRPr lang="en-US" sz="1800" dirty="0"/>
          </a:p>
          <a:p>
            <a:endParaRPr lang="en-US" dirty="0"/>
          </a:p>
        </p:txBody>
      </p:sp>
    </p:spTree>
    <p:extLst>
      <p:ext uri="{BB962C8B-B14F-4D97-AF65-F5344CB8AC3E}">
        <p14:creationId xmlns:p14="http://schemas.microsoft.com/office/powerpoint/2010/main" val="4265426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err="1"/>
              <a:t>Ogundijo</a:t>
            </a:r>
            <a:r>
              <a:rPr lang="en-US" dirty="0"/>
              <a:t> (1970) noted that in indigenous apprenticeship practices, children were not free to choose the trade of their liking, for they were bound to follow the guidance of their parents. </a:t>
            </a:r>
            <a:endParaRPr lang="en-US" dirty="0" smtClean="0"/>
          </a:p>
          <a:p>
            <a:pPr marL="0" indent="0">
              <a:buNone/>
            </a:pPr>
            <a:r>
              <a:rPr lang="en-US" dirty="0" smtClean="0"/>
              <a:t>To </a:t>
            </a:r>
            <a:r>
              <a:rPr lang="en-US" dirty="0"/>
              <a:t>gain more effective training, parents often </a:t>
            </a:r>
            <a:r>
              <a:rPr lang="en-US" dirty="0" smtClean="0"/>
              <a:t>presented their </a:t>
            </a:r>
            <a:r>
              <a:rPr lang="en-US" dirty="0"/>
              <a:t>children to their relatives, friends and competent </a:t>
            </a:r>
            <a:r>
              <a:rPr lang="en-US" dirty="0" smtClean="0"/>
              <a:t>craftsmen</a:t>
            </a:r>
            <a:r>
              <a:rPr lang="en-US" dirty="0"/>
              <a:t> </a:t>
            </a:r>
            <a:endParaRPr lang="en-US" dirty="0" smtClean="0"/>
          </a:p>
          <a:p>
            <a:pPr marL="0" indent="0">
              <a:buNone/>
            </a:pPr>
            <a:r>
              <a:rPr lang="en-US" b="1" dirty="0" smtClean="0">
                <a:solidFill>
                  <a:srgbClr val="FF0000"/>
                </a:solidFill>
              </a:rPr>
              <a:t>Unemployment </a:t>
            </a:r>
            <a:r>
              <a:rPr lang="en-US" b="1" dirty="0">
                <a:solidFill>
                  <a:srgbClr val="FF0000"/>
                </a:solidFill>
              </a:rPr>
              <a:t>and underemployment </a:t>
            </a:r>
            <a:r>
              <a:rPr lang="en-US" dirty="0"/>
              <a:t>were unknown in traditional societies. </a:t>
            </a:r>
            <a:endParaRPr lang="en-US" dirty="0" smtClean="0"/>
          </a:p>
          <a:p>
            <a:pPr marL="0" indent="0">
              <a:buNone/>
            </a:pPr>
            <a:r>
              <a:rPr lang="en-US" dirty="0" smtClean="0"/>
              <a:t>The </a:t>
            </a:r>
            <a:r>
              <a:rPr lang="en-US" dirty="0"/>
              <a:t>economic functions of the traditional system should, therefore, be studied and efforts made to develop traditional technology that could be integrated into international technology of human resource development.</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113434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ASSUME YOUR GROUPS</a:t>
            </a:r>
            <a:endParaRPr lang="en-US" dirty="0"/>
          </a:p>
        </p:txBody>
      </p:sp>
      <p:sp>
        <p:nvSpPr>
          <p:cNvPr id="3" name="Content Placeholder 2"/>
          <p:cNvSpPr>
            <a:spLocks noGrp="1"/>
          </p:cNvSpPr>
          <p:nvPr>
            <p:ph idx="1"/>
          </p:nvPr>
        </p:nvSpPr>
        <p:spPr/>
        <p:txBody>
          <a:bodyPr/>
          <a:lstStyle/>
          <a:p>
            <a:pPr marL="0" indent="0">
              <a:buNone/>
            </a:pPr>
            <a:r>
              <a:rPr lang="en-US" dirty="0" smtClean="0"/>
              <a:t>1)Identify 10 societies in Kenya </a:t>
            </a:r>
          </a:p>
          <a:p>
            <a:pPr marL="0" indent="0">
              <a:buNone/>
            </a:pPr>
            <a:r>
              <a:rPr lang="en-US" dirty="0" smtClean="0"/>
              <a:t>2)Explain  the traditional approach to technical education and training  in  any two societies identified above</a:t>
            </a:r>
          </a:p>
          <a:p>
            <a:pPr marL="0" indent="0">
              <a:buNone/>
            </a:pPr>
            <a:r>
              <a:rPr lang="en-US" dirty="0" smtClean="0"/>
              <a:t>Hint-include proverbs ,songs </a:t>
            </a:r>
            <a:r>
              <a:rPr lang="en-US" dirty="0" err="1" smtClean="0"/>
              <a:t>etc</a:t>
            </a:r>
            <a:r>
              <a:rPr lang="en-US" dirty="0" smtClean="0"/>
              <a:t> </a:t>
            </a:r>
          </a:p>
          <a:p>
            <a:pPr marL="0" indent="0">
              <a:buNone/>
            </a:pPr>
            <a:r>
              <a:rPr lang="en-US" dirty="0" smtClean="0"/>
              <a:t>3)Present the findings of one of the society in class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2142721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992</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LECTURE 2 PGDE COHORT TEN</vt:lpstr>
      <vt:lpstr>TRACING THE ORIGINS OF TECHNICAL VOCATIONAL EDUCATIONAL TRAINING IN KENYA’S EDUCATION</vt:lpstr>
      <vt:lpstr>TVET in Kenya before colonization. </vt:lpstr>
      <vt:lpstr>PowerPoint Presentation</vt:lpstr>
      <vt:lpstr>PowerPoint Presentation</vt:lpstr>
      <vt:lpstr>PowerPoint Presentation</vt:lpstr>
      <vt:lpstr>PowerPoint Presentation</vt:lpstr>
      <vt:lpstr>PowerPoint Presentation</vt:lpstr>
      <vt:lpstr>What were the aims of African Indigenous Education?</vt:lpstr>
      <vt:lpstr>In terms of occupation how was traditional African Education divided?</vt:lpstr>
      <vt:lpstr>PowerPoint Presentation</vt:lpstr>
      <vt:lpstr>ASSUME YOUR GROUPS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TRACING THE ORIGINS OF TECHNICAL VOCATIONAL EDUCATIONAL TRAINING IN KENYA’S EDUCATION</dc:title>
  <dc:creator>ADMIN</dc:creator>
  <cp:lastModifiedBy>Dr. Gatembu</cp:lastModifiedBy>
  <cp:revision>10</cp:revision>
  <dcterms:created xsi:type="dcterms:W3CDTF">2024-12-12T18:19:51Z</dcterms:created>
  <dcterms:modified xsi:type="dcterms:W3CDTF">2025-11-22T06:07:54Z</dcterms:modified>
</cp:coreProperties>
</file>