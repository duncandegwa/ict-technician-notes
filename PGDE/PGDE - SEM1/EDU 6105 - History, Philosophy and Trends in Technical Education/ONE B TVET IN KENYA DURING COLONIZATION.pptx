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5" autoAdjust="0"/>
    <p:restoredTop sz="94660"/>
  </p:normalViewPr>
  <p:slideViewPr>
    <p:cSldViewPr snapToGrid="0">
      <p:cViewPr>
        <p:scale>
          <a:sx n="66" d="100"/>
          <a:sy n="66" d="100"/>
        </p:scale>
        <p:origin x="85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2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1758076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11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25036263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10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14915494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9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135617543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8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51970894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7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255852238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6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50757451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5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1977260831"/>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4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42340699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3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3193339100"/>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62970240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CP2_WHITE_BACKGROUND_LAYOUT">
    <p:bg>
      <p:bgPr>
        <a:solidFill>
          <a:srgbClr val="FFFFFF"/>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1028700"/>
          </a:xfrm>
          <a:prstGeom prst="rect">
            <a:avLst/>
          </a:prstGeom>
          <a:solidFill>
            <a:srgbClr val="FFFFFF"/>
          </a:solidFill>
          <a:ln w="12700" cap="flat" cmpd="sng" algn="ctr">
            <a:noFill/>
            <a:prstDash val="solid"/>
            <a:miter lim="800000"/>
          </a:ln>
          <a:effectLst>
            <a:outerShdw blurRad="279400" dist="38100" dir="5400000" rotWithShape="0">
              <a:srgbClr val="FFFFFF">
                <a:alpha val="15000"/>
              </a:srgbClr>
            </a:outerShdw>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 uri="{53640926-AAD7-44D8-BBD7-CCE9431645EC}">
              <a14:shadowObscured xmlns:a14="http://schemas.microsoft.com/office/drawing/2010/main"/>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ogo"/>
          <p:cNvSpPr>
            <a:spLocks noGrp="1" noChangeAspect="1"/>
          </p:cNvSpPr>
          <p:nvPr>
            <p:ph type="pic" idx="10"/>
          </p:nvPr>
        </p:nvSpPr>
        <p:spPr>
          <a:xfrm>
            <a:off x="838200" y="331241"/>
            <a:ext cx="479580" cy="479580"/>
          </a:xfrm>
        </p:spPr>
        <p:txBody>
          <a:bodyPr/>
          <a:lstStyle/>
          <a:p>
            <a:endParaRPr lang="en-US"/>
          </a:p>
        </p:txBody>
      </p:sp>
    </p:spTree>
    <p:extLst>
      <p:ext uri="{BB962C8B-B14F-4D97-AF65-F5344CB8AC3E}">
        <p14:creationId xmlns:p14="http://schemas.microsoft.com/office/powerpoint/2010/main" val="407984977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6ED4C1-C3D4-4E42-A6F7-96C7B45057C1}"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428609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6ED4C1-C3D4-4E42-A6F7-96C7B45057C1}"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37023055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E6ED4C1-C3D4-4E42-A6F7-96C7B45057C1}"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921567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E6ED4C1-C3D4-4E42-A6F7-96C7B45057C1}"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1107871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E6ED4C1-C3D4-4E42-A6F7-96C7B45057C1}"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32666246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6ED4C1-C3D4-4E42-A6F7-96C7B45057C1}"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1511519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6ED4C1-C3D4-4E42-A6F7-96C7B45057C1}"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29718113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E6ED4C1-C3D4-4E42-A6F7-96C7B45057C1}"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2088005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E6ED4C1-C3D4-4E42-A6F7-96C7B45057C1}"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18423644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6ED4C1-C3D4-4E42-A6F7-96C7B45057C1}"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35946552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6ED4C1-C3D4-4E42-A6F7-96C7B45057C1}"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66A340-31DE-4F10-86FF-255BF271DEB5}" type="slidenum">
              <a:rPr lang="en-US" smtClean="0"/>
              <a:t>‹#›</a:t>
            </a:fld>
            <a:endParaRPr lang="en-US"/>
          </a:p>
        </p:txBody>
      </p:sp>
    </p:spTree>
    <p:extLst>
      <p:ext uri="{BB962C8B-B14F-4D97-AF65-F5344CB8AC3E}">
        <p14:creationId xmlns:p14="http://schemas.microsoft.com/office/powerpoint/2010/main" val="3214982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6ED4C1-C3D4-4E42-A6F7-96C7B45057C1}" type="datetimeFigureOut">
              <a:rPr lang="en-US" smtClean="0"/>
              <a:t>11/22/2025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6A340-31DE-4F10-86FF-255BF271DEB5}" type="slidenum">
              <a:rPr lang="en-US" smtClean="0"/>
              <a:t>‹#›</a:t>
            </a:fld>
            <a:endParaRPr lang="en-US"/>
          </a:p>
        </p:txBody>
      </p:sp>
    </p:spTree>
    <p:extLst>
      <p:ext uri="{BB962C8B-B14F-4D97-AF65-F5344CB8AC3E}">
        <p14:creationId xmlns:p14="http://schemas.microsoft.com/office/powerpoint/2010/main" val="1257871616"/>
      </p:ext>
    </p:extLst>
  </p:cSld>
  <p:clrMap bg1="lt1" tx1="dk1" bg2="lt2" tx2="dk2" accent1="accent1" accent2="accent2" accent3="accent3" accent4="accent4" accent5="accent5" accent6="accent6" hlink="hlink" folHlink="folHlink"/>
  <p:sldLayoutIdLst>
    <p:sldLayoutId id="2147483673" r:id="rId1"/>
    <p:sldLayoutId id="2147483672" r:id="rId2"/>
    <p:sldLayoutId id="2147483671" r:id="rId3"/>
    <p:sldLayoutId id="2147483670" r:id="rId4"/>
    <p:sldLayoutId id="2147483668" r:id="rId5"/>
    <p:sldLayoutId id="2147483667" r:id="rId6"/>
    <p:sldLayoutId id="2147483666" r:id="rId7"/>
    <p:sldLayoutId id="2147483665" r:id="rId8"/>
    <p:sldLayoutId id="2147483664" r:id="rId9"/>
    <p:sldLayoutId id="2147483663" r:id="rId10"/>
    <p:sldLayoutId id="2147483662" r:id="rId11"/>
    <p:sldLayoutId id="2147483661" r:id="rId12"/>
    <p:sldLayoutId id="2147483649" r:id="rId13"/>
    <p:sldLayoutId id="2147483650" r:id="rId14"/>
    <p:sldLayoutId id="2147483651" r:id="rId15"/>
    <p:sldLayoutId id="2147483652" r:id="rId16"/>
    <p:sldLayoutId id="2147483653" r:id="rId17"/>
    <p:sldLayoutId id="2147483654" r:id="rId18"/>
    <p:sldLayoutId id="2147483655" r:id="rId19"/>
    <p:sldLayoutId id="2147483656" r:id="rId20"/>
    <p:sldLayoutId id="2147483657" r:id="rId21"/>
    <p:sldLayoutId id="2147483658" r:id="rId22"/>
    <p:sldLayoutId id="2147483659"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US" sz="2400" b="1" dirty="0" smtClean="0">
                <a:latin typeface="Times New Roman" panose="02020603050405020304" pitchFamily="18" charset="0"/>
                <a:cs typeface="Times New Roman" panose="02020603050405020304" pitchFamily="18" charset="0"/>
              </a:rPr>
              <a:t>LECTURE 1 B</a:t>
            </a:r>
            <a:r>
              <a:rPr lang="en-US" sz="2400" b="1" dirty="0" smtClean="0">
                <a:latin typeface="Times New Roman" panose="02020603050405020304" pitchFamily="18" charset="0"/>
                <a:cs typeface="Times New Roman" panose="02020603050405020304" pitchFamily="18" charset="0"/>
              </a:rPr>
              <a:t>  </a:t>
            </a:r>
            <a:r>
              <a:rPr lang="en-US" sz="2400" b="1" dirty="0" smtClean="0">
                <a:latin typeface="Times New Roman" panose="02020603050405020304" pitchFamily="18" charset="0"/>
                <a:cs typeface="Times New Roman" panose="02020603050405020304" pitchFamily="18" charset="0"/>
              </a:rPr>
              <a:t>TVET </a:t>
            </a:r>
            <a:r>
              <a:rPr lang="en-US" sz="2400" b="1" dirty="0">
                <a:latin typeface="Times New Roman" panose="02020603050405020304" pitchFamily="18" charset="0"/>
                <a:cs typeface="Times New Roman" panose="02020603050405020304" pitchFamily="18" charset="0"/>
              </a:rPr>
              <a:t>IN </a:t>
            </a:r>
            <a:r>
              <a:rPr lang="en-US" sz="2400" b="1" dirty="0" smtClean="0">
                <a:latin typeface="Times New Roman" panose="02020603050405020304" pitchFamily="18" charset="0"/>
                <a:cs typeface="Times New Roman" panose="02020603050405020304" pitchFamily="18" charset="0"/>
              </a:rPr>
              <a:t>KENYA BEFORE COLONIZATION AND  </a:t>
            </a:r>
            <a:r>
              <a:rPr lang="en-US" sz="2400" b="1" dirty="0">
                <a:latin typeface="Times New Roman" panose="02020603050405020304" pitchFamily="18" charset="0"/>
                <a:cs typeface="Times New Roman" panose="02020603050405020304" pitchFamily="18" charset="0"/>
              </a:rPr>
              <a:t>DURING COLONIZATION</a:t>
            </a:r>
            <a:r>
              <a:rPr lang="en-US" sz="1800" dirty="0"/>
              <a:t/>
            </a:r>
            <a:br>
              <a:rPr lang="en-US" sz="1800" dirty="0"/>
            </a:br>
            <a:endParaRPr lang="en-US" dirty="0"/>
          </a:p>
        </p:txBody>
      </p:sp>
      <p:sp>
        <p:nvSpPr>
          <p:cNvPr id="3" name="Content Placeholder 2"/>
          <p:cNvSpPr>
            <a:spLocks noGrp="1"/>
          </p:cNvSpPr>
          <p:nvPr>
            <p:ph idx="1"/>
          </p:nvPr>
        </p:nvSpPr>
        <p:spPr/>
        <p:txBody>
          <a:bodyPr/>
          <a:lstStyle/>
          <a:p>
            <a:r>
              <a:rPr lang="en-US" dirty="0"/>
              <a:t>TVET in Kenya from 1885 to 1925</a:t>
            </a:r>
            <a:r>
              <a:rPr lang="en-US" dirty="0" smtClean="0"/>
              <a:t>.</a:t>
            </a:r>
          </a:p>
          <a:p>
            <a:r>
              <a:rPr lang="en-US" dirty="0" smtClean="0"/>
              <a:t> </a:t>
            </a:r>
            <a:r>
              <a:rPr lang="en-US" dirty="0"/>
              <a:t>This is during the first 40 years of the colonial administration. </a:t>
            </a:r>
            <a:endParaRPr lang="en-US" dirty="0" smtClean="0"/>
          </a:p>
          <a:p>
            <a:r>
              <a:rPr lang="en-US" dirty="0" smtClean="0"/>
              <a:t>This </a:t>
            </a:r>
            <a:r>
              <a:rPr lang="en-US" dirty="0"/>
              <a:t>was a very painful period as the </a:t>
            </a:r>
            <a:r>
              <a:rPr lang="en-US" dirty="0" smtClean="0">
                <a:solidFill>
                  <a:srgbClr val="FF0000"/>
                </a:solidFill>
              </a:rPr>
              <a:t>“white man” </a:t>
            </a:r>
            <a:r>
              <a:rPr lang="en-US" dirty="0" smtClean="0"/>
              <a:t>had misconceived who a </a:t>
            </a:r>
            <a:r>
              <a:rPr lang="en-US" dirty="0" smtClean="0">
                <a:solidFill>
                  <a:srgbClr val="FF0000"/>
                </a:solidFill>
              </a:rPr>
              <a:t>“black man” </a:t>
            </a:r>
            <a:r>
              <a:rPr lang="en-US" dirty="0" smtClean="0"/>
              <a:t>is .</a:t>
            </a:r>
            <a:endParaRPr lang="en-US" dirty="0"/>
          </a:p>
        </p:txBody>
      </p:sp>
    </p:spTree>
    <p:extLst>
      <p:ext uri="{BB962C8B-B14F-4D97-AF65-F5344CB8AC3E}">
        <p14:creationId xmlns:p14="http://schemas.microsoft.com/office/powerpoint/2010/main" val="28243264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r>
              <a:rPr lang="en-US" dirty="0"/>
              <a:t>The coming of the Europeans and the decision to build the Uganda </a:t>
            </a:r>
            <a:r>
              <a:rPr lang="en-US" dirty="0" smtClean="0"/>
              <a:t>railway(1896-1901-Kisumu) </a:t>
            </a:r>
            <a:r>
              <a:rPr lang="en-US" dirty="0"/>
              <a:t>which attracted the Indian traders and </a:t>
            </a:r>
            <a:r>
              <a:rPr lang="en-US" dirty="0" err="1"/>
              <a:t>labourers</a:t>
            </a:r>
            <a:r>
              <a:rPr lang="en-US" dirty="0"/>
              <a:t> was instrumental in training of local artisans and craftsmen</a:t>
            </a:r>
            <a:r>
              <a:rPr lang="en-US" dirty="0" smtClean="0"/>
              <a:t>.(37000 Indians ;Coolies and clerks ) </a:t>
            </a:r>
          </a:p>
          <a:p>
            <a:r>
              <a:rPr lang="en-US" dirty="0" smtClean="0"/>
              <a:t> </a:t>
            </a:r>
            <a:r>
              <a:rPr lang="en-US" dirty="0"/>
              <a:t>This also </a:t>
            </a:r>
            <a:r>
              <a:rPr lang="en-US" dirty="0" smtClean="0"/>
              <a:t>necessitated </a:t>
            </a:r>
            <a:r>
              <a:rPr lang="en-US" dirty="0"/>
              <a:t>establishment of formal training institutions search as </a:t>
            </a:r>
            <a:r>
              <a:rPr lang="en-US" dirty="0" err="1"/>
              <a:t>Kabete</a:t>
            </a:r>
            <a:r>
              <a:rPr lang="en-US" dirty="0"/>
              <a:t> Native Industrial Training Depot</a:t>
            </a:r>
            <a:r>
              <a:rPr lang="en-US" dirty="0" smtClean="0"/>
              <a:t>.</a:t>
            </a:r>
          </a:p>
          <a:p>
            <a:r>
              <a:rPr lang="en-US" dirty="0" smtClean="0"/>
              <a:t> </a:t>
            </a:r>
            <a:r>
              <a:rPr lang="en-US" dirty="0"/>
              <a:t>Also, the Christian Missionaries brought in technicians and made an effort to train Kenyans in the different skills to assist in the maintenance of the services and their operations</a:t>
            </a:r>
            <a:r>
              <a:rPr lang="en-US"/>
              <a:t>. </a:t>
            </a:r>
            <a:r>
              <a:rPr lang="en-US" smtClean="0"/>
              <a:t> </a:t>
            </a:r>
            <a:endParaRPr lang="en-US" dirty="0"/>
          </a:p>
        </p:txBody>
      </p:sp>
    </p:spTree>
    <p:extLst>
      <p:ext uri="{BB962C8B-B14F-4D97-AF65-F5344CB8AC3E}">
        <p14:creationId xmlns:p14="http://schemas.microsoft.com/office/powerpoint/2010/main" val="30943339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Such places as such as </a:t>
            </a:r>
            <a:r>
              <a:rPr lang="en-US" dirty="0" err="1"/>
              <a:t>Kitui</a:t>
            </a:r>
            <a:r>
              <a:rPr lang="en-US" dirty="0"/>
              <a:t> (1909), </a:t>
            </a:r>
            <a:r>
              <a:rPr lang="en-US" dirty="0" err="1"/>
              <a:t>Machakos</a:t>
            </a:r>
            <a:r>
              <a:rPr lang="en-US" dirty="0"/>
              <a:t> (1914), </a:t>
            </a:r>
            <a:r>
              <a:rPr lang="en-US" dirty="0" err="1"/>
              <a:t>Narok</a:t>
            </a:r>
            <a:r>
              <a:rPr lang="en-US" dirty="0"/>
              <a:t> (1918), </a:t>
            </a:r>
            <a:r>
              <a:rPr lang="en-US" dirty="0" err="1"/>
              <a:t>Kajiado</a:t>
            </a:r>
            <a:r>
              <a:rPr lang="en-US" dirty="0"/>
              <a:t> (1925), </a:t>
            </a:r>
            <a:r>
              <a:rPr lang="en-US" dirty="0" err="1"/>
              <a:t>Kericho</a:t>
            </a:r>
            <a:r>
              <a:rPr lang="en-US" dirty="0"/>
              <a:t> (1924), </a:t>
            </a:r>
            <a:r>
              <a:rPr lang="en-US" dirty="0" err="1"/>
              <a:t>Kapsabet</a:t>
            </a:r>
            <a:r>
              <a:rPr lang="en-US" dirty="0"/>
              <a:t> (1925), </a:t>
            </a:r>
            <a:r>
              <a:rPr lang="en-US" dirty="0" err="1"/>
              <a:t>Tambach</a:t>
            </a:r>
            <a:r>
              <a:rPr lang="en-US" dirty="0"/>
              <a:t> (1926) and </a:t>
            </a:r>
            <a:r>
              <a:rPr lang="en-US" dirty="0" err="1"/>
              <a:t>Kapenguria</a:t>
            </a:r>
            <a:r>
              <a:rPr lang="en-US" dirty="0"/>
              <a:t> (1929), which were established in areas where missions had </a:t>
            </a:r>
            <a:r>
              <a:rPr lang="en-US" dirty="0" smtClean="0"/>
              <a:t>influence</a:t>
            </a:r>
            <a:r>
              <a:rPr lang="en-US" dirty="0"/>
              <a:t>, taught industrial education: </a:t>
            </a:r>
            <a:endParaRPr lang="en-US" dirty="0" smtClean="0"/>
          </a:p>
          <a:p>
            <a:r>
              <a:rPr lang="en-US" dirty="0" smtClean="0"/>
              <a:t>the </a:t>
            </a:r>
            <a:r>
              <a:rPr lang="en-US" dirty="0"/>
              <a:t>3 R's were only offered as a preparation for technical education</a:t>
            </a:r>
            <a:r>
              <a:rPr lang="en-US" dirty="0" smtClean="0"/>
              <a:t>.(</a:t>
            </a:r>
            <a:r>
              <a:rPr lang="en-US" dirty="0" smtClean="0">
                <a:solidFill>
                  <a:srgbClr val="FF0000"/>
                </a:solidFill>
              </a:rPr>
              <a:t>Victorian concept of 3 </a:t>
            </a:r>
            <a:r>
              <a:rPr lang="en-US" dirty="0" err="1" smtClean="0">
                <a:solidFill>
                  <a:srgbClr val="FF0000"/>
                </a:solidFill>
              </a:rPr>
              <a:t>Rs</a:t>
            </a:r>
            <a:r>
              <a:rPr lang="en-US" dirty="0" smtClean="0">
                <a:solidFill>
                  <a:srgbClr val="FF0000"/>
                </a:solidFill>
              </a:rPr>
              <a:t> and 4 </a:t>
            </a:r>
            <a:r>
              <a:rPr lang="en-US" dirty="0" err="1" smtClean="0">
                <a:solidFill>
                  <a:srgbClr val="FF0000"/>
                </a:solidFill>
              </a:rPr>
              <a:t>Bs</a:t>
            </a:r>
            <a:r>
              <a:rPr lang="en-US" dirty="0" smtClean="0">
                <a:solidFill>
                  <a:srgbClr val="FF0000"/>
                </a:solidFill>
              </a:rPr>
              <a:t>) </a:t>
            </a:r>
          </a:p>
          <a:p>
            <a:r>
              <a:rPr lang="en-US" dirty="0" smtClean="0"/>
              <a:t>Two </a:t>
            </a:r>
            <a:r>
              <a:rPr lang="en-US" dirty="0"/>
              <a:t>central institutions-Native Industrial Training Depot (NITD), </a:t>
            </a:r>
            <a:r>
              <a:rPr lang="en-US" dirty="0" err="1"/>
              <a:t>Kabete</a:t>
            </a:r>
            <a:r>
              <a:rPr lang="en-US" dirty="0"/>
              <a:t>, and the Jeanes School, </a:t>
            </a:r>
            <a:r>
              <a:rPr lang="en-US" dirty="0" err="1"/>
              <a:t>Kabete</a:t>
            </a:r>
            <a:r>
              <a:rPr lang="en-US" dirty="0"/>
              <a:t>-were established in 1924 and 1925 respectively to promote this kind of education</a:t>
            </a:r>
          </a:p>
        </p:txBody>
      </p:sp>
    </p:spTree>
    <p:extLst>
      <p:ext uri="{BB962C8B-B14F-4D97-AF65-F5344CB8AC3E}">
        <p14:creationId xmlns:p14="http://schemas.microsoft.com/office/powerpoint/2010/main" val="31427328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6274" y="1"/>
            <a:ext cx="10427525" cy="593765"/>
          </a:xfrm>
        </p:spPr>
        <p:txBody>
          <a:bodyPr>
            <a:normAutofit fontScale="90000"/>
          </a:bodyPr>
          <a:lstStyle/>
          <a:p>
            <a:r>
              <a:rPr lang="en-US" dirty="0" err="1" smtClean="0"/>
              <a:t>cont</a:t>
            </a:r>
            <a:endParaRPr lang="en-US" dirty="0"/>
          </a:p>
        </p:txBody>
      </p:sp>
      <p:sp>
        <p:nvSpPr>
          <p:cNvPr id="3" name="Content Placeholder 2"/>
          <p:cNvSpPr>
            <a:spLocks noGrp="1"/>
          </p:cNvSpPr>
          <p:nvPr>
            <p:ph idx="1"/>
          </p:nvPr>
        </p:nvSpPr>
        <p:spPr>
          <a:xfrm>
            <a:off x="795647" y="593766"/>
            <a:ext cx="10558153" cy="5583197"/>
          </a:xfrm>
        </p:spPr>
        <p:txBody>
          <a:bodyPr>
            <a:normAutofit fontScale="92500" lnSpcReduction="20000"/>
          </a:bodyPr>
          <a:lstStyle/>
          <a:p>
            <a:r>
              <a:rPr lang="en-US" dirty="0"/>
              <a:t>The colonial period in Kenya (1895-1963) was marked by racial segregation in all aspects of life, including education, between three distinct groups namely, Europeans, Indians and Africans. </a:t>
            </a:r>
            <a:endParaRPr lang="en-US" dirty="0" smtClean="0"/>
          </a:p>
          <a:p>
            <a:r>
              <a:rPr lang="en-US" dirty="0" err="1" smtClean="0"/>
              <a:t>Bogonko</a:t>
            </a:r>
            <a:r>
              <a:rPr lang="en-US" dirty="0" smtClean="0"/>
              <a:t> </a:t>
            </a:r>
            <a:r>
              <a:rPr lang="en-US" dirty="0"/>
              <a:t>and </a:t>
            </a:r>
            <a:r>
              <a:rPr lang="en-US" dirty="0" err="1"/>
              <a:t>Otieno</a:t>
            </a:r>
            <a:r>
              <a:rPr lang="en-US" dirty="0"/>
              <a:t> (1988) noted that early British policies on education in East Africa and elsewhere in Africa were inspired by racial debate concerning the educability of African natives. </a:t>
            </a:r>
            <a:endParaRPr lang="en-US" dirty="0" smtClean="0"/>
          </a:p>
          <a:p>
            <a:r>
              <a:rPr lang="en-US" dirty="0" smtClean="0"/>
              <a:t>The </a:t>
            </a:r>
            <a:r>
              <a:rPr lang="en-US" dirty="0"/>
              <a:t>debate concentrated on the study of </a:t>
            </a:r>
            <a:r>
              <a:rPr lang="en-US" dirty="0">
                <a:solidFill>
                  <a:srgbClr val="FF0000"/>
                </a:solidFill>
              </a:rPr>
              <a:t>cranial </a:t>
            </a:r>
            <a:r>
              <a:rPr lang="en-US" dirty="0"/>
              <a:t>capacity of Africans. </a:t>
            </a:r>
            <a:endParaRPr lang="en-US" dirty="0" smtClean="0"/>
          </a:p>
          <a:p>
            <a:r>
              <a:rPr lang="en-US" dirty="0" smtClean="0"/>
              <a:t>The </a:t>
            </a:r>
            <a:r>
              <a:rPr lang="en-US" dirty="0"/>
              <a:t>study concluded that Africans were not </a:t>
            </a:r>
            <a:r>
              <a:rPr lang="en-US" dirty="0" smtClean="0"/>
              <a:t>educable. </a:t>
            </a:r>
          </a:p>
          <a:p>
            <a:r>
              <a:rPr lang="en-US" dirty="0" smtClean="0"/>
              <a:t>It </a:t>
            </a:r>
            <a:r>
              <a:rPr lang="en-US" dirty="0"/>
              <a:t>argued that since African intellect was undeveloped, African education should 'proceed by the training of the </a:t>
            </a:r>
            <a:r>
              <a:rPr lang="en-US" dirty="0">
                <a:solidFill>
                  <a:srgbClr val="FF0000"/>
                </a:solidFill>
              </a:rPr>
              <a:t>eye, ear and mind </a:t>
            </a:r>
            <a:r>
              <a:rPr lang="en-US" dirty="0"/>
              <a:t>and thought must evolve by means of oral or written composition and expression of form and number out of the work created by  his  own  efforts"  as  this  would  lead  to  the  development  of  the motor </a:t>
            </a:r>
            <a:r>
              <a:rPr lang="en-US" dirty="0" err="1"/>
              <a:t>centres</a:t>
            </a:r>
            <a:r>
              <a:rPr lang="en-US" dirty="0"/>
              <a:t> of the brain</a:t>
            </a:r>
            <a:r>
              <a:rPr lang="en-US" dirty="0" smtClean="0"/>
              <a:t>.</a:t>
            </a:r>
          </a:p>
          <a:p>
            <a:r>
              <a:rPr lang="en-US" dirty="0" smtClean="0"/>
              <a:t> </a:t>
            </a:r>
            <a:r>
              <a:rPr lang="en-US" dirty="0"/>
              <a:t>Also, the budgets for education differed between these races, with Europeans getting the lion’s share of the budgetary allocation and Africans the least.</a:t>
            </a:r>
          </a:p>
          <a:p>
            <a:endParaRPr lang="en-US" dirty="0"/>
          </a:p>
        </p:txBody>
      </p:sp>
    </p:spTree>
    <p:extLst>
      <p:ext uri="{BB962C8B-B14F-4D97-AF65-F5344CB8AC3E}">
        <p14:creationId xmlns:p14="http://schemas.microsoft.com/office/powerpoint/2010/main" val="41584511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curriculum was also structured in such a way as to ensure that the Europeans got exposed to as much academic education as possible to prepare them to take up the mantle as future leaders of the country.</a:t>
            </a:r>
          </a:p>
          <a:p>
            <a:r>
              <a:rPr lang="en-US" dirty="0"/>
              <a:t>Conversely, Africans were exposed to mainly “practical” industrial and agricultural training owing to a perception by policy makers that the African was incapable of abstract thought, hence the need for the “concrete” in the African education curriculum.</a:t>
            </a:r>
          </a:p>
          <a:p>
            <a:r>
              <a:rPr lang="en-US" dirty="0"/>
              <a:t>African education was, to a large extent, left in the hands of missionaries</a:t>
            </a:r>
          </a:p>
        </p:txBody>
      </p:sp>
    </p:spTree>
    <p:extLst>
      <p:ext uri="{BB962C8B-B14F-4D97-AF65-F5344CB8AC3E}">
        <p14:creationId xmlns:p14="http://schemas.microsoft.com/office/powerpoint/2010/main" val="25905565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WAS KEY OBJECTIVES OF THE MISSIONARIES EDUCATION?</a:t>
            </a:r>
            <a:endParaRPr lang="en-US" dirty="0"/>
          </a:p>
        </p:txBody>
      </p:sp>
      <p:sp>
        <p:nvSpPr>
          <p:cNvPr id="3" name="Content Placeholder 2"/>
          <p:cNvSpPr>
            <a:spLocks noGrp="1"/>
          </p:cNvSpPr>
          <p:nvPr>
            <p:ph idx="1"/>
          </p:nvPr>
        </p:nvSpPr>
        <p:spPr/>
        <p:txBody>
          <a:bodyPr>
            <a:normAutofit lnSpcReduction="10000"/>
          </a:bodyPr>
          <a:lstStyle/>
          <a:p>
            <a:r>
              <a:rPr lang="en-US" dirty="0"/>
              <a:t>The main objective of missionary education was to </a:t>
            </a:r>
            <a:r>
              <a:rPr lang="en-US" dirty="0">
                <a:solidFill>
                  <a:srgbClr val="FF0000"/>
                </a:solidFill>
              </a:rPr>
              <a:t>win converts </a:t>
            </a:r>
            <a:r>
              <a:rPr lang="en-US" dirty="0"/>
              <a:t>and </a:t>
            </a:r>
            <a:r>
              <a:rPr lang="en-US" dirty="0">
                <a:solidFill>
                  <a:srgbClr val="FF0000"/>
                </a:solidFill>
              </a:rPr>
              <a:t>train catechists </a:t>
            </a:r>
            <a:r>
              <a:rPr lang="en-US" dirty="0"/>
              <a:t>who would help them spread the gospel</a:t>
            </a:r>
            <a:r>
              <a:rPr lang="en-US" dirty="0" smtClean="0"/>
              <a:t>.</a:t>
            </a:r>
          </a:p>
          <a:p>
            <a:r>
              <a:rPr lang="en-US" dirty="0" smtClean="0"/>
              <a:t> </a:t>
            </a:r>
            <a:r>
              <a:rPr lang="en-US" dirty="0"/>
              <a:t>They also offered such basic elements as carpentry and gardening (to maintain mission stations), reading, writing and arithmetic</a:t>
            </a:r>
            <a:r>
              <a:rPr lang="en-US" dirty="0" smtClean="0"/>
              <a:t>.</a:t>
            </a:r>
            <a:r>
              <a:rPr lang="en-US" dirty="0"/>
              <a:t> </a:t>
            </a:r>
            <a:endParaRPr lang="en-US" dirty="0" smtClean="0"/>
          </a:p>
          <a:p>
            <a:r>
              <a:rPr lang="en-US" dirty="0" smtClean="0"/>
              <a:t>The </a:t>
            </a:r>
            <a:r>
              <a:rPr lang="en-US" dirty="0"/>
              <a:t>missionaries education system objective was to convert Africans to Christianity, while colonial administration wanted an education system that trained Africans </a:t>
            </a:r>
            <a:r>
              <a:rPr lang="en-US" dirty="0" smtClean="0"/>
              <a:t>into </a:t>
            </a:r>
            <a:r>
              <a:rPr lang="en-US" b="1" dirty="0" smtClean="0"/>
              <a:t>catechists, gave elementary </a:t>
            </a:r>
            <a:r>
              <a:rPr lang="en-US" b="1" dirty="0"/>
              <a:t>practical skills in agriculture, carpentry, masonry, local administration </a:t>
            </a:r>
            <a:r>
              <a:rPr lang="en-US" dirty="0"/>
              <a:t>and other allied crafts so that they could provide cheap </a:t>
            </a:r>
            <a:r>
              <a:rPr lang="en-US" dirty="0" err="1"/>
              <a:t>labour</a:t>
            </a:r>
            <a:r>
              <a:rPr lang="en-US" dirty="0"/>
              <a:t> to the colonial government and to the European settler community. </a:t>
            </a:r>
            <a:r>
              <a:rPr lang="en-US" dirty="0" smtClean="0"/>
              <a:t> </a:t>
            </a:r>
            <a:endParaRPr lang="en-US" dirty="0"/>
          </a:p>
        </p:txBody>
      </p:sp>
    </p:spTree>
    <p:extLst>
      <p:ext uri="{BB962C8B-B14F-4D97-AF65-F5344CB8AC3E}">
        <p14:creationId xmlns:p14="http://schemas.microsoft.com/office/powerpoint/2010/main" val="30669558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Lets remember the goal of education before independence in Kenya;;;;;;</a:t>
            </a:r>
            <a:endParaRPr lang="en-US" dirty="0">
              <a:solidFill>
                <a:srgbClr val="FF0000"/>
              </a:solidFill>
            </a:endParaRPr>
          </a:p>
        </p:txBody>
      </p:sp>
      <p:sp>
        <p:nvSpPr>
          <p:cNvPr id="3" name="Content Placeholder 2"/>
          <p:cNvSpPr>
            <a:spLocks noGrp="1"/>
          </p:cNvSpPr>
          <p:nvPr>
            <p:ph idx="1"/>
          </p:nvPr>
        </p:nvSpPr>
        <p:spPr/>
        <p:txBody>
          <a:bodyPr/>
          <a:lstStyle/>
          <a:p>
            <a:r>
              <a:rPr lang="en-US" dirty="0"/>
              <a:t>In essence, </a:t>
            </a:r>
            <a:r>
              <a:rPr lang="en-US" b="1" dirty="0"/>
              <a:t>the goal of education in Kenya before independence was to produce a semi-educated </a:t>
            </a:r>
            <a:r>
              <a:rPr lang="en-US" b="1" dirty="0" err="1"/>
              <a:t>labour</a:t>
            </a:r>
            <a:r>
              <a:rPr lang="en-US" b="1" dirty="0"/>
              <a:t> force to develop the colony’s economy and provide chiefs and headmen to help in administration. </a:t>
            </a:r>
            <a:endParaRPr lang="en-US" b="1" dirty="0" smtClean="0"/>
          </a:p>
          <a:p>
            <a:r>
              <a:rPr lang="en-US" b="1" dirty="0" smtClean="0"/>
              <a:t>NB </a:t>
            </a:r>
            <a:r>
              <a:rPr lang="en-US" dirty="0" smtClean="0"/>
              <a:t>This </a:t>
            </a:r>
            <a:r>
              <a:rPr lang="en-US" dirty="0"/>
              <a:t>resulted in Africans rejecting technical and vocational education training (TVET) when they needed preparation for a job, turning to it only as a last resort.</a:t>
            </a:r>
          </a:p>
          <a:p>
            <a:endParaRPr lang="en-US" dirty="0"/>
          </a:p>
        </p:txBody>
      </p:sp>
    </p:spTree>
    <p:extLst>
      <p:ext uri="{BB962C8B-B14F-4D97-AF65-F5344CB8AC3E}">
        <p14:creationId xmlns:p14="http://schemas.microsoft.com/office/powerpoint/2010/main" val="31260636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ormAutofit fontScale="90000"/>
          </a:bodyPr>
          <a:lstStyle/>
          <a:p>
            <a:r>
              <a:rPr lang="en-US" b="1" dirty="0"/>
              <a:t>Colonial education policy was influenced by three important </a:t>
            </a:r>
            <a:r>
              <a:rPr lang="en-US" b="1" dirty="0" smtClean="0"/>
              <a:t>factors namely;</a:t>
            </a:r>
            <a:r>
              <a:rPr lang="en-US" dirty="0"/>
              <a:t/>
            </a:r>
            <a:br>
              <a:rPr lang="en-US" dirty="0"/>
            </a:br>
            <a:endParaRPr lang="en-US" dirty="0"/>
          </a:p>
        </p:txBody>
      </p:sp>
      <p:sp>
        <p:nvSpPr>
          <p:cNvPr id="3" name="Content Placeholder 2"/>
          <p:cNvSpPr>
            <a:spLocks noGrp="1"/>
          </p:cNvSpPr>
          <p:nvPr>
            <p:ph idx="1"/>
          </p:nvPr>
        </p:nvSpPr>
        <p:spPr/>
        <p:txBody>
          <a:bodyPr/>
          <a:lstStyle/>
          <a:p>
            <a:pPr marL="914400" lvl="2" indent="0">
              <a:buNone/>
            </a:pPr>
            <a:r>
              <a:rPr lang="en-US" sz="2400" dirty="0" smtClean="0"/>
              <a:t>1)Conflict </a:t>
            </a:r>
            <a:r>
              <a:rPr lang="en-US" sz="2400" dirty="0"/>
              <a:t>between the needs of the settler economy based on plantation agriculture and British industrial needs;</a:t>
            </a:r>
            <a:endParaRPr lang="en-US" dirty="0"/>
          </a:p>
          <a:p>
            <a:pPr marL="914400" lvl="2" indent="0">
              <a:buNone/>
            </a:pPr>
            <a:r>
              <a:rPr lang="en-US" sz="2400" dirty="0"/>
              <a:t/>
            </a:r>
            <a:br>
              <a:rPr lang="en-US" sz="2400" dirty="0"/>
            </a:br>
            <a:r>
              <a:rPr lang="en-US" sz="2400" dirty="0" smtClean="0"/>
              <a:t>2)conflict </a:t>
            </a:r>
            <a:r>
              <a:rPr lang="en-US" sz="2400" dirty="0"/>
              <a:t>among foreign interests (settlers, missionaries, and the British administration) based on tensions between the colonials’ desire to “modernize” Africa and the Africans’ determination to preserve their customs, cultures, and traditions; and</a:t>
            </a:r>
            <a:endParaRPr lang="en-US" dirty="0"/>
          </a:p>
          <a:p>
            <a:pPr marL="914400" lvl="2" indent="0">
              <a:buNone/>
            </a:pPr>
            <a:r>
              <a:rPr lang="en-US" sz="2400" dirty="0" smtClean="0"/>
              <a:t>3)the </a:t>
            </a:r>
            <a:r>
              <a:rPr lang="en-US" sz="2400" dirty="0"/>
              <a:t>challenge of devising an educational system to provide a “relevant” education to Africans that would make them good laborers and good Christians but not “intelligent thinking” human beings who might question and start to oppose the colonial regime (Sheffield, 1973).</a:t>
            </a:r>
            <a:endParaRPr lang="en-US" dirty="0"/>
          </a:p>
          <a:p>
            <a:endParaRPr lang="en-US" dirty="0"/>
          </a:p>
        </p:txBody>
      </p:sp>
    </p:spTree>
    <p:extLst>
      <p:ext uri="{BB962C8B-B14F-4D97-AF65-F5344CB8AC3E}">
        <p14:creationId xmlns:p14="http://schemas.microsoft.com/office/powerpoint/2010/main" val="21885084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Education in the early 1900s</a:t>
            </a:r>
          </a:p>
        </p:txBody>
      </p:sp>
      <p:sp>
        <p:nvSpPr>
          <p:cNvPr id="3" name="Content Placeholder 2"/>
          <p:cNvSpPr>
            <a:spLocks noGrp="1"/>
          </p:cNvSpPr>
          <p:nvPr>
            <p:ph idx="1"/>
          </p:nvPr>
        </p:nvSpPr>
        <p:spPr/>
        <p:txBody>
          <a:bodyPr/>
          <a:lstStyle/>
          <a:p>
            <a:r>
              <a:rPr lang="en-US" dirty="0"/>
              <a:t>The turning point for development of education in Kenya was in 1903. </a:t>
            </a:r>
            <a:endParaRPr lang="en-US" dirty="0" smtClean="0"/>
          </a:p>
          <a:p>
            <a:r>
              <a:rPr lang="en-US" dirty="0" smtClean="0"/>
              <a:t>This </a:t>
            </a:r>
            <a:r>
              <a:rPr lang="en-US" dirty="0"/>
              <a:t>was when Charles Elliot, the Governor encouraged many white settlers to settle in the colony. </a:t>
            </a:r>
            <a:endParaRPr lang="en-US" dirty="0" smtClean="0"/>
          </a:p>
          <a:p>
            <a:r>
              <a:rPr lang="en-US" dirty="0" smtClean="0"/>
              <a:t>The </a:t>
            </a:r>
            <a:r>
              <a:rPr lang="en-US" dirty="0"/>
              <a:t>white settlers had a big say on politics of Kenya. </a:t>
            </a:r>
            <a:endParaRPr lang="en-US" dirty="0" smtClean="0"/>
          </a:p>
          <a:p>
            <a:r>
              <a:rPr lang="en-US" dirty="0" smtClean="0"/>
              <a:t>They </a:t>
            </a:r>
            <a:r>
              <a:rPr lang="en-US" dirty="0"/>
              <a:t>demanded education for their children. </a:t>
            </a:r>
            <a:endParaRPr lang="en-US" dirty="0" smtClean="0"/>
          </a:p>
          <a:p>
            <a:r>
              <a:rPr lang="en-US" dirty="0" smtClean="0"/>
              <a:t>Thus</a:t>
            </a:r>
            <a:r>
              <a:rPr lang="en-US" dirty="0"/>
              <a:t>, in 1902, a school for   European   children   was   opened   in   Kenya,   followed   a   few years later by another school for Asian children. </a:t>
            </a:r>
            <a:endParaRPr lang="en-US" dirty="0" smtClean="0"/>
          </a:p>
          <a:p>
            <a:r>
              <a:rPr lang="en-US" dirty="0" smtClean="0"/>
              <a:t>The </a:t>
            </a:r>
            <a:r>
              <a:rPr lang="en-US" dirty="0"/>
              <a:t>Whites further demanded for better education of their children</a:t>
            </a:r>
          </a:p>
        </p:txBody>
      </p:sp>
    </p:spTree>
    <p:extLst>
      <p:ext uri="{BB962C8B-B14F-4D97-AF65-F5344CB8AC3E}">
        <p14:creationId xmlns:p14="http://schemas.microsoft.com/office/powerpoint/2010/main" val="10725643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As a result the Fraser commission of 1908 had to be constituted</a:t>
            </a:r>
            <a:r>
              <a:rPr lang="en-US" dirty="0" smtClean="0"/>
              <a:t>.</a:t>
            </a:r>
          </a:p>
          <a:p>
            <a:r>
              <a:rPr lang="en-US" dirty="0" smtClean="0"/>
              <a:t> </a:t>
            </a:r>
            <a:r>
              <a:rPr lang="en-US" dirty="0"/>
              <a:t>The commission was chaired by Professor Fraser. </a:t>
            </a:r>
            <a:endParaRPr lang="en-US" dirty="0" smtClean="0"/>
          </a:p>
          <a:p>
            <a:r>
              <a:rPr lang="en-US" dirty="0" smtClean="0"/>
              <a:t>This </a:t>
            </a:r>
            <a:r>
              <a:rPr lang="en-US" dirty="0"/>
              <a:t>led to introduction of education on racial lines. </a:t>
            </a:r>
            <a:endParaRPr lang="en-US" dirty="0" smtClean="0"/>
          </a:p>
          <a:p>
            <a:r>
              <a:rPr lang="en-US" dirty="0" smtClean="0"/>
              <a:t>Fraser </a:t>
            </a:r>
            <a:r>
              <a:rPr lang="en-US" dirty="0"/>
              <a:t>recommended African education to have two goals: service under a white employer and work in his own community to help the protectorate prosper. </a:t>
            </a:r>
          </a:p>
          <a:p>
            <a:r>
              <a:rPr lang="en-US" b="1" dirty="0"/>
              <a:t>Industrial education </a:t>
            </a:r>
            <a:r>
              <a:rPr lang="en-US" dirty="0"/>
              <a:t>in East Africa protectorate had to be introduced in 1909. </a:t>
            </a:r>
          </a:p>
          <a:p>
            <a:endParaRPr lang="en-US" dirty="0"/>
          </a:p>
        </p:txBody>
      </p:sp>
    </p:spTree>
    <p:extLst>
      <p:ext uri="{BB962C8B-B14F-4D97-AF65-F5344CB8AC3E}">
        <p14:creationId xmlns:p14="http://schemas.microsoft.com/office/powerpoint/2010/main" val="1502625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By 1910, 35 mission schools had been founded, emphasizing reading, writing, and arithmetic (Sheffield, 1973) </a:t>
            </a:r>
          </a:p>
          <a:p>
            <a:r>
              <a:rPr lang="en-US" dirty="0"/>
              <a:t>A department of education had to be established in 1911 and Mr. Orr was appointed as the first director. </a:t>
            </a:r>
            <a:endParaRPr lang="en-US" dirty="0" smtClean="0"/>
          </a:p>
          <a:p>
            <a:r>
              <a:rPr lang="en-US" dirty="0" smtClean="0"/>
              <a:t>The </a:t>
            </a:r>
            <a:r>
              <a:rPr lang="en-US" dirty="0"/>
              <a:t>policy enacted in 1909 became a guiding principle for African education being offered in British colonies. </a:t>
            </a:r>
            <a:endParaRPr lang="en-US" dirty="0" smtClean="0"/>
          </a:p>
          <a:p>
            <a:r>
              <a:rPr lang="en-US" dirty="0" smtClean="0"/>
              <a:t>This </a:t>
            </a:r>
            <a:r>
              <a:rPr lang="en-US" dirty="0"/>
              <a:t>colonial education policy led to establishment of </a:t>
            </a:r>
            <a:r>
              <a:rPr lang="en-US" dirty="0" err="1"/>
              <a:t>Thika</a:t>
            </a:r>
            <a:r>
              <a:rPr lang="en-US" dirty="0"/>
              <a:t>, </a:t>
            </a:r>
            <a:r>
              <a:rPr lang="en-US" dirty="0" err="1"/>
              <a:t>Sigalagala</a:t>
            </a:r>
            <a:r>
              <a:rPr lang="en-US" dirty="0"/>
              <a:t>, </a:t>
            </a:r>
            <a:r>
              <a:rPr lang="en-US" dirty="0" err="1"/>
              <a:t>Machakos</a:t>
            </a:r>
            <a:r>
              <a:rPr lang="en-US" dirty="0"/>
              <a:t> and </a:t>
            </a:r>
            <a:r>
              <a:rPr lang="en-US" dirty="0" err="1"/>
              <a:t>Eldoret</a:t>
            </a:r>
            <a:r>
              <a:rPr lang="en-US" dirty="0"/>
              <a:t> technical schools in the early years of colonial rule. The schools offered courses that trained Africans to become artisans.</a:t>
            </a:r>
          </a:p>
        </p:txBody>
      </p:sp>
    </p:spTree>
    <p:extLst>
      <p:ext uri="{BB962C8B-B14F-4D97-AF65-F5344CB8AC3E}">
        <p14:creationId xmlns:p14="http://schemas.microsoft.com/office/powerpoint/2010/main" val="35462906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colonialists’ first concern to set up a system of schooling/education  that met their own needs and NOT that kind of education  that would weld together colonized communities that would present an obvious threat. </a:t>
            </a:r>
            <a:endParaRPr lang="en-US" dirty="0" smtClean="0"/>
          </a:p>
          <a:p>
            <a:r>
              <a:rPr lang="en-US" dirty="0" smtClean="0"/>
              <a:t>In </a:t>
            </a:r>
            <a:r>
              <a:rPr lang="en-US" dirty="0"/>
              <a:t>Africa, this European education took a different shape, blatantly withholding training in the full use of men’s and women’s intellectual and critical faculties</a:t>
            </a:r>
            <a:r>
              <a:rPr lang="en-US" dirty="0" smtClean="0"/>
              <a:t>.(Boy of 5-7yrs same as African adult)</a:t>
            </a:r>
            <a:endParaRPr lang="en-US" dirty="0"/>
          </a:p>
        </p:txBody>
      </p:sp>
    </p:spTree>
    <p:extLst>
      <p:ext uri="{BB962C8B-B14F-4D97-AF65-F5344CB8AC3E}">
        <p14:creationId xmlns:p14="http://schemas.microsoft.com/office/powerpoint/2010/main" val="23809039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Despite its self-serving nature, this education was presented as modern, new, and innovative, thereby discrediting traditional training methods (</a:t>
            </a:r>
            <a:r>
              <a:rPr lang="en-US" dirty="0" err="1"/>
              <a:t>Devisse</a:t>
            </a:r>
            <a:r>
              <a:rPr lang="en-US" dirty="0"/>
              <a:t>, 1985). </a:t>
            </a:r>
            <a:endParaRPr lang="en-US" dirty="0" smtClean="0"/>
          </a:p>
          <a:p>
            <a:r>
              <a:rPr lang="en-US" dirty="0" smtClean="0"/>
              <a:t>The </a:t>
            </a:r>
            <a:r>
              <a:rPr lang="en-US" dirty="0"/>
              <a:t>so-called educational needs of the working class, or, more generally, the poor, were thought to consist of reading, writing and sometimes arithmetic, but above all religion</a:t>
            </a:r>
            <a:r>
              <a:rPr lang="en-US" dirty="0" smtClean="0"/>
              <a:t>.</a:t>
            </a:r>
          </a:p>
          <a:p>
            <a:r>
              <a:rPr lang="en-US" dirty="0" smtClean="0"/>
              <a:t> </a:t>
            </a:r>
            <a:r>
              <a:rPr lang="en-US" dirty="0"/>
              <a:t>Complementary to this was industrial or technical education (</a:t>
            </a:r>
            <a:r>
              <a:rPr lang="en-US" dirty="0" err="1"/>
              <a:t>Strayer</a:t>
            </a:r>
            <a:r>
              <a:rPr lang="en-US" dirty="0"/>
              <a:t>, 1971).</a:t>
            </a:r>
          </a:p>
        </p:txBody>
      </p:sp>
    </p:spTree>
    <p:extLst>
      <p:ext uri="{BB962C8B-B14F-4D97-AF65-F5344CB8AC3E}">
        <p14:creationId xmlns:p14="http://schemas.microsoft.com/office/powerpoint/2010/main" val="6796609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10000"/>
          </a:bodyPr>
          <a:lstStyle/>
          <a:p>
            <a:r>
              <a:rPr lang="en-US" dirty="0"/>
              <a:t>The white masters did not want Africans to receive intellectual education because they would start demanding their rights and eventually their independence. </a:t>
            </a:r>
            <a:endParaRPr lang="en-US" dirty="0" smtClean="0"/>
          </a:p>
          <a:p>
            <a:r>
              <a:rPr lang="en-US" dirty="0" smtClean="0"/>
              <a:t>The </a:t>
            </a:r>
            <a:r>
              <a:rPr lang="en-US" dirty="0"/>
              <a:t>schools that were built during colonial days were meant to offer technical vocational education and training and not intellectual, literacy education. </a:t>
            </a:r>
            <a:endParaRPr lang="en-US" dirty="0" smtClean="0"/>
          </a:p>
          <a:p>
            <a:r>
              <a:rPr lang="en-US" dirty="0" smtClean="0"/>
              <a:t>With </a:t>
            </a:r>
            <a:r>
              <a:rPr lang="en-US" b="1" dirty="0"/>
              <a:t>Lord </a:t>
            </a:r>
            <a:r>
              <a:rPr lang="en-US" b="1" dirty="0" err="1"/>
              <a:t>Delamere</a:t>
            </a:r>
            <a:r>
              <a:rPr lang="en-US" b="1" dirty="0"/>
              <a:t> </a:t>
            </a:r>
            <a:r>
              <a:rPr lang="en-US" dirty="0"/>
              <a:t>as their representative in the Central Advisory Committee on African Education in Nairobi, they helped perpetuate industrial education.</a:t>
            </a:r>
          </a:p>
          <a:p>
            <a:endParaRPr lang="en-US" dirty="0"/>
          </a:p>
          <a:p>
            <a:r>
              <a:rPr lang="en-US" dirty="0"/>
              <a:t> </a:t>
            </a:r>
            <a:endParaRPr lang="en-US" dirty="0" smtClean="0"/>
          </a:p>
          <a:p>
            <a:pPr marL="0" indent="0">
              <a:buNone/>
            </a:pPr>
            <a:endParaRPr lang="en-US" dirty="0"/>
          </a:p>
          <a:p>
            <a:r>
              <a:rPr lang="en-US" dirty="0"/>
              <a:t> </a:t>
            </a:r>
          </a:p>
          <a:p>
            <a:r>
              <a:rPr lang="en-US" dirty="0"/>
              <a:t> </a:t>
            </a:r>
          </a:p>
          <a:p>
            <a:endParaRPr lang="en-US" dirty="0"/>
          </a:p>
        </p:txBody>
      </p:sp>
    </p:spTree>
    <p:extLst>
      <p:ext uri="{BB962C8B-B14F-4D97-AF65-F5344CB8AC3E}">
        <p14:creationId xmlns:p14="http://schemas.microsoft.com/office/powerpoint/2010/main" val="17948182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During the missionary settlement in Kenya, the Church Missionary Society, (CMS) started what it called a partnership between religion, education and training. </a:t>
            </a:r>
            <a:endParaRPr lang="en-US" dirty="0" smtClean="0"/>
          </a:p>
          <a:p>
            <a:r>
              <a:rPr lang="en-US" dirty="0" smtClean="0"/>
              <a:t>They </a:t>
            </a:r>
            <a:r>
              <a:rPr lang="en-US" dirty="0"/>
              <a:t>aimed at creating self- supporting, self-propagating, and self-governing churches in each of the missionary fields</a:t>
            </a:r>
            <a:r>
              <a:rPr lang="en-US" dirty="0" smtClean="0"/>
              <a:t>.</a:t>
            </a:r>
          </a:p>
          <a:p>
            <a:r>
              <a:rPr lang="en-US" dirty="0" smtClean="0"/>
              <a:t> </a:t>
            </a:r>
            <a:r>
              <a:rPr lang="en-US" dirty="0"/>
              <a:t>The CMS saw industrial education as a way of disciplining Africans. Industrial education was felt to be particularly suited to Africans due to what the Europeans believed were inherent disabilities the Africans suffered. </a:t>
            </a:r>
            <a:endParaRPr lang="en-US" dirty="0" smtClean="0"/>
          </a:p>
          <a:p>
            <a:r>
              <a:rPr lang="en-US" dirty="0" smtClean="0"/>
              <a:t>Their </a:t>
            </a:r>
            <a:r>
              <a:rPr lang="en-US" dirty="0"/>
              <a:t>schools, therefore, included manual work, agricultural and technical training and reading and writing Kiswahili (</a:t>
            </a:r>
            <a:r>
              <a:rPr lang="en-US" dirty="0" err="1"/>
              <a:t>Sifuna</a:t>
            </a:r>
            <a:r>
              <a:rPr lang="en-US" dirty="0"/>
              <a:t>, 1976).</a:t>
            </a:r>
          </a:p>
        </p:txBody>
      </p:sp>
    </p:spTree>
    <p:extLst>
      <p:ext uri="{BB962C8B-B14F-4D97-AF65-F5344CB8AC3E}">
        <p14:creationId xmlns:p14="http://schemas.microsoft.com/office/powerpoint/2010/main" val="220034769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succeed in offering this kind of education, experimental grant were offered by the colonial government to certain mission schools for technical and vocational education; the Department of Education was founded in 1911 and </a:t>
            </a:r>
            <a:r>
              <a:rPr lang="en-US" b="1" dirty="0"/>
              <a:t>Mr. Orr </a:t>
            </a:r>
            <a:r>
              <a:rPr lang="en-US" dirty="0"/>
              <a:t>was appointed as the first education director</a:t>
            </a:r>
            <a:r>
              <a:rPr lang="en-US" dirty="0" smtClean="0"/>
              <a:t>.</a:t>
            </a:r>
          </a:p>
          <a:p>
            <a:r>
              <a:rPr lang="en-US" dirty="0" smtClean="0"/>
              <a:t> </a:t>
            </a:r>
            <a:r>
              <a:rPr lang="en-US" dirty="0"/>
              <a:t>By 1912, industrial training in basic skills, such as </a:t>
            </a:r>
            <a:r>
              <a:rPr lang="en-US" dirty="0" err="1"/>
              <a:t>smithing</a:t>
            </a:r>
            <a:r>
              <a:rPr lang="en-US" dirty="0"/>
              <a:t>, carpentry, agriculture and typing, was successfully underway (</a:t>
            </a:r>
            <a:r>
              <a:rPr lang="en-US" dirty="0" err="1"/>
              <a:t>Sorren</a:t>
            </a:r>
            <a:r>
              <a:rPr lang="en-US" dirty="0"/>
              <a:t>, 1969).</a:t>
            </a:r>
          </a:p>
          <a:p>
            <a:endParaRPr lang="en-US" dirty="0"/>
          </a:p>
        </p:txBody>
      </p:sp>
    </p:spTree>
    <p:extLst>
      <p:ext uri="{BB962C8B-B14F-4D97-AF65-F5344CB8AC3E}">
        <p14:creationId xmlns:p14="http://schemas.microsoft.com/office/powerpoint/2010/main" val="28251351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When the colonial government decided to search for the type of education that was needed, they asked for written answers from 18 white settlers (all of whom were residents of </a:t>
            </a:r>
            <a:r>
              <a:rPr lang="en-US" dirty="0" err="1"/>
              <a:t>Limuru</a:t>
            </a:r>
            <a:r>
              <a:rPr lang="en-US" dirty="0"/>
              <a:t>). The question was: Will you give your views of native education? The answers were as follows:</a:t>
            </a:r>
          </a:p>
          <a:p>
            <a:pPr lvl="0"/>
            <a:r>
              <a:rPr lang="en-US" b="1" dirty="0"/>
              <a:t>To be considered only after provision for European education is complete.</a:t>
            </a:r>
          </a:p>
          <a:p>
            <a:pPr lvl="0"/>
            <a:r>
              <a:rPr lang="en-US" dirty="0"/>
              <a:t>Industrial education or trade apprenticeships</a:t>
            </a:r>
          </a:p>
          <a:p>
            <a:pPr lvl="0"/>
            <a:r>
              <a:rPr lang="en-US" dirty="0"/>
              <a:t>Agricultural apprenticeship</a:t>
            </a:r>
          </a:p>
          <a:p>
            <a:pPr lvl="0"/>
            <a:r>
              <a:rPr lang="en-US" dirty="0"/>
              <a:t>To be taught to work</a:t>
            </a:r>
          </a:p>
          <a:p>
            <a:pPr lvl="0"/>
            <a:r>
              <a:rPr lang="en-US" dirty="0"/>
              <a:t>The three R’s</a:t>
            </a:r>
          </a:p>
          <a:p>
            <a:pPr lvl="0"/>
            <a:r>
              <a:rPr lang="en-US" dirty="0" smtClean="0"/>
              <a:t>Morality-honesty Cleanliness </a:t>
            </a:r>
          </a:p>
          <a:p>
            <a:pPr lvl="0"/>
            <a:r>
              <a:rPr lang="en-US" dirty="0" smtClean="0"/>
              <a:t>8</a:t>
            </a:r>
            <a:r>
              <a:rPr lang="en-US" dirty="0"/>
              <a:t>. Religious education</a:t>
            </a:r>
          </a:p>
          <a:p>
            <a:r>
              <a:rPr lang="en-US" dirty="0"/>
              <a:t>9. Educate him to develop the country (</a:t>
            </a:r>
            <a:r>
              <a:rPr lang="en-US" dirty="0" err="1"/>
              <a:t>Scalon</a:t>
            </a:r>
            <a:r>
              <a:rPr lang="en-US" dirty="0"/>
              <a:t>, 1944:22)</a:t>
            </a:r>
          </a:p>
          <a:p>
            <a:endParaRPr lang="en-US" dirty="0"/>
          </a:p>
        </p:txBody>
      </p:sp>
    </p:spTree>
    <p:extLst>
      <p:ext uri="{BB962C8B-B14F-4D97-AF65-F5344CB8AC3E}">
        <p14:creationId xmlns:p14="http://schemas.microsoft.com/office/powerpoint/2010/main" val="16179233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light of these views, the European Commission of Education, relative to the nature of native education, said: “...for education to have effect it is implied that the education given must be of the right kind. </a:t>
            </a:r>
            <a:endParaRPr lang="en-US" dirty="0" smtClean="0"/>
          </a:p>
          <a:p>
            <a:r>
              <a:rPr lang="en-US" dirty="0" smtClean="0"/>
              <a:t>For </a:t>
            </a:r>
            <a:r>
              <a:rPr lang="en-US" dirty="0"/>
              <a:t>natives, education should be on technical lines as many witnesses have recommended but there appears to be a fear that if any literacy education is given, the child educated would be ruined and will look forward to </a:t>
            </a:r>
            <a:r>
              <a:rPr lang="en-US" b="1" dirty="0"/>
              <a:t>clerkship-and similar occupations </a:t>
            </a:r>
            <a:r>
              <a:rPr lang="en-US" dirty="0"/>
              <a:t>rather than entry into the field of labor (Education Commission, 1919:7)”. </a:t>
            </a:r>
          </a:p>
        </p:txBody>
      </p:sp>
    </p:spTree>
    <p:extLst>
      <p:ext uri="{BB962C8B-B14F-4D97-AF65-F5344CB8AC3E}">
        <p14:creationId xmlns:p14="http://schemas.microsoft.com/office/powerpoint/2010/main" val="22496468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r>
              <a:rPr lang="en-US" dirty="0"/>
              <a:t>The commission recommended that secular government schools could not be successful without “proper” religious and moral instruction and thus </a:t>
            </a:r>
            <a:r>
              <a:rPr lang="en-US" dirty="0" err="1"/>
              <a:t>affrican</a:t>
            </a:r>
            <a:r>
              <a:rPr lang="en-US" dirty="0"/>
              <a:t> education should be provided by missionary societies. </a:t>
            </a:r>
            <a:endParaRPr lang="en-US" dirty="0" smtClean="0"/>
          </a:p>
          <a:p>
            <a:r>
              <a:rPr lang="en-US" dirty="0" smtClean="0"/>
              <a:t>These arguments </a:t>
            </a:r>
            <a:r>
              <a:rPr lang="en-US" dirty="0"/>
              <a:t>were supported by an 1853 report that recommended that the primary courses be based on realities of life and be used as a demonstration center for teaching the main lessons of good food production. </a:t>
            </a:r>
          </a:p>
        </p:txBody>
      </p:sp>
    </p:spTree>
    <p:extLst>
      <p:ext uri="{BB962C8B-B14F-4D97-AF65-F5344CB8AC3E}">
        <p14:creationId xmlns:p14="http://schemas.microsoft.com/office/powerpoint/2010/main" val="10174158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Their recommendations set the colonial education authorities thinking about the possibilities of introducing more vocational elements in the school curriculum (Africa Education, 1853). </a:t>
            </a:r>
            <a:endParaRPr lang="en-US" dirty="0" smtClean="0"/>
          </a:p>
          <a:p>
            <a:r>
              <a:rPr lang="en-US" dirty="0" smtClean="0"/>
              <a:t>The </a:t>
            </a:r>
            <a:r>
              <a:rPr lang="en-US" dirty="0"/>
              <a:t>Indian unrest also contributed in determining African education. Indians had been offered academic education that </a:t>
            </a:r>
            <a:r>
              <a:rPr lang="en-US" dirty="0" smtClean="0"/>
              <a:t>led </a:t>
            </a:r>
            <a:r>
              <a:rPr lang="en-US" dirty="0"/>
              <a:t>to the resentment of European activities in India. </a:t>
            </a:r>
            <a:endParaRPr lang="en-US" dirty="0" smtClean="0"/>
          </a:p>
          <a:p>
            <a:r>
              <a:rPr lang="en-US" dirty="0" smtClean="0"/>
              <a:t>As </a:t>
            </a:r>
            <a:r>
              <a:rPr lang="en-US" dirty="0"/>
              <a:t>a result, the colonial government felt that </a:t>
            </a:r>
            <a:r>
              <a:rPr lang="en-US" dirty="0" smtClean="0"/>
              <a:t>academic education </a:t>
            </a:r>
            <a:r>
              <a:rPr lang="en-US" dirty="0"/>
              <a:t>promoted radicalism amongst Indians. </a:t>
            </a:r>
            <a:endParaRPr lang="en-US" dirty="0" smtClean="0"/>
          </a:p>
          <a:p>
            <a:r>
              <a:rPr lang="en-US" dirty="0" smtClean="0"/>
              <a:t>Hence </a:t>
            </a:r>
            <a:r>
              <a:rPr lang="en-US" dirty="0"/>
              <a:t>to </a:t>
            </a:r>
            <a:r>
              <a:rPr lang="en-US" b="1" dirty="0"/>
              <a:t>avoid emergence of such uprisings, industrial education was seen as the best for Africans in Kenya</a:t>
            </a:r>
            <a:r>
              <a:rPr lang="en-US" dirty="0"/>
              <a:t>. </a:t>
            </a:r>
            <a:endParaRPr lang="en-US" dirty="0" smtClean="0"/>
          </a:p>
          <a:p>
            <a:r>
              <a:rPr lang="en-US" i="1" dirty="0" smtClean="0"/>
              <a:t>Vocational </a:t>
            </a:r>
            <a:r>
              <a:rPr lang="en-US" i="1" dirty="0"/>
              <a:t>education would also pre-occupy the Africans and there would be no opposition to European policies</a:t>
            </a:r>
            <a:r>
              <a:rPr lang="en-US" dirty="0"/>
              <a:t>. </a:t>
            </a:r>
          </a:p>
          <a:p>
            <a:endParaRPr lang="en-US" dirty="0"/>
          </a:p>
        </p:txBody>
      </p:sp>
    </p:spTree>
    <p:extLst>
      <p:ext uri="{BB962C8B-B14F-4D97-AF65-F5344CB8AC3E}">
        <p14:creationId xmlns:p14="http://schemas.microsoft.com/office/powerpoint/2010/main" val="28397478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a:t>
            </a:r>
            <a:r>
              <a:rPr lang="en-US" b="1" dirty="0"/>
              <a:t>philosophical foundation for British educational policy </a:t>
            </a:r>
            <a:r>
              <a:rPr lang="en-US" dirty="0"/>
              <a:t>in Kenya in the 1920s was twofold</a:t>
            </a:r>
            <a:r>
              <a:rPr lang="en-US" dirty="0" smtClean="0"/>
              <a:t>:</a:t>
            </a:r>
          </a:p>
          <a:p>
            <a:r>
              <a:rPr lang="en-US" dirty="0" smtClean="0"/>
              <a:t>1) </a:t>
            </a:r>
            <a:r>
              <a:rPr lang="en-US" dirty="0"/>
              <a:t>to create a small semi-literate indigenous population of “ good” Christians and, especially during	the	interwar	</a:t>
            </a:r>
            <a:r>
              <a:rPr lang="en-US" dirty="0" smtClean="0"/>
              <a:t>period,</a:t>
            </a:r>
          </a:p>
          <a:p>
            <a:r>
              <a:rPr lang="en-US" dirty="0" smtClean="0"/>
              <a:t>2)to</a:t>
            </a:r>
            <a:r>
              <a:rPr lang="en-US" dirty="0"/>
              <a:t>	educate	Africans	through a village-oriented agriculture and skilled-based curriculum.</a:t>
            </a:r>
          </a:p>
          <a:p>
            <a:pPr marL="0" indent="0">
              <a:buNone/>
            </a:pPr>
            <a:r>
              <a:rPr lang="en-US" dirty="0" smtClean="0"/>
              <a:t>Missionaries </a:t>
            </a:r>
            <a:r>
              <a:rPr lang="en-US" dirty="0"/>
              <a:t>preached </a:t>
            </a:r>
            <a:r>
              <a:rPr lang="en-US" b="1" dirty="0"/>
              <a:t>'gospel of work' </a:t>
            </a:r>
            <a:r>
              <a:rPr lang="en-US" dirty="0"/>
              <a:t>and the </a:t>
            </a:r>
            <a:r>
              <a:rPr lang="en-US" b="1" dirty="0"/>
              <a:t>'Gospel of Salvation</a:t>
            </a:r>
            <a:r>
              <a:rPr lang="en-US" dirty="0"/>
              <a:t>' to </a:t>
            </a:r>
            <a:r>
              <a:rPr lang="en-US" dirty="0" smtClean="0"/>
              <a:t>justify </a:t>
            </a:r>
            <a:r>
              <a:rPr lang="en-US" dirty="0"/>
              <a:t>the suitability of technical education for Africans on the grounds that the latter formed the lower stratum of society</a:t>
            </a:r>
          </a:p>
        </p:txBody>
      </p:sp>
    </p:spTree>
    <p:extLst>
      <p:ext uri="{BB962C8B-B14F-4D97-AF65-F5344CB8AC3E}">
        <p14:creationId xmlns:p14="http://schemas.microsoft.com/office/powerpoint/2010/main" val="31938315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Africans were taught dignity of </a:t>
            </a:r>
            <a:r>
              <a:rPr lang="en-US" dirty="0" err="1"/>
              <a:t>labour</a:t>
            </a:r>
            <a:r>
              <a:rPr lang="en-US" dirty="0"/>
              <a:t> and habits of industry so as to disdain the alleged idleness and helplessness in them, and also to discipline and inculcate humility in them </a:t>
            </a:r>
            <a:r>
              <a:rPr lang="en-US" dirty="0" smtClean="0"/>
              <a:t>.</a:t>
            </a:r>
          </a:p>
          <a:p>
            <a:r>
              <a:rPr lang="en-US" dirty="0" smtClean="0"/>
              <a:t>Vocational </a:t>
            </a:r>
            <a:r>
              <a:rPr lang="en-US" dirty="0"/>
              <a:t>education would also produce artisans to work on European farms. </a:t>
            </a:r>
            <a:endParaRPr lang="en-US" dirty="0" smtClean="0"/>
          </a:p>
          <a:p>
            <a:r>
              <a:rPr lang="en-US" dirty="0" smtClean="0"/>
              <a:t>Emphasis </a:t>
            </a:r>
            <a:r>
              <a:rPr lang="en-US" dirty="0"/>
              <a:t>on religious education created a separating barrier between the old and the young, making the young 'homeless' in mind and spirit. It also made Africans lose continuity, aim and force in their culture and society and self-esteem.</a:t>
            </a:r>
          </a:p>
          <a:p>
            <a:endParaRPr lang="en-US" dirty="0"/>
          </a:p>
        </p:txBody>
      </p:sp>
    </p:spTree>
    <p:extLst>
      <p:ext uri="{BB962C8B-B14F-4D97-AF65-F5344CB8AC3E}">
        <p14:creationId xmlns:p14="http://schemas.microsoft.com/office/powerpoint/2010/main" val="28647578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Further studies conducted by </a:t>
            </a:r>
            <a:r>
              <a:rPr lang="en-US" dirty="0" err="1"/>
              <a:t>Barasa</a:t>
            </a:r>
            <a:r>
              <a:rPr lang="en-US" dirty="0"/>
              <a:t> and </a:t>
            </a:r>
            <a:r>
              <a:rPr lang="en-US" dirty="0" err="1"/>
              <a:t>Ngugi</a:t>
            </a:r>
            <a:r>
              <a:rPr lang="en-US" dirty="0"/>
              <a:t> on the 1919 East Africa protectorate education commission, revealed that grant in aid system was established to help mission schools only after the 1919 commission. </a:t>
            </a:r>
            <a:endParaRPr lang="en-US" dirty="0" smtClean="0"/>
          </a:p>
          <a:p>
            <a:r>
              <a:rPr lang="en-US" dirty="0" smtClean="0"/>
              <a:t>According </a:t>
            </a:r>
            <a:r>
              <a:rPr lang="en-US" dirty="0"/>
              <a:t>to its terms of reference, the commission was to look into unsatisfactory status of education for all races in the protectorate. </a:t>
            </a:r>
            <a:endParaRPr lang="en-US" dirty="0" smtClean="0"/>
          </a:p>
          <a:p>
            <a:r>
              <a:rPr lang="en-US" dirty="0" smtClean="0"/>
              <a:t>The </a:t>
            </a:r>
            <a:r>
              <a:rPr lang="en-US" dirty="0"/>
              <a:t>commission recommended that while the provision of education would remain a major responsibility of the missionaries, the government should increase its role in the provision of education.</a:t>
            </a:r>
          </a:p>
          <a:p>
            <a:endParaRPr lang="en-US" dirty="0"/>
          </a:p>
        </p:txBody>
      </p:sp>
    </p:spTree>
    <p:extLst>
      <p:ext uri="{BB962C8B-B14F-4D97-AF65-F5344CB8AC3E}">
        <p14:creationId xmlns:p14="http://schemas.microsoft.com/office/powerpoint/2010/main" val="2004289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47500" lnSpcReduction="20000"/>
          </a:bodyPr>
          <a:lstStyle/>
          <a:p>
            <a:r>
              <a:rPr lang="en-US" dirty="0"/>
              <a:t>This European commission recommended the following daily routine that was followed in a</a:t>
            </a:r>
          </a:p>
          <a:p>
            <a:r>
              <a:rPr lang="en-US" dirty="0"/>
              <a:t>typical school day during the said colonial period and was as follows: 6 a.m. Ringing bell, air blankets</a:t>
            </a:r>
          </a:p>
          <a:p>
            <a:r>
              <a:rPr lang="en-US" dirty="0"/>
              <a:t>6.20 a.m. Roll call (time here seems confusing)</a:t>
            </a:r>
          </a:p>
          <a:p>
            <a:r>
              <a:rPr lang="en-US" dirty="0"/>
              <a:t>6.15 to 7 a.m. Sweeping dormitories, dinning room, classrooms, offices, </a:t>
            </a:r>
            <a:r>
              <a:rPr lang="en-US" dirty="0" err="1"/>
              <a:t>e.t.c</a:t>
            </a:r>
            <a:r>
              <a:rPr lang="en-US" dirty="0"/>
              <a:t>.</a:t>
            </a:r>
          </a:p>
          <a:p>
            <a:r>
              <a:rPr lang="en-US" dirty="0"/>
              <a:t>7.15 a.m. Breakfast (maize meal)</a:t>
            </a:r>
          </a:p>
          <a:p>
            <a:r>
              <a:rPr lang="en-US" b="1" dirty="0"/>
              <a:t>7.30 a.m. Dormitory inspection</a:t>
            </a:r>
          </a:p>
          <a:p>
            <a:r>
              <a:rPr lang="en-US" dirty="0"/>
              <a:t>7.45 a.m. Morning prayers</a:t>
            </a:r>
          </a:p>
          <a:p>
            <a:r>
              <a:rPr lang="en-US" dirty="0"/>
              <a:t>8 a.m. to 12.45 p.m. Classroom instruction</a:t>
            </a:r>
          </a:p>
          <a:p>
            <a:r>
              <a:rPr lang="en-US" dirty="0"/>
              <a:t>12.45 p.m. Lunch</a:t>
            </a:r>
          </a:p>
          <a:p>
            <a:r>
              <a:rPr lang="en-US" dirty="0"/>
              <a:t>1.30 p.m.. Bathing and parade (lining up for inspection by teacher on duty)</a:t>
            </a:r>
          </a:p>
          <a:p>
            <a:r>
              <a:rPr lang="en-US" dirty="0"/>
              <a:t>2 to 4 p.m. Farm and garden work, building etc.</a:t>
            </a:r>
          </a:p>
          <a:p>
            <a:r>
              <a:rPr lang="en-US" dirty="0"/>
              <a:t>4.30 to 5.30 p.m. Organized games (Mondays, Tuesdays, Thursday the document was silent on other days activities)</a:t>
            </a:r>
          </a:p>
          <a:p>
            <a:r>
              <a:rPr lang="en-US" dirty="0"/>
              <a:t>6.00 p.m. Supper</a:t>
            </a:r>
          </a:p>
          <a:p>
            <a:r>
              <a:rPr lang="en-US" dirty="0"/>
              <a:t>6.30 to 8 p.m. Indoor games</a:t>
            </a:r>
          </a:p>
          <a:p>
            <a:r>
              <a:rPr lang="en-US" dirty="0"/>
              <a:t>8.30 p.m. Roll call, Evening prayers</a:t>
            </a:r>
          </a:p>
          <a:p>
            <a:r>
              <a:rPr lang="en-US" dirty="0"/>
              <a:t>9.15 p.m. Lights out (</a:t>
            </a:r>
            <a:r>
              <a:rPr lang="en-US" dirty="0" err="1"/>
              <a:t>Sifuna</a:t>
            </a:r>
            <a:r>
              <a:rPr lang="en-US" dirty="0"/>
              <a:t>, 1976, pp. 112-113)</a:t>
            </a:r>
          </a:p>
          <a:p>
            <a:endParaRPr lang="en-US" dirty="0"/>
          </a:p>
        </p:txBody>
      </p:sp>
    </p:spTree>
    <p:extLst>
      <p:ext uri="{BB962C8B-B14F-4D97-AF65-F5344CB8AC3E}">
        <p14:creationId xmlns:p14="http://schemas.microsoft.com/office/powerpoint/2010/main" val="7279391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GROUP </a:t>
            </a:r>
            <a:r>
              <a:rPr lang="en-US" smtClean="0"/>
              <a:t>WORK </a:t>
            </a:r>
            <a:r>
              <a:rPr lang="en-US" smtClean="0"/>
              <a:t>/INDIVIDUAL ASSIGNMENT </a:t>
            </a:r>
            <a:endParaRPr lang="en-US" dirty="0"/>
          </a:p>
        </p:txBody>
      </p:sp>
      <p:sp>
        <p:nvSpPr>
          <p:cNvPr id="3" name="Content Placeholder 2"/>
          <p:cNvSpPr>
            <a:spLocks noGrp="1"/>
          </p:cNvSpPr>
          <p:nvPr>
            <p:ph idx="1"/>
          </p:nvPr>
        </p:nvSpPr>
        <p:spPr/>
        <p:txBody>
          <a:bodyPr/>
          <a:lstStyle/>
          <a:p>
            <a:pPr marL="0" indent="0">
              <a:buNone/>
            </a:pPr>
            <a:r>
              <a:rPr lang="en-US" dirty="0" smtClean="0"/>
              <a:t>Listen to the following video and outline 4 recommendations of </a:t>
            </a:r>
          </a:p>
          <a:p>
            <a:pPr marL="0" indent="0">
              <a:buNone/>
            </a:pPr>
            <a:r>
              <a:rPr lang="en-US" dirty="0" smtClean="0"/>
              <a:t>1)FRASER REPORT OF 1908</a:t>
            </a:r>
          </a:p>
          <a:p>
            <a:pPr marL="0" indent="0">
              <a:buNone/>
            </a:pPr>
            <a:r>
              <a:rPr lang="en-US" dirty="0" smtClean="0"/>
              <a:t>2)Devonshire </a:t>
            </a:r>
            <a:r>
              <a:rPr lang="en-US" dirty="0"/>
              <a:t>White Paper in </a:t>
            </a:r>
            <a:r>
              <a:rPr lang="en-US" dirty="0" smtClean="0"/>
              <a:t>1923</a:t>
            </a:r>
          </a:p>
          <a:p>
            <a:pPr marL="0" indent="0">
              <a:buNone/>
            </a:pPr>
            <a:r>
              <a:rPr lang="en-US" dirty="0" smtClean="0"/>
              <a:t>3)Phelps-Stoke </a:t>
            </a:r>
            <a:r>
              <a:rPr lang="en-US" dirty="0"/>
              <a:t>commission and Jean schools</a:t>
            </a:r>
          </a:p>
          <a:p>
            <a:endParaRPr lang="en-US" dirty="0"/>
          </a:p>
        </p:txBody>
      </p:sp>
    </p:spTree>
    <p:extLst>
      <p:ext uri="{BB962C8B-B14F-4D97-AF65-F5344CB8AC3E}">
        <p14:creationId xmlns:p14="http://schemas.microsoft.com/office/powerpoint/2010/main" val="39339057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2182</Words>
  <Application>Microsoft Office PowerPoint</Application>
  <PresentationFormat>Widescreen</PresentationFormat>
  <Paragraphs>116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LECTURE 1 B  TVET IN KENYA BEFORE COLONIZATION AND  DURING COLONIZATION </vt:lpstr>
      <vt:lpstr> </vt:lpstr>
      <vt:lpstr>PowerPoint Presentation</vt:lpstr>
      <vt:lpstr>cont</vt:lpstr>
      <vt:lpstr>PowerPoint Presentation</vt:lpstr>
      <vt:lpstr>WHAT WAS KEY OBJECTIVES OF THE MISSIONARIES EDUCATION?</vt:lpstr>
      <vt:lpstr>Lets remember the goal of education before independence in Kenya;;;;;;</vt:lpstr>
      <vt:lpstr>Colonial education policy was influenced by three important factors namely; </vt:lpstr>
      <vt:lpstr>Education in the early 1900s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GROUP WORK /INDIVIDUAL ASSIGNMENT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TVET IN KENYA DURING COLONIZATION</dc:title>
  <dc:creator>ADMIN</dc:creator>
  <cp:lastModifiedBy>Dr. Gatembu</cp:lastModifiedBy>
  <cp:revision>24</cp:revision>
  <dcterms:created xsi:type="dcterms:W3CDTF">2024-12-12T18:56:36Z</dcterms:created>
  <dcterms:modified xsi:type="dcterms:W3CDTF">2025-11-22T06:13:36Z</dcterms:modified>
</cp:coreProperties>
</file>