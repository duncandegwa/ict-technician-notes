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76" r:id="rId4"/>
    <p:sldId id="259" r:id="rId5"/>
    <p:sldId id="278" r:id="rId6"/>
    <p:sldId id="260" r:id="rId7"/>
    <p:sldId id="262" r:id="rId8"/>
    <p:sldId id="277" r:id="rId9"/>
    <p:sldId id="261" r:id="rId10"/>
    <p:sldId id="263" r:id="rId11"/>
    <p:sldId id="264" r:id="rId12"/>
    <p:sldId id="265" r:id="rId13"/>
    <p:sldId id="266" r:id="rId14"/>
    <p:sldId id="268" r:id="rId15"/>
    <p:sldId id="269" r:id="rId16"/>
    <p:sldId id="270" r:id="rId17"/>
    <p:sldId id="279" r:id="rId18"/>
    <p:sldId id="280" r:id="rId19"/>
    <p:sldId id="281" r:id="rId20"/>
    <p:sldId id="282" r:id="rId21"/>
    <p:sldId id="285" r:id="rId22"/>
    <p:sldId id="283" r:id="rId23"/>
    <p:sldId id="284" r:id="rId24"/>
    <p:sldId id="267" r:id="rId25"/>
    <p:sldId id="272" r:id="rId26"/>
    <p:sldId id="273" r:id="rId27"/>
    <p:sldId id="275" r:id="rId28"/>
    <p:sldId id="274" r:id="rId29"/>
    <p:sldId id="27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60"/>
  </p:normalViewPr>
  <p:slideViewPr>
    <p:cSldViewPr snapToGrid="0">
      <p:cViewPr varScale="1">
        <p:scale>
          <a:sx n="72" d="100"/>
          <a:sy n="72"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3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31916789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2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7199922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922574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9198AA4-3540-40D8-A68E-F98B0A621D7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425802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198AA4-3540-40D8-A68E-F98B0A621D7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199441969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9198AA4-3540-40D8-A68E-F98B0A621D7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866619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98AA4-3540-40D8-A68E-F98B0A621D7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4221852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9198AA4-3540-40D8-A68E-F98B0A621D78}"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283312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198AA4-3540-40D8-A68E-F98B0A621D78}"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555686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198AA4-3540-40D8-A68E-F98B0A621D78}"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4092648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198AA4-3540-40D8-A68E-F98B0A621D7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1888462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198AA4-3540-40D8-A68E-F98B0A621D7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516014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198AA4-3540-40D8-A68E-F98B0A621D7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460581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198AA4-3540-40D8-A68E-F98B0A621D7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25A06-974A-4E0A-9B99-D153CFA8485F}" type="slidenum">
              <a:rPr lang="en-US" smtClean="0"/>
              <a:t>‹#›</a:t>
            </a:fld>
            <a:endParaRPr lang="en-US"/>
          </a:p>
        </p:txBody>
      </p:sp>
    </p:spTree>
    <p:extLst>
      <p:ext uri="{BB962C8B-B14F-4D97-AF65-F5344CB8AC3E}">
        <p14:creationId xmlns:p14="http://schemas.microsoft.com/office/powerpoint/2010/main" val="2622948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98AA4-3540-40D8-A68E-F98B0A621D78}" type="datetimeFigureOut">
              <a:rPr lang="en-US" smtClean="0"/>
              <a:t>11/22/2025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D25A06-974A-4E0A-9B99-D153CFA8485F}" type="slidenum">
              <a:rPr lang="en-US" smtClean="0"/>
              <a:t>‹#›</a:t>
            </a:fld>
            <a:endParaRPr lang="en-US"/>
          </a:p>
        </p:txBody>
      </p:sp>
    </p:spTree>
    <p:extLst>
      <p:ext uri="{BB962C8B-B14F-4D97-AF65-F5344CB8AC3E}">
        <p14:creationId xmlns:p14="http://schemas.microsoft.com/office/powerpoint/2010/main" val="85915712"/>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Kenya_Colony" TargetMode="External"/><Relationship Id="rId2" Type="http://schemas.openxmlformats.org/officeDocument/2006/relationships/hyperlink" Target="https://en.wikipedia.org/wiki/Victor_Cavendish,_9th_Duke_of_Devonshire" TargetMode="External"/><Relationship Id="rId1" Type="http://schemas.openxmlformats.org/officeDocument/2006/relationships/slideLayout" Target="../slideLayouts/slideLayout5.xml"/><Relationship Id="rId4" Type="http://schemas.openxmlformats.org/officeDocument/2006/relationships/hyperlink" Target="https://en.wikipedia.org/wiki/East_Africa"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East_African_Protectorate" TargetMode="External"/><Relationship Id="rId2" Type="http://schemas.openxmlformats.org/officeDocument/2006/relationships/hyperlink" Target="https://en.wikipedia.org/wiki/Legislative_Council_of_Kenya" TargetMode="External"/><Relationship Id="rId1" Type="http://schemas.openxmlformats.org/officeDocument/2006/relationships/slideLayout" Target="../slideLayouts/slideLayout5.xml"/><Relationship Id="rId5" Type="http://schemas.openxmlformats.org/officeDocument/2006/relationships/hyperlink" Target="https://en.wikipedia.org/wiki/No_taxation_without_representation" TargetMode="External"/><Relationship Id="rId4" Type="http://schemas.openxmlformats.org/officeDocument/2006/relationships/hyperlink" Target="https://en.wikipedia.org/wiki/Hugh_Cholmondeley,_3rd_Baron_Delamere" TargetMode="Externa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White_Highlands" TargetMode="Externa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Zimbabwe" TargetMode="External"/><Relationship Id="rId2" Type="http://schemas.openxmlformats.org/officeDocument/2006/relationships/hyperlink" Target="https://en.wikipedia.org/wiki/Southern_Rhodesia" TargetMode="External"/><Relationship Id="rId1" Type="http://schemas.openxmlformats.org/officeDocument/2006/relationships/slideLayout" Target="../slideLayouts/slideLayout5.xml"/><Relationship Id="rId5" Type="http://schemas.openxmlformats.org/officeDocument/2006/relationships/hyperlink" Target="https://en.wikipedia.org/wiki/South_Africa" TargetMode="External"/><Relationship Id="rId4" Type="http://schemas.openxmlformats.org/officeDocument/2006/relationships/hyperlink" Target="https://en.wikipedia.org/wiki/Union_of_South_Afric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Kikuyu_Central_Association" TargetMode="External"/><Relationship Id="rId2" Type="http://schemas.openxmlformats.org/officeDocument/2006/relationships/hyperlink" Target="https://en.wikipedia.org/wiki/John_Arthur_(missionary)"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hyperlink" Target="https://youtu.be/ll0mCLmKbRQ?t=67--------wanyeki" TargetMode="Externa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lecture 3B PGDE CVOHORT TEN  </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           </a:t>
            </a:r>
          </a:p>
          <a:p>
            <a:pPr marL="0" indent="0">
              <a:buNone/>
            </a:pPr>
            <a:r>
              <a:rPr lang="en-US" sz="3200" dirty="0" smtClean="0"/>
              <a:t>We have attempted to look at;-</a:t>
            </a:r>
          </a:p>
          <a:p>
            <a:pPr marL="514350" indent="-514350">
              <a:buFont typeface="+mj-lt"/>
              <a:buAutoNum type="arabicPeriod"/>
            </a:pPr>
            <a:r>
              <a:rPr lang="en-US" sz="3200" dirty="0" smtClean="0"/>
              <a:t>meaning of the terminologies used in Technical Education </a:t>
            </a:r>
          </a:p>
          <a:p>
            <a:pPr marL="514350" indent="-514350">
              <a:buFont typeface="+mj-lt"/>
              <a:buAutoNum type="arabicPeriod"/>
            </a:pPr>
            <a:r>
              <a:rPr lang="en-US" sz="3200" dirty="0" smtClean="0"/>
              <a:t>African Indigenous Education</a:t>
            </a:r>
          </a:p>
          <a:p>
            <a:pPr marL="514350" indent="-514350">
              <a:buFont typeface="+mj-lt"/>
              <a:buAutoNum type="arabicPeriod"/>
            </a:pPr>
            <a:r>
              <a:rPr lang="en-US" sz="3200" dirty="0" smtClean="0"/>
              <a:t> TVET before colonization and during colonization </a:t>
            </a:r>
          </a:p>
          <a:p>
            <a:pPr marL="0" indent="0">
              <a:buNone/>
            </a:pPr>
            <a:r>
              <a:rPr lang="en-US" sz="3200" dirty="0" smtClean="0"/>
              <a:t>Further more to bring ourselves on Board in the right way we need to mention some other items we have discussed so far as outlined in slide 2 and 3 hereinafter</a:t>
            </a:r>
          </a:p>
        </p:txBody>
      </p:sp>
    </p:spTree>
    <p:extLst>
      <p:ext uri="{BB962C8B-B14F-4D97-AF65-F5344CB8AC3E}">
        <p14:creationId xmlns:p14="http://schemas.microsoft.com/office/powerpoint/2010/main" val="2607141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b="1" dirty="0" smtClean="0"/>
              <a:t>THE </a:t>
            </a:r>
            <a:r>
              <a:rPr lang="en-US" b="1" dirty="0"/>
              <a:t>JUSTIFICATION FOR TVET; Why are Governments interested in TVET? or Why TVET?</a:t>
            </a:r>
            <a:endParaRPr lang="en-US" dirty="0"/>
          </a:p>
          <a:p>
            <a:pPr marL="0" indent="0">
              <a:buNone/>
            </a:pPr>
            <a:r>
              <a:rPr lang="en-US" b="1" dirty="0" smtClean="0"/>
              <a:t>                                  CLASS </a:t>
            </a:r>
            <a:r>
              <a:rPr lang="en-US" b="1" dirty="0"/>
              <a:t>ACTIVITIES </a:t>
            </a:r>
            <a:r>
              <a:rPr lang="en-US" b="1"/>
              <a:t>FOR </a:t>
            </a:r>
            <a:r>
              <a:rPr lang="en-US" b="1" smtClean="0"/>
              <a:t>LECTURE 1 and  </a:t>
            </a:r>
            <a:r>
              <a:rPr lang="en-US" b="1" dirty="0"/>
              <a:t>2</a:t>
            </a:r>
            <a:r>
              <a:rPr lang="en-US" dirty="0"/>
              <a:t>  </a:t>
            </a:r>
            <a:r>
              <a:rPr lang="en-US" b="1" dirty="0"/>
              <a:t>               </a:t>
            </a:r>
            <a:endParaRPr lang="en-US" dirty="0"/>
          </a:p>
          <a:p>
            <a:pPr marL="0" indent="0">
              <a:buNone/>
            </a:pPr>
            <a:r>
              <a:rPr lang="en-US" b="1" dirty="0" smtClean="0"/>
              <a:t>Did you at your own time review the following about UNESCO; </a:t>
            </a:r>
            <a:endParaRPr lang="en-US" dirty="0"/>
          </a:p>
          <a:p>
            <a:pPr lvl="0"/>
            <a:r>
              <a:rPr lang="en-US" dirty="0"/>
              <a:t>What does UNESCO stand for?</a:t>
            </a:r>
          </a:p>
          <a:p>
            <a:pPr lvl="0"/>
            <a:r>
              <a:rPr lang="en-US" dirty="0"/>
              <a:t>When was UNESCO formed?</a:t>
            </a:r>
          </a:p>
          <a:p>
            <a:pPr lvl="0"/>
            <a:r>
              <a:rPr lang="en-US" dirty="0"/>
              <a:t>Why was UNESCO formed ?</a:t>
            </a:r>
          </a:p>
          <a:p>
            <a:pPr lvl="0"/>
            <a:r>
              <a:rPr lang="en-US" dirty="0"/>
              <a:t>What are the aims of UNESCO?</a:t>
            </a:r>
          </a:p>
          <a:p>
            <a:pPr lvl="0"/>
            <a:r>
              <a:rPr lang="en-US" dirty="0"/>
              <a:t>What is UNESCO/UNEVOC?</a:t>
            </a:r>
          </a:p>
          <a:p>
            <a:endParaRPr lang="en-US" dirty="0"/>
          </a:p>
        </p:txBody>
      </p:sp>
    </p:spTree>
    <p:extLst>
      <p:ext uri="{BB962C8B-B14F-4D97-AF65-F5344CB8AC3E}">
        <p14:creationId xmlns:p14="http://schemas.microsoft.com/office/powerpoint/2010/main" val="30074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a:r>
              <a:rPr lang="en-US" sz="3600" dirty="0"/>
              <a:t>What are the two overarching objectives of UNESCO?</a:t>
            </a:r>
          </a:p>
          <a:p>
            <a:pPr lvl="0"/>
            <a:r>
              <a:rPr lang="en-US" sz="3600" dirty="0"/>
              <a:t>What are Sustainable Development Goals?</a:t>
            </a:r>
          </a:p>
          <a:p>
            <a:pPr lvl="0"/>
            <a:r>
              <a:rPr lang="en-US" sz="3600" dirty="0"/>
              <a:t>Which SDGs relate to TVET?</a:t>
            </a:r>
          </a:p>
          <a:p>
            <a:pPr lvl="0"/>
            <a:r>
              <a:rPr lang="en-US" sz="3600" dirty="0"/>
              <a:t>What does ILO stand for? Any statement from ILO in support of TVET?</a:t>
            </a:r>
          </a:p>
          <a:p>
            <a:pPr lvl="0"/>
            <a:r>
              <a:rPr lang="en-US" sz="3600" dirty="0"/>
              <a:t>Which other international organizations support TVET?</a:t>
            </a:r>
          </a:p>
          <a:p>
            <a:pPr marL="0" indent="0">
              <a:buNone/>
            </a:pPr>
            <a:r>
              <a:rPr lang="en-US" sz="3600" dirty="0"/>
              <a:t> </a:t>
            </a:r>
          </a:p>
          <a:p>
            <a:endParaRPr lang="en-US" dirty="0"/>
          </a:p>
        </p:txBody>
      </p:sp>
    </p:spTree>
    <p:extLst>
      <p:ext uri="{BB962C8B-B14F-4D97-AF65-F5344CB8AC3E}">
        <p14:creationId xmlns:p14="http://schemas.microsoft.com/office/powerpoint/2010/main" val="3722134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t>
            </a:r>
            <a:r>
              <a:rPr lang="en-US" dirty="0" err="1" smtClean="0"/>
              <a:t>activity;weekend</a:t>
            </a:r>
            <a:r>
              <a:rPr lang="en-US" dirty="0" smtClean="0"/>
              <a:t> </a:t>
            </a:r>
            <a:endParaRPr lang="en-US" dirty="0"/>
          </a:p>
        </p:txBody>
      </p:sp>
      <p:sp>
        <p:nvSpPr>
          <p:cNvPr id="3" name="Content Placeholder 2"/>
          <p:cNvSpPr>
            <a:spLocks noGrp="1"/>
          </p:cNvSpPr>
          <p:nvPr>
            <p:ph idx="1"/>
          </p:nvPr>
        </p:nvSpPr>
        <p:spPr/>
        <p:txBody>
          <a:bodyPr/>
          <a:lstStyle/>
          <a:p>
            <a:pPr marL="0" indent="0">
              <a:buNone/>
            </a:pPr>
            <a:r>
              <a:rPr lang="en-US" dirty="0" smtClean="0"/>
              <a:t>1)Distinguish between Technical education and Vocational education.</a:t>
            </a:r>
          </a:p>
          <a:p>
            <a:pPr marL="0" indent="0">
              <a:buNone/>
            </a:pPr>
            <a:endParaRPr lang="en-US" dirty="0" smtClean="0"/>
          </a:p>
          <a:p>
            <a:pPr marL="0" indent="0">
              <a:buNone/>
            </a:pPr>
            <a:r>
              <a:rPr lang="en-US" dirty="0" smtClean="0"/>
              <a:t>2) What is the difference between science, engineering and technology.</a:t>
            </a:r>
          </a:p>
          <a:p>
            <a:endParaRPr lang="en-US" dirty="0"/>
          </a:p>
        </p:txBody>
      </p:sp>
    </p:spTree>
    <p:extLst>
      <p:ext uri="{BB962C8B-B14F-4D97-AF65-F5344CB8AC3E}">
        <p14:creationId xmlns:p14="http://schemas.microsoft.com/office/powerpoint/2010/main" val="284596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1)List three key influences of colonial education in </a:t>
            </a:r>
            <a:r>
              <a:rPr lang="en-US" dirty="0" err="1" smtClean="0"/>
              <a:t>kenya</a:t>
            </a:r>
            <a:endParaRPr lang="en-US" dirty="0" smtClean="0"/>
          </a:p>
          <a:p>
            <a:pPr marL="0" indent="0">
              <a:buNone/>
            </a:pPr>
            <a:r>
              <a:rPr lang="en-US" dirty="0" smtClean="0"/>
              <a:t>2)List the main goal of African education before independence</a:t>
            </a:r>
          </a:p>
          <a:p>
            <a:pPr marL="0" indent="0">
              <a:buNone/>
            </a:pPr>
            <a:r>
              <a:rPr lang="en-US" dirty="0" smtClean="0"/>
              <a:t>3)What was the  </a:t>
            </a:r>
            <a:r>
              <a:rPr lang="en-US" b="1" dirty="0"/>
              <a:t>philosophical foundation </a:t>
            </a:r>
            <a:r>
              <a:rPr lang="en-US" b="1" dirty="0" smtClean="0"/>
              <a:t>of </a:t>
            </a:r>
            <a:r>
              <a:rPr lang="en-US" b="1" dirty="0"/>
              <a:t>British educational policy </a:t>
            </a:r>
            <a:r>
              <a:rPr lang="en-US" dirty="0"/>
              <a:t>in Kenya in the 1920s ?</a:t>
            </a:r>
          </a:p>
          <a:p>
            <a:endParaRPr lang="en-US" dirty="0"/>
          </a:p>
        </p:txBody>
      </p:sp>
    </p:spTree>
    <p:extLst>
      <p:ext uri="{BB962C8B-B14F-4D97-AF65-F5344CB8AC3E}">
        <p14:creationId xmlns:p14="http://schemas.microsoft.com/office/powerpoint/2010/main" val="781991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Professor Fraser Report (1909)</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a:t>Professor Fraser was commissioned by Sir Percy </a:t>
            </a:r>
            <a:r>
              <a:rPr lang="en-US" dirty="0" err="1"/>
              <a:t>Girould</a:t>
            </a:r>
            <a:r>
              <a:rPr lang="en-US" dirty="0"/>
              <a:t>, the then Governor of Kenya at the advice of Captain </a:t>
            </a:r>
            <a:r>
              <a:rPr lang="en-US" dirty="0" err="1"/>
              <a:t>Lugard</a:t>
            </a:r>
            <a:r>
              <a:rPr lang="en-US" dirty="0"/>
              <a:t> of </a:t>
            </a:r>
            <a:r>
              <a:rPr lang="en-US" dirty="0" err="1" smtClean="0"/>
              <a:t>Luton</a:t>
            </a:r>
            <a:endParaRPr lang="en-US" dirty="0" smtClean="0"/>
          </a:p>
          <a:p>
            <a:pPr marL="0" indent="0">
              <a:buNone/>
            </a:pPr>
            <a:r>
              <a:rPr lang="en-US" dirty="0" smtClean="0"/>
              <a:t> </a:t>
            </a:r>
          </a:p>
          <a:p>
            <a:pPr marL="0" indent="0">
              <a:buNone/>
            </a:pPr>
            <a:r>
              <a:rPr lang="en-US" dirty="0" smtClean="0"/>
              <a:t>Both were </a:t>
            </a:r>
            <a:r>
              <a:rPr lang="en-US" dirty="0"/>
              <a:t>shareholders of the then Imperial British East African Company. </a:t>
            </a:r>
            <a:endParaRPr lang="en-US" dirty="0" smtClean="0"/>
          </a:p>
          <a:p>
            <a:pPr marL="0" indent="0">
              <a:buNone/>
            </a:pPr>
            <a:endParaRPr lang="en-US" dirty="0" smtClean="0"/>
          </a:p>
          <a:p>
            <a:pPr marL="0" indent="0">
              <a:buNone/>
            </a:pPr>
            <a:r>
              <a:rPr lang="en-US" dirty="0" smtClean="0"/>
              <a:t>The </a:t>
            </a:r>
            <a:r>
              <a:rPr lang="en-US" dirty="0"/>
              <a:t>company owned the British East African Territory now known as the Republic of </a:t>
            </a:r>
            <a:r>
              <a:rPr lang="en-US" dirty="0" smtClean="0"/>
              <a:t>Kenya today</a:t>
            </a:r>
            <a:endParaRPr lang="en-US" dirty="0"/>
          </a:p>
          <a:p>
            <a:endParaRPr lang="en-US" dirty="0"/>
          </a:p>
        </p:txBody>
      </p:sp>
    </p:spTree>
    <p:extLst>
      <p:ext uri="{BB962C8B-B14F-4D97-AF65-F5344CB8AC3E}">
        <p14:creationId xmlns:p14="http://schemas.microsoft.com/office/powerpoint/2010/main" val="89204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a:t>He saw a push for industrial education as being more appropriate and economical. </a:t>
            </a:r>
            <a:endParaRPr lang="en-US" dirty="0" smtClean="0"/>
          </a:p>
          <a:p>
            <a:r>
              <a:rPr lang="en-US" dirty="0" smtClean="0"/>
              <a:t>In </a:t>
            </a:r>
            <a:r>
              <a:rPr lang="en-US" dirty="0"/>
              <a:t>his report, Fraser recommended to the </a:t>
            </a:r>
            <a:r>
              <a:rPr lang="en-US" dirty="0" smtClean="0"/>
              <a:t>government that  </a:t>
            </a:r>
            <a:r>
              <a:rPr lang="en-US" dirty="0"/>
              <a:t>industrial </a:t>
            </a:r>
            <a:r>
              <a:rPr lang="en-US" dirty="0" smtClean="0"/>
              <a:t>apprenticeship be done  </a:t>
            </a:r>
            <a:r>
              <a:rPr lang="en-US" dirty="0"/>
              <a:t>through indentures. </a:t>
            </a:r>
            <a:endParaRPr lang="en-US" dirty="0" smtClean="0"/>
          </a:p>
          <a:p>
            <a:r>
              <a:rPr lang="en-US" dirty="0" smtClean="0"/>
              <a:t>He </a:t>
            </a:r>
            <a:r>
              <a:rPr lang="en-US" dirty="0"/>
              <a:t>reasoned that missions and government might through such a scheme begin a fruitful cooperation in replacing the relatively expensive Indian artisans by Africans. </a:t>
            </a:r>
            <a:endParaRPr lang="en-US" dirty="0" smtClean="0"/>
          </a:p>
          <a:p>
            <a:r>
              <a:rPr lang="en-US" dirty="0" smtClean="0"/>
              <a:t>In </a:t>
            </a:r>
            <a:r>
              <a:rPr lang="en-US" dirty="0"/>
              <a:t>proposing an industrial formula, Fraser also felt that he was making an assault on those undesirable qualities like </a:t>
            </a:r>
            <a:r>
              <a:rPr lang="en-US" dirty="0" smtClean="0">
                <a:solidFill>
                  <a:srgbClr val="FF0000"/>
                </a:solidFill>
              </a:rPr>
              <a:t>self-conceit</a:t>
            </a:r>
            <a:r>
              <a:rPr lang="en-US" dirty="0" smtClean="0"/>
              <a:t> and </a:t>
            </a:r>
            <a:r>
              <a:rPr lang="en-US" dirty="0" smtClean="0">
                <a:solidFill>
                  <a:srgbClr val="FF0000"/>
                </a:solidFill>
              </a:rPr>
              <a:t>insolence </a:t>
            </a:r>
            <a:r>
              <a:rPr lang="en-US" dirty="0"/>
              <a:t>that were assumed to follow from giving Africans Literacy education</a:t>
            </a:r>
          </a:p>
        </p:txBody>
      </p:sp>
    </p:spTree>
    <p:extLst>
      <p:ext uri="{BB962C8B-B14F-4D97-AF65-F5344CB8AC3E}">
        <p14:creationId xmlns:p14="http://schemas.microsoft.com/office/powerpoint/2010/main" val="67591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Insolence  meaning; </a:t>
            </a:r>
            <a:r>
              <a:rPr lang="en-US" dirty="0" err="1" smtClean="0"/>
              <a:t>contemptible,ill</a:t>
            </a:r>
            <a:r>
              <a:rPr lang="en-US" dirty="0" smtClean="0"/>
              <a:t> </a:t>
            </a:r>
            <a:r>
              <a:rPr lang="en-US" dirty="0" err="1" smtClean="0"/>
              <a:t>manered</a:t>
            </a:r>
            <a:r>
              <a:rPr lang="en-US" dirty="0" smtClean="0"/>
              <a:t> ,</a:t>
            </a:r>
            <a:r>
              <a:rPr lang="en-US" dirty="0" err="1" smtClean="0"/>
              <a:t>arrogant,bold</a:t>
            </a:r>
            <a:r>
              <a:rPr lang="en-US" dirty="0" smtClean="0"/>
              <a:t> behavior and attitude</a:t>
            </a:r>
          </a:p>
          <a:p>
            <a:r>
              <a:rPr lang="en-US" dirty="0" smtClean="0"/>
              <a:t>Quality of being novel</a:t>
            </a:r>
            <a:endParaRPr lang="en-US" dirty="0"/>
          </a:p>
        </p:txBody>
      </p:sp>
    </p:spTree>
    <p:extLst>
      <p:ext uri="{BB962C8B-B14F-4D97-AF65-F5344CB8AC3E}">
        <p14:creationId xmlns:p14="http://schemas.microsoft.com/office/powerpoint/2010/main" val="263720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Professor </a:t>
            </a:r>
            <a:r>
              <a:rPr lang="en-US" dirty="0"/>
              <a:t>Fraser, </a:t>
            </a:r>
            <a:r>
              <a:rPr lang="en-US" dirty="0" smtClean="0"/>
              <a:t>noted that Education </a:t>
            </a:r>
            <a:r>
              <a:rPr lang="en-US" dirty="0"/>
              <a:t>was to be established on the </a:t>
            </a:r>
            <a:r>
              <a:rPr lang="en-US" dirty="0">
                <a:solidFill>
                  <a:srgbClr val="FF0000"/>
                </a:solidFill>
              </a:rPr>
              <a:t>racial lines </a:t>
            </a:r>
            <a:r>
              <a:rPr lang="en-US" dirty="0"/>
              <a:t>namely, European, Asian and African Education. Europeans and the Asian children were to be given an academic type of education. On the other hand, the African children were to acquire a technical type of education. </a:t>
            </a:r>
            <a:endParaRPr lang="en-US" dirty="0" smtClean="0"/>
          </a:p>
          <a:p>
            <a:r>
              <a:rPr lang="en-US" dirty="0" smtClean="0"/>
              <a:t>This </a:t>
            </a:r>
            <a:r>
              <a:rPr lang="en-US" dirty="0"/>
              <a:t>was aimed at making Africans provide </a:t>
            </a:r>
            <a:r>
              <a:rPr lang="en-US" dirty="0" err="1"/>
              <a:t>labour</a:t>
            </a:r>
            <a:r>
              <a:rPr lang="en-US" dirty="0"/>
              <a:t> that would be required in the industrial sector, hence, African education was to be industrial and agricultural in nature</a:t>
            </a:r>
            <a:r>
              <a:rPr lang="en-US" dirty="0" smtClean="0"/>
              <a:t>.</a:t>
            </a:r>
          </a:p>
          <a:p>
            <a:r>
              <a:rPr lang="en-US" dirty="0" smtClean="0"/>
              <a:t>Another </a:t>
            </a:r>
            <a:r>
              <a:rPr lang="en-US" dirty="0"/>
              <a:t>recommendation was that the government should give </a:t>
            </a:r>
            <a:r>
              <a:rPr lang="en-US" b="1" dirty="0" smtClean="0">
                <a:solidFill>
                  <a:srgbClr val="FF0000"/>
                </a:solidFill>
              </a:rPr>
              <a:t>grants </a:t>
            </a:r>
            <a:r>
              <a:rPr lang="en-US" b="1" dirty="0">
                <a:solidFill>
                  <a:srgbClr val="FF0000"/>
                </a:solidFill>
              </a:rPr>
              <a:t>in </a:t>
            </a:r>
            <a:r>
              <a:rPr lang="en-US" b="1" dirty="0" smtClean="0">
                <a:solidFill>
                  <a:srgbClr val="FF0000"/>
                </a:solidFill>
              </a:rPr>
              <a:t>aid</a:t>
            </a:r>
            <a:r>
              <a:rPr lang="en-US" dirty="0" smtClean="0"/>
              <a:t> to missionaries to assist them in their educational enterprise. This was due </a:t>
            </a:r>
            <a:r>
              <a:rPr lang="en-US" dirty="0"/>
              <a:t>to the commitment that European missionaries had towards education.</a:t>
            </a:r>
          </a:p>
          <a:p>
            <a:endParaRPr lang="en-US" dirty="0"/>
          </a:p>
        </p:txBody>
      </p:sp>
    </p:spTree>
    <p:extLst>
      <p:ext uri="{BB962C8B-B14F-4D97-AF65-F5344CB8AC3E}">
        <p14:creationId xmlns:p14="http://schemas.microsoft.com/office/powerpoint/2010/main" val="114845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3200" dirty="0"/>
              <a:t>Professor Fraser went further to discourage the input on expensive </a:t>
            </a:r>
            <a:r>
              <a:rPr lang="en-US" sz="3200" dirty="0" err="1"/>
              <a:t>labour</a:t>
            </a:r>
            <a:r>
              <a:rPr lang="en-US" sz="3200" dirty="0"/>
              <a:t> from India. </a:t>
            </a:r>
            <a:endParaRPr lang="en-US" sz="3200" dirty="0" smtClean="0"/>
          </a:p>
          <a:p>
            <a:endParaRPr lang="en-US" sz="3200" dirty="0" smtClean="0"/>
          </a:p>
          <a:p>
            <a:r>
              <a:rPr lang="en-US" sz="3200" dirty="0" smtClean="0"/>
              <a:t>Instead</a:t>
            </a:r>
            <a:r>
              <a:rPr lang="en-US" sz="3200" dirty="0"/>
              <a:t>, the Governor was to concentrate on administering the technical education to the Africans. </a:t>
            </a:r>
            <a:endParaRPr lang="en-US" sz="3200" dirty="0" smtClean="0"/>
          </a:p>
          <a:p>
            <a:endParaRPr lang="en-US" sz="3200" dirty="0" smtClean="0"/>
          </a:p>
          <a:p>
            <a:r>
              <a:rPr lang="en-US" sz="3200" dirty="0" smtClean="0"/>
              <a:t>This </a:t>
            </a:r>
            <a:r>
              <a:rPr lang="en-US" sz="3200" dirty="0"/>
              <a:t>would in turn provide the required </a:t>
            </a:r>
            <a:r>
              <a:rPr lang="en-US" sz="3200" dirty="0" err="1"/>
              <a:t>labour</a:t>
            </a:r>
            <a:r>
              <a:rPr lang="en-US" sz="3200" dirty="0"/>
              <a:t> locally than importing it from elsewhere</a:t>
            </a:r>
            <a:r>
              <a:rPr lang="en-US" sz="3200" dirty="0" smtClean="0"/>
              <a:t>. </a:t>
            </a:r>
          </a:p>
        </p:txBody>
      </p:sp>
    </p:spTree>
    <p:extLst>
      <p:ext uri="{BB962C8B-B14F-4D97-AF65-F5344CB8AC3E}">
        <p14:creationId xmlns:p14="http://schemas.microsoft.com/office/powerpoint/2010/main" val="1926104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ormAutofit fontScale="90000"/>
          </a:bodyPr>
          <a:lstStyle/>
          <a:p>
            <a:r>
              <a:rPr lang="en-US" b="1" dirty="0" smtClean="0"/>
              <a:t>In line with the Professor Fraser recommendations, the development in education proceeded as follows;-</a:t>
            </a:r>
            <a:endParaRPr lang="en-US" b="1" dirty="0"/>
          </a:p>
        </p:txBody>
      </p:sp>
      <p:sp>
        <p:nvSpPr>
          <p:cNvPr id="3" name="Content Placeholder 2"/>
          <p:cNvSpPr>
            <a:spLocks noGrp="1"/>
          </p:cNvSpPr>
          <p:nvPr>
            <p:ph idx="1"/>
          </p:nvPr>
        </p:nvSpPr>
        <p:spPr/>
        <p:txBody>
          <a:bodyPr>
            <a:normAutofit fontScale="92500" lnSpcReduction="20000"/>
          </a:bodyPr>
          <a:lstStyle/>
          <a:p>
            <a:r>
              <a:rPr lang="en-US" dirty="0"/>
              <a:t>The Educational Board approved Fraser’s proposals relating to the administrative structure of education system. </a:t>
            </a:r>
            <a:endParaRPr lang="en-US" dirty="0" smtClean="0"/>
          </a:p>
          <a:p>
            <a:r>
              <a:rPr lang="en-US" dirty="0" smtClean="0"/>
              <a:t>Experimental </a:t>
            </a:r>
            <a:r>
              <a:rPr lang="en-US" dirty="0"/>
              <a:t>grants were offered to certain mission schools for technical education and department of Education was founded in 1911</a:t>
            </a:r>
            <a:r>
              <a:rPr lang="en-US" dirty="0" smtClean="0"/>
              <a:t>.</a:t>
            </a:r>
          </a:p>
          <a:p>
            <a:r>
              <a:rPr lang="en-US" dirty="0" smtClean="0"/>
              <a:t> </a:t>
            </a:r>
            <a:r>
              <a:rPr lang="en-US" dirty="0"/>
              <a:t>On grants in aid, it was recommended that the government </a:t>
            </a:r>
            <a:r>
              <a:rPr lang="en-US" dirty="0" err="1"/>
              <a:t>subsidises</a:t>
            </a:r>
            <a:r>
              <a:rPr lang="en-US" dirty="0"/>
              <a:t> missions in respect of pupils at technical schools. </a:t>
            </a:r>
          </a:p>
          <a:p>
            <a:endParaRPr lang="en-US" dirty="0" smtClean="0"/>
          </a:p>
          <a:p>
            <a:r>
              <a:rPr lang="en-US" dirty="0" smtClean="0"/>
              <a:t>  </a:t>
            </a:r>
            <a:r>
              <a:rPr lang="en-US" dirty="0"/>
              <a:t>J.R. Orr </a:t>
            </a:r>
            <a:r>
              <a:rPr lang="en-US" dirty="0" smtClean="0"/>
              <a:t>was appointed </a:t>
            </a:r>
            <a:r>
              <a:rPr lang="en-US" dirty="0"/>
              <a:t>Director of Education, government grants in aid went through a system of payment to some eight mission schools capable of trade training. </a:t>
            </a:r>
            <a:endParaRPr lang="en-US" dirty="0" smtClean="0"/>
          </a:p>
          <a:p>
            <a:r>
              <a:rPr lang="en-US" dirty="0" smtClean="0"/>
              <a:t>By </a:t>
            </a:r>
            <a:r>
              <a:rPr lang="en-US" dirty="0"/>
              <a:t>1912, industrial training in basic skills such as smelting, carpentry, agriculture and even typing was successfully underway</a:t>
            </a:r>
          </a:p>
          <a:p>
            <a:endParaRPr lang="en-US" dirty="0"/>
          </a:p>
        </p:txBody>
      </p:sp>
    </p:spTree>
    <p:extLst>
      <p:ext uri="{BB962C8B-B14F-4D97-AF65-F5344CB8AC3E}">
        <p14:creationId xmlns:p14="http://schemas.microsoft.com/office/powerpoint/2010/main" val="641514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At the end of 1912, the education department announced the small government school at </a:t>
            </a:r>
            <a:r>
              <a:rPr lang="en-US" dirty="0" err="1" smtClean="0"/>
              <a:t>Kitui,that</a:t>
            </a:r>
            <a:r>
              <a:rPr lang="en-US" dirty="0" smtClean="0"/>
              <a:t> had been  </a:t>
            </a:r>
            <a:r>
              <a:rPr lang="en-US" dirty="0"/>
              <a:t>opened in 1909, be </a:t>
            </a:r>
            <a:r>
              <a:rPr lang="en-US" dirty="0" smtClean="0"/>
              <a:t>expanded</a:t>
            </a:r>
          </a:p>
          <a:p>
            <a:r>
              <a:rPr lang="en-US" dirty="0" smtClean="0"/>
              <a:t> In </a:t>
            </a:r>
            <a:r>
              <a:rPr lang="en-US" dirty="0"/>
              <a:t>1913, a new government school </a:t>
            </a:r>
            <a:r>
              <a:rPr lang="en-US" dirty="0" smtClean="0"/>
              <a:t>was opened </a:t>
            </a:r>
            <a:r>
              <a:rPr lang="en-US" dirty="0"/>
              <a:t>at </a:t>
            </a:r>
            <a:r>
              <a:rPr lang="en-US" dirty="0" err="1"/>
              <a:t>Machakos</a:t>
            </a:r>
            <a:r>
              <a:rPr lang="en-US" dirty="0"/>
              <a:t>. </a:t>
            </a:r>
            <a:endParaRPr lang="en-US" dirty="0" smtClean="0"/>
          </a:p>
          <a:p>
            <a:r>
              <a:rPr lang="en-US" dirty="0" smtClean="0"/>
              <a:t>The </a:t>
            </a:r>
            <a:r>
              <a:rPr lang="en-US" dirty="0"/>
              <a:t>director of education was trying to open government schools in areas he believed were not adequately served by missionaries</a:t>
            </a:r>
            <a:r>
              <a:rPr lang="en-US" dirty="0" smtClean="0"/>
              <a:t>.</a:t>
            </a:r>
          </a:p>
          <a:p>
            <a:r>
              <a:rPr lang="en-US" dirty="0" smtClean="0"/>
              <a:t> </a:t>
            </a:r>
            <a:r>
              <a:rPr lang="en-US" dirty="0"/>
              <a:t>The </a:t>
            </a:r>
            <a:r>
              <a:rPr lang="en-US" dirty="0" err="1"/>
              <a:t>Ukamba</a:t>
            </a:r>
            <a:r>
              <a:rPr lang="en-US" dirty="0"/>
              <a:t> Native School was opened in 1914. </a:t>
            </a:r>
            <a:endParaRPr lang="en-US" dirty="0" smtClean="0"/>
          </a:p>
          <a:p>
            <a:r>
              <a:rPr lang="en-US" dirty="0" smtClean="0"/>
              <a:t>Other </a:t>
            </a:r>
            <a:r>
              <a:rPr lang="en-US" dirty="0"/>
              <a:t>schools were later opened including the </a:t>
            </a:r>
            <a:r>
              <a:rPr lang="en-US" dirty="0" err="1"/>
              <a:t>Maasai</a:t>
            </a:r>
            <a:r>
              <a:rPr lang="en-US" dirty="0"/>
              <a:t> School at </a:t>
            </a:r>
            <a:r>
              <a:rPr lang="en-US" dirty="0" err="1"/>
              <a:t>Narok</a:t>
            </a:r>
            <a:r>
              <a:rPr lang="en-US" dirty="0"/>
              <a:t> and the Coast Technical School</a:t>
            </a:r>
          </a:p>
          <a:p>
            <a:endParaRPr lang="en-US" dirty="0"/>
          </a:p>
        </p:txBody>
      </p:sp>
    </p:spTree>
    <p:extLst>
      <p:ext uri="{BB962C8B-B14F-4D97-AF65-F5344CB8AC3E}">
        <p14:creationId xmlns:p14="http://schemas.microsoft.com/office/powerpoint/2010/main" val="144728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content of African curriculum was to continue on technical lines. </a:t>
            </a:r>
            <a:endParaRPr lang="en-US" dirty="0" smtClean="0"/>
          </a:p>
          <a:p>
            <a:r>
              <a:rPr lang="en-US" dirty="0" smtClean="0"/>
              <a:t>It </a:t>
            </a:r>
            <a:r>
              <a:rPr lang="en-US" dirty="0"/>
              <a:t>was observed that if any literacy education is given, the children would be ruined because they would look for clerical jobs instead of entering manual field </a:t>
            </a:r>
            <a:r>
              <a:rPr lang="en-US" dirty="0" err="1"/>
              <a:t>labour</a:t>
            </a:r>
            <a:r>
              <a:rPr lang="en-US" dirty="0"/>
              <a:t>. </a:t>
            </a:r>
            <a:endParaRPr lang="en-US" dirty="0" smtClean="0"/>
          </a:p>
          <a:p>
            <a:r>
              <a:rPr lang="en-US" dirty="0" smtClean="0"/>
              <a:t>Despite </a:t>
            </a:r>
            <a:r>
              <a:rPr lang="en-US" dirty="0"/>
              <a:t>the education commissions and statements of </a:t>
            </a:r>
            <a:r>
              <a:rPr lang="en-US" dirty="0" smtClean="0"/>
              <a:t>policy by  </a:t>
            </a:r>
            <a:r>
              <a:rPr lang="en-US" dirty="0"/>
              <a:t>government, participation in African education remained minimal until </a:t>
            </a:r>
            <a:r>
              <a:rPr lang="en-US" dirty="0" smtClean="0"/>
              <a:t>1920s.</a:t>
            </a:r>
          </a:p>
          <a:p>
            <a:r>
              <a:rPr lang="en-US" dirty="0" smtClean="0"/>
              <a:t>Government  main </a:t>
            </a:r>
            <a:r>
              <a:rPr lang="en-US" dirty="0"/>
              <a:t>concern was the immigrant groups</a:t>
            </a:r>
          </a:p>
          <a:p>
            <a:endParaRPr lang="en-US" dirty="0"/>
          </a:p>
        </p:txBody>
      </p:sp>
    </p:spTree>
    <p:extLst>
      <p:ext uri="{BB962C8B-B14F-4D97-AF65-F5344CB8AC3E}">
        <p14:creationId xmlns:p14="http://schemas.microsoft.com/office/powerpoint/2010/main" val="2790343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DEVONSHIRE –WHITE PAPER OF 1923</a:t>
            </a:r>
            <a:endParaRPr lang="en-US" dirty="0"/>
          </a:p>
        </p:txBody>
      </p:sp>
      <p:sp>
        <p:nvSpPr>
          <p:cNvPr id="3" name="Content Placeholder 2"/>
          <p:cNvSpPr>
            <a:spLocks noGrp="1"/>
          </p:cNvSpPr>
          <p:nvPr>
            <p:ph idx="1"/>
          </p:nvPr>
        </p:nvSpPr>
        <p:spPr/>
        <p:txBody>
          <a:bodyPr/>
          <a:lstStyle/>
          <a:p>
            <a:r>
              <a:rPr lang="en-US" dirty="0"/>
              <a:t>The </a:t>
            </a:r>
            <a:r>
              <a:rPr lang="en-US" b="1" dirty="0"/>
              <a:t>Devonshire White Paper</a:t>
            </a:r>
            <a:r>
              <a:rPr lang="en-US" dirty="0"/>
              <a:t> or </a:t>
            </a:r>
            <a:r>
              <a:rPr lang="en-US" b="1" dirty="0"/>
              <a:t>Devonshire Declaration</a:t>
            </a:r>
            <a:r>
              <a:rPr lang="en-US" dirty="0"/>
              <a:t> was a document written in 1923 by the colonial secretary </a:t>
            </a:r>
            <a:r>
              <a:rPr lang="en-US" u="sng" dirty="0">
                <a:hlinkClick r:id="rId2"/>
              </a:rPr>
              <a:t>Victor Cavendish, 9th Duke of Devonshire</a:t>
            </a:r>
            <a:r>
              <a:rPr lang="en-US" dirty="0"/>
              <a:t>, regarding the status of settlers and natives in the </a:t>
            </a:r>
            <a:r>
              <a:rPr lang="en-US" dirty="0">
                <a:hlinkClick r:id="rId3" tooltip="Kenya Colony"/>
              </a:rPr>
              <a:t>Kenya Colony</a:t>
            </a:r>
            <a:r>
              <a:rPr lang="en-US" dirty="0"/>
              <a:t>, and </a:t>
            </a:r>
            <a:r>
              <a:rPr lang="en-US" dirty="0">
                <a:hlinkClick r:id="rId4" tooltip="East Africa"/>
              </a:rPr>
              <a:t>East Africa</a:t>
            </a:r>
            <a:r>
              <a:rPr lang="en-US" dirty="0"/>
              <a:t> more broadly. </a:t>
            </a:r>
            <a:endParaRPr lang="en-US" dirty="0" smtClean="0"/>
          </a:p>
          <a:p>
            <a:r>
              <a:rPr lang="en-US" dirty="0"/>
              <a:t>The paper stated that whenever the interests of the native Africans clashed with those of Asian, European, or Arab settlers, those of the Africans should prevail.</a:t>
            </a:r>
          </a:p>
        </p:txBody>
      </p:sp>
    </p:spTree>
    <p:extLst>
      <p:ext uri="{BB962C8B-B14F-4D97-AF65-F5344CB8AC3E}">
        <p14:creationId xmlns:p14="http://schemas.microsoft.com/office/powerpoint/2010/main" val="3847165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information of Devonshire white paper</a:t>
            </a:r>
            <a:endParaRPr lang="en-US" dirty="0"/>
          </a:p>
        </p:txBody>
      </p:sp>
      <p:sp>
        <p:nvSpPr>
          <p:cNvPr id="3" name="Content Placeholder 2"/>
          <p:cNvSpPr>
            <a:spLocks noGrp="1"/>
          </p:cNvSpPr>
          <p:nvPr>
            <p:ph idx="1"/>
          </p:nvPr>
        </p:nvSpPr>
        <p:spPr/>
        <p:txBody>
          <a:bodyPr/>
          <a:lstStyle/>
          <a:p>
            <a:r>
              <a:rPr lang="en-US" dirty="0"/>
              <a:t>The </a:t>
            </a:r>
            <a:r>
              <a:rPr lang="en-US" u="sng" dirty="0">
                <a:hlinkClick r:id="rId2" tooltip="Legislative Council of Kenya"/>
              </a:rPr>
              <a:t>Legislative Council</a:t>
            </a:r>
            <a:r>
              <a:rPr lang="en-US" dirty="0"/>
              <a:t> established to govern the </a:t>
            </a:r>
            <a:r>
              <a:rPr lang="en-US" u="sng" dirty="0">
                <a:hlinkClick r:id="rId3" tooltip="East African Protectorate"/>
              </a:rPr>
              <a:t>East African Protectorate</a:t>
            </a:r>
            <a:r>
              <a:rPr lang="en-US" dirty="0"/>
              <a:t> originally consisted of three appointed white settlers</a:t>
            </a:r>
            <a:r>
              <a:rPr lang="en-US" dirty="0" smtClean="0"/>
              <a:t>.</a:t>
            </a:r>
            <a:r>
              <a:rPr lang="en-US" dirty="0"/>
              <a:t> </a:t>
            </a:r>
            <a:endParaRPr lang="en-US" dirty="0" smtClean="0"/>
          </a:p>
          <a:p>
            <a:r>
              <a:rPr lang="en-US" dirty="0" smtClean="0"/>
              <a:t>However</a:t>
            </a:r>
            <a:r>
              <a:rPr lang="en-US" dirty="0"/>
              <a:t>, other white settlers in the colony resented the fact that they could not elect representatives to the Council, and, led by </a:t>
            </a:r>
            <a:r>
              <a:rPr lang="en-US" u="sng" dirty="0">
                <a:hlinkClick r:id="rId4" tooltip="Hugh Cholmondeley, 3rd Baron Delamere"/>
              </a:rPr>
              <a:t>Lord </a:t>
            </a:r>
            <a:r>
              <a:rPr lang="en-US" u="sng" dirty="0" err="1">
                <a:hlinkClick r:id="rId4" tooltip="Hugh Cholmondeley, 3rd Baron Delamere"/>
              </a:rPr>
              <a:t>Delamere</a:t>
            </a:r>
            <a:r>
              <a:rPr lang="en-US" dirty="0"/>
              <a:t>, began to demand "</a:t>
            </a:r>
            <a:r>
              <a:rPr lang="en-US" u="sng" dirty="0">
                <a:hlinkClick r:id="rId5" tooltip="No taxation without representation"/>
              </a:rPr>
              <a:t>no taxation without representation</a:t>
            </a:r>
            <a:r>
              <a:rPr lang="en-US" dirty="0" smtClean="0"/>
              <a:t>".</a:t>
            </a:r>
          </a:p>
          <a:p>
            <a:r>
              <a:rPr lang="en-US" dirty="0" smtClean="0"/>
              <a:t> </a:t>
            </a:r>
            <a:r>
              <a:rPr lang="en-US" dirty="0"/>
              <a:t>In 1916, white settlers were elected to the Council, and focused predominantly on European settler issues</a:t>
            </a:r>
            <a:r>
              <a:rPr lang="en-US" dirty="0" smtClean="0"/>
              <a:t>.</a:t>
            </a:r>
            <a:endParaRPr lang="en-US" dirty="0"/>
          </a:p>
          <a:p>
            <a:endParaRPr lang="en-US" dirty="0"/>
          </a:p>
        </p:txBody>
      </p:sp>
    </p:spTree>
    <p:extLst>
      <p:ext uri="{BB962C8B-B14F-4D97-AF65-F5344CB8AC3E}">
        <p14:creationId xmlns:p14="http://schemas.microsoft.com/office/powerpoint/2010/main" val="3369129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a:t>The Asian community had, in 1911, been granted appointed seats on the non-official (opposition) side of the Legislative Council, two occupied by Indians and one by an Arab. </a:t>
            </a:r>
            <a:endParaRPr lang="en-US" dirty="0" smtClean="0"/>
          </a:p>
          <a:p>
            <a:r>
              <a:rPr lang="en-US" dirty="0" smtClean="0"/>
              <a:t>However</a:t>
            </a:r>
            <a:r>
              <a:rPr lang="en-US" dirty="0"/>
              <a:t>, seeing the success of the European settlers in demanding elective representation, they began to demand the same privilege. They previously petitioned the colonial government for the right to purchase land in the fertile </a:t>
            </a:r>
            <a:r>
              <a:rPr lang="en-US" u="sng" dirty="0">
                <a:hlinkClick r:id="rId2" tooltip="White Highlands"/>
              </a:rPr>
              <a:t>White Highlands</a:t>
            </a:r>
            <a:r>
              <a:rPr lang="en-US" dirty="0"/>
              <a:t>, but this was </a:t>
            </a:r>
            <a:r>
              <a:rPr lang="en-US" dirty="0" smtClean="0"/>
              <a:t>denied</a:t>
            </a:r>
            <a:r>
              <a:rPr lang="en-US" dirty="0"/>
              <a:t> and restricted to white settlers. </a:t>
            </a:r>
            <a:endParaRPr lang="en-US" dirty="0" smtClean="0"/>
          </a:p>
          <a:p>
            <a:r>
              <a:rPr lang="en-US" dirty="0" smtClean="0"/>
              <a:t>Their </a:t>
            </a:r>
            <a:r>
              <a:rPr lang="en-US" dirty="0"/>
              <a:t>demands for less restrictive policies on Indians, such as lenient immigration laws on Asians, frequently put them at odds with the European settlers</a:t>
            </a:r>
          </a:p>
        </p:txBody>
      </p:sp>
    </p:spTree>
    <p:extLst>
      <p:ext uri="{BB962C8B-B14F-4D97-AF65-F5344CB8AC3E}">
        <p14:creationId xmlns:p14="http://schemas.microsoft.com/office/powerpoint/2010/main" val="2219145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Meanwhile, in </a:t>
            </a:r>
            <a:r>
              <a:rPr lang="en-US" u="sng" dirty="0">
                <a:hlinkClick r:id="rId2" tooltip="Southern Rhodesia"/>
              </a:rPr>
              <a:t>Southern Rhodesia</a:t>
            </a:r>
            <a:r>
              <a:rPr lang="en-US" dirty="0"/>
              <a:t> (now </a:t>
            </a:r>
            <a:r>
              <a:rPr lang="en-US" u="sng" dirty="0">
                <a:hlinkClick r:id="rId3" tooltip="Zimbabwe"/>
              </a:rPr>
              <a:t>Zimbabwe</a:t>
            </a:r>
            <a:r>
              <a:rPr lang="en-US" dirty="0"/>
              <a:t>) and the </a:t>
            </a:r>
            <a:r>
              <a:rPr lang="en-US" u="sng" dirty="0">
                <a:hlinkClick r:id="rId4" tooltip="Union of South Africa"/>
              </a:rPr>
              <a:t>Union of South Africa</a:t>
            </a:r>
            <a:r>
              <a:rPr lang="en-US" dirty="0"/>
              <a:t> (now </a:t>
            </a:r>
            <a:r>
              <a:rPr lang="en-US" u="sng" dirty="0">
                <a:hlinkClick r:id="rId5" tooltip="South Africa"/>
              </a:rPr>
              <a:t>South Africa</a:t>
            </a:r>
            <a:r>
              <a:rPr lang="en-US" dirty="0"/>
              <a:t>), the Boers and European settlers had managed to exclude the native African population completely from the governance of these territories</a:t>
            </a:r>
            <a:r>
              <a:rPr lang="en-US" dirty="0" smtClean="0"/>
              <a:t>.</a:t>
            </a:r>
          </a:p>
          <a:p>
            <a:r>
              <a:rPr lang="en-US" dirty="0" smtClean="0"/>
              <a:t> </a:t>
            </a:r>
            <a:r>
              <a:rPr lang="en-US" dirty="0"/>
              <a:t>The British settlers in Kenya were increasingly interested in the political development of these places, and desired that such a form of government be implemented in Kenya</a:t>
            </a:r>
          </a:p>
        </p:txBody>
      </p:sp>
    </p:spTree>
    <p:extLst>
      <p:ext uri="{BB962C8B-B14F-4D97-AF65-F5344CB8AC3E}">
        <p14:creationId xmlns:p14="http://schemas.microsoft.com/office/powerpoint/2010/main" val="2511135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Therefore, in 1923, representatives of the white settlers were sent to London to negotiate for white minority rule in Kenya, as well as the exclusion of Asians from the White Highlands and restricted Indian migration into the colony. </a:t>
            </a:r>
            <a:endParaRPr lang="en-US" dirty="0" smtClean="0"/>
          </a:p>
          <a:p>
            <a:r>
              <a:rPr lang="en-US" dirty="0" smtClean="0"/>
              <a:t>In </a:t>
            </a:r>
            <a:r>
              <a:rPr lang="en-US" dirty="0"/>
              <a:t>turn, an Asian delegation was sent to lobby for the promotion of Asian interests, including their opposition to the restrictive immigration into the colony and restriction on land ownership in the White Highlands. </a:t>
            </a:r>
            <a:endParaRPr lang="en-US" dirty="0" smtClean="0"/>
          </a:p>
          <a:p>
            <a:r>
              <a:rPr lang="en-US" dirty="0" smtClean="0"/>
              <a:t>The </a:t>
            </a:r>
            <a:r>
              <a:rPr lang="en-US" dirty="0"/>
              <a:t>missionaries in the colony, sympathetic to the native African population, were similarly alarmed with the idea of white minority rule, and sent their own delegation to London to counter the settlers' proposals</a:t>
            </a:r>
          </a:p>
        </p:txBody>
      </p:sp>
    </p:spTree>
    <p:extLst>
      <p:ext uri="{BB962C8B-B14F-4D97-AF65-F5344CB8AC3E}">
        <p14:creationId xmlns:p14="http://schemas.microsoft.com/office/powerpoint/2010/main" val="2128645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Therefore, in 1923, representatives of the white settlers were sent to London to negotiate for white minority rule in Kenya, as well as the exclusion of Asians from the White Highlands and restricted Indian migration into the colony</a:t>
            </a:r>
            <a:r>
              <a:rPr lang="en-US" dirty="0" smtClean="0"/>
              <a:t>.</a:t>
            </a:r>
          </a:p>
          <a:p>
            <a:r>
              <a:rPr lang="en-US" dirty="0" smtClean="0"/>
              <a:t> </a:t>
            </a:r>
            <a:r>
              <a:rPr lang="en-US" dirty="0"/>
              <a:t>In turn, an Asian delegation was sent to lobby for the promotion of Asian interests, including their opposition to the restrictive immigration into the colony and restriction on land ownership in the White Highlands. </a:t>
            </a:r>
            <a:endParaRPr lang="en-US" dirty="0" smtClean="0"/>
          </a:p>
          <a:p>
            <a:r>
              <a:rPr lang="en-US" dirty="0" smtClean="0"/>
              <a:t>The </a:t>
            </a:r>
            <a:r>
              <a:rPr lang="en-US" dirty="0"/>
              <a:t>missionaries in the colony, sympathetic to the native African population, were similarly alarmed with the idea of white minority rule, and sent their own delegation to London to counter the settlers' proposals</a:t>
            </a:r>
          </a:p>
        </p:txBody>
      </p:sp>
    </p:spTree>
    <p:extLst>
      <p:ext uri="{BB962C8B-B14F-4D97-AF65-F5344CB8AC3E}">
        <p14:creationId xmlns:p14="http://schemas.microsoft.com/office/powerpoint/2010/main" val="3593588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 On 23 July 1923, after deliberation on "the Indian question", the cabinet approved the right of the colonial government in Britain, and not the settlers, to impose limitations on immigration from India, but also continued to restrict Indian ownership of land in the so-called White Highlands. </a:t>
            </a:r>
            <a:endParaRPr lang="en-US" dirty="0" smtClean="0"/>
          </a:p>
          <a:p>
            <a:r>
              <a:rPr lang="en-US" dirty="0" smtClean="0"/>
              <a:t>Based </a:t>
            </a:r>
            <a:r>
              <a:rPr lang="en-US" dirty="0"/>
              <a:t>on this cabinet decision, the Duke of Devonshire, who was colonial secretary at the time, issued the "white paper", stating:</a:t>
            </a:r>
          </a:p>
          <a:p>
            <a:endParaRPr lang="en-US" dirty="0"/>
          </a:p>
        </p:txBody>
      </p:sp>
    </p:spTree>
    <p:extLst>
      <p:ext uri="{BB962C8B-B14F-4D97-AF65-F5344CB8AC3E}">
        <p14:creationId xmlns:p14="http://schemas.microsoft.com/office/powerpoint/2010/main" val="3327727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endParaRPr lang="en-US" dirty="0" smtClean="0"/>
          </a:p>
          <a:p>
            <a:pPr marL="0" indent="0">
              <a:lnSpc>
                <a:spcPct val="150000"/>
              </a:lnSpc>
              <a:buNone/>
            </a:pPr>
            <a:r>
              <a:rPr lang="en-US" sz="3200" dirty="0" smtClean="0"/>
              <a:t>Primarily</a:t>
            </a:r>
            <a:r>
              <a:rPr lang="en-US" sz="3200" dirty="0"/>
              <a:t>, Kenya is an African territory, and His Majesty's Government think it necessary definitely to record their considered opinion that the interests of the African natives must be paramount and that if, and when, those interests and the interests of the immigrant races should conflict, the former should prevail.</a:t>
            </a:r>
          </a:p>
          <a:p>
            <a:endParaRPr lang="en-US" dirty="0"/>
          </a:p>
        </p:txBody>
      </p:sp>
    </p:spTree>
    <p:extLst>
      <p:ext uri="{BB962C8B-B14F-4D97-AF65-F5344CB8AC3E}">
        <p14:creationId xmlns:p14="http://schemas.microsoft.com/office/powerpoint/2010/main" val="749315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The Paper was intended to serve as a compromise between Indian interests and those of the Europeans, despite its affirmation of African </a:t>
            </a:r>
            <a:r>
              <a:rPr lang="en-US" dirty="0" smtClean="0"/>
              <a:t>paramountcy.</a:t>
            </a:r>
            <a:endParaRPr lang="en-US" baseline="30000" dirty="0"/>
          </a:p>
          <a:p>
            <a:r>
              <a:rPr lang="en-US" dirty="0" smtClean="0"/>
              <a:t>Nevertheless</a:t>
            </a:r>
            <a:r>
              <a:rPr lang="en-US" dirty="0"/>
              <a:t>, the Paper allowed for the (slow) improvement of African conditions, such as the establishment of technical schools for Africans by a 1924 Education Ordinance, as well as the appointment of </a:t>
            </a:r>
            <a:r>
              <a:rPr lang="en-US" u="sng" dirty="0">
                <a:hlinkClick r:id="rId2" tooltip="John Arthur (missionary)"/>
              </a:rPr>
              <a:t>John Arthur</a:t>
            </a:r>
            <a:r>
              <a:rPr lang="en-US" dirty="0"/>
              <a:t>, a Christian missionary, to the Legislative Council in order to represent African interests</a:t>
            </a:r>
            <a:r>
              <a:rPr lang="en-US" dirty="0" smtClean="0"/>
              <a:t>.</a:t>
            </a:r>
          </a:p>
          <a:p>
            <a:r>
              <a:rPr lang="en-US" dirty="0" smtClean="0"/>
              <a:t> </a:t>
            </a:r>
            <a:r>
              <a:rPr lang="en-US" dirty="0"/>
              <a:t>It also allowed for the formation of an African party, the </a:t>
            </a:r>
            <a:r>
              <a:rPr lang="en-US" u="sng" dirty="0">
                <a:hlinkClick r:id="rId3" tooltip="Kikuyu Central Association"/>
              </a:rPr>
              <a:t>Kikuyu Central Association</a:t>
            </a:r>
            <a:r>
              <a:rPr lang="en-US" dirty="0"/>
              <a:t>, which presented African grievances to the colonial government</a:t>
            </a:r>
          </a:p>
        </p:txBody>
      </p:sp>
    </p:spTree>
    <p:extLst>
      <p:ext uri="{BB962C8B-B14F-4D97-AF65-F5344CB8AC3E}">
        <p14:creationId xmlns:p14="http://schemas.microsoft.com/office/powerpoint/2010/main" val="1157061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u="sng" dirty="0" smtClean="0">
              <a:hlinkClick r:id="rId2"/>
            </a:endParaRPr>
          </a:p>
          <a:p>
            <a:endParaRPr lang="en-US" u="sng" dirty="0">
              <a:hlinkClick r:id="rId2"/>
            </a:endParaRPr>
          </a:p>
          <a:p>
            <a:endParaRPr lang="en-US" u="sng" dirty="0" smtClean="0">
              <a:hlinkClick r:id="rId2"/>
            </a:endParaRPr>
          </a:p>
          <a:p>
            <a:r>
              <a:rPr lang="en-US" u="sng" dirty="0" smtClean="0">
                <a:hlinkClick r:id="rId2"/>
              </a:rPr>
              <a:t>https</a:t>
            </a:r>
            <a:r>
              <a:rPr lang="en-US" u="sng" dirty="0">
                <a:hlinkClick r:id="rId2"/>
              </a:rPr>
              <a:t>://youtu.be/ll0mCLmKbRQ?t=67-</a:t>
            </a:r>
            <a:r>
              <a:rPr lang="en-US" u="sng" dirty="0" smtClean="0">
                <a:hlinkClick r:id="rId2"/>
              </a:rPr>
              <a:t>-------By </a:t>
            </a:r>
            <a:r>
              <a:rPr lang="en-US" u="sng" dirty="0" err="1" smtClean="0">
                <a:hlinkClick r:id="rId2"/>
              </a:rPr>
              <a:t>Dr</a:t>
            </a:r>
            <a:r>
              <a:rPr lang="en-US" u="sng" dirty="0" smtClean="0">
                <a:hlinkClick r:id="rId2"/>
              </a:rPr>
              <a:t> </a:t>
            </a:r>
            <a:r>
              <a:rPr lang="en-US" u="sng" dirty="0" err="1" smtClean="0">
                <a:hlinkClick r:id="rId2"/>
              </a:rPr>
              <a:t>wanyeki</a:t>
            </a:r>
            <a:r>
              <a:rPr lang="en-US" dirty="0" smtClean="0"/>
              <a:t> </a:t>
            </a:r>
            <a:endParaRPr lang="en-US" dirty="0"/>
          </a:p>
          <a:p>
            <a:endParaRPr lang="en-US" dirty="0"/>
          </a:p>
        </p:txBody>
      </p:sp>
    </p:spTree>
    <p:extLst>
      <p:ext uri="{BB962C8B-B14F-4D97-AF65-F5344CB8AC3E}">
        <p14:creationId xmlns:p14="http://schemas.microsoft.com/office/powerpoint/2010/main" val="329107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PHELPS-STOKE COMMISSION-</a:t>
            </a:r>
            <a:endParaRPr lang="en-US" dirty="0"/>
          </a:p>
        </p:txBody>
      </p:sp>
      <p:sp>
        <p:nvSpPr>
          <p:cNvPr id="3" name="Content Placeholder 2"/>
          <p:cNvSpPr>
            <a:spLocks noGrp="1"/>
          </p:cNvSpPr>
          <p:nvPr>
            <p:ph idx="1"/>
          </p:nvPr>
        </p:nvSpPr>
        <p:spPr/>
        <p:txBody>
          <a:bodyPr>
            <a:normAutofit/>
          </a:bodyPr>
          <a:lstStyle/>
          <a:p>
            <a:r>
              <a:rPr lang="en-US" dirty="0"/>
              <a:t>The Phelps-Stokes </a:t>
            </a:r>
            <a:r>
              <a:rPr lang="en-US" dirty="0" smtClean="0"/>
              <a:t>fund was </a:t>
            </a:r>
            <a:r>
              <a:rPr lang="en-US" dirty="0"/>
              <a:t>an educational </a:t>
            </a:r>
            <a:r>
              <a:rPr lang="en-US" dirty="0" smtClean="0"/>
              <a:t>fund established </a:t>
            </a:r>
            <a:r>
              <a:rPr lang="en-US" dirty="0"/>
              <a:t>in 1911 by the Phelps-Stokes Fund, a philanthropic organization founded by Caroline </a:t>
            </a:r>
            <a:r>
              <a:rPr lang="en-US" dirty="0" smtClean="0"/>
              <a:t>and Olivia Phelps </a:t>
            </a:r>
            <a:r>
              <a:rPr lang="en-US" dirty="0"/>
              <a:t>Stokes. </a:t>
            </a:r>
            <a:r>
              <a:rPr lang="en-US" dirty="0" smtClean="0"/>
              <a:t>They were </a:t>
            </a:r>
            <a:r>
              <a:rPr lang="en-US" dirty="0" err="1" smtClean="0"/>
              <a:t>sisiters</a:t>
            </a:r>
            <a:r>
              <a:rPr lang="en-US" dirty="0" smtClean="0"/>
              <a:t> from </a:t>
            </a:r>
            <a:r>
              <a:rPr lang="en-US" dirty="0" err="1" smtClean="0"/>
              <a:t>USAborn</a:t>
            </a:r>
            <a:r>
              <a:rPr lang="en-US" dirty="0" smtClean="0"/>
              <a:t> to wealthy and religious parents.</a:t>
            </a:r>
          </a:p>
          <a:p>
            <a:r>
              <a:rPr lang="en-US" dirty="0" smtClean="0">
                <a:solidFill>
                  <a:srgbClr val="FF0000"/>
                </a:solidFill>
              </a:rPr>
              <a:t>The </a:t>
            </a:r>
            <a:r>
              <a:rPr lang="en-US" dirty="0">
                <a:solidFill>
                  <a:srgbClr val="FF0000"/>
                </a:solidFill>
              </a:rPr>
              <a:t>commission was tasked with studying the state of education in Africa and making </a:t>
            </a:r>
            <a:r>
              <a:rPr lang="en-US" dirty="0" smtClean="0">
                <a:solidFill>
                  <a:srgbClr val="FF0000"/>
                </a:solidFill>
              </a:rPr>
              <a:t>recommendations </a:t>
            </a:r>
            <a:r>
              <a:rPr lang="en-US" dirty="0">
                <a:solidFill>
                  <a:srgbClr val="FF0000"/>
                </a:solidFill>
              </a:rPr>
              <a:t>for its improvement</a:t>
            </a:r>
            <a:r>
              <a:rPr lang="en-US" dirty="0" smtClean="0">
                <a:solidFill>
                  <a:srgbClr val="FF0000"/>
                </a:solidFill>
              </a:rPr>
              <a:t>.</a:t>
            </a:r>
          </a:p>
          <a:p>
            <a:r>
              <a:rPr lang="en-US" dirty="0">
                <a:solidFill>
                  <a:srgbClr val="FF0000"/>
                </a:solidFill>
              </a:rPr>
              <a:t>The commission visited Kenya in 1924 and was particularly interested in the physical education of African children. The commission found that physical education was largely neglected in Kenyan schools and that many African children were malnourished and unhealthy.</a:t>
            </a:r>
          </a:p>
          <a:p>
            <a:endParaRPr lang="en-US" dirty="0">
              <a:solidFill>
                <a:srgbClr val="FF0000"/>
              </a:solidFill>
            </a:endParaRPr>
          </a:p>
        </p:txBody>
      </p:sp>
    </p:spTree>
    <p:extLst>
      <p:ext uri="{BB962C8B-B14F-4D97-AF65-F5344CB8AC3E}">
        <p14:creationId xmlns:p14="http://schemas.microsoft.com/office/powerpoint/2010/main" val="3513333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a:bodyPr>
          <a:lstStyle/>
          <a:p>
            <a:r>
              <a:rPr lang="en-US" dirty="0"/>
              <a:t>Initial political agitation by the ex-mission boys (African elite) and opposition to mission education led to the appointment of the Phelps Commission which visited Kenya in 1924 having already visited West, South and Equatorial Africa. </a:t>
            </a:r>
            <a:endParaRPr lang="en-US" dirty="0" smtClean="0"/>
          </a:p>
          <a:p>
            <a:r>
              <a:rPr lang="en-US" dirty="0" smtClean="0"/>
              <a:t>The </a:t>
            </a:r>
            <a:r>
              <a:rPr lang="en-US" dirty="0"/>
              <a:t>Commission was mandated to survey educational </a:t>
            </a:r>
            <a:r>
              <a:rPr lang="en-US" dirty="0" err="1"/>
              <a:t>programmes</a:t>
            </a:r>
            <a:r>
              <a:rPr lang="en-US" dirty="0"/>
              <a:t> and needs in each geographical area, identify the local religious, economic, social and health needs and the extent to which they were being met. </a:t>
            </a:r>
            <a:endParaRPr lang="en-US" dirty="0" smtClean="0"/>
          </a:p>
          <a:p>
            <a:r>
              <a:rPr lang="en-US" dirty="0" smtClean="0"/>
              <a:t>The </a:t>
            </a:r>
            <a:r>
              <a:rPr lang="en-US" dirty="0"/>
              <a:t>commission was to assist in the formation of plans designed for the educational needs of Africans. The Commission's recommendations were heavily based on the theories of Negro education developed at Hampton and Tuskegee in the USA</a:t>
            </a:r>
          </a:p>
        </p:txBody>
      </p:sp>
    </p:spTree>
    <p:extLst>
      <p:ext uri="{BB962C8B-B14F-4D97-AF65-F5344CB8AC3E}">
        <p14:creationId xmlns:p14="http://schemas.microsoft.com/office/powerpoint/2010/main" val="102002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When the group came to Kenya, they noted the dismal state of education for Africans from both quantitative and qualitative aspects. They saw the Kenyan problem as being concentration on European and Asian needs to the detriment of majority of the natives. </a:t>
            </a:r>
            <a:endParaRPr lang="en-US" dirty="0" smtClean="0"/>
          </a:p>
          <a:p>
            <a:r>
              <a:rPr lang="en-US" dirty="0" smtClean="0"/>
              <a:t>They </a:t>
            </a:r>
            <a:r>
              <a:rPr lang="en-US" dirty="0"/>
              <a:t>saw the solution to this racial problem and challenge as "combining and promoting the interests of settlers, Asians and Africans in a fair manner</a:t>
            </a:r>
            <a:r>
              <a:rPr lang="en-US" dirty="0" smtClean="0"/>
              <a:t>.“</a:t>
            </a:r>
          </a:p>
          <a:p>
            <a:r>
              <a:rPr lang="en-US" dirty="0" smtClean="0"/>
              <a:t> </a:t>
            </a:r>
            <a:r>
              <a:rPr lang="en-US" dirty="0"/>
              <a:t>They also urged the government to make real effort to develop agricultural and technical skills primarily for the African community, the majority of whom lived in rural areas. </a:t>
            </a:r>
          </a:p>
        </p:txBody>
      </p:sp>
    </p:spTree>
    <p:extLst>
      <p:ext uri="{BB962C8B-B14F-4D97-AF65-F5344CB8AC3E}">
        <p14:creationId xmlns:p14="http://schemas.microsoft.com/office/powerpoint/2010/main" val="3919068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The commission made a number of recommendations for improving physical education in Kenya, including</a:t>
            </a:r>
            <a:r>
              <a:rPr lang="en-US" dirty="0" smtClean="0"/>
              <a:t>:-</a:t>
            </a:r>
            <a:endParaRPr lang="en-US" dirty="0"/>
          </a:p>
          <a:p>
            <a:r>
              <a:rPr lang="en-US" dirty="0"/>
              <a:t>Requiring all schools to provide physical education classes</a:t>
            </a:r>
          </a:p>
          <a:p>
            <a:r>
              <a:rPr lang="en-US" dirty="0"/>
              <a:t>Training more physical education teachers</a:t>
            </a:r>
          </a:p>
          <a:p>
            <a:r>
              <a:rPr lang="en-US" dirty="0"/>
              <a:t>Developing a curriculum for physical education that was tailored to the needs of African children</a:t>
            </a:r>
          </a:p>
          <a:p>
            <a:r>
              <a:rPr lang="en-US" dirty="0"/>
              <a:t>Providing more resources for physical education programs</a:t>
            </a:r>
          </a:p>
          <a:p>
            <a:endParaRPr lang="en-US" dirty="0"/>
          </a:p>
        </p:txBody>
      </p:sp>
    </p:spTree>
    <p:extLst>
      <p:ext uri="{BB962C8B-B14F-4D97-AF65-F5344CB8AC3E}">
        <p14:creationId xmlns:p14="http://schemas.microsoft.com/office/powerpoint/2010/main" val="672338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the </a:t>
            </a:r>
            <a:r>
              <a:rPr lang="en-US" dirty="0"/>
              <a:t>government appoint a director of native </a:t>
            </a:r>
            <a:r>
              <a:rPr lang="en-US" dirty="0" smtClean="0"/>
              <a:t>education</a:t>
            </a:r>
          </a:p>
          <a:p>
            <a:r>
              <a:rPr lang="en-US" dirty="0" smtClean="0"/>
              <a:t> </a:t>
            </a:r>
            <a:r>
              <a:rPr lang="en-US" dirty="0"/>
              <a:t>establish an advisory </a:t>
            </a:r>
            <a:r>
              <a:rPr lang="en-US" dirty="0" smtClean="0"/>
              <a:t>committee</a:t>
            </a:r>
          </a:p>
          <a:p>
            <a:r>
              <a:rPr lang="en-US" dirty="0" smtClean="0"/>
              <a:t>subsidize </a:t>
            </a:r>
            <a:r>
              <a:rPr lang="en-US" dirty="0"/>
              <a:t>the education </a:t>
            </a:r>
            <a:r>
              <a:rPr lang="en-US" dirty="0" smtClean="0"/>
              <a:t>system</a:t>
            </a:r>
          </a:p>
          <a:p>
            <a:r>
              <a:rPr lang="en-US" dirty="0" smtClean="0"/>
              <a:t> </a:t>
            </a:r>
            <a:r>
              <a:rPr lang="en-US" dirty="0"/>
              <a:t>train </a:t>
            </a:r>
            <a:r>
              <a:rPr lang="en-US" dirty="0" smtClean="0"/>
              <a:t>teachers</a:t>
            </a:r>
          </a:p>
          <a:p>
            <a:r>
              <a:rPr lang="en-US" dirty="0" smtClean="0"/>
              <a:t> </a:t>
            </a:r>
            <a:r>
              <a:rPr lang="en-US" dirty="0"/>
              <a:t>and develop a curriculum adapted to local needs.</a:t>
            </a:r>
          </a:p>
        </p:txBody>
      </p:sp>
    </p:spTree>
    <p:extLst>
      <p:ext uri="{BB962C8B-B14F-4D97-AF65-F5344CB8AC3E}">
        <p14:creationId xmlns:p14="http://schemas.microsoft.com/office/powerpoint/2010/main" val="29492597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a:t>It recommended that education be adapted to African conditions and organized under principles of cooperation between missions, government, and commercial entities. </a:t>
            </a:r>
            <a:endParaRPr lang="en-US" dirty="0" smtClean="0"/>
          </a:p>
          <a:p>
            <a:r>
              <a:rPr lang="en-US" dirty="0" smtClean="0"/>
              <a:t>It </a:t>
            </a:r>
            <a:r>
              <a:rPr lang="en-US" dirty="0"/>
              <a:t>advocated appointing a Director of Native Education and establishing an advisory board representing all interested parties. </a:t>
            </a:r>
            <a:endParaRPr lang="en-US" dirty="0" smtClean="0"/>
          </a:p>
          <a:p>
            <a:r>
              <a:rPr lang="en-US" dirty="0"/>
              <a:t>. It recommended the education of the girl child. It also recommended practical education for </a:t>
            </a:r>
            <a:r>
              <a:rPr lang="en-US" dirty="0" smtClean="0"/>
              <a:t>African communities.</a:t>
            </a:r>
          </a:p>
          <a:p>
            <a:r>
              <a:rPr lang="en-US" dirty="0" smtClean="0"/>
              <a:t> </a:t>
            </a:r>
            <a:r>
              <a:rPr lang="en-US" dirty="0" smtClean="0">
                <a:solidFill>
                  <a:srgbClr val="FF0000"/>
                </a:solidFill>
              </a:rPr>
              <a:t>The commission  </a:t>
            </a:r>
            <a:r>
              <a:rPr lang="en-US" dirty="0">
                <a:solidFill>
                  <a:srgbClr val="FF0000"/>
                </a:solidFill>
              </a:rPr>
              <a:t>was particularly interested in the physical education of African </a:t>
            </a:r>
            <a:r>
              <a:rPr lang="en-US" dirty="0" smtClean="0">
                <a:solidFill>
                  <a:srgbClr val="FF0000"/>
                </a:solidFill>
              </a:rPr>
              <a:t>children and they  found </a:t>
            </a:r>
            <a:r>
              <a:rPr lang="en-US" dirty="0">
                <a:solidFill>
                  <a:srgbClr val="FF0000"/>
                </a:solidFill>
              </a:rPr>
              <a:t>that physical education was largely neglected in Kenyan schools and that many African children were malnourished and unhealthy.</a:t>
            </a:r>
          </a:p>
          <a:p>
            <a:endParaRPr lang="en-US" dirty="0"/>
          </a:p>
        </p:txBody>
      </p:sp>
    </p:spTree>
    <p:extLst>
      <p:ext uri="{BB962C8B-B14F-4D97-AF65-F5344CB8AC3E}">
        <p14:creationId xmlns:p14="http://schemas.microsoft.com/office/powerpoint/2010/main" val="33900369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TotalTime>
  <Words>1762</Words>
  <Application>Microsoft Office PowerPoint</Application>
  <PresentationFormat>Widescreen</PresentationFormat>
  <Paragraphs>117</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lecture 3B PGDE CVOHORT TEN  </vt:lpstr>
      <vt:lpstr>PowerPoint Presentation</vt:lpstr>
      <vt:lpstr>PowerPoint Presentation</vt:lpstr>
      <vt:lpstr>Class activity;weekend </vt:lpstr>
      <vt:lpstr>PowerPoint Presentation</vt:lpstr>
      <vt:lpstr>Professor Fraser Report (1909)</vt:lpstr>
      <vt:lpstr>PowerPoint Presentation</vt:lpstr>
      <vt:lpstr>PowerPoint Presentation</vt:lpstr>
      <vt:lpstr>PowerPoint Presentation</vt:lpstr>
      <vt:lpstr>PowerPoint Presentation</vt:lpstr>
      <vt:lpstr>In line with the Professor Fraser recommendations, the development in education proceeded as follows;-</vt:lpstr>
      <vt:lpstr>PowerPoint Presentation</vt:lpstr>
      <vt:lpstr>PowerPoint Presentation</vt:lpstr>
      <vt:lpstr>THE DEVONSHIRE –WHITE PAPER OF 1923</vt:lpstr>
      <vt:lpstr>Background information of Devonshire white paper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PHELPS-STOKE COMMISSION-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17th JANUARY 2024</dc:title>
  <dc:creator>ADMIN</dc:creator>
  <cp:lastModifiedBy>Dr. Gatembu</cp:lastModifiedBy>
  <cp:revision>30</cp:revision>
  <dcterms:created xsi:type="dcterms:W3CDTF">2025-01-15T13:16:43Z</dcterms:created>
  <dcterms:modified xsi:type="dcterms:W3CDTF">2025-11-22T06:29:09Z</dcterms:modified>
</cp:coreProperties>
</file>