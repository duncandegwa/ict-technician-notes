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74" r:id="rId2"/>
    <p:sldId id="256" r:id="rId3"/>
    <p:sldId id="272" r:id="rId4"/>
    <p:sldId id="273"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3" d="100"/>
          <a:sy n="73" d="100"/>
        </p:scale>
        <p:origin x="61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4BA377B-A805-4EA6-B4C3-C925CD4FE47A}" type="doc">
      <dgm:prSet loTypeId="urn:microsoft.com/office/officeart/2005/8/layout/hierarchy2" loCatId="hierarchy" qsTypeId="urn:microsoft.com/office/officeart/2005/8/quickstyle/simple1" qsCatId="simple" csTypeId="urn:microsoft.com/office/officeart/2005/8/colors/accent1_2" csCatId="accent1" phldr="1"/>
      <dgm:spPr/>
      <dgm:t>
        <a:bodyPr/>
        <a:lstStyle/>
        <a:p>
          <a:endParaRPr lang="en-US"/>
        </a:p>
      </dgm:t>
    </dgm:pt>
    <dgm:pt modelId="{A5D40C0F-13A5-44C4-B20B-57AA372E1CD7}">
      <dgm:prSet phldrT="[Text]" custT="1"/>
      <dgm:spPr/>
      <dgm:t>
        <a:bodyPr/>
        <a:lstStyle/>
        <a:p>
          <a:r>
            <a:rPr lang="en-US" sz="1200" dirty="0"/>
            <a:t>MINISTRY OF EDUCATION (CS)</a:t>
          </a:r>
        </a:p>
      </dgm:t>
    </dgm:pt>
    <dgm:pt modelId="{E08E2592-B64F-432D-89FD-96D8C6F24562}" type="parTrans" cxnId="{ABA75183-B79B-43AD-A6DA-1E9C57C3DD91}">
      <dgm:prSet/>
      <dgm:spPr/>
      <dgm:t>
        <a:bodyPr/>
        <a:lstStyle/>
        <a:p>
          <a:endParaRPr lang="en-US"/>
        </a:p>
      </dgm:t>
    </dgm:pt>
    <dgm:pt modelId="{2CDDA398-4A30-401C-AA8F-9CF0B9164AB3}" type="sibTrans" cxnId="{ABA75183-B79B-43AD-A6DA-1E9C57C3DD91}">
      <dgm:prSet/>
      <dgm:spPr/>
      <dgm:t>
        <a:bodyPr/>
        <a:lstStyle/>
        <a:p>
          <a:endParaRPr lang="en-US"/>
        </a:p>
      </dgm:t>
    </dgm:pt>
    <dgm:pt modelId="{E4008879-7F5B-4E6D-9DA5-5B188844B2D7}">
      <dgm:prSet phldrT="[Text]" custT="1"/>
      <dgm:spPr/>
      <dgm:t>
        <a:bodyPr/>
        <a:lstStyle/>
        <a:p>
          <a:r>
            <a:rPr lang="en-US" sz="1600" dirty="0"/>
            <a:t>State Department of TVET (PS)</a:t>
          </a:r>
        </a:p>
      </dgm:t>
    </dgm:pt>
    <dgm:pt modelId="{9ACDB1B6-C2F2-4F99-972A-4C8E4B82192E}" type="parTrans" cxnId="{8F6ECF34-4442-45B8-8D60-D0F21BA13623}">
      <dgm:prSet/>
      <dgm:spPr/>
      <dgm:t>
        <a:bodyPr/>
        <a:lstStyle/>
        <a:p>
          <a:endParaRPr lang="en-US"/>
        </a:p>
      </dgm:t>
    </dgm:pt>
    <dgm:pt modelId="{D4290AA6-8331-4E94-8D15-E75DE0AECFE4}" type="sibTrans" cxnId="{8F6ECF34-4442-45B8-8D60-D0F21BA13623}">
      <dgm:prSet/>
      <dgm:spPr/>
      <dgm:t>
        <a:bodyPr/>
        <a:lstStyle/>
        <a:p>
          <a:endParaRPr lang="en-US"/>
        </a:p>
      </dgm:t>
    </dgm:pt>
    <dgm:pt modelId="{C49C5D01-45E1-4CA3-B8A6-54F7809B2D87}">
      <dgm:prSet phldrT="[Text]"/>
      <dgm:spPr/>
      <dgm:t>
        <a:bodyPr/>
        <a:lstStyle/>
        <a:p>
          <a:r>
            <a:rPr lang="en-US"/>
            <a:t>State Department of  Basic Education(PS)</a:t>
          </a:r>
        </a:p>
      </dgm:t>
    </dgm:pt>
    <dgm:pt modelId="{516BE485-8447-4732-A518-993BD28BD921}" type="parTrans" cxnId="{EBBE43C5-8E4F-4A10-9717-F3C3A4C91693}">
      <dgm:prSet/>
      <dgm:spPr/>
      <dgm:t>
        <a:bodyPr/>
        <a:lstStyle/>
        <a:p>
          <a:endParaRPr lang="en-US"/>
        </a:p>
      </dgm:t>
    </dgm:pt>
    <dgm:pt modelId="{8FC18305-418F-49B2-ABE3-3DD1A85ED6E2}" type="sibTrans" cxnId="{EBBE43C5-8E4F-4A10-9717-F3C3A4C91693}">
      <dgm:prSet/>
      <dgm:spPr/>
      <dgm:t>
        <a:bodyPr/>
        <a:lstStyle/>
        <a:p>
          <a:endParaRPr lang="en-US"/>
        </a:p>
      </dgm:t>
    </dgm:pt>
    <dgm:pt modelId="{5FDBB8BE-55BE-4947-B0E6-8F0276059CD7}">
      <dgm:prSet/>
      <dgm:spPr/>
      <dgm:t>
        <a:bodyPr/>
        <a:lstStyle/>
        <a:p>
          <a:r>
            <a:rPr lang="en-US"/>
            <a:t>State Department of Higher Education (PS)</a:t>
          </a:r>
        </a:p>
      </dgm:t>
    </dgm:pt>
    <dgm:pt modelId="{A56C10F3-07D4-4AB4-AE23-E8F154A18D9C}" type="parTrans" cxnId="{4210A831-5A07-42DF-9B5D-AD3DB7AB7087}">
      <dgm:prSet/>
      <dgm:spPr/>
      <dgm:t>
        <a:bodyPr/>
        <a:lstStyle/>
        <a:p>
          <a:endParaRPr lang="en-US"/>
        </a:p>
      </dgm:t>
    </dgm:pt>
    <dgm:pt modelId="{39E4FE74-9387-48A8-892F-EECDCE91969E}" type="sibTrans" cxnId="{4210A831-5A07-42DF-9B5D-AD3DB7AB7087}">
      <dgm:prSet/>
      <dgm:spPr/>
      <dgm:t>
        <a:bodyPr/>
        <a:lstStyle/>
        <a:p>
          <a:endParaRPr lang="en-US"/>
        </a:p>
      </dgm:t>
    </dgm:pt>
    <dgm:pt modelId="{28EC7F5D-D6D9-44FF-B35B-FD6A2D76B33F}" type="pres">
      <dgm:prSet presAssocID="{44BA377B-A805-4EA6-B4C3-C925CD4FE47A}" presName="diagram" presStyleCnt="0">
        <dgm:presLayoutVars>
          <dgm:chPref val="1"/>
          <dgm:dir/>
          <dgm:animOne val="branch"/>
          <dgm:animLvl val="lvl"/>
          <dgm:resizeHandles val="exact"/>
        </dgm:presLayoutVars>
      </dgm:prSet>
      <dgm:spPr/>
      <dgm:t>
        <a:bodyPr/>
        <a:lstStyle/>
        <a:p>
          <a:endParaRPr lang="en-US"/>
        </a:p>
      </dgm:t>
    </dgm:pt>
    <dgm:pt modelId="{DECF861C-B4A9-4FC9-8D5C-A63672CE3074}" type="pres">
      <dgm:prSet presAssocID="{A5D40C0F-13A5-44C4-B20B-57AA372E1CD7}" presName="root1" presStyleCnt="0"/>
      <dgm:spPr/>
    </dgm:pt>
    <dgm:pt modelId="{DC19A3E8-F3C9-44C1-BDEE-BC27A6CF7425}" type="pres">
      <dgm:prSet presAssocID="{A5D40C0F-13A5-44C4-B20B-57AA372E1CD7}" presName="LevelOneTextNode" presStyleLbl="node0" presStyleIdx="0" presStyleCnt="1">
        <dgm:presLayoutVars>
          <dgm:chPref val="3"/>
        </dgm:presLayoutVars>
      </dgm:prSet>
      <dgm:spPr/>
      <dgm:t>
        <a:bodyPr/>
        <a:lstStyle/>
        <a:p>
          <a:endParaRPr lang="en-US"/>
        </a:p>
      </dgm:t>
    </dgm:pt>
    <dgm:pt modelId="{6D43BA28-37F8-4BC1-A8AF-1DEB005A733C}" type="pres">
      <dgm:prSet presAssocID="{A5D40C0F-13A5-44C4-B20B-57AA372E1CD7}" presName="level2hierChild" presStyleCnt="0"/>
      <dgm:spPr/>
    </dgm:pt>
    <dgm:pt modelId="{1840D619-21F6-4432-AFA8-3FA8526A03AD}" type="pres">
      <dgm:prSet presAssocID="{9ACDB1B6-C2F2-4F99-972A-4C8E4B82192E}" presName="conn2-1" presStyleLbl="parChTrans1D2" presStyleIdx="0" presStyleCnt="3"/>
      <dgm:spPr/>
      <dgm:t>
        <a:bodyPr/>
        <a:lstStyle/>
        <a:p>
          <a:endParaRPr lang="en-US"/>
        </a:p>
      </dgm:t>
    </dgm:pt>
    <dgm:pt modelId="{3B998ED6-914B-4031-8EC9-DC5BEE5E3139}" type="pres">
      <dgm:prSet presAssocID="{9ACDB1B6-C2F2-4F99-972A-4C8E4B82192E}" presName="connTx" presStyleLbl="parChTrans1D2" presStyleIdx="0" presStyleCnt="3"/>
      <dgm:spPr/>
      <dgm:t>
        <a:bodyPr/>
        <a:lstStyle/>
        <a:p>
          <a:endParaRPr lang="en-US"/>
        </a:p>
      </dgm:t>
    </dgm:pt>
    <dgm:pt modelId="{E81AED0D-A367-4289-BFFC-FFF16F0F3A87}" type="pres">
      <dgm:prSet presAssocID="{E4008879-7F5B-4E6D-9DA5-5B188844B2D7}" presName="root2" presStyleCnt="0"/>
      <dgm:spPr/>
    </dgm:pt>
    <dgm:pt modelId="{E40D8AA7-B6A9-475C-B3A3-CD17E3437E21}" type="pres">
      <dgm:prSet presAssocID="{E4008879-7F5B-4E6D-9DA5-5B188844B2D7}" presName="LevelTwoTextNode" presStyleLbl="node2" presStyleIdx="0" presStyleCnt="3">
        <dgm:presLayoutVars>
          <dgm:chPref val="3"/>
        </dgm:presLayoutVars>
      </dgm:prSet>
      <dgm:spPr/>
      <dgm:t>
        <a:bodyPr/>
        <a:lstStyle/>
        <a:p>
          <a:endParaRPr lang="en-US"/>
        </a:p>
      </dgm:t>
    </dgm:pt>
    <dgm:pt modelId="{CACBBE97-16D0-47CB-A666-1AA76BB81042}" type="pres">
      <dgm:prSet presAssocID="{E4008879-7F5B-4E6D-9DA5-5B188844B2D7}" presName="level3hierChild" presStyleCnt="0"/>
      <dgm:spPr/>
    </dgm:pt>
    <dgm:pt modelId="{B363D677-16C9-4786-9F73-5EDE946A4359}" type="pres">
      <dgm:prSet presAssocID="{516BE485-8447-4732-A518-993BD28BD921}" presName="conn2-1" presStyleLbl="parChTrans1D2" presStyleIdx="1" presStyleCnt="3"/>
      <dgm:spPr/>
      <dgm:t>
        <a:bodyPr/>
        <a:lstStyle/>
        <a:p>
          <a:endParaRPr lang="en-US"/>
        </a:p>
      </dgm:t>
    </dgm:pt>
    <dgm:pt modelId="{05D7BFB5-88DC-468F-9F85-AA720CCE226B}" type="pres">
      <dgm:prSet presAssocID="{516BE485-8447-4732-A518-993BD28BD921}" presName="connTx" presStyleLbl="parChTrans1D2" presStyleIdx="1" presStyleCnt="3"/>
      <dgm:spPr/>
      <dgm:t>
        <a:bodyPr/>
        <a:lstStyle/>
        <a:p>
          <a:endParaRPr lang="en-US"/>
        </a:p>
      </dgm:t>
    </dgm:pt>
    <dgm:pt modelId="{7484A406-18B9-4606-8BA3-BCCEE2150E80}" type="pres">
      <dgm:prSet presAssocID="{C49C5D01-45E1-4CA3-B8A6-54F7809B2D87}" presName="root2" presStyleCnt="0"/>
      <dgm:spPr/>
    </dgm:pt>
    <dgm:pt modelId="{20C7C243-771C-4FE1-8D10-EBA72C4C0D15}" type="pres">
      <dgm:prSet presAssocID="{C49C5D01-45E1-4CA3-B8A6-54F7809B2D87}" presName="LevelTwoTextNode" presStyleLbl="node2" presStyleIdx="1" presStyleCnt="3">
        <dgm:presLayoutVars>
          <dgm:chPref val="3"/>
        </dgm:presLayoutVars>
      </dgm:prSet>
      <dgm:spPr/>
      <dgm:t>
        <a:bodyPr/>
        <a:lstStyle/>
        <a:p>
          <a:endParaRPr lang="en-US"/>
        </a:p>
      </dgm:t>
    </dgm:pt>
    <dgm:pt modelId="{047FA574-5DAE-4DA7-9354-525BF9BD5F55}" type="pres">
      <dgm:prSet presAssocID="{C49C5D01-45E1-4CA3-B8A6-54F7809B2D87}" presName="level3hierChild" presStyleCnt="0"/>
      <dgm:spPr/>
    </dgm:pt>
    <dgm:pt modelId="{FEA5CF99-9D0B-4453-9820-D5863E6FC6AD}" type="pres">
      <dgm:prSet presAssocID="{A56C10F3-07D4-4AB4-AE23-E8F154A18D9C}" presName="conn2-1" presStyleLbl="parChTrans1D2" presStyleIdx="2" presStyleCnt="3"/>
      <dgm:spPr/>
      <dgm:t>
        <a:bodyPr/>
        <a:lstStyle/>
        <a:p>
          <a:endParaRPr lang="en-US"/>
        </a:p>
      </dgm:t>
    </dgm:pt>
    <dgm:pt modelId="{4D2B2877-A8F9-4067-9E70-58E65561A86A}" type="pres">
      <dgm:prSet presAssocID="{A56C10F3-07D4-4AB4-AE23-E8F154A18D9C}" presName="connTx" presStyleLbl="parChTrans1D2" presStyleIdx="2" presStyleCnt="3"/>
      <dgm:spPr/>
      <dgm:t>
        <a:bodyPr/>
        <a:lstStyle/>
        <a:p>
          <a:endParaRPr lang="en-US"/>
        </a:p>
      </dgm:t>
    </dgm:pt>
    <dgm:pt modelId="{7A812F2D-C8E6-4CE9-AA90-DDB2A7626B68}" type="pres">
      <dgm:prSet presAssocID="{5FDBB8BE-55BE-4947-B0E6-8F0276059CD7}" presName="root2" presStyleCnt="0"/>
      <dgm:spPr/>
    </dgm:pt>
    <dgm:pt modelId="{ACCEC52F-4BF3-4298-96BA-AEEC9D55A14C}" type="pres">
      <dgm:prSet presAssocID="{5FDBB8BE-55BE-4947-B0E6-8F0276059CD7}" presName="LevelTwoTextNode" presStyleLbl="node2" presStyleIdx="2" presStyleCnt="3">
        <dgm:presLayoutVars>
          <dgm:chPref val="3"/>
        </dgm:presLayoutVars>
      </dgm:prSet>
      <dgm:spPr/>
      <dgm:t>
        <a:bodyPr/>
        <a:lstStyle/>
        <a:p>
          <a:endParaRPr lang="en-US"/>
        </a:p>
      </dgm:t>
    </dgm:pt>
    <dgm:pt modelId="{59C9E4EE-5327-44CD-956B-DC14E28AA1A1}" type="pres">
      <dgm:prSet presAssocID="{5FDBB8BE-55BE-4947-B0E6-8F0276059CD7}" presName="level3hierChild" presStyleCnt="0"/>
      <dgm:spPr/>
    </dgm:pt>
  </dgm:ptLst>
  <dgm:cxnLst>
    <dgm:cxn modelId="{ABA75183-B79B-43AD-A6DA-1E9C57C3DD91}" srcId="{44BA377B-A805-4EA6-B4C3-C925CD4FE47A}" destId="{A5D40C0F-13A5-44C4-B20B-57AA372E1CD7}" srcOrd="0" destOrd="0" parTransId="{E08E2592-B64F-432D-89FD-96D8C6F24562}" sibTransId="{2CDDA398-4A30-401C-AA8F-9CF0B9164AB3}"/>
    <dgm:cxn modelId="{1B80A95A-C3F5-4535-AEFE-AAB06C2E4AA2}" type="presOf" srcId="{9ACDB1B6-C2F2-4F99-972A-4C8E4B82192E}" destId="{1840D619-21F6-4432-AFA8-3FA8526A03AD}" srcOrd="0" destOrd="0" presId="urn:microsoft.com/office/officeart/2005/8/layout/hierarchy2"/>
    <dgm:cxn modelId="{8F6ECF34-4442-45B8-8D60-D0F21BA13623}" srcId="{A5D40C0F-13A5-44C4-B20B-57AA372E1CD7}" destId="{E4008879-7F5B-4E6D-9DA5-5B188844B2D7}" srcOrd="0" destOrd="0" parTransId="{9ACDB1B6-C2F2-4F99-972A-4C8E4B82192E}" sibTransId="{D4290AA6-8331-4E94-8D15-E75DE0AECFE4}"/>
    <dgm:cxn modelId="{39E10E9A-602E-4769-86F9-D4DB98A8E862}" type="presOf" srcId="{A56C10F3-07D4-4AB4-AE23-E8F154A18D9C}" destId="{FEA5CF99-9D0B-4453-9820-D5863E6FC6AD}" srcOrd="0" destOrd="0" presId="urn:microsoft.com/office/officeart/2005/8/layout/hierarchy2"/>
    <dgm:cxn modelId="{A49566CA-FB68-46AE-A796-2827476C7DBD}" type="presOf" srcId="{516BE485-8447-4732-A518-993BD28BD921}" destId="{05D7BFB5-88DC-468F-9F85-AA720CCE226B}" srcOrd="1" destOrd="0" presId="urn:microsoft.com/office/officeart/2005/8/layout/hierarchy2"/>
    <dgm:cxn modelId="{C54357A4-25DA-4993-9C16-936FECC6520B}" type="presOf" srcId="{A56C10F3-07D4-4AB4-AE23-E8F154A18D9C}" destId="{4D2B2877-A8F9-4067-9E70-58E65561A86A}" srcOrd="1" destOrd="0" presId="urn:microsoft.com/office/officeart/2005/8/layout/hierarchy2"/>
    <dgm:cxn modelId="{EBBE43C5-8E4F-4A10-9717-F3C3A4C91693}" srcId="{A5D40C0F-13A5-44C4-B20B-57AA372E1CD7}" destId="{C49C5D01-45E1-4CA3-B8A6-54F7809B2D87}" srcOrd="1" destOrd="0" parTransId="{516BE485-8447-4732-A518-993BD28BD921}" sibTransId="{8FC18305-418F-49B2-ABE3-3DD1A85ED6E2}"/>
    <dgm:cxn modelId="{4210A831-5A07-42DF-9B5D-AD3DB7AB7087}" srcId="{A5D40C0F-13A5-44C4-B20B-57AA372E1CD7}" destId="{5FDBB8BE-55BE-4947-B0E6-8F0276059CD7}" srcOrd="2" destOrd="0" parTransId="{A56C10F3-07D4-4AB4-AE23-E8F154A18D9C}" sibTransId="{39E4FE74-9387-48A8-892F-EECDCE91969E}"/>
    <dgm:cxn modelId="{C5AC8C1E-842B-4BFE-90EE-8AC60A85D546}" type="presOf" srcId="{516BE485-8447-4732-A518-993BD28BD921}" destId="{B363D677-16C9-4786-9F73-5EDE946A4359}" srcOrd="0" destOrd="0" presId="urn:microsoft.com/office/officeart/2005/8/layout/hierarchy2"/>
    <dgm:cxn modelId="{B6A91B83-8D4F-4D4E-8401-A0BC38FFA398}" type="presOf" srcId="{A5D40C0F-13A5-44C4-B20B-57AA372E1CD7}" destId="{DC19A3E8-F3C9-44C1-BDEE-BC27A6CF7425}" srcOrd="0" destOrd="0" presId="urn:microsoft.com/office/officeart/2005/8/layout/hierarchy2"/>
    <dgm:cxn modelId="{31B2CB9D-A7AF-444F-916C-8384C4F1FDD0}" type="presOf" srcId="{44BA377B-A805-4EA6-B4C3-C925CD4FE47A}" destId="{28EC7F5D-D6D9-44FF-B35B-FD6A2D76B33F}" srcOrd="0" destOrd="0" presId="urn:microsoft.com/office/officeart/2005/8/layout/hierarchy2"/>
    <dgm:cxn modelId="{87C3FA90-12D2-42A0-B625-10F804EF40F5}" type="presOf" srcId="{E4008879-7F5B-4E6D-9DA5-5B188844B2D7}" destId="{E40D8AA7-B6A9-475C-B3A3-CD17E3437E21}" srcOrd="0" destOrd="0" presId="urn:microsoft.com/office/officeart/2005/8/layout/hierarchy2"/>
    <dgm:cxn modelId="{3F4321A5-1BCD-483C-844B-C1F9B13DFBAD}" type="presOf" srcId="{5FDBB8BE-55BE-4947-B0E6-8F0276059CD7}" destId="{ACCEC52F-4BF3-4298-96BA-AEEC9D55A14C}" srcOrd="0" destOrd="0" presId="urn:microsoft.com/office/officeart/2005/8/layout/hierarchy2"/>
    <dgm:cxn modelId="{A29C8FDC-51AA-42C8-B05A-A089AC000253}" type="presOf" srcId="{9ACDB1B6-C2F2-4F99-972A-4C8E4B82192E}" destId="{3B998ED6-914B-4031-8EC9-DC5BEE5E3139}" srcOrd="1" destOrd="0" presId="urn:microsoft.com/office/officeart/2005/8/layout/hierarchy2"/>
    <dgm:cxn modelId="{5C4FC11A-BA9B-43EC-BEDE-C94CE10822A8}" type="presOf" srcId="{C49C5D01-45E1-4CA3-B8A6-54F7809B2D87}" destId="{20C7C243-771C-4FE1-8D10-EBA72C4C0D15}" srcOrd="0" destOrd="0" presId="urn:microsoft.com/office/officeart/2005/8/layout/hierarchy2"/>
    <dgm:cxn modelId="{4B0F0E9F-4445-4584-9E6F-DFAF8DFDC72A}" type="presParOf" srcId="{28EC7F5D-D6D9-44FF-B35B-FD6A2D76B33F}" destId="{DECF861C-B4A9-4FC9-8D5C-A63672CE3074}" srcOrd="0" destOrd="0" presId="urn:microsoft.com/office/officeart/2005/8/layout/hierarchy2"/>
    <dgm:cxn modelId="{0ED4F3E9-3E9C-4D31-B3EF-2272D2637D00}" type="presParOf" srcId="{DECF861C-B4A9-4FC9-8D5C-A63672CE3074}" destId="{DC19A3E8-F3C9-44C1-BDEE-BC27A6CF7425}" srcOrd="0" destOrd="0" presId="urn:microsoft.com/office/officeart/2005/8/layout/hierarchy2"/>
    <dgm:cxn modelId="{5BEDD19E-DD7C-46F2-B6E9-07E4ECF73168}" type="presParOf" srcId="{DECF861C-B4A9-4FC9-8D5C-A63672CE3074}" destId="{6D43BA28-37F8-4BC1-A8AF-1DEB005A733C}" srcOrd="1" destOrd="0" presId="urn:microsoft.com/office/officeart/2005/8/layout/hierarchy2"/>
    <dgm:cxn modelId="{6FF43750-AA85-4AD4-B86D-0ED6C94A48B2}" type="presParOf" srcId="{6D43BA28-37F8-4BC1-A8AF-1DEB005A733C}" destId="{1840D619-21F6-4432-AFA8-3FA8526A03AD}" srcOrd="0" destOrd="0" presId="urn:microsoft.com/office/officeart/2005/8/layout/hierarchy2"/>
    <dgm:cxn modelId="{09A83B56-BC36-42AE-B4F5-F5524FB180EA}" type="presParOf" srcId="{1840D619-21F6-4432-AFA8-3FA8526A03AD}" destId="{3B998ED6-914B-4031-8EC9-DC5BEE5E3139}" srcOrd="0" destOrd="0" presId="urn:microsoft.com/office/officeart/2005/8/layout/hierarchy2"/>
    <dgm:cxn modelId="{BE990ECA-7C1A-4982-A7CD-EC9B5E99D3A3}" type="presParOf" srcId="{6D43BA28-37F8-4BC1-A8AF-1DEB005A733C}" destId="{E81AED0D-A367-4289-BFFC-FFF16F0F3A87}" srcOrd="1" destOrd="0" presId="urn:microsoft.com/office/officeart/2005/8/layout/hierarchy2"/>
    <dgm:cxn modelId="{60C3DF9E-CAED-41B7-B5FB-2CCA62E50399}" type="presParOf" srcId="{E81AED0D-A367-4289-BFFC-FFF16F0F3A87}" destId="{E40D8AA7-B6A9-475C-B3A3-CD17E3437E21}" srcOrd="0" destOrd="0" presId="urn:microsoft.com/office/officeart/2005/8/layout/hierarchy2"/>
    <dgm:cxn modelId="{C1CA5B73-369A-4052-AA71-49381AB1CF8C}" type="presParOf" srcId="{E81AED0D-A367-4289-BFFC-FFF16F0F3A87}" destId="{CACBBE97-16D0-47CB-A666-1AA76BB81042}" srcOrd="1" destOrd="0" presId="urn:microsoft.com/office/officeart/2005/8/layout/hierarchy2"/>
    <dgm:cxn modelId="{6E9FEB72-0678-4995-A5A2-000552FDA4EA}" type="presParOf" srcId="{6D43BA28-37F8-4BC1-A8AF-1DEB005A733C}" destId="{B363D677-16C9-4786-9F73-5EDE946A4359}" srcOrd="2" destOrd="0" presId="urn:microsoft.com/office/officeart/2005/8/layout/hierarchy2"/>
    <dgm:cxn modelId="{C7A43F42-9294-4629-93D9-29E5447CB782}" type="presParOf" srcId="{B363D677-16C9-4786-9F73-5EDE946A4359}" destId="{05D7BFB5-88DC-468F-9F85-AA720CCE226B}" srcOrd="0" destOrd="0" presId="urn:microsoft.com/office/officeart/2005/8/layout/hierarchy2"/>
    <dgm:cxn modelId="{F1F7743A-3869-435D-A171-72C47B904817}" type="presParOf" srcId="{6D43BA28-37F8-4BC1-A8AF-1DEB005A733C}" destId="{7484A406-18B9-4606-8BA3-BCCEE2150E80}" srcOrd="3" destOrd="0" presId="urn:microsoft.com/office/officeart/2005/8/layout/hierarchy2"/>
    <dgm:cxn modelId="{22BFF337-D986-4014-9CD0-8BB5772FCB84}" type="presParOf" srcId="{7484A406-18B9-4606-8BA3-BCCEE2150E80}" destId="{20C7C243-771C-4FE1-8D10-EBA72C4C0D15}" srcOrd="0" destOrd="0" presId="urn:microsoft.com/office/officeart/2005/8/layout/hierarchy2"/>
    <dgm:cxn modelId="{61F5E7EF-D679-49BE-BA66-9790D87DDE14}" type="presParOf" srcId="{7484A406-18B9-4606-8BA3-BCCEE2150E80}" destId="{047FA574-5DAE-4DA7-9354-525BF9BD5F55}" srcOrd="1" destOrd="0" presId="urn:microsoft.com/office/officeart/2005/8/layout/hierarchy2"/>
    <dgm:cxn modelId="{1860B63E-3CAD-42B5-987F-9149880D42F1}" type="presParOf" srcId="{6D43BA28-37F8-4BC1-A8AF-1DEB005A733C}" destId="{FEA5CF99-9D0B-4453-9820-D5863E6FC6AD}" srcOrd="4" destOrd="0" presId="urn:microsoft.com/office/officeart/2005/8/layout/hierarchy2"/>
    <dgm:cxn modelId="{F04D838C-6F8B-4FC1-9FD1-0C4B180BB3BA}" type="presParOf" srcId="{FEA5CF99-9D0B-4453-9820-D5863E6FC6AD}" destId="{4D2B2877-A8F9-4067-9E70-58E65561A86A}" srcOrd="0" destOrd="0" presId="urn:microsoft.com/office/officeart/2005/8/layout/hierarchy2"/>
    <dgm:cxn modelId="{E6510A4A-3B7B-4E6A-B834-C6D6FEA8BD43}" type="presParOf" srcId="{6D43BA28-37F8-4BC1-A8AF-1DEB005A733C}" destId="{7A812F2D-C8E6-4CE9-AA90-DDB2A7626B68}" srcOrd="5" destOrd="0" presId="urn:microsoft.com/office/officeart/2005/8/layout/hierarchy2"/>
    <dgm:cxn modelId="{7A69B70B-FBB6-4635-93DB-078151FF6A34}" type="presParOf" srcId="{7A812F2D-C8E6-4CE9-AA90-DDB2A7626B68}" destId="{ACCEC52F-4BF3-4298-96BA-AEEC9D55A14C}" srcOrd="0" destOrd="0" presId="urn:microsoft.com/office/officeart/2005/8/layout/hierarchy2"/>
    <dgm:cxn modelId="{3903EFB4-B9BE-411D-A2E1-2757AF6F9DD9}" type="presParOf" srcId="{7A812F2D-C8E6-4CE9-AA90-DDB2A7626B68}" destId="{59C9E4EE-5327-44CD-956B-DC14E28AA1A1}"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C19A3E8-F3C9-44C1-BDEE-BC27A6CF7425}">
      <dsp:nvSpPr>
        <dsp:cNvPr id="0" name=""/>
        <dsp:cNvSpPr/>
      </dsp:nvSpPr>
      <dsp:spPr>
        <a:xfrm>
          <a:off x="2096280" y="1517019"/>
          <a:ext cx="2634599" cy="131729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a:t>MINISTRY OF EDUCATION (CS)</a:t>
          </a:r>
        </a:p>
      </dsp:txBody>
      <dsp:txXfrm>
        <a:off x="2134862" y="1555601"/>
        <a:ext cx="2557435" cy="1240135"/>
      </dsp:txXfrm>
    </dsp:sp>
    <dsp:sp modelId="{1840D619-21F6-4432-AFA8-3FA8526A03AD}">
      <dsp:nvSpPr>
        <dsp:cNvPr id="0" name=""/>
        <dsp:cNvSpPr/>
      </dsp:nvSpPr>
      <dsp:spPr>
        <a:xfrm rot="18289469">
          <a:off x="4335102" y="1390975"/>
          <a:ext cx="1845395" cy="54492"/>
        </a:xfrm>
        <a:custGeom>
          <a:avLst/>
          <a:gdLst/>
          <a:ahLst/>
          <a:cxnLst/>
          <a:rect l="0" t="0" r="0" b="0"/>
          <a:pathLst>
            <a:path>
              <a:moveTo>
                <a:pt x="0" y="27246"/>
              </a:moveTo>
              <a:lnTo>
                <a:pt x="1845395" y="2724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66700">
            <a:lnSpc>
              <a:spcPct val="90000"/>
            </a:lnSpc>
            <a:spcBef>
              <a:spcPct val="0"/>
            </a:spcBef>
            <a:spcAft>
              <a:spcPct val="35000"/>
            </a:spcAft>
          </a:pPr>
          <a:endParaRPr lang="en-US" sz="600" kern="1200"/>
        </a:p>
      </dsp:txBody>
      <dsp:txXfrm>
        <a:off x="5211665" y="1372086"/>
        <a:ext cx="92269" cy="92269"/>
      </dsp:txXfrm>
    </dsp:sp>
    <dsp:sp modelId="{E40D8AA7-B6A9-475C-B3A3-CD17E3437E21}">
      <dsp:nvSpPr>
        <dsp:cNvPr id="0" name=""/>
        <dsp:cNvSpPr/>
      </dsp:nvSpPr>
      <dsp:spPr>
        <a:xfrm>
          <a:off x="5784719" y="2124"/>
          <a:ext cx="2634599" cy="131729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a:t>State Department of TVET (PS)</a:t>
          </a:r>
        </a:p>
      </dsp:txBody>
      <dsp:txXfrm>
        <a:off x="5823301" y="40706"/>
        <a:ext cx="2557435" cy="1240135"/>
      </dsp:txXfrm>
    </dsp:sp>
    <dsp:sp modelId="{B363D677-16C9-4786-9F73-5EDE946A4359}">
      <dsp:nvSpPr>
        <dsp:cNvPr id="0" name=""/>
        <dsp:cNvSpPr/>
      </dsp:nvSpPr>
      <dsp:spPr>
        <a:xfrm>
          <a:off x="4730880" y="2148422"/>
          <a:ext cx="1053839" cy="54492"/>
        </a:xfrm>
        <a:custGeom>
          <a:avLst/>
          <a:gdLst/>
          <a:ahLst/>
          <a:cxnLst/>
          <a:rect l="0" t="0" r="0" b="0"/>
          <a:pathLst>
            <a:path>
              <a:moveTo>
                <a:pt x="0" y="27246"/>
              </a:moveTo>
              <a:lnTo>
                <a:pt x="1053839" y="2724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5231454" y="2149323"/>
        <a:ext cx="52691" cy="52691"/>
      </dsp:txXfrm>
    </dsp:sp>
    <dsp:sp modelId="{20C7C243-771C-4FE1-8D10-EBA72C4C0D15}">
      <dsp:nvSpPr>
        <dsp:cNvPr id="0" name=""/>
        <dsp:cNvSpPr/>
      </dsp:nvSpPr>
      <dsp:spPr>
        <a:xfrm>
          <a:off x="5784719" y="1517019"/>
          <a:ext cx="2634599" cy="131729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145" tIns="17145" rIns="17145" bIns="17145" numCol="1" spcCol="1270" anchor="ctr" anchorCtr="0">
          <a:noAutofit/>
        </a:bodyPr>
        <a:lstStyle/>
        <a:p>
          <a:pPr lvl="0" algn="ctr" defTabSz="1200150">
            <a:lnSpc>
              <a:spcPct val="90000"/>
            </a:lnSpc>
            <a:spcBef>
              <a:spcPct val="0"/>
            </a:spcBef>
            <a:spcAft>
              <a:spcPct val="35000"/>
            </a:spcAft>
          </a:pPr>
          <a:r>
            <a:rPr lang="en-US" sz="2700" kern="1200"/>
            <a:t>State Department of  Basic Education(PS)</a:t>
          </a:r>
        </a:p>
      </dsp:txBody>
      <dsp:txXfrm>
        <a:off x="5823301" y="1555601"/>
        <a:ext cx="2557435" cy="1240135"/>
      </dsp:txXfrm>
    </dsp:sp>
    <dsp:sp modelId="{FEA5CF99-9D0B-4453-9820-D5863E6FC6AD}">
      <dsp:nvSpPr>
        <dsp:cNvPr id="0" name=""/>
        <dsp:cNvSpPr/>
      </dsp:nvSpPr>
      <dsp:spPr>
        <a:xfrm rot="3310531">
          <a:off x="4335102" y="2905870"/>
          <a:ext cx="1845395" cy="54492"/>
        </a:xfrm>
        <a:custGeom>
          <a:avLst/>
          <a:gdLst/>
          <a:ahLst/>
          <a:cxnLst/>
          <a:rect l="0" t="0" r="0" b="0"/>
          <a:pathLst>
            <a:path>
              <a:moveTo>
                <a:pt x="0" y="27246"/>
              </a:moveTo>
              <a:lnTo>
                <a:pt x="1845395" y="2724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66700">
            <a:lnSpc>
              <a:spcPct val="90000"/>
            </a:lnSpc>
            <a:spcBef>
              <a:spcPct val="0"/>
            </a:spcBef>
            <a:spcAft>
              <a:spcPct val="35000"/>
            </a:spcAft>
          </a:pPr>
          <a:endParaRPr lang="en-US" sz="600" kern="1200"/>
        </a:p>
      </dsp:txBody>
      <dsp:txXfrm>
        <a:off x="5211665" y="2886981"/>
        <a:ext cx="92269" cy="92269"/>
      </dsp:txXfrm>
    </dsp:sp>
    <dsp:sp modelId="{ACCEC52F-4BF3-4298-96BA-AEEC9D55A14C}">
      <dsp:nvSpPr>
        <dsp:cNvPr id="0" name=""/>
        <dsp:cNvSpPr/>
      </dsp:nvSpPr>
      <dsp:spPr>
        <a:xfrm>
          <a:off x="5784719" y="3031913"/>
          <a:ext cx="2634599" cy="131729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145" tIns="17145" rIns="17145" bIns="17145" numCol="1" spcCol="1270" anchor="ctr" anchorCtr="0">
          <a:noAutofit/>
        </a:bodyPr>
        <a:lstStyle/>
        <a:p>
          <a:pPr lvl="0" algn="ctr" defTabSz="1200150">
            <a:lnSpc>
              <a:spcPct val="90000"/>
            </a:lnSpc>
            <a:spcBef>
              <a:spcPct val="0"/>
            </a:spcBef>
            <a:spcAft>
              <a:spcPct val="35000"/>
            </a:spcAft>
          </a:pPr>
          <a:r>
            <a:rPr lang="en-US" sz="2700" kern="1200"/>
            <a:t>State Department of Higher Education (PS)</a:t>
          </a:r>
        </a:p>
      </dsp:txBody>
      <dsp:txXfrm>
        <a:off x="5823301" y="3070495"/>
        <a:ext cx="2557435" cy="1240135"/>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2F6B520A-1FCA-4037-949E-D77156967E4F}" type="datetimeFigureOut">
              <a:rPr lang="en-US" smtClean="0"/>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E7F254-85B1-4DAC-A555-7E9BDA560469}" type="slidenum">
              <a:rPr lang="en-US" smtClean="0"/>
              <a:t>‹#›</a:t>
            </a:fld>
            <a:endParaRPr lang="en-US"/>
          </a:p>
        </p:txBody>
      </p:sp>
    </p:spTree>
    <p:extLst>
      <p:ext uri="{BB962C8B-B14F-4D97-AF65-F5344CB8AC3E}">
        <p14:creationId xmlns:p14="http://schemas.microsoft.com/office/powerpoint/2010/main" val="30836809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F6B520A-1FCA-4037-949E-D77156967E4F}" type="datetimeFigureOut">
              <a:rPr lang="en-US" smtClean="0"/>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E7F254-85B1-4DAC-A555-7E9BDA560469}" type="slidenum">
              <a:rPr lang="en-US" smtClean="0"/>
              <a:t>‹#›</a:t>
            </a:fld>
            <a:endParaRPr lang="en-US"/>
          </a:p>
        </p:txBody>
      </p:sp>
    </p:spTree>
    <p:extLst>
      <p:ext uri="{BB962C8B-B14F-4D97-AF65-F5344CB8AC3E}">
        <p14:creationId xmlns:p14="http://schemas.microsoft.com/office/powerpoint/2010/main" val="37784591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2F6B520A-1FCA-4037-949E-D77156967E4F}" type="datetimeFigureOut">
              <a:rPr lang="en-US" smtClean="0"/>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E7F254-85B1-4DAC-A555-7E9BDA560469}" type="slidenum">
              <a:rPr lang="en-US" smtClean="0"/>
              <a:t>‹#›</a:t>
            </a:fld>
            <a:endParaRPr lang="en-US"/>
          </a:p>
        </p:txBody>
      </p:sp>
    </p:spTree>
    <p:extLst>
      <p:ext uri="{BB962C8B-B14F-4D97-AF65-F5344CB8AC3E}">
        <p14:creationId xmlns:p14="http://schemas.microsoft.com/office/powerpoint/2010/main" val="20838246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2F6B520A-1FCA-4037-949E-D77156967E4F}" type="datetimeFigureOut">
              <a:rPr lang="en-US" smtClean="0"/>
              <a:t>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E7F254-85B1-4DAC-A555-7E9BDA560469}" type="slidenum">
              <a:rPr lang="en-US" smtClean="0"/>
              <a:t>‹#›</a:t>
            </a:fld>
            <a:endParaRPr lang="en-US"/>
          </a:p>
        </p:txBody>
      </p:sp>
    </p:spTree>
    <p:extLst>
      <p:ext uri="{BB962C8B-B14F-4D97-AF65-F5344CB8AC3E}">
        <p14:creationId xmlns:p14="http://schemas.microsoft.com/office/powerpoint/2010/main" val="5838092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2F6B520A-1FCA-4037-949E-D77156967E4F}" type="datetimeFigureOut">
              <a:rPr lang="en-US" smtClean="0"/>
              <a:t>12/4/2025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AE7F254-85B1-4DAC-A555-7E9BDA560469}" type="slidenum">
              <a:rPr lang="en-US" smtClean="0"/>
              <a:t>‹#›</a:t>
            </a:fld>
            <a:endParaRPr lang="en-US"/>
          </a:p>
        </p:txBody>
      </p:sp>
    </p:spTree>
    <p:extLst>
      <p:ext uri="{BB962C8B-B14F-4D97-AF65-F5344CB8AC3E}">
        <p14:creationId xmlns:p14="http://schemas.microsoft.com/office/powerpoint/2010/main" val="18418730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2F6B520A-1FCA-4037-949E-D77156967E4F}" type="datetimeFigureOut">
              <a:rPr lang="en-US" smtClean="0"/>
              <a:t>12/4/2025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AE7F254-85B1-4DAC-A555-7E9BDA560469}" type="slidenum">
              <a:rPr lang="en-US" smtClean="0"/>
              <a:t>‹#›</a:t>
            </a:fld>
            <a:endParaRPr lang="en-US"/>
          </a:p>
        </p:txBody>
      </p:sp>
    </p:spTree>
    <p:extLst>
      <p:ext uri="{BB962C8B-B14F-4D97-AF65-F5344CB8AC3E}">
        <p14:creationId xmlns:p14="http://schemas.microsoft.com/office/powerpoint/2010/main" val="21846856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F6B520A-1FCA-4037-949E-D77156967E4F}" type="datetimeFigureOut">
              <a:rPr lang="en-US" smtClean="0"/>
              <a:t>12/4/2025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AE7F254-85B1-4DAC-A555-7E9BDA560469}" type="slidenum">
              <a:rPr lang="en-US" smtClean="0"/>
              <a:t>‹#›</a:t>
            </a:fld>
            <a:endParaRPr lang="en-US"/>
          </a:p>
        </p:txBody>
      </p:sp>
    </p:spTree>
    <p:extLst>
      <p:ext uri="{BB962C8B-B14F-4D97-AF65-F5344CB8AC3E}">
        <p14:creationId xmlns:p14="http://schemas.microsoft.com/office/powerpoint/2010/main" val="37004904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2F6B520A-1FCA-4037-949E-D77156967E4F}" type="datetimeFigureOut">
              <a:rPr lang="en-US" smtClean="0"/>
              <a:t>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E7F254-85B1-4DAC-A555-7E9BDA560469}" type="slidenum">
              <a:rPr lang="en-US" smtClean="0"/>
              <a:t>‹#›</a:t>
            </a:fld>
            <a:endParaRPr lang="en-US"/>
          </a:p>
        </p:txBody>
      </p:sp>
    </p:spTree>
    <p:extLst>
      <p:ext uri="{BB962C8B-B14F-4D97-AF65-F5344CB8AC3E}">
        <p14:creationId xmlns:p14="http://schemas.microsoft.com/office/powerpoint/2010/main" val="42762663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2F6B520A-1FCA-4037-949E-D77156967E4F}" type="datetimeFigureOut">
              <a:rPr lang="en-US" smtClean="0"/>
              <a:t>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E7F254-85B1-4DAC-A555-7E9BDA560469}" type="slidenum">
              <a:rPr lang="en-US" smtClean="0"/>
              <a:t>‹#›</a:t>
            </a:fld>
            <a:endParaRPr lang="en-US"/>
          </a:p>
        </p:txBody>
      </p:sp>
    </p:spTree>
    <p:extLst>
      <p:ext uri="{BB962C8B-B14F-4D97-AF65-F5344CB8AC3E}">
        <p14:creationId xmlns:p14="http://schemas.microsoft.com/office/powerpoint/2010/main" val="26532661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F6B520A-1FCA-4037-949E-D77156967E4F}" type="datetimeFigureOut">
              <a:rPr lang="en-US" smtClean="0"/>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E7F254-85B1-4DAC-A555-7E9BDA560469}" type="slidenum">
              <a:rPr lang="en-US" smtClean="0"/>
              <a:t>‹#›</a:t>
            </a:fld>
            <a:endParaRPr lang="en-US"/>
          </a:p>
        </p:txBody>
      </p:sp>
    </p:spTree>
    <p:extLst>
      <p:ext uri="{BB962C8B-B14F-4D97-AF65-F5344CB8AC3E}">
        <p14:creationId xmlns:p14="http://schemas.microsoft.com/office/powerpoint/2010/main" val="12371453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F6B520A-1FCA-4037-949E-D77156967E4F}" type="datetimeFigureOut">
              <a:rPr lang="en-US" smtClean="0"/>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E7F254-85B1-4DAC-A555-7E9BDA560469}" type="slidenum">
              <a:rPr lang="en-US" smtClean="0"/>
              <a:t>‹#›</a:t>
            </a:fld>
            <a:endParaRPr lang="en-US"/>
          </a:p>
        </p:txBody>
      </p:sp>
    </p:spTree>
    <p:extLst>
      <p:ext uri="{BB962C8B-B14F-4D97-AF65-F5344CB8AC3E}">
        <p14:creationId xmlns:p14="http://schemas.microsoft.com/office/powerpoint/2010/main" val="34596407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F6B520A-1FCA-4037-949E-D77156967E4F}" type="datetimeFigureOut">
              <a:rPr lang="en-US" smtClean="0"/>
              <a:t>12/4/2025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E7F254-85B1-4DAC-A555-7E9BDA560469}" type="slidenum">
              <a:rPr lang="en-US" smtClean="0"/>
              <a:t>‹#›</a:t>
            </a:fld>
            <a:endParaRPr lang="en-US"/>
          </a:p>
        </p:txBody>
      </p:sp>
    </p:spTree>
    <p:extLst>
      <p:ext uri="{BB962C8B-B14F-4D97-AF65-F5344CB8AC3E}">
        <p14:creationId xmlns:p14="http://schemas.microsoft.com/office/powerpoint/2010/main" val="2214782936"/>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lgn="ctr">
              <a:buNone/>
            </a:pPr>
            <a:endParaRPr lang="en-US" b="1" dirty="0" smtClean="0"/>
          </a:p>
          <a:p>
            <a:pPr marL="0" indent="0" algn="ctr">
              <a:buNone/>
            </a:pPr>
            <a:r>
              <a:rPr lang="en-US" b="1" dirty="0" smtClean="0"/>
              <a:t>PGDE </a:t>
            </a:r>
            <a:r>
              <a:rPr lang="en-US" b="1" dirty="0"/>
              <a:t>COHORT TEN </a:t>
            </a:r>
            <a:endParaRPr lang="en-US" b="1" dirty="0" smtClean="0"/>
          </a:p>
          <a:p>
            <a:pPr marL="0" indent="0" algn="ctr">
              <a:buNone/>
            </a:pPr>
            <a:r>
              <a:rPr lang="en-US" b="1" dirty="0" smtClean="0"/>
              <a:t>EDU 6105 </a:t>
            </a:r>
          </a:p>
          <a:p>
            <a:pPr marL="0" indent="0" algn="ctr">
              <a:buNone/>
            </a:pPr>
            <a:r>
              <a:rPr lang="en-US" b="1" dirty="0" smtClean="0"/>
              <a:t>HISTORY </a:t>
            </a:r>
            <a:r>
              <a:rPr lang="en-US" b="1" dirty="0"/>
              <a:t>PHILOSOPHY AND TRENDS IN TECHNICAL </a:t>
            </a:r>
            <a:r>
              <a:rPr lang="en-US" b="1" dirty="0" smtClean="0"/>
              <a:t>EDUCATION</a:t>
            </a:r>
          </a:p>
          <a:p>
            <a:pPr marL="0" indent="0">
              <a:buNone/>
            </a:pPr>
            <a:endParaRPr lang="en-US" dirty="0"/>
          </a:p>
          <a:p>
            <a:endParaRPr lang="en-US" dirty="0"/>
          </a:p>
        </p:txBody>
      </p:sp>
      <p:pic>
        <p:nvPicPr>
          <p:cNvPr id="4" name="Picture 3"/>
          <p:cNvPicPr/>
          <p:nvPr/>
        </p:nvPicPr>
        <p:blipFill>
          <a:blip r:embed="rId2"/>
          <a:stretch>
            <a:fillRect/>
          </a:stretch>
        </p:blipFill>
        <p:spPr>
          <a:xfrm>
            <a:off x="4045435" y="535205"/>
            <a:ext cx="3317358" cy="1222951"/>
          </a:xfrm>
          <a:prstGeom prst="rect">
            <a:avLst/>
          </a:prstGeom>
        </p:spPr>
      </p:pic>
    </p:spTree>
    <p:extLst>
      <p:ext uri="{BB962C8B-B14F-4D97-AF65-F5344CB8AC3E}">
        <p14:creationId xmlns:p14="http://schemas.microsoft.com/office/powerpoint/2010/main" val="6427003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80754" y="-993820"/>
            <a:ext cx="9144000" cy="2387600"/>
          </a:xfrm>
        </p:spPr>
        <p:txBody>
          <a:bodyPr/>
          <a:lstStyle/>
          <a:p>
            <a:r>
              <a:rPr lang="en-US" b="1" dirty="0" smtClean="0">
                <a:solidFill>
                  <a:srgbClr val="FF0000"/>
                </a:solidFill>
              </a:rPr>
              <a:t>GROUP 1</a:t>
            </a:r>
            <a:endParaRPr lang="en-US" b="1" dirty="0">
              <a:solidFill>
                <a:srgbClr val="FF0000"/>
              </a:solidFill>
            </a:endParaRPr>
          </a:p>
        </p:txBody>
      </p:sp>
      <p:sp>
        <p:nvSpPr>
          <p:cNvPr id="3" name="Subtitle 2"/>
          <p:cNvSpPr>
            <a:spLocks noGrp="1"/>
          </p:cNvSpPr>
          <p:nvPr>
            <p:ph type="subTitle" idx="1"/>
          </p:nvPr>
        </p:nvSpPr>
        <p:spPr>
          <a:xfrm>
            <a:off x="1563188" y="1789613"/>
            <a:ext cx="9144000" cy="3043644"/>
          </a:xfrm>
        </p:spPr>
        <p:txBody>
          <a:bodyPr>
            <a:normAutofit/>
          </a:bodyPr>
          <a:lstStyle/>
          <a:p>
            <a:pPr marL="457200" indent="-457200" algn="just">
              <a:buAutoNum type="arabicPeriod"/>
            </a:pPr>
            <a:r>
              <a:rPr lang="en-US" sz="2000" b="1" dirty="0" smtClean="0">
                <a:latin typeface="Times New Roman" panose="02020603050405020304" pitchFamily="18" charset="0"/>
                <a:cs typeface="Times New Roman" panose="02020603050405020304" pitchFamily="18" charset="0"/>
              </a:rPr>
              <a:t>Martha </a:t>
            </a:r>
            <a:r>
              <a:rPr lang="en-US" sz="2000" b="1" dirty="0" err="1" smtClean="0">
                <a:latin typeface="Times New Roman" panose="02020603050405020304" pitchFamily="18" charset="0"/>
                <a:cs typeface="Times New Roman" panose="02020603050405020304" pitchFamily="18" charset="0"/>
              </a:rPr>
              <a:t>Okaru</a:t>
            </a:r>
            <a:r>
              <a:rPr lang="en-US" sz="2000" b="1" dirty="0" smtClean="0">
                <a:latin typeface="Times New Roman" panose="02020603050405020304" pitchFamily="18" charset="0"/>
                <a:cs typeface="Times New Roman" panose="02020603050405020304" pitchFamily="18" charset="0"/>
              </a:rPr>
              <a:t> 			- </a:t>
            </a:r>
            <a:r>
              <a:rPr lang="en-GB" sz="2000" b="1" dirty="0" smtClean="0">
                <a:latin typeface="Times New Roman" panose="02020603050405020304" pitchFamily="18" charset="0"/>
                <a:cs typeface="Times New Roman" panose="02020603050405020304" pitchFamily="18" charset="0"/>
              </a:rPr>
              <a:t>E228-01-2963/2025</a:t>
            </a:r>
            <a:endParaRPr lang="en-US" sz="2000" b="1" dirty="0" smtClean="0">
              <a:latin typeface="Times New Roman" panose="02020603050405020304" pitchFamily="18" charset="0"/>
              <a:cs typeface="Times New Roman" panose="02020603050405020304" pitchFamily="18" charset="0"/>
            </a:endParaRPr>
          </a:p>
          <a:p>
            <a:pPr marL="457200" indent="-457200" algn="just">
              <a:buAutoNum type="arabicPeriod"/>
            </a:pPr>
            <a:r>
              <a:rPr lang="en-US" sz="2000" b="1" dirty="0" smtClean="0">
                <a:latin typeface="Times New Roman" panose="02020603050405020304" pitchFamily="18" charset="0"/>
                <a:cs typeface="Times New Roman" panose="02020603050405020304" pitchFamily="18" charset="0"/>
              </a:rPr>
              <a:t>Priscilla </a:t>
            </a:r>
            <a:r>
              <a:rPr lang="en-US" sz="2000" b="1" dirty="0" err="1" smtClean="0">
                <a:latin typeface="Times New Roman" panose="02020603050405020304" pitchFamily="18" charset="0"/>
                <a:cs typeface="Times New Roman" panose="02020603050405020304" pitchFamily="18" charset="0"/>
              </a:rPr>
              <a:t>Kipng'ok</a:t>
            </a:r>
            <a:r>
              <a:rPr lang="en-US" sz="2000" b="1" dirty="0" smtClean="0">
                <a:latin typeface="Times New Roman" panose="02020603050405020304" pitchFamily="18" charset="0"/>
                <a:cs typeface="Times New Roman" panose="02020603050405020304" pitchFamily="18" charset="0"/>
              </a:rPr>
              <a:t>  		- E228-01-2958/2025</a:t>
            </a:r>
          </a:p>
          <a:p>
            <a:pPr marL="457200" indent="-457200" algn="just">
              <a:buAutoNum type="arabicPeriod"/>
            </a:pPr>
            <a:r>
              <a:rPr lang="en-US" sz="2000" b="1" dirty="0" smtClean="0">
                <a:latin typeface="Times New Roman" panose="02020603050405020304" pitchFamily="18" charset="0"/>
                <a:cs typeface="Times New Roman" panose="02020603050405020304" pitchFamily="18" charset="0"/>
              </a:rPr>
              <a:t>Duncan </a:t>
            </a:r>
            <a:r>
              <a:rPr lang="en-US" sz="2000" b="1" dirty="0" err="1" smtClean="0">
                <a:latin typeface="Times New Roman" panose="02020603050405020304" pitchFamily="18" charset="0"/>
                <a:cs typeface="Times New Roman" panose="02020603050405020304" pitchFamily="18" charset="0"/>
              </a:rPr>
              <a:t>Ndegwa</a:t>
            </a:r>
            <a:r>
              <a:rPr lang="en-US" sz="2000" b="1" dirty="0" smtClean="0">
                <a:latin typeface="Times New Roman" panose="02020603050405020304" pitchFamily="18" charset="0"/>
                <a:cs typeface="Times New Roman" panose="02020603050405020304" pitchFamily="18" charset="0"/>
              </a:rPr>
              <a:t>  			- E224-01-2866/2024</a:t>
            </a:r>
          </a:p>
          <a:p>
            <a:pPr marL="457200" indent="-457200" algn="just">
              <a:buAutoNum type="arabicPeriod" startAt="4"/>
            </a:pPr>
            <a:r>
              <a:rPr lang="en-US" sz="2000" b="1" dirty="0" err="1" smtClean="0">
                <a:latin typeface="Times New Roman" panose="02020603050405020304" pitchFamily="18" charset="0"/>
                <a:cs typeface="Times New Roman" panose="02020603050405020304" pitchFamily="18" charset="0"/>
              </a:rPr>
              <a:t>Veronicah</a:t>
            </a:r>
            <a:r>
              <a:rPr lang="en-US" sz="2000" b="1" dirty="0" smtClean="0">
                <a:latin typeface="Times New Roman" panose="02020603050405020304" pitchFamily="18" charset="0"/>
                <a:cs typeface="Times New Roman" panose="02020603050405020304" pitchFamily="18" charset="0"/>
              </a:rPr>
              <a:t> </a:t>
            </a:r>
            <a:r>
              <a:rPr lang="en-US" sz="2000" b="1" dirty="0" err="1" smtClean="0">
                <a:latin typeface="Times New Roman" panose="02020603050405020304" pitchFamily="18" charset="0"/>
                <a:cs typeface="Times New Roman" panose="02020603050405020304" pitchFamily="18" charset="0"/>
              </a:rPr>
              <a:t>Jebet</a:t>
            </a:r>
            <a:r>
              <a:rPr lang="en-US" sz="2000" b="1" dirty="0" smtClean="0">
                <a:latin typeface="Times New Roman" panose="02020603050405020304" pitchFamily="18" charset="0"/>
                <a:cs typeface="Times New Roman" panose="02020603050405020304" pitchFamily="18" charset="0"/>
              </a:rPr>
              <a:t> </a:t>
            </a:r>
            <a:r>
              <a:rPr lang="en-US" sz="2000" b="1" dirty="0" err="1" smtClean="0">
                <a:latin typeface="Times New Roman" panose="02020603050405020304" pitchFamily="18" charset="0"/>
                <a:cs typeface="Times New Roman" panose="02020603050405020304" pitchFamily="18" charset="0"/>
              </a:rPr>
              <a:t>Tambutwa</a:t>
            </a:r>
            <a:r>
              <a:rPr lang="en-US" sz="2000" b="1" dirty="0" smtClean="0">
                <a:latin typeface="Times New Roman" panose="02020603050405020304" pitchFamily="18" charset="0"/>
                <a:cs typeface="Times New Roman" panose="02020603050405020304" pitchFamily="18" charset="0"/>
              </a:rPr>
              <a:t>  	- E228-01-3015/2025 </a:t>
            </a:r>
          </a:p>
          <a:p>
            <a:pPr marL="457200" indent="-457200" algn="just">
              <a:buAutoNum type="arabicPeriod" startAt="4"/>
            </a:pPr>
            <a:r>
              <a:rPr lang="en-US" sz="2000" b="1" dirty="0" smtClean="0">
                <a:latin typeface="Times New Roman" panose="02020603050405020304" pitchFamily="18" charset="0"/>
                <a:cs typeface="Times New Roman" panose="02020603050405020304" pitchFamily="18" charset="0"/>
              </a:rPr>
              <a:t> Brian D. </a:t>
            </a:r>
            <a:r>
              <a:rPr lang="en-US" sz="2000" b="1" dirty="0" err="1" smtClean="0">
                <a:latin typeface="Times New Roman" panose="02020603050405020304" pitchFamily="18" charset="0"/>
                <a:cs typeface="Times New Roman" panose="02020603050405020304" pitchFamily="18" charset="0"/>
              </a:rPr>
              <a:t>Imoh</a:t>
            </a:r>
            <a:r>
              <a:rPr lang="en-US" sz="2000" b="1" dirty="0" smtClean="0">
                <a:latin typeface="Times New Roman" panose="02020603050405020304" pitchFamily="18" charset="0"/>
                <a:cs typeface="Times New Roman" panose="02020603050405020304" pitchFamily="18" charset="0"/>
              </a:rPr>
              <a:t>  			- E228-01-2965/2025</a:t>
            </a:r>
          </a:p>
          <a:p>
            <a:endParaRPr lang="en-US" dirty="0"/>
          </a:p>
        </p:txBody>
      </p:sp>
    </p:spTree>
    <p:extLst>
      <p:ext uri="{BB962C8B-B14F-4D97-AF65-F5344CB8AC3E}">
        <p14:creationId xmlns:p14="http://schemas.microsoft.com/office/powerpoint/2010/main" val="22002031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31966" y="0"/>
            <a:ext cx="10058400" cy="1450757"/>
          </a:xfrm>
        </p:spPr>
        <p:txBody>
          <a:bodyPr/>
          <a:lstStyle/>
          <a:p>
            <a:pPr algn="ctr"/>
            <a:r>
              <a:rPr lang="en-US" b="1" dirty="0">
                <a:solidFill>
                  <a:srgbClr val="FF0000"/>
                </a:solidFill>
              </a:rPr>
              <a:t>MINISTRY OF EDUCATION </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341621535"/>
              </p:ext>
            </p:extLst>
          </p:nvPr>
        </p:nvGraphicFramePr>
        <p:xfrm>
          <a:off x="694508" y="155130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Box 4"/>
          <p:cNvSpPr txBox="1"/>
          <p:nvPr/>
        </p:nvSpPr>
        <p:spPr>
          <a:xfrm>
            <a:off x="1177834" y="5902643"/>
            <a:ext cx="10175966" cy="738664"/>
          </a:xfrm>
          <a:prstGeom prst="rect">
            <a:avLst/>
          </a:prstGeom>
          <a:noFill/>
        </p:spPr>
        <p:txBody>
          <a:bodyPr wrap="square" rtlCol="0">
            <a:spAutoFit/>
          </a:bodyPr>
          <a:lstStyle/>
          <a:p>
            <a:r>
              <a:rPr lang="en-US" sz="2400" dirty="0"/>
              <a:t>The </a:t>
            </a:r>
            <a:r>
              <a:rPr lang="en-US" sz="2400" dirty="0" err="1"/>
              <a:t>MoE</a:t>
            </a:r>
            <a:r>
              <a:rPr lang="en-US" sz="2400" dirty="0"/>
              <a:t> is the primary custodian of education policy and supervision in Kenya.</a:t>
            </a:r>
          </a:p>
          <a:p>
            <a:endParaRPr lang="en-US" dirty="0"/>
          </a:p>
        </p:txBody>
      </p:sp>
    </p:spTree>
    <p:extLst>
      <p:ext uri="{BB962C8B-B14F-4D97-AF65-F5344CB8AC3E}">
        <p14:creationId xmlns:p14="http://schemas.microsoft.com/office/powerpoint/2010/main" val="17457024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Cabinet Secretary (CS) for </a:t>
            </a:r>
            <a:r>
              <a:rPr lang="en-US" b="1" dirty="0" smtClean="0">
                <a:solidFill>
                  <a:srgbClr val="FF0000"/>
                </a:solidFill>
              </a:rPr>
              <a:t>Education</a:t>
            </a:r>
            <a:endParaRPr lang="en-US" dirty="0">
              <a:solidFill>
                <a:srgbClr val="FF0000"/>
              </a:solidFill>
            </a:endParaRPr>
          </a:p>
        </p:txBody>
      </p:sp>
      <p:sp>
        <p:nvSpPr>
          <p:cNvPr id="3" name="Content Placeholder 2"/>
          <p:cNvSpPr>
            <a:spLocks noGrp="1"/>
          </p:cNvSpPr>
          <p:nvPr>
            <p:ph idx="1"/>
          </p:nvPr>
        </p:nvSpPr>
        <p:spPr>
          <a:xfrm>
            <a:off x="838200" y="1877876"/>
            <a:ext cx="10515600" cy="4351338"/>
          </a:xfrm>
        </p:spPr>
        <p:txBody>
          <a:bodyPr>
            <a:normAutofit lnSpcReduction="10000"/>
          </a:bodyPr>
          <a:lstStyle/>
          <a:p>
            <a:pPr marL="0" lvl="0" indent="0">
              <a:buNone/>
            </a:pPr>
            <a:r>
              <a:rPr lang="en-US"/>
              <a:t>The </a:t>
            </a:r>
            <a:r>
              <a:rPr lang="en-US" b="1"/>
              <a:t>Cabinet Secretary (CS)</a:t>
            </a:r>
            <a:r>
              <a:rPr lang="en-US"/>
              <a:t> is the highest political and administrative head of the Ministry of Education</a:t>
            </a:r>
            <a:endParaRPr lang="en-US" sz="2800" b="1" smtClean="0"/>
          </a:p>
          <a:p>
            <a:pPr marL="0" lvl="0" indent="0">
              <a:buNone/>
            </a:pPr>
            <a:r>
              <a:rPr lang="en-US" sz="2800" b="1" dirty="0" smtClean="0"/>
              <a:t>Role </a:t>
            </a:r>
            <a:r>
              <a:rPr lang="en-US" sz="2800" b="1" dirty="0"/>
              <a:t>and Functions of the CS:</a:t>
            </a:r>
            <a:endParaRPr lang="en-US" sz="3200" dirty="0"/>
          </a:p>
          <a:p>
            <a:pPr lvl="1"/>
            <a:r>
              <a:rPr lang="en-US" sz="2400" b="1" dirty="0"/>
              <a:t>Policy Direction:</a:t>
            </a:r>
            <a:r>
              <a:rPr lang="en-US" sz="2400" dirty="0"/>
              <a:t> Formulates, coordinates, and directs the national education sector policies and strategies (Basic, TVET, and University Education</a:t>
            </a:r>
            <a:r>
              <a:rPr lang="en-US" sz="2400" dirty="0" smtClean="0"/>
              <a:t>).</a:t>
            </a:r>
            <a:endParaRPr lang="en-US" sz="2800" dirty="0"/>
          </a:p>
          <a:p>
            <a:pPr lvl="1"/>
            <a:r>
              <a:rPr lang="en-US" sz="2400" b="1" dirty="0"/>
              <a:t>Resource Mobilization:</a:t>
            </a:r>
            <a:r>
              <a:rPr lang="en-US" sz="2400" dirty="0"/>
              <a:t> Mobilizes internal and external resources for education development and oversees their prudent allocation</a:t>
            </a:r>
            <a:r>
              <a:rPr lang="en-US" sz="2400" dirty="0" smtClean="0"/>
              <a:t>.</a:t>
            </a:r>
            <a:endParaRPr lang="en-US" sz="2800" dirty="0"/>
          </a:p>
          <a:p>
            <a:pPr lvl="1"/>
            <a:r>
              <a:rPr lang="en-US" sz="2400" b="1" dirty="0"/>
              <a:t>Legislation:</a:t>
            </a:r>
            <a:r>
              <a:rPr lang="en-US" sz="2400" dirty="0"/>
              <a:t> Proposes new education laws and policies to the Cabinet and Parliament.</a:t>
            </a:r>
            <a:endParaRPr lang="en-US" sz="2800" dirty="0"/>
          </a:p>
          <a:p>
            <a:pPr lvl="1"/>
            <a:r>
              <a:rPr lang="en-US" sz="2400" b="1" dirty="0"/>
              <a:t>Sector Coordination:</a:t>
            </a:r>
            <a:r>
              <a:rPr lang="en-US" sz="2400" dirty="0"/>
              <a:t> Provides oversight and accountability for all Semi-Autonomous Government Agencies (SAGAs) and State Departments under the Ministry, such as TVETA and KNEC.</a:t>
            </a:r>
            <a:endParaRPr lang="en-US" sz="2800" dirty="0"/>
          </a:p>
        </p:txBody>
      </p:sp>
    </p:spTree>
    <p:extLst>
      <p:ext uri="{BB962C8B-B14F-4D97-AF65-F5344CB8AC3E}">
        <p14:creationId xmlns:p14="http://schemas.microsoft.com/office/powerpoint/2010/main" val="23338999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solidFill>
                  <a:srgbClr val="FF0000"/>
                </a:solidFill>
              </a:rPr>
              <a:t>State Department of Technical and Vocational Education and </a:t>
            </a:r>
            <a:r>
              <a:rPr lang="en-US" b="1" dirty="0" smtClean="0">
                <a:solidFill>
                  <a:srgbClr val="FF0000"/>
                </a:solidFill>
              </a:rPr>
              <a:t>Training</a:t>
            </a:r>
            <a:endParaRPr lang="en-US" b="1" dirty="0">
              <a:solidFill>
                <a:srgbClr val="FF0000"/>
              </a:solidFill>
            </a:endParaRPr>
          </a:p>
        </p:txBody>
      </p:sp>
      <p:sp>
        <p:nvSpPr>
          <p:cNvPr id="3" name="Content Placeholder 2"/>
          <p:cNvSpPr>
            <a:spLocks noGrp="1"/>
          </p:cNvSpPr>
          <p:nvPr>
            <p:ph idx="1"/>
          </p:nvPr>
        </p:nvSpPr>
        <p:spPr>
          <a:xfrm>
            <a:off x="838200" y="1825624"/>
            <a:ext cx="10515600" cy="4875621"/>
          </a:xfrm>
        </p:spPr>
        <p:txBody>
          <a:bodyPr>
            <a:normAutofit fontScale="47500" lnSpcReduction="20000"/>
          </a:bodyPr>
          <a:lstStyle/>
          <a:p>
            <a:r>
              <a:rPr lang="en-US" sz="5100" b="1" dirty="0"/>
              <a:t>Vision</a:t>
            </a:r>
            <a:endParaRPr lang="en-US" sz="5100" dirty="0"/>
          </a:p>
          <a:p>
            <a:pPr marL="0" indent="0">
              <a:buNone/>
            </a:pPr>
            <a:r>
              <a:rPr lang="en-US" sz="5100" dirty="0"/>
              <a:t>The vision for the TVET sub-sector is to provide skilled and globally competitive employable human resource</a:t>
            </a:r>
          </a:p>
          <a:p>
            <a:r>
              <a:rPr lang="en-US" sz="5100" b="1" dirty="0"/>
              <a:t>Mission</a:t>
            </a:r>
            <a:endParaRPr lang="en-US" sz="5100" dirty="0"/>
          </a:p>
          <a:p>
            <a:pPr marL="0" indent="0">
              <a:buNone/>
            </a:pPr>
            <a:r>
              <a:rPr lang="en-US" sz="5100" dirty="0"/>
              <a:t>To provide, promote and co-ordinate the training sector by assuring quality, inclusiveness and relevance for the enhancement of the national economy and global competitiveness.</a:t>
            </a:r>
          </a:p>
          <a:p>
            <a:r>
              <a:rPr lang="en-US" sz="5100" b="1" dirty="0"/>
              <a:t>TVET Goal</a:t>
            </a:r>
            <a:endParaRPr lang="en-US" sz="5100" dirty="0"/>
          </a:p>
          <a:p>
            <a:pPr marL="0" indent="0">
              <a:buNone/>
            </a:pPr>
            <a:r>
              <a:rPr lang="en-US" sz="5100" dirty="0"/>
              <a:t>To provide relevant and adequate skills and competencies in strategic disciplines for spurring industrial and economic development in line with the aspirations of the Kenyan peoples</a:t>
            </a:r>
          </a:p>
          <a:p>
            <a:pPr marL="0" indent="0">
              <a:buNone/>
            </a:pPr>
            <a:r>
              <a:rPr lang="en-US" sz="5100" dirty="0"/>
              <a:t>The main objective of TVET is to develop an effectively coordinated and harmonized TVET system that is capable of producing quality skilled human resource with the right attitudes and values required for growth and prosperity of the various sectors of the economy.</a:t>
            </a:r>
          </a:p>
          <a:p>
            <a:endParaRPr lang="en-US" dirty="0"/>
          </a:p>
        </p:txBody>
      </p:sp>
    </p:spTree>
    <p:extLst>
      <p:ext uri="{BB962C8B-B14F-4D97-AF65-F5344CB8AC3E}">
        <p14:creationId xmlns:p14="http://schemas.microsoft.com/office/powerpoint/2010/main" val="7520322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National Industrial Training </a:t>
            </a:r>
            <a:r>
              <a:rPr lang="en-US" b="1" dirty="0" smtClean="0">
                <a:solidFill>
                  <a:srgbClr val="FF0000"/>
                </a:solidFill>
              </a:rPr>
              <a:t>Authority (NITA)</a:t>
            </a:r>
            <a:endParaRPr lang="en-US" b="1" dirty="0">
              <a:solidFill>
                <a:srgbClr val="FF0000"/>
              </a:solidFill>
            </a:endParaRPr>
          </a:p>
        </p:txBody>
      </p:sp>
      <p:sp>
        <p:nvSpPr>
          <p:cNvPr id="3" name="Content Placeholder 2"/>
          <p:cNvSpPr>
            <a:spLocks noGrp="1"/>
          </p:cNvSpPr>
          <p:nvPr>
            <p:ph idx="1"/>
          </p:nvPr>
        </p:nvSpPr>
        <p:spPr>
          <a:xfrm>
            <a:off x="1250768" y="1786436"/>
            <a:ext cx="9690463" cy="4351338"/>
          </a:xfrm>
        </p:spPr>
        <p:txBody>
          <a:bodyPr>
            <a:normAutofit/>
          </a:bodyPr>
          <a:lstStyle/>
          <a:p>
            <a:r>
              <a:rPr lang="en-US" sz="2800" dirty="0"/>
              <a:t>The National Industrial Training Authority (NITA) is a state corporation established under the Industrial Training (Amendment) Act of 2011. </a:t>
            </a:r>
            <a:endParaRPr lang="en-US" sz="2800" dirty="0" smtClean="0"/>
          </a:p>
          <a:p>
            <a:r>
              <a:rPr lang="en-US" sz="2800" dirty="0" smtClean="0"/>
              <a:t>Its </a:t>
            </a:r>
            <a:r>
              <a:rPr lang="en-US" sz="2800" dirty="0"/>
              <a:t>mandate is to promote the highest standards in the quality and efficiency of Industrial Training in Kenya and ensure an adequate supply of properly trained manpower at all levels in the industry</a:t>
            </a:r>
          </a:p>
        </p:txBody>
      </p:sp>
    </p:spTree>
    <p:extLst>
      <p:ext uri="{BB962C8B-B14F-4D97-AF65-F5344CB8AC3E}">
        <p14:creationId xmlns:p14="http://schemas.microsoft.com/office/powerpoint/2010/main" val="29942391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7834" y="0"/>
            <a:ext cx="10515600" cy="1325563"/>
          </a:xfrm>
        </p:spPr>
        <p:txBody>
          <a:bodyPr/>
          <a:lstStyle/>
          <a:p>
            <a:r>
              <a:rPr lang="en-US" b="1" dirty="0" smtClean="0">
                <a:solidFill>
                  <a:srgbClr val="FF0000"/>
                </a:solidFill>
              </a:rPr>
              <a:t>Functions of NITA</a:t>
            </a:r>
            <a:endParaRPr lang="en-US" b="1" dirty="0">
              <a:solidFill>
                <a:srgbClr val="FF0000"/>
              </a:solidFill>
            </a:endParaRPr>
          </a:p>
        </p:txBody>
      </p:sp>
      <p:sp>
        <p:nvSpPr>
          <p:cNvPr id="3" name="Content Placeholder 2"/>
          <p:cNvSpPr>
            <a:spLocks noGrp="1"/>
          </p:cNvSpPr>
          <p:nvPr>
            <p:ph idx="1"/>
          </p:nvPr>
        </p:nvSpPr>
        <p:spPr>
          <a:xfrm>
            <a:off x="1177834" y="1895883"/>
            <a:ext cx="10515600" cy="4962117"/>
          </a:xfrm>
        </p:spPr>
        <p:txBody>
          <a:bodyPr>
            <a:normAutofit/>
          </a:bodyPr>
          <a:lstStyle/>
          <a:p>
            <a:pPr marL="0" indent="0">
              <a:buNone/>
            </a:pPr>
            <a:r>
              <a:rPr lang="en-US" sz="2400" dirty="0"/>
              <a:t>Section 3A of the industrial Training (Amendment) Act, 2011 gives the powers and functions of the Authority.</a:t>
            </a:r>
          </a:p>
          <a:p>
            <a:pPr marL="0" indent="0">
              <a:buNone/>
            </a:pPr>
            <a:r>
              <a:rPr lang="en-US" sz="2400" dirty="0"/>
              <a:t>The Authority is thus responsible for:</a:t>
            </a:r>
          </a:p>
          <a:p>
            <a:pPr lvl="0">
              <a:buFont typeface="Courier New" panose="02070309020205020404" pitchFamily="49" charset="0"/>
              <a:buChar char="o"/>
            </a:pPr>
            <a:r>
              <a:rPr lang="en-US" sz="2400" dirty="0"/>
              <a:t>Industrial training;</a:t>
            </a:r>
          </a:p>
          <a:p>
            <a:pPr lvl="0">
              <a:buFont typeface="Courier New" panose="02070309020205020404" pitchFamily="49" charset="0"/>
              <a:buChar char="o"/>
            </a:pPr>
            <a:r>
              <a:rPr lang="en-US" sz="2400" dirty="0"/>
              <a:t>Assessing and collecting industrial training levy and fees;</a:t>
            </a:r>
          </a:p>
          <a:p>
            <a:pPr lvl="0">
              <a:buFont typeface="Courier New" panose="02070309020205020404" pitchFamily="49" charset="0"/>
              <a:buChar char="o"/>
            </a:pPr>
            <a:r>
              <a:rPr lang="en-US" sz="2400" dirty="0"/>
              <a:t>Regulating trainers registered under section 7C of the Act;</a:t>
            </a:r>
          </a:p>
          <a:p>
            <a:pPr lvl="0">
              <a:buFont typeface="Courier New" panose="02070309020205020404" pitchFamily="49" charset="0"/>
              <a:buChar char="o"/>
            </a:pPr>
            <a:r>
              <a:rPr lang="en-US" sz="2400" dirty="0"/>
              <a:t>Developing industrial training curricula;</a:t>
            </a:r>
          </a:p>
          <a:p>
            <a:pPr lvl="0">
              <a:buFont typeface="Courier New" panose="02070309020205020404" pitchFamily="49" charset="0"/>
              <a:buChar char="o"/>
            </a:pPr>
            <a:r>
              <a:rPr lang="en-US" sz="2400" dirty="0"/>
              <a:t>Integrating labor market information into skills development;</a:t>
            </a:r>
          </a:p>
          <a:p>
            <a:pPr lvl="0">
              <a:buFont typeface="Courier New" panose="02070309020205020404" pitchFamily="49" charset="0"/>
              <a:buChar char="o"/>
            </a:pPr>
            <a:r>
              <a:rPr lang="en-US" sz="2400" dirty="0"/>
              <a:t>Harmonizing curricula and certificates of competence;</a:t>
            </a:r>
          </a:p>
        </p:txBody>
      </p:sp>
    </p:spTree>
    <p:extLst>
      <p:ext uri="{BB962C8B-B14F-4D97-AF65-F5344CB8AC3E}">
        <p14:creationId xmlns:p14="http://schemas.microsoft.com/office/powerpoint/2010/main" val="5771044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7834" y="0"/>
            <a:ext cx="10515600" cy="1325563"/>
          </a:xfrm>
        </p:spPr>
        <p:txBody>
          <a:bodyPr/>
          <a:lstStyle/>
          <a:p>
            <a:r>
              <a:rPr lang="en-US" b="1" smtClean="0">
                <a:solidFill>
                  <a:srgbClr val="FF0000"/>
                </a:solidFill>
              </a:rPr>
              <a:t>Functions of NITA (cont…)</a:t>
            </a:r>
            <a:endParaRPr lang="en-US" b="1" dirty="0">
              <a:solidFill>
                <a:srgbClr val="FF0000"/>
              </a:solidFill>
            </a:endParaRPr>
          </a:p>
        </p:txBody>
      </p:sp>
      <p:sp>
        <p:nvSpPr>
          <p:cNvPr id="3" name="Content Placeholder 2"/>
          <p:cNvSpPr>
            <a:spLocks noGrp="1"/>
          </p:cNvSpPr>
          <p:nvPr>
            <p:ph idx="1"/>
          </p:nvPr>
        </p:nvSpPr>
        <p:spPr>
          <a:xfrm>
            <a:off x="1047206" y="1980475"/>
            <a:ext cx="10515600" cy="4962117"/>
          </a:xfrm>
        </p:spPr>
        <p:txBody>
          <a:bodyPr>
            <a:normAutofit/>
          </a:bodyPr>
          <a:lstStyle/>
          <a:p>
            <a:pPr marL="0" lvl="0" indent="0">
              <a:buNone/>
            </a:pPr>
            <a:r>
              <a:rPr lang="en-US" sz="2800" smtClean="0"/>
              <a:t>Assessing industrial training, testing occupational skills and awarding certificates including Government Trade Test certificates;</a:t>
            </a:r>
          </a:p>
          <a:p>
            <a:pPr marL="0" lvl="0" indent="0">
              <a:buNone/>
            </a:pPr>
            <a:r>
              <a:rPr lang="en-US" sz="2800" smtClean="0"/>
              <a:t>Equating certificates;</a:t>
            </a:r>
          </a:p>
          <a:p>
            <a:pPr marL="0" lvl="0" indent="0">
              <a:buNone/>
            </a:pPr>
            <a:r>
              <a:rPr lang="en-US" sz="2800" smtClean="0"/>
              <a:t>Accrediting institutions engaged in skills training for industry; and associating or collaborating with any other body or organization within or outside Kenya as the Board may consider desirable or appropriate and in furtherance of the purpose for which the Authority is established.</a:t>
            </a:r>
            <a:endParaRPr lang="en-US" sz="2800" dirty="0"/>
          </a:p>
        </p:txBody>
      </p:sp>
    </p:spTree>
    <p:extLst>
      <p:ext uri="{BB962C8B-B14F-4D97-AF65-F5344CB8AC3E}">
        <p14:creationId xmlns:p14="http://schemas.microsoft.com/office/powerpoint/2010/main" val="35517926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25936"/>
            <a:ext cx="10922726" cy="1325563"/>
          </a:xfrm>
        </p:spPr>
        <p:txBody>
          <a:bodyPr>
            <a:normAutofit/>
          </a:bodyPr>
          <a:lstStyle/>
          <a:p>
            <a:r>
              <a:rPr lang="en-US" b="1" dirty="0">
                <a:solidFill>
                  <a:srgbClr val="FF0000"/>
                </a:solidFill>
              </a:rPr>
              <a:t>Kenya National Qualifications </a:t>
            </a:r>
            <a:r>
              <a:rPr lang="en-US" b="1" dirty="0" smtClean="0">
                <a:solidFill>
                  <a:srgbClr val="FF0000"/>
                </a:solidFill>
              </a:rPr>
              <a:t>Framework(KNQF)</a:t>
            </a:r>
            <a:endParaRPr lang="en-US" b="1" dirty="0">
              <a:solidFill>
                <a:srgbClr val="FF0000"/>
              </a:solidFill>
            </a:endParaRPr>
          </a:p>
        </p:txBody>
      </p:sp>
      <p:sp>
        <p:nvSpPr>
          <p:cNvPr id="3" name="Content Placeholder 2"/>
          <p:cNvSpPr>
            <a:spLocks noGrp="1"/>
          </p:cNvSpPr>
          <p:nvPr>
            <p:ph idx="1"/>
          </p:nvPr>
        </p:nvSpPr>
        <p:spPr/>
        <p:txBody>
          <a:bodyPr/>
          <a:lstStyle/>
          <a:p>
            <a:pPr marL="0" indent="0">
              <a:buNone/>
            </a:pPr>
            <a:r>
              <a:rPr lang="en-US" dirty="0"/>
              <a:t>The Kenya National Qualifications Authority (KNQA) was established in 2015 to develop and implement the Kenya National Qualifications Framework (KNQF); which is a system that defines and sets standards for qualifications obtained and awarded in Kenya.</a:t>
            </a:r>
          </a:p>
          <a:p>
            <a:endParaRPr lang="en-US" dirty="0"/>
          </a:p>
        </p:txBody>
      </p:sp>
    </p:spTree>
    <p:extLst>
      <p:ext uri="{BB962C8B-B14F-4D97-AF65-F5344CB8AC3E}">
        <p14:creationId xmlns:p14="http://schemas.microsoft.com/office/powerpoint/2010/main" val="19321395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Functions </a:t>
            </a:r>
            <a:r>
              <a:rPr lang="en-US" b="1" dirty="0">
                <a:solidFill>
                  <a:srgbClr val="FF0000"/>
                </a:solidFill>
              </a:rPr>
              <a:t>of the Kenya National Qualifications Authority </a:t>
            </a:r>
          </a:p>
        </p:txBody>
      </p:sp>
      <p:sp>
        <p:nvSpPr>
          <p:cNvPr id="3" name="Content Placeholder 2"/>
          <p:cNvSpPr>
            <a:spLocks noGrp="1"/>
          </p:cNvSpPr>
          <p:nvPr>
            <p:ph idx="1"/>
          </p:nvPr>
        </p:nvSpPr>
        <p:spPr/>
        <p:txBody>
          <a:bodyPr>
            <a:normAutofit lnSpcReduction="10000"/>
          </a:bodyPr>
          <a:lstStyle/>
          <a:p>
            <a:pPr lvl="0"/>
            <a:r>
              <a:rPr lang="en-US" dirty="0"/>
              <a:t>Co-ordinate and supervise the development of policies on national qualifications;</a:t>
            </a:r>
          </a:p>
          <a:p>
            <a:pPr lvl="0"/>
            <a:r>
              <a:rPr lang="en-US" dirty="0"/>
              <a:t>Develop a framework for the development of an accreditation system on qualifications;</a:t>
            </a:r>
          </a:p>
          <a:p>
            <a:pPr lvl="0"/>
            <a:r>
              <a:rPr lang="en-US" dirty="0"/>
              <a:t>Develop a system for assessment of national qualifications;</a:t>
            </a:r>
          </a:p>
          <a:p>
            <a:pPr lvl="0"/>
            <a:r>
              <a:rPr lang="en-US" dirty="0"/>
              <a:t>Develop and review inter-relationships and linkages across national qualifications in consultation with stakeholders, relevant institutions and agencies;</a:t>
            </a:r>
          </a:p>
          <a:p>
            <a:pPr lvl="0"/>
            <a:r>
              <a:rPr lang="en-US" dirty="0"/>
              <a:t>Maintain a national database of national qualifications;</a:t>
            </a:r>
          </a:p>
          <a:p>
            <a:pPr lvl="0"/>
            <a:r>
              <a:rPr lang="en-US" dirty="0"/>
              <a:t>Publish manuals, codes and guidelines on national </a:t>
            </a:r>
            <a:r>
              <a:rPr lang="en-US" dirty="0" smtClean="0"/>
              <a:t>qualifications</a:t>
            </a:r>
            <a:endParaRPr lang="en-US" dirty="0"/>
          </a:p>
        </p:txBody>
      </p:sp>
    </p:spTree>
    <p:extLst>
      <p:ext uri="{BB962C8B-B14F-4D97-AF65-F5344CB8AC3E}">
        <p14:creationId xmlns:p14="http://schemas.microsoft.com/office/powerpoint/2010/main" val="21972085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Functions </a:t>
            </a:r>
            <a:r>
              <a:rPr lang="en-US" b="1" dirty="0">
                <a:solidFill>
                  <a:srgbClr val="FF0000"/>
                </a:solidFill>
              </a:rPr>
              <a:t>of the Kenya National Qualifications Authority </a:t>
            </a:r>
          </a:p>
        </p:txBody>
      </p:sp>
      <p:sp>
        <p:nvSpPr>
          <p:cNvPr id="3" name="Content Placeholder 2"/>
          <p:cNvSpPr>
            <a:spLocks noGrp="1"/>
          </p:cNvSpPr>
          <p:nvPr>
            <p:ph idx="1"/>
          </p:nvPr>
        </p:nvSpPr>
        <p:spPr/>
        <p:txBody>
          <a:bodyPr>
            <a:normAutofit fontScale="92500" lnSpcReduction="10000"/>
          </a:bodyPr>
          <a:lstStyle/>
          <a:p>
            <a:pPr lvl="0"/>
            <a:r>
              <a:rPr lang="en-US" dirty="0"/>
              <a:t>Advice and support any person, body or institution which is responsible for the award of national qualifications;</a:t>
            </a:r>
          </a:p>
          <a:p>
            <a:pPr lvl="0"/>
            <a:r>
              <a:rPr lang="en-US" dirty="0"/>
              <a:t>Publish an annual report on the status of national qualifications;</a:t>
            </a:r>
          </a:p>
          <a:p>
            <a:pPr lvl="0"/>
            <a:r>
              <a:rPr lang="en-US" dirty="0"/>
              <a:t>Set standards and benchmarks for qualifications and competencies including skills, knowledge, attitudes and values;</a:t>
            </a:r>
          </a:p>
          <a:p>
            <a:pPr lvl="0"/>
            <a:r>
              <a:rPr lang="en-US" dirty="0"/>
              <a:t>Define the levels of qualifications and competencies;</a:t>
            </a:r>
          </a:p>
          <a:p>
            <a:pPr lvl="0"/>
            <a:r>
              <a:rPr lang="en-US" dirty="0"/>
              <a:t>Provide for the recognition of attainment or competencies including skills, knowledge, attitudes and values;</a:t>
            </a:r>
          </a:p>
          <a:p>
            <a:pPr lvl="0"/>
            <a:r>
              <a:rPr lang="en-US" dirty="0"/>
              <a:t>Facilitate linkages, credit transfers and exemptions and a vertical and horizontal mobility at all levels to enable entry, re-entry and exit;</a:t>
            </a:r>
          </a:p>
          <a:p>
            <a:r>
              <a:rPr lang="en-US" dirty="0"/>
              <a:t>Conduct research on equalization of qualifications</a:t>
            </a:r>
          </a:p>
        </p:txBody>
      </p:sp>
    </p:spTree>
    <p:extLst>
      <p:ext uri="{BB962C8B-B14F-4D97-AF65-F5344CB8AC3E}">
        <p14:creationId xmlns:p14="http://schemas.microsoft.com/office/powerpoint/2010/main" val="24645037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29993"/>
            <a:ext cx="10515600" cy="862784"/>
          </a:xfrm>
        </p:spPr>
        <p:txBody>
          <a:bodyPr>
            <a:normAutofit/>
          </a:bodyPr>
          <a:lstStyle/>
          <a:p>
            <a:r>
              <a:rPr lang="en-US" sz="3200" b="1" dirty="0" smtClean="0">
                <a:solidFill>
                  <a:srgbClr val="FF0000"/>
                </a:solidFill>
              </a:rPr>
              <a:t>National Qualification Framework-KNQF 10 Level Descriptors</a:t>
            </a:r>
            <a:endParaRPr lang="en-US" sz="3200" b="1" dirty="0">
              <a:solidFill>
                <a:srgbClr val="FF0000"/>
              </a:solidFill>
            </a:endParaRPr>
          </a:p>
        </p:txBody>
      </p:sp>
      <p:pic>
        <p:nvPicPr>
          <p:cNvPr id="4" name="Picture 3"/>
          <p:cNvPicPr/>
          <p:nvPr/>
        </p:nvPicPr>
        <p:blipFill>
          <a:blip r:embed="rId2"/>
          <a:stretch>
            <a:fillRect/>
          </a:stretch>
        </p:blipFill>
        <p:spPr>
          <a:xfrm>
            <a:off x="2155371" y="822960"/>
            <a:ext cx="7249886" cy="5865223"/>
          </a:xfrm>
          <a:prstGeom prst="rect">
            <a:avLst/>
          </a:prstGeom>
        </p:spPr>
      </p:pic>
    </p:spTree>
    <p:extLst>
      <p:ext uri="{BB962C8B-B14F-4D97-AF65-F5344CB8AC3E}">
        <p14:creationId xmlns:p14="http://schemas.microsoft.com/office/powerpoint/2010/main" val="22162823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Content Placeholder 13"/>
          <p:cNvGraphicFramePr>
            <a:graphicFrameLocks noGrp="1"/>
          </p:cNvGraphicFramePr>
          <p:nvPr>
            <p:ph idx="1"/>
            <p:extLst>
              <p:ext uri="{D42A27DB-BD31-4B8C-83A1-F6EECF244321}">
                <p14:modId xmlns:p14="http://schemas.microsoft.com/office/powerpoint/2010/main" val="885078763"/>
              </p:ext>
            </p:extLst>
          </p:nvPr>
        </p:nvGraphicFramePr>
        <p:xfrm>
          <a:off x="431075" y="679269"/>
          <a:ext cx="11103428" cy="5406840"/>
        </p:xfrm>
        <a:graphic>
          <a:graphicData uri="http://schemas.openxmlformats.org/drawingml/2006/table">
            <a:tbl>
              <a:tblPr/>
              <a:tblGrid>
                <a:gridCol w="2775857">
                  <a:extLst>
                    <a:ext uri="{9D8B030D-6E8A-4147-A177-3AD203B41FA5}">
                      <a16:colId xmlns:a16="http://schemas.microsoft.com/office/drawing/2014/main" val="327061033"/>
                    </a:ext>
                  </a:extLst>
                </a:gridCol>
                <a:gridCol w="2775857">
                  <a:extLst>
                    <a:ext uri="{9D8B030D-6E8A-4147-A177-3AD203B41FA5}">
                      <a16:colId xmlns:a16="http://schemas.microsoft.com/office/drawing/2014/main" val="2346210555"/>
                    </a:ext>
                  </a:extLst>
                </a:gridCol>
                <a:gridCol w="2775857">
                  <a:extLst>
                    <a:ext uri="{9D8B030D-6E8A-4147-A177-3AD203B41FA5}">
                      <a16:colId xmlns:a16="http://schemas.microsoft.com/office/drawing/2014/main" val="2935891437"/>
                    </a:ext>
                  </a:extLst>
                </a:gridCol>
                <a:gridCol w="2775857">
                  <a:extLst>
                    <a:ext uri="{9D8B030D-6E8A-4147-A177-3AD203B41FA5}">
                      <a16:colId xmlns:a16="http://schemas.microsoft.com/office/drawing/2014/main" val="3273012976"/>
                    </a:ext>
                  </a:extLst>
                </a:gridCol>
              </a:tblGrid>
              <a:tr h="332582">
                <a:tc>
                  <a:txBody>
                    <a:bodyPr/>
                    <a:lstStyle/>
                    <a:p>
                      <a:pPr algn="l" fontAlgn="t" latinLnBrk="0"/>
                      <a:r>
                        <a:rPr lang="en-US" sz="1800" b="1">
                          <a:solidFill>
                            <a:srgbClr val="111111"/>
                          </a:solidFill>
                          <a:effectLst/>
                        </a:rPr>
                        <a:t>Level</a:t>
                      </a:r>
                    </a:p>
                  </a:txBody>
                  <a:tcPr marL="48134" marR="48134" marT="48134" marB="48134">
                    <a:lnL>
                      <a:noFill/>
                    </a:lnL>
                    <a:lnR>
                      <a:noFill/>
                    </a:lnR>
                    <a:lnT>
                      <a:noFill/>
                    </a:lnT>
                    <a:lnB>
                      <a:noFill/>
                    </a:lnB>
                    <a:solidFill>
                      <a:srgbClr val="D9EDF7"/>
                    </a:solidFill>
                  </a:tcPr>
                </a:tc>
                <a:tc>
                  <a:txBody>
                    <a:bodyPr/>
                    <a:lstStyle/>
                    <a:p>
                      <a:pPr algn="l" fontAlgn="t" latinLnBrk="0"/>
                      <a:r>
                        <a:rPr lang="en-US" sz="1800" b="1" dirty="0">
                          <a:solidFill>
                            <a:srgbClr val="111111"/>
                          </a:solidFill>
                          <a:effectLst/>
                        </a:rPr>
                        <a:t>skills</a:t>
                      </a:r>
                    </a:p>
                  </a:txBody>
                  <a:tcPr marL="48134" marR="48134" marT="48134" marB="48134">
                    <a:lnL>
                      <a:noFill/>
                    </a:lnL>
                    <a:lnR>
                      <a:noFill/>
                    </a:lnR>
                    <a:lnT>
                      <a:noFill/>
                    </a:lnT>
                    <a:lnB>
                      <a:noFill/>
                    </a:lnB>
                    <a:solidFill>
                      <a:srgbClr val="D9EDF7"/>
                    </a:solidFill>
                  </a:tcPr>
                </a:tc>
                <a:tc>
                  <a:txBody>
                    <a:bodyPr/>
                    <a:lstStyle/>
                    <a:p>
                      <a:pPr algn="l" fontAlgn="t" latinLnBrk="0"/>
                      <a:r>
                        <a:rPr lang="en-US" sz="1800" b="1">
                          <a:solidFill>
                            <a:srgbClr val="111111"/>
                          </a:solidFill>
                          <a:effectLst/>
                        </a:rPr>
                        <a:t>Knowledge</a:t>
                      </a:r>
                    </a:p>
                  </a:txBody>
                  <a:tcPr marL="48134" marR="48134" marT="48134" marB="48134">
                    <a:lnL>
                      <a:noFill/>
                    </a:lnL>
                    <a:lnR>
                      <a:noFill/>
                    </a:lnR>
                    <a:lnT>
                      <a:noFill/>
                    </a:lnT>
                    <a:lnB>
                      <a:noFill/>
                    </a:lnB>
                    <a:solidFill>
                      <a:srgbClr val="D9EDF7"/>
                    </a:solidFill>
                  </a:tcPr>
                </a:tc>
                <a:tc>
                  <a:txBody>
                    <a:bodyPr/>
                    <a:lstStyle/>
                    <a:p>
                      <a:pPr algn="l" fontAlgn="t" latinLnBrk="0"/>
                      <a:r>
                        <a:rPr lang="en-US" sz="1800" b="1">
                          <a:solidFill>
                            <a:srgbClr val="111111"/>
                          </a:solidFill>
                          <a:effectLst/>
                        </a:rPr>
                        <a:t>Competence</a:t>
                      </a:r>
                    </a:p>
                  </a:txBody>
                  <a:tcPr marL="48134" marR="48134" marT="48134" marB="48134">
                    <a:lnL>
                      <a:noFill/>
                    </a:lnL>
                    <a:lnR>
                      <a:noFill/>
                    </a:lnR>
                    <a:lnT>
                      <a:noFill/>
                    </a:lnT>
                    <a:lnB>
                      <a:noFill/>
                    </a:lnB>
                    <a:solidFill>
                      <a:srgbClr val="D9EDF7"/>
                    </a:solidFill>
                  </a:tcPr>
                </a:tc>
                <a:extLst>
                  <a:ext uri="{0D108BD9-81ED-4DB2-BD59-A6C34878D82A}">
                    <a16:rowId xmlns:a16="http://schemas.microsoft.com/office/drawing/2014/main" val="1520098786"/>
                  </a:ext>
                </a:extLst>
              </a:tr>
              <a:tr h="5036252">
                <a:tc>
                  <a:txBody>
                    <a:bodyPr/>
                    <a:lstStyle/>
                    <a:p>
                      <a:pPr algn="l" fontAlgn="t"/>
                      <a:r>
                        <a:rPr lang="en-US" sz="1800" b="0" dirty="0">
                          <a:solidFill>
                            <a:srgbClr val="111111"/>
                          </a:solidFill>
                          <a:effectLst/>
                        </a:rPr>
                        <a:t>Level 1 qualifies a graduate to have basic functional knowledge and skills to undertake work, further learning and community involvement.</a:t>
                      </a:r>
                      <a:r>
                        <a:rPr lang="en-US" sz="1800" b="1" dirty="0">
                          <a:solidFill>
                            <a:srgbClr val="111111"/>
                          </a:solidFill>
                          <a:effectLst/>
                        </a:rPr>
                        <a:t/>
                      </a:r>
                      <a:br>
                        <a:rPr lang="en-US" sz="1800" b="1" dirty="0">
                          <a:solidFill>
                            <a:srgbClr val="111111"/>
                          </a:solidFill>
                          <a:effectLst/>
                        </a:rPr>
                      </a:br>
                      <a:endParaRPr lang="en-US" sz="1800" b="0" dirty="0">
                        <a:solidFill>
                          <a:srgbClr val="111111"/>
                        </a:solidFill>
                        <a:effectLst/>
                      </a:endParaRPr>
                    </a:p>
                  </a:txBody>
                  <a:tcPr marL="48134" marR="48134" marT="48134" marB="48134">
                    <a:lnL>
                      <a:noFill/>
                    </a:lnL>
                    <a:lnR>
                      <a:noFill/>
                    </a:lnR>
                    <a:lnT>
                      <a:noFill/>
                    </a:lnT>
                    <a:lnB>
                      <a:noFill/>
                    </a:lnB>
                    <a:solidFill>
                      <a:srgbClr val="F3F3F3"/>
                    </a:solidFill>
                  </a:tcPr>
                </a:tc>
                <a:tc>
                  <a:txBody>
                    <a:bodyPr/>
                    <a:lstStyle/>
                    <a:p>
                      <a:pPr algn="l" fontAlgn="t"/>
                      <a:r>
                        <a:rPr lang="en-US" sz="1800" b="0" dirty="0">
                          <a:solidFill>
                            <a:srgbClr val="111111"/>
                          </a:solidFill>
                          <a:effectLst/>
                        </a:rPr>
                        <a:t>A graduate at this level should have —</a:t>
                      </a:r>
                      <a:br>
                        <a:rPr lang="en-US" sz="1800" b="0" dirty="0">
                          <a:solidFill>
                            <a:srgbClr val="111111"/>
                          </a:solidFill>
                          <a:effectLst/>
                        </a:rPr>
                      </a:br>
                      <a:r>
                        <a:rPr lang="en-US" sz="1800" b="0" dirty="0">
                          <a:solidFill>
                            <a:srgbClr val="111111"/>
                          </a:solidFill>
                          <a:effectLst/>
                        </a:rPr>
                        <a:t>basic skills to participate in everyday life and further learning;</a:t>
                      </a:r>
                      <a:br>
                        <a:rPr lang="en-US" sz="1800" b="0" dirty="0">
                          <a:solidFill>
                            <a:srgbClr val="111111"/>
                          </a:solidFill>
                          <a:effectLst/>
                        </a:rPr>
                      </a:br>
                      <a:r>
                        <a:rPr lang="en-US" sz="1800" b="0" dirty="0">
                          <a:solidFill>
                            <a:srgbClr val="111111"/>
                          </a:solidFill>
                          <a:effectLst/>
                        </a:rPr>
                        <a:t>cognitive and communication skills to receive, pass on and recall information in a narrow range of areas; and</a:t>
                      </a:r>
                      <a:br>
                        <a:rPr lang="en-US" sz="1800" b="0" dirty="0">
                          <a:solidFill>
                            <a:srgbClr val="111111"/>
                          </a:solidFill>
                          <a:effectLst/>
                        </a:rPr>
                      </a:br>
                      <a:r>
                        <a:rPr lang="en-US" sz="1800" b="0" dirty="0">
                          <a:solidFill>
                            <a:srgbClr val="111111"/>
                          </a:solidFill>
                          <a:effectLst/>
                        </a:rPr>
                        <a:t>technical skills involving the use of tools appropriate to the activity and use of basic communication technologies.</a:t>
                      </a:r>
                      <a:br>
                        <a:rPr lang="en-US" sz="1800" b="0" dirty="0">
                          <a:solidFill>
                            <a:srgbClr val="111111"/>
                          </a:solidFill>
                          <a:effectLst/>
                        </a:rPr>
                      </a:br>
                      <a:endParaRPr lang="en-US" sz="1800" b="0" dirty="0">
                        <a:solidFill>
                          <a:srgbClr val="111111"/>
                        </a:solidFill>
                        <a:effectLst/>
                      </a:endParaRPr>
                    </a:p>
                  </a:txBody>
                  <a:tcPr marL="48134" marR="48134" marT="48134" marB="48134">
                    <a:lnL>
                      <a:noFill/>
                    </a:lnL>
                    <a:lnR>
                      <a:noFill/>
                    </a:lnR>
                    <a:lnT>
                      <a:noFill/>
                    </a:lnT>
                    <a:lnB>
                      <a:noFill/>
                    </a:lnB>
                    <a:solidFill>
                      <a:srgbClr val="F3F3F3"/>
                    </a:solidFill>
                  </a:tcPr>
                </a:tc>
                <a:tc>
                  <a:txBody>
                    <a:bodyPr/>
                    <a:lstStyle/>
                    <a:p>
                      <a:pPr algn="l" fontAlgn="t"/>
                      <a:r>
                        <a:rPr lang="en-US" sz="1800" b="0" dirty="0">
                          <a:solidFill>
                            <a:srgbClr val="111111"/>
                          </a:solidFill>
                          <a:effectLst/>
                        </a:rPr>
                        <a:t>A graduate at this level should have basic fundamental knowledge and understanding in a narrow area of work and learning.</a:t>
                      </a:r>
                      <a:br>
                        <a:rPr lang="en-US" sz="1800" b="0" dirty="0">
                          <a:solidFill>
                            <a:srgbClr val="111111"/>
                          </a:solidFill>
                          <a:effectLst/>
                        </a:rPr>
                      </a:br>
                      <a:endParaRPr lang="en-US" sz="1800" b="0" dirty="0">
                        <a:solidFill>
                          <a:srgbClr val="111111"/>
                        </a:solidFill>
                        <a:effectLst/>
                      </a:endParaRPr>
                    </a:p>
                  </a:txBody>
                  <a:tcPr marL="48134" marR="48134" marT="48134" marB="48134">
                    <a:lnL>
                      <a:noFill/>
                    </a:lnL>
                    <a:lnR>
                      <a:noFill/>
                    </a:lnR>
                    <a:lnT>
                      <a:noFill/>
                    </a:lnT>
                    <a:lnB>
                      <a:noFill/>
                    </a:lnB>
                    <a:solidFill>
                      <a:srgbClr val="F3F3F3"/>
                    </a:solidFill>
                  </a:tcPr>
                </a:tc>
                <a:tc>
                  <a:txBody>
                    <a:bodyPr/>
                    <a:lstStyle/>
                    <a:p>
                      <a:pPr algn="l" fontAlgn="t"/>
                      <a:r>
                        <a:rPr lang="en-US" sz="1800" b="0" dirty="0">
                          <a:solidFill>
                            <a:srgbClr val="111111"/>
                          </a:solidFill>
                          <a:effectLst/>
                        </a:rPr>
                        <a:t>A graduate at this level should demonstrate the application of knowledge and skills —</a:t>
                      </a:r>
                      <a:br>
                        <a:rPr lang="en-US" sz="1800" b="0" dirty="0">
                          <a:solidFill>
                            <a:srgbClr val="111111"/>
                          </a:solidFill>
                          <a:effectLst/>
                        </a:rPr>
                      </a:br>
                      <a:r>
                        <a:rPr lang="en-US" sz="1800" b="0" dirty="0">
                          <a:solidFill>
                            <a:srgbClr val="111111"/>
                          </a:solidFill>
                          <a:effectLst/>
                        </a:rPr>
                        <a:t>for some autonomy in defined contexts and within established parameters; and</a:t>
                      </a:r>
                      <a:br>
                        <a:rPr lang="en-US" sz="1800" b="0" dirty="0">
                          <a:solidFill>
                            <a:srgbClr val="111111"/>
                          </a:solidFill>
                          <a:effectLst/>
                        </a:rPr>
                      </a:br>
                      <a:r>
                        <a:rPr lang="en-US" sz="1800" b="0" dirty="0">
                          <a:solidFill>
                            <a:srgbClr val="111111"/>
                          </a:solidFill>
                          <a:effectLst/>
                        </a:rPr>
                        <a:t>communication in contexts that may include preparation for further learning, life activities or a variety of initial routine and predictable work-related activities including participation in a team or work group</a:t>
                      </a:r>
                    </a:p>
                  </a:txBody>
                  <a:tcPr marL="48134" marR="48134" marT="48134" marB="48134">
                    <a:lnL>
                      <a:noFill/>
                    </a:lnL>
                    <a:lnR>
                      <a:noFill/>
                    </a:lnR>
                    <a:lnT>
                      <a:noFill/>
                    </a:lnT>
                    <a:lnB>
                      <a:noFill/>
                    </a:lnB>
                    <a:solidFill>
                      <a:srgbClr val="F3F3F3"/>
                    </a:solidFill>
                  </a:tcPr>
                </a:tc>
                <a:extLst>
                  <a:ext uri="{0D108BD9-81ED-4DB2-BD59-A6C34878D82A}">
                    <a16:rowId xmlns:a16="http://schemas.microsoft.com/office/drawing/2014/main" val="4227333543"/>
                  </a:ext>
                </a:extLst>
              </a:tr>
            </a:tbl>
          </a:graphicData>
        </a:graphic>
      </p:graphicFrame>
    </p:spTree>
    <p:extLst>
      <p:ext uri="{BB962C8B-B14F-4D97-AF65-F5344CB8AC3E}">
        <p14:creationId xmlns:p14="http://schemas.microsoft.com/office/powerpoint/2010/main" val="34413742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Content Placeholder 13"/>
          <p:cNvGraphicFramePr>
            <a:graphicFrameLocks noGrp="1"/>
          </p:cNvGraphicFramePr>
          <p:nvPr>
            <p:ph idx="1"/>
            <p:extLst>
              <p:ext uri="{D42A27DB-BD31-4B8C-83A1-F6EECF244321}">
                <p14:modId xmlns:p14="http://schemas.microsoft.com/office/powerpoint/2010/main" val="2863064582"/>
              </p:ext>
            </p:extLst>
          </p:nvPr>
        </p:nvGraphicFramePr>
        <p:xfrm>
          <a:off x="235129" y="130629"/>
          <a:ext cx="11430004" cy="5926147"/>
        </p:xfrm>
        <a:graphic>
          <a:graphicData uri="http://schemas.openxmlformats.org/drawingml/2006/table">
            <a:tbl>
              <a:tblPr/>
              <a:tblGrid>
                <a:gridCol w="2857501">
                  <a:extLst>
                    <a:ext uri="{9D8B030D-6E8A-4147-A177-3AD203B41FA5}">
                      <a16:colId xmlns:a16="http://schemas.microsoft.com/office/drawing/2014/main" val="327061033"/>
                    </a:ext>
                  </a:extLst>
                </a:gridCol>
                <a:gridCol w="2857501">
                  <a:extLst>
                    <a:ext uri="{9D8B030D-6E8A-4147-A177-3AD203B41FA5}">
                      <a16:colId xmlns:a16="http://schemas.microsoft.com/office/drawing/2014/main" val="2346210555"/>
                    </a:ext>
                  </a:extLst>
                </a:gridCol>
                <a:gridCol w="2857501">
                  <a:extLst>
                    <a:ext uri="{9D8B030D-6E8A-4147-A177-3AD203B41FA5}">
                      <a16:colId xmlns:a16="http://schemas.microsoft.com/office/drawing/2014/main" val="2935891437"/>
                    </a:ext>
                  </a:extLst>
                </a:gridCol>
                <a:gridCol w="2857501">
                  <a:extLst>
                    <a:ext uri="{9D8B030D-6E8A-4147-A177-3AD203B41FA5}">
                      <a16:colId xmlns:a16="http://schemas.microsoft.com/office/drawing/2014/main" val="3273012976"/>
                    </a:ext>
                  </a:extLst>
                </a:gridCol>
              </a:tblGrid>
              <a:tr h="335789">
                <a:tc>
                  <a:txBody>
                    <a:bodyPr/>
                    <a:lstStyle/>
                    <a:p>
                      <a:pPr algn="l" fontAlgn="t" latinLnBrk="0"/>
                      <a:r>
                        <a:rPr lang="en-US" sz="1800" b="1">
                          <a:solidFill>
                            <a:srgbClr val="111111"/>
                          </a:solidFill>
                          <a:effectLst/>
                        </a:rPr>
                        <a:t>Level</a:t>
                      </a:r>
                    </a:p>
                  </a:txBody>
                  <a:tcPr marL="48134" marR="48134" marT="48134" marB="48134">
                    <a:lnL>
                      <a:noFill/>
                    </a:lnL>
                    <a:lnR>
                      <a:noFill/>
                    </a:lnR>
                    <a:lnT>
                      <a:noFill/>
                    </a:lnT>
                    <a:lnB>
                      <a:noFill/>
                    </a:lnB>
                    <a:solidFill>
                      <a:srgbClr val="D9EDF7"/>
                    </a:solidFill>
                  </a:tcPr>
                </a:tc>
                <a:tc>
                  <a:txBody>
                    <a:bodyPr/>
                    <a:lstStyle/>
                    <a:p>
                      <a:pPr algn="l" fontAlgn="t" latinLnBrk="0"/>
                      <a:r>
                        <a:rPr lang="en-US" sz="1800" b="1" dirty="0">
                          <a:solidFill>
                            <a:srgbClr val="111111"/>
                          </a:solidFill>
                          <a:effectLst/>
                        </a:rPr>
                        <a:t>skills</a:t>
                      </a:r>
                    </a:p>
                  </a:txBody>
                  <a:tcPr marL="48134" marR="48134" marT="48134" marB="48134">
                    <a:lnL>
                      <a:noFill/>
                    </a:lnL>
                    <a:lnR>
                      <a:noFill/>
                    </a:lnR>
                    <a:lnT>
                      <a:noFill/>
                    </a:lnT>
                    <a:lnB>
                      <a:noFill/>
                    </a:lnB>
                    <a:solidFill>
                      <a:srgbClr val="D9EDF7"/>
                    </a:solidFill>
                  </a:tcPr>
                </a:tc>
                <a:tc>
                  <a:txBody>
                    <a:bodyPr/>
                    <a:lstStyle/>
                    <a:p>
                      <a:pPr algn="l" fontAlgn="t" latinLnBrk="0"/>
                      <a:r>
                        <a:rPr lang="en-US" sz="1800" b="1">
                          <a:solidFill>
                            <a:srgbClr val="111111"/>
                          </a:solidFill>
                          <a:effectLst/>
                        </a:rPr>
                        <a:t>Knowledge</a:t>
                      </a:r>
                    </a:p>
                  </a:txBody>
                  <a:tcPr marL="48134" marR="48134" marT="48134" marB="48134">
                    <a:lnL>
                      <a:noFill/>
                    </a:lnL>
                    <a:lnR>
                      <a:noFill/>
                    </a:lnR>
                    <a:lnT>
                      <a:noFill/>
                    </a:lnT>
                    <a:lnB>
                      <a:noFill/>
                    </a:lnB>
                    <a:solidFill>
                      <a:srgbClr val="D9EDF7"/>
                    </a:solidFill>
                  </a:tcPr>
                </a:tc>
                <a:tc>
                  <a:txBody>
                    <a:bodyPr/>
                    <a:lstStyle/>
                    <a:p>
                      <a:pPr algn="l" fontAlgn="t" latinLnBrk="0"/>
                      <a:r>
                        <a:rPr lang="en-US" sz="1800" b="1">
                          <a:solidFill>
                            <a:srgbClr val="111111"/>
                          </a:solidFill>
                          <a:effectLst/>
                        </a:rPr>
                        <a:t>Competence</a:t>
                      </a:r>
                    </a:p>
                  </a:txBody>
                  <a:tcPr marL="48134" marR="48134" marT="48134" marB="48134">
                    <a:lnL>
                      <a:noFill/>
                    </a:lnL>
                    <a:lnR>
                      <a:noFill/>
                    </a:lnR>
                    <a:lnT>
                      <a:noFill/>
                    </a:lnT>
                    <a:lnB>
                      <a:noFill/>
                    </a:lnB>
                    <a:solidFill>
                      <a:srgbClr val="D9EDF7"/>
                    </a:solidFill>
                  </a:tcPr>
                </a:tc>
                <a:extLst>
                  <a:ext uri="{0D108BD9-81ED-4DB2-BD59-A6C34878D82A}">
                    <a16:rowId xmlns:a16="http://schemas.microsoft.com/office/drawing/2014/main" val="1520098786"/>
                  </a:ext>
                </a:extLst>
              </a:tr>
              <a:tr h="5555559">
                <a:tc>
                  <a:txBody>
                    <a:bodyPr/>
                    <a:lstStyle/>
                    <a:p>
                      <a:pPr algn="l" fontAlgn="t"/>
                      <a:r>
                        <a:rPr lang="en-US" sz="1800" b="0" i="0" kern="1200" dirty="0" smtClean="0">
                          <a:solidFill>
                            <a:schemeClr val="tx1"/>
                          </a:solidFill>
                          <a:effectLst/>
                          <a:latin typeface="+mn-lt"/>
                          <a:ea typeface="+mn-ea"/>
                          <a:cs typeface="+mn-cs"/>
                        </a:rPr>
                        <a:t>Level 2 qualifies a graduate to undertake mainly routine work and as a pathway</a:t>
                      </a:r>
                      <a:endParaRPr lang="en-US" sz="1800" b="0" dirty="0">
                        <a:solidFill>
                          <a:srgbClr val="111111"/>
                        </a:solidFill>
                        <a:effectLst/>
                      </a:endParaRPr>
                    </a:p>
                  </a:txBody>
                  <a:tcPr marL="48134" marR="48134" marT="48134" marB="48134">
                    <a:lnL>
                      <a:noFill/>
                    </a:lnL>
                    <a:lnR>
                      <a:noFill/>
                    </a:lnR>
                    <a:lnT>
                      <a:noFill/>
                    </a:lnT>
                    <a:lnB>
                      <a:noFill/>
                    </a:lnB>
                    <a:solidFill>
                      <a:srgbClr val="F3F3F3"/>
                    </a:solidFill>
                  </a:tcPr>
                </a:tc>
                <a:tc>
                  <a:txBody>
                    <a:bodyPr/>
                    <a:lstStyle/>
                    <a:p>
                      <a:pPr algn="l" fontAlgn="t"/>
                      <a:r>
                        <a:rPr lang="en-US" sz="1800" b="0" i="0" kern="1200" dirty="0" smtClean="0">
                          <a:solidFill>
                            <a:schemeClr val="tx1"/>
                          </a:solidFill>
                          <a:effectLst/>
                          <a:latin typeface="+mn-lt"/>
                          <a:ea typeface="+mn-ea"/>
                          <a:cs typeface="+mn-cs"/>
                        </a:rPr>
                        <a:t>A graduate at this level should have —</a:t>
                      </a:r>
                      <a:r>
                        <a:rPr lang="en-US" dirty="0" smtClean="0"/>
                        <a:t/>
                      </a:r>
                      <a:br>
                        <a:rPr lang="en-US" dirty="0" smtClean="0"/>
                      </a:br>
                      <a:r>
                        <a:rPr lang="en-US" sz="1800" b="0" i="0" kern="1200" dirty="0" smtClean="0">
                          <a:solidFill>
                            <a:schemeClr val="tx1"/>
                          </a:solidFill>
                          <a:effectLst/>
                          <a:latin typeface="+mn-lt"/>
                          <a:ea typeface="+mn-ea"/>
                          <a:cs typeface="+mn-cs"/>
                        </a:rPr>
                        <a:t>cognitive skills to access, record and act on a defined range of information from a range of sources;</a:t>
                      </a:r>
                      <a:r>
                        <a:rPr lang="en-US" dirty="0" smtClean="0"/>
                        <a:t/>
                      </a:r>
                      <a:br>
                        <a:rPr lang="en-US" dirty="0" smtClean="0"/>
                      </a:br>
                      <a:r>
                        <a:rPr lang="en-US" sz="1800" b="0" i="0" kern="1200" dirty="0" smtClean="0">
                          <a:solidFill>
                            <a:schemeClr val="tx1"/>
                          </a:solidFill>
                          <a:effectLst/>
                          <a:latin typeface="+mn-lt"/>
                          <a:ea typeface="+mn-ea"/>
                          <a:cs typeface="+mn-cs"/>
                        </a:rPr>
                        <a:t>cognitive and communication skills to apply and communicate known solutions to a limited range of predictable problems; and</a:t>
                      </a:r>
                      <a:r>
                        <a:rPr lang="en-US" dirty="0" smtClean="0"/>
                        <a:t/>
                      </a:r>
                      <a:br>
                        <a:rPr lang="en-US" dirty="0" smtClean="0"/>
                      </a:br>
                      <a:r>
                        <a:rPr lang="en-US" sz="1800" b="0" i="0" kern="1200" dirty="0" smtClean="0">
                          <a:solidFill>
                            <a:schemeClr val="tx1"/>
                          </a:solidFill>
                          <a:effectLst/>
                          <a:latin typeface="+mn-lt"/>
                          <a:ea typeface="+mn-ea"/>
                          <a:cs typeface="+mn-cs"/>
                        </a:rPr>
                        <a:t>technical skills to use a limited range of equipment to complete tasks involving known routines and procedures with a limited range of options.</a:t>
                      </a:r>
                      <a:r>
                        <a:rPr lang="en-US" sz="1800" b="0" dirty="0" smtClean="0">
                          <a:solidFill>
                            <a:srgbClr val="111111"/>
                          </a:solidFill>
                          <a:effectLst/>
                        </a:rPr>
                        <a:t/>
                      </a:r>
                      <a:br>
                        <a:rPr lang="en-US" sz="1800" b="0" dirty="0" smtClean="0">
                          <a:solidFill>
                            <a:srgbClr val="111111"/>
                          </a:solidFill>
                          <a:effectLst/>
                        </a:rPr>
                      </a:br>
                      <a:endParaRPr lang="en-US" sz="1800" b="0" dirty="0">
                        <a:solidFill>
                          <a:srgbClr val="111111"/>
                        </a:solidFill>
                        <a:effectLst/>
                      </a:endParaRPr>
                    </a:p>
                  </a:txBody>
                  <a:tcPr marL="48134" marR="48134" marT="48134" marB="48134">
                    <a:lnL>
                      <a:noFill/>
                    </a:lnL>
                    <a:lnR>
                      <a:noFill/>
                    </a:lnR>
                    <a:lnT>
                      <a:noFill/>
                    </a:lnT>
                    <a:lnB>
                      <a:noFill/>
                    </a:lnB>
                    <a:solidFill>
                      <a:srgbClr val="F3F3F3"/>
                    </a:solidFill>
                  </a:tcPr>
                </a:tc>
                <a:tc>
                  <a:txBody>
                    <a:bodyPr/>
                    <a:lstStyle/>
                    <a:p>
                      <a:pPr algn="l" fontAlgn="t"/>
                      <a:r>
                        <a:rPr lang="en-US" sz="1800" b="0" i="0" kern="1200" dirty="0" smtClean="0">
                          <a:solidFill>
                            <a:schemeClr val="tx1"/>
                          </a:solidFill>
                          <a:effectLst/>
                          <a:latin typeface="+mn-lt"/>
                          <a:ea typeface="+mn-ea"/>
                          <a:cs typeface="+mn-cs"/>
                        </a:rPr>
                        <a:t>A graduate at this level should have basic factual, technical and procedural knowledge in a defined area of work and learning</a:t>
                      </a:r>
                      <a:r>
                        <a:rPr lang="en-US" sz="1800" b="0" dirty="0" smtClean="0">
                          <a:solidFill>
                            <a:srgbClr val="111111"/>
                          </a:solidFill>
                          <a:effectLst/>
                        </a:rPr>
                        <a:t/>
                      </a:r>
                      <a:br>
                        <a:rPr lang="en-US" sz="1800" b="0" dirty="0" smtClean="0">
                          <a:solidFill>
                            <a:srgbClr val="111111"/>
                          </a:solidFill>
                          <a:effectLst/>
                        </a:rPr>
                      </a:br>
                      <a:endParaRPr lang="en-US" sz="1800" b="0" dirty="0">
                        <a:solidFill>
                          <a:srgbClr val="111111"/>
                        </a:solidFill>
                        <a:effectLst/>
                      </a:endParaRPr>
                    </a:p>
                  </a:txBody>
                  <a:tcPr marL="48134" marR="48134" marT="48134" marB="48134">
                    <a:lnL>
                      <a:noFill/>
                    </a:lnL>
                    <a:lnR>
                      <a:noFill/>
                    </a:lnR>
                    <a:lnT>
                      <a:noFill/>
                    </a:lnT>
                    <a:lnB>
                      <a:noFill/>
                    </a:lnB>
                    <a:solidFill>
                      <a:srgbClr val="F3F3F3"/>
                    </a:solidFill>
                  </a:tcPr>
                </a:tc>
                <a:tc>
                  <a:txBody>
                    <a:bodyPr/>
                    <a:lstStyle/>
                    <a:p>
                      <a:pPr algn="l" fontAlgn="t"/>
                      <a:r>
                        <a:rPr lang="en-US" sz="1800" b="0" i="0" kern="1200" smtClean="0">
                          <a:solidFill>
                            <a:schemeClr val="tx1"/>
                          </a:solidFill>
                          <a:effectLst/>
                          <a:latin typeface="+mn-lt"/>
                          <a:ea typeface="+mn-ea"/>
                          <a:cs typeface="+mn-cs"/>
                        </a:rPr>
                        <a:t>A graduate at this level should demonstrate the application of knowledge and skills —</a:t>
                      </a:r>
                      <a:r>
                        <a:rPr lang="en-US" smtClean="0"/>
                        <a:t/>
                      </a:r>
                      <a:br>
                        <a:rPr lang="en-US" smtClean="0"/>
                      </a:br>
                      <a:r>
                        <a:rPr lang="en-US" sz="1800" b="0" i="0" kern="1200" smtClean="0">
                          <a:solidFill>
                            <a:schemeClr val="tx1"/>
                          </a:solidFill>
                          <a:effectLst/>
                          <a:latin typeface="+mn-lt"/>
                          <a:ea typeface="+mn-ea"/>
                          <a:cs typeface="+mn-cs"/>
                        </a:rPr>
                        <a:t>for some accountability for the quality of own outcomes and some responsibility for own outputs in work and learning;</a:t>
                      </a:r>
                      <a:r>
                        <a:rPr lang="en-US" smtClean="0"/>
                        <a:t/>
                      </a:r>
                      <a:br>
                        <a:rPr lang="en-US" smtClean="0"/>
                      </a:br>
                      <a:r>
                        <a:rPr lang="en-US" sz="1800" b="0" i="0" kern="1200" smtClean="0">
                          <a:solidFill>
                            <a:schemeClr val="tx1"/>
                          </a:solidFill>
                          <a:effectLst/>
                          <a:latin typeface="+mn-lt"/>
                          <a:ea typeface="+mn-ea"/>
                          <a:cs typeface="+mn-cs"/>
                        </a:rPr>
                        <a:t>for limited autonomy and judgment in the completion of own defined and routine tasks in known and stable contexts; and</a:t>
                      </a:r>
                      <a:r>
                        <a:rPr lang="en-US" smtClean="0"/>
                        <a:t/>
                      </a:r>
                      <a:br>
                        <a:rPr lang="en-US" smtClean="0"/>
                      </a:br>
                      <a:r>
                        <a:rPr lang="en-US" sz="1800" b="0" i="0" kern="1200" smtClean="0">
                          <a:solidFill>
                            <a:schemeClr val="tx1"/>
                          </a:solidFill>
                          <a:effectLst/>
                          <a:latin typeface="+mn-lt"/>
                          <a:ea typeface="+mn-ea"/>
                          <a:cs typeface="+mn-cs"/>
                        </a:rPr>
                        <a:t>for limited autonomy and judgment to complete routine but variable tasks in collaboration with others in a team environment.</a:t>
                      </a:r>
                      <a:endParaRPr lang="en-US" sz="1800" b="0" dirty="0">
                        <a:solidFill>
                          <a:srgbClr val="111111"/>
                        </a:solidFill>
                        <a:effectLst/>
                      </a:endParaRPr>
                    </a:p>
                  </a:txBody>
                  <a:tcPr marL="48134" marR="48134" marT="48134" marB="48134">
                    <a:lnL>
                      <a:noFill/>
                    </a:lnL>
                    <a:lnR>
                      <a:noFill/>
                    </a:lnR>
                    <a:lnT>
                      <a:noFill/>
                    </a:lnT>
                    <a:lnB>
                      <a:noFill/>
                    </a:lnB>
                    <a:solidFill>
                      <a:srgbClr val="F3F3F3"/>
                    </a:solidFill>
                  </a:tcPr>
                </a:tc>
                <a:extLst>
                  <a:ext uri="{0D108BD9-81ED-4DB2-BD59-A6C34878D82A}">
                    <a16:rowId xmlns:a16="http://schemas.microsoft.com/office/drawing/2014/main" val="4227333543"/>
                  </a:ext>
                </a:extLst>
              </a:tr>
            </a:tbl>
          </a:graphicData>
        </a:graphic>
      </p:graphicFrame>
    </p:spTree>
    <p:extLst>
      <p:ext uri="{BB962C8B-B14F-4D97-AF65-F5344CB8AC3E}">
        <p14:creationId xmlns:p14="http://schemas.microsoft.com/office/powerpoint/2010/main" val="38038081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Content Placeholder 13"/>
          <p:cNvGraphicFramePr>
            <a:graphicFrameLocks noGrp="1"/>
          </p:cNvGraphicFramePr>
          <p:nvPr>
            <p:ph idx="1"/>
            <p:extLst>
              <p:ext uri="{D42A27DB-BD31-4B8C-83A1-F6EECF244321}">
                <p14:modId xmlns:p14="http://schemas.microsoft.com/office/powerpoint/2010/main" val="304780894"/>
              </p:ext>
            </p:extLst>
          </p:nvPr>
        </p:nvGraphicFramePr>
        <p:xfrm>
          <a:off x="235129" y="130629"/>
          <a:ext cx="11430004" cy="6776216"/>
        </p:xfrm>
        <a:graphic>
          <a:graphicData uri="http://schemas.openxmlformats.org/drawingml/2006/table">
            <a:tbl>
              <a:tblPr/>
              <a:tblGrid>
                <a:gridCol w="2857501">
                  <a:extLst>
                    <a:ext uri="{9D8B030D-6E8A-4147-A177-3AD203B41FA5}">
                      <a16:colId xmlns:a16="http://schemas.microsoft.com/office/drawing/2014/main" val="327061033"/>
                    </a:ext>
                  </a:extLst>
                </a:gridCol>
                <a:gridCol w="2857501">
                  <a:extLst>
                    <a:ext uri="{9D8B030D-6E8A-4147-A177-3AD203B41FA5}">
                      <a16:colId xmlns:a16="http://schemas.microsoft.com/office/drawing/2014/main" val="2346210555"/>
                    </a:ext>
                  </a:extLst>
                </a:gridCol>
                <a:gridCol w="2857501">
                  <a:extLst>
                    <a:ext uri="{9D8B030D-6E8A-4147-A177-3AD203B41FA5}">
                      <a16:colId xmlns:a16="http://schemas.microsoft.com/office/drawing/2014/main" val="2935891437"/>
                    </a:ext>
                  </a:extLst>
                </a:gridCol>
                <a:gridCol w="2857501">
                  <a:extLst>
                    <a:ext uri="{9D8B030D-6E8A-4147-A177-3AD203B41FA5}">
                      <a16:colId xmlns:a16="http://schemas.microsoft.com/office/drawing/2014/main" val="3273012976"/>
                    </a:ext>
                  </a:extLst>
                </a:gridCol>
              </a:tblGrid>
              <a:tr h="335789">
                <a:tc>
                  <a:txBody>
                    <a:bodyPr/>
                    <a:lstStyle/>
                    <a:p>
                      <a:pPr algn="l" fontAlgn="t" latinLnBrk="0"/>
                      <a:r>
                        <a:rPr lang="en-US" sz="1800" b="1">
                          <a:solidFill>
                            <a:srgbClr val="111111"/>
                          </a:solidFill>
                          <a:effectLst/>
                        </a:rPr>
                        <a:t>Level</a:t>
                      </a:r>
                    </a:p>
                  </a:txBody>
                  <a:tcPr marL="48134" marR="48134" marT="48134" marB="48134">
                    <a:lnL>
                      <a:noFill/>
                    </a:lnL>
                    <a:lnR>
                      <a:noFill/>
                    </a:lnR>
                    <a:lnT>
                      <a:noFill/>
                    </a:lnT>
                    <a:lnB>
                      <a:noFill/>
                    </a:lnB>
                    <a:solidFill>
                      <a:srgbClr val="D9EDF7"/>
                    </a:solidFill>
                  </a:tcPr>
                </a:tc>
                <a:tc>
                  <a:txBody>
                    <a:bodyPr/>
                    <a:lstStyle/>
                    <a:p>
                      <a:pPr algn="l" fontAlgn="t" latinLnBrk="0"/>
                      <a:r>
                        <a:rPr lang="en-US" sz="1800" b="1" dirty="0">
                          <a:solidFill>
                            <a:srgbClr val="111111"/>
                          </a:solidFill>
                          <a:effectLst/>
                        </a:rPr>
                        <a:t>skills</a:t>
                      </a:r>
                    </a:p>
                  </a:txBody>
                  <a:tcPr marL="48134" marR="48134" marT="48134" marB="48134">
                    <a:lnL>
                      <a:noFill/>
                    </a:lnL>
                    <a:lnR>
                      <a:noFill/>
                    </a:lnR>
                    <a:lnT>
                      <a:noFill/>
                    </a:lnT>
                    <a:lnB>
                      <a:noFill/>
                    </a:lnB>
                    <a:solidFill>
                      <a:srgbClr val="D9EDF7"/>
                    </a:solidFill>
                  </a:tcPr>
                </a:tc>
                <a:tc>
                  <a:txBody>
                    <a:bodyPr/>
                    <a:lstStyle/>
                    <a:p>
                      <a:pPr algn="l" fontAlgn="t" latinLnBrk="0"/>
                      <a:r>
                        <a:rPr lang="en-US" sz="1800" b="1">
                          <a:solidFill>
                            <a:srgbClr val="111111"/>
                          </a:solidFill>
                          <a:effectLst/>
                        </a:rPr>
                        <a:t>Knowledge</a:t>
                      </a:r>
                    </a:p>
                  </a:txBody>
                  <a:tcPr marL="48134" marR="48134" marT="48134" marB="48134">
                    <a:lnL>
                      <a:noFill/>
                    </a:lnL>
                    <a:lnR>
                      <a:noFill/>
                    </a:lnR>
                    <a:lnT>
                      <a:noFill/>
                    </a:lnT>
                    <a:lnB>
                      <a:noFill/>
                    </a:lnB>
                    <a:solidFill>
                      <a:srgbClr val="D9EDF7"/>
                    </a:solidFill>
                  </a:tcPr>
                </a:tc>
                <a:tc>
                  <a:txBody>
                    <a:bodyPr/>
                    <a:lstStyle/>
                    <a:p>
                      <a:pPr algn="l" fontAlgn="t" latinLnBrk="0"/>
                      <a:r>
                        <a:rPr lang="en-US" sz="1800" b="1">
                          <a:solidFill>
                            <a:srgbClr val="111111"/>
                          </a:solidFill>
                          <a:effectLst/>
                        </a:rPr>
                        <a:t>Competence</a:t>
                      </a:r>
                    </a:p>
                  </a:txBody>
                  <a:tcPr marL="48134" marR="48134" marT="48134" marB="48134">
                    <a:lnL>
                      <a:noFill/>
                    </a:lnL>
                    <a:lnR>
                      <a:noFill/>
                    </a:lnR>
                    <a:lnT>
                      <a:noFill/>
                    </a:lnT>
                    <a:lnB>
                      <a:noFill/>
                    </a:lnB>
                    <a:solidFill>
                      <a:srgbClr val="D9EDF7"/>
                    </a:solidFill>
                  </a:tcPr>
                </a:tc>
                <a:extLst>
                  <a:ext uri="{0D108BD9-81ED-4DB2-BD59-A6C34878D82A}">
                    <a16:rowId xmlns:a16="http://schemas.microsoft.com/office/drawing/2014/main" val="1520098786"/>
                  </a:ext>
                </a:extLst>
              </a:tr>
              <a:tr h="5555559">
                <a:tc>
                  <a:txBody>
                    <a:bodyPr/>
                    <a:lstStyle/>
                    <a:p>
                      <a:pPr algn="l" fontAlgn="t"/>
                      <a:r>
                        <a:rPr lang="en-US" sz="1800" b="0" i="0" kern="1200" dirty="0" smtClean="0">
                          <a:solidFill>
                            <a:schemeClr val="tx1"/>
                          </a:solidFill>
                          <a:effectLst/>
                          <a:latin typeface="+mn-lt"/>
                          <a:ea typeface="+mn-ea"/>
                          <a:cs typeface="+mn-cs"/>
                        </a:rPr>
                        <a:t>Level 3 qualifies a graduate to apply a broad range of knowledge and skills in varied contexts to undertake skilled work and as a pathway for further learning</a:t>
                      </a:r>
                      <a:endParaRPr lang="en-US" sz="1800" b="0" dirty="0">
                        <a:solidFill>
                          <a:srgbClr val="111111"/>
                        </a:solidFill>
                        <a:effectLst/>
                      </a:endParaRPr>
                    </a:p>
                  </a:txBody>
                  <a:tcPr marL="48134" marR="48134" marT="48134" marB="48134">
                    <a:lnL>
                      <a:noFill/>
                    </a:lnL>
                    <a:lnR>
                      <a:noFill/>
                    </a:lnR>
                    <a:lnT>
                      <a:noFill/>
                    </a:lnT>
                    <a:lnB>
                      <a:noFill/>
                    </a:lnB>
                    <a:solidFill>
                      <a:srgbClr val="F3F3F3"/>
                    </a:solidFill>
                  </a:tcPr>
                </a:tc>
                <a:tc>
                  <a:txBody>
                    <a:bodyPr/>
                    <a:lstStyle/>
                    <a:p>
                      <a:pPr algn="l" fontAlgn="t"/>
                      <a:r>
                        <a:rPr lang="en-US" sz="1800" b="0" i="0" kern="1200" dirty="0" smtClean="0">
                          <a:solidFill>
                            <a:schemeClr val="tx1"/>
                          </a:solidFill>
                          <a:effectLst/>
                          <a:latin typeface="+mn-lt"/>
                          <a:ea typeface="+mn-ea"/>
                          <a:cs typeface="+mn-cs"/>
                        </a:rPr>
                        <a:t>A graduate at this level should have —</a:t>
                      </a:r>
                      <a:br>
                        <a:rPr lang="en-US" sz="1800" b="0" i="0" kern="1200" dirty="0" smtClean="0">
                          <a:solidFill>
                            <a:schemeClr val="tx1"/>
                          </a:solidFill>
                          <a:effectLst/>
                          <a:latin typeface="+mn-lt"/>
                          <a:ea typeface="+mn-ea"/>
                          <a:cs typeface="+mn-cs"/>
                        </a:rPr>
                      </a:br>
                      <a:r>
                        <a:rPr lang="en-US" sz="1800" b="0" i="0" kern="1200" dirty="0" smtClean="0">
                          <a:solidFill>
                            <a:schemeClr val="tx1"/>
                          </a:solidFill>
                          <a:effectLst/>
                          <a:latin typeface="+mn-lt"/>
                          <a:ea typeface="+mn-ea"/>
                          <a:cs typeface="+mn-cs"/>
                        </a:rPr>
                        <a:t>cognitive, technical and communication skills to interpret and act on available information;</a:t>
                      </a:r>
                      <a:br>
                        <a:rPr lang="en-US" sz="1800" b="0" i="0" kern="1200" dirty="0" smtClean="0">
                          <a:solidFill>
                            <a:schemeClr val="tx1"/>
                          </a:solidFill>
                          <a:effectLst/>
                          <a:latin typeface="+mn-lt"/>
                          <a:ea typeface="+mn-ea"/>
                          <a:cs typeface="+mn-cs"/>
                        </a:rPr>
                      </a:br>
                      <a:r>
                        <a:rPr lang="en-US" sz="1800" b="0" i="0" kern="1200" dirty="0" smtClean="0">
                          <a:solidFill>
                            <a:schemeClr val="tx1"/>
                          </a:solidFill>
                          <a:effectLst/>
                          <a:latin typeface="+mn-lt"/>
                          <a:ea typeface="+mn-ea"/>
                          <a:cs typeface="+mn-cs"/>
                        </a:rPr>
                        <a:t>cognitive and communication skills to apply and communicate known solutions to a variety of predictable problems and to deal with unforeseen contingencies using known solutions;</a:t>
                      </a:r>
                      <a:br>
                        <a:rPr lang="en-US" sz="1800" b="0" i="0" kern="1200" dirty="0" smtClean="0">
                          <a:solidFill>
                            <a:schemeClr val="tx1"/>
                          </a:solidFill>
                          <a:effectLst/>
                          <a:latin typeface="+mn-lt"/>
                          <a:ea typeface="+mn-ea"/>
                          <a:cs typeface="+mn-cs"/>
                        </a:rPr>
                      </a:br>
                      <a:r>
                        <a:rPr lang="en-US" sz="1800" b="0" i="0" kern="1200" dirty="0" smtClean="0">
                          <a:solidFill>
                            <a:schemeClr val="tx1"/>
                          </a:solidFill>
                          <a:effectLst/>
                          <a:latin typeface="+mn-lt"/>
                          <a:ea typeface="+mn-ea"/>
                          <a:cs typeface="+mn-cs"/>
                        </a:rPr>
                        <a:t>technical and communication skills to provide technical information to a variety of specialist and non-specialist audiences; and</a:t>
                      </a:r>
                      <a:br>
                        <a:rPr lang="en-US" sz="1800" b="0" i="0" kern="1200" dirty="0" smtClean="0">
                          <a:solidFill>
                            <a:schemeClr val="tx1"/>
                          </a:solidFill>
                          <a:effectLst/>
                          <a:latin typeface="+mn-lt"/>
                          <a:ea typeface="+mn-ea"/>
                          <a:cs typeface="+mn-cs"/>
                        </a:rPr>
                      </a:br>
                      <a:r>
                        <a:rPr lang="en-US" sz="1800" b="0" i="0" kern="1200" dirty="0" smtClean="0">
                          <a:solidFill>
                            <a:schemeClr val="tx1"/>
                          </a:solidFill>
                          <a:effectLst/>
                          <a:latin typeface="+mn-lt"/>
                          <a:ea typeface="+mn-ea"/>
                          <a:cs typeface="+mn-cs"/>
                        </a:rPr>
                        <a:t>technical skills to undertake routine and some non-routine tasks in a range of skilled operations.</a:t>
                      </a:r>
                      <a:endParaRPr lang="en-US" sz="1800" b="0" dirty="0">
                        <a:solidFill>
                          <a:srgbClr val="111111"/>
                        </a:solidFill>
                        <a:effectLst/>
                      </a:endParaRPr>
                    </a:p>
                  </a:txBody>
                  <a:tcPr marL="48134" marR="48134" marT="48134" marB="48134">
                    <a:lnL>
                      <a:noFill/>
                    </a:lnL>
                    <a:lnR>
                      <a:noFill/>
                    </a:lnR>
                    <a:lnT>
                      <a:noFill/>
                    </a:lnT>
                    <a:lnB>
                      <a:noFill/>
                    </a:lnB>
                    <a:solidFill>
                      <a:srgbClr val="F3F3F3"/>
                    </a:solidFill>
                  </a:tcPr>
                </a:tc>
                <a:tc>
                  <a:txBody>
                    <a:bodyPr/>
                    <a:lstStyle/>
                    <a:p>
                      <a:pPr algn="l" fontAlgn="t"/>
                      <a:r>
                        <a:rPr lang="en-US" sz="1800" b="0" i="0" kern="1200" dirty="0" smtClean="0">
                          <a:solidFill>
                            <a:schemeClr val="tx1"/>
                          </a:solidFill>
                          <a:effectLst/>
                          <a:latin typeface="+mn-lt"/>
                          <a:ea typeface="+mn-ea"/>
                          <a:cs typeface="+mn-cs"/>
                        </a:rPr>
                        <a:t>A graduate at this level should have factual, technical, procedural and theoretical knowledge in an area of work and learning.</a:t>
                      </a:r>
                      <a:r>
                        <a:rPr lang="en-US" sz="1800" b="0" dirty="0" smtClean="0">
                          <a:solidFill>
                            <a:srgbClr val="111111"/>
                          </a:solidFill>
                          <a:effectLst/>
                        </a:rPr>
                        <a:t/>
                      </a:r>
                      <a:br>
                        <a:rPr lang="en-US" sz="1800" b="0" dirty="0" smtClean="0">
                          <a:solidFill>
                            <a:srgbClr val="111111"/>
                          </a:solidFill>
                          <a:effectLst/>
                        </a:rPr>
                      </a:br>
                      <a:endParaRPr lang="en-US" sz="1800" b="0" dirty="0">
                        <a:solidFill>
                          <a:srgbClr val="111111"/>
                        </a:solidFill>
                        <a:effectLst/>
                      </a:endParaRPr>
                    </a:p>
                  </a:txBody>
                  <a:tcPr marL="48134" marR="48134" marT="48134" marB="48134">
                    <a:lnL>
                      <a:noFill/>
                    </a:lnL>
                    <a:lnR>
                      <a:noFill/>
                    </a:lnR>
                    <a:lnT>
                      <a:noFill/>
                    </a:lnT>
                    <a:lnB>
                      <a:noFill/>
                    </a:lnB>
                    <a:solidFill>
                      <a:srgbClr val="F3F3F3"/>
                    </a:solidFill>
                  </a:tcPr>
                </a:tc>
                <a:tc>
                  <a:txBody>
                    <a:bodyPr/>
                    <a:lstStyle/>
                    <a:p>
                      <a:pPr algn="l" fontAlgn="t"/>
                      <a:r>
                        <a:rPr lang="en-US" sz="1800" b="0" i="0" kern="1200" dirty="0" smtClean="0">
                          <a:solidFill>
                            <a:schemeClr val="tx1"/>
                          </a:solidFill>
                          <a:effectLst/>
                          <a:latin typeface="+mn-lt"/>
                          <a:ea typeface="+mn-ea"/>
                          <a:cs typeface="+mn-cs"/>
                        </a:rPr>
                        <a:t>A graduate at this level should demonstrate the application of knowledge and skills —</a:t>
                      </a:r>
                      <a:br>
                        <a:rPr lang="en-US" sz="1800" b="0" i="0" kern="1200" dirty="0" smtClean="0">
                          <a:solidFill>
                            <a:schemeClr val="tx1"/>
                          </a:solidFill>
                          <a:effectLst/>
                          <a:latin typeface="+mn-lt"/>
                          <a:ea typeface="+mn-ea"/>
                          <a:cs typeface="+mn-cs"/>
                        </a:rPr>
                      </a:br>
                      <a:r>
                        <a:rPr lang="en-US" sz="1800" b="0" i="0" kern="1200" dirty="0" smtClean="0">
                          <a:solidFill>
                            <a:schemeClr val="tx1"/>
                          </a:solidFill>
                          <a:effectLst/>
                          <a:latin typeface="+mn-lt"/>
                          <a:ea typeface="+mn-ea"/>
                          <a:cs typeface="+mn-cs"/>
                        </a:rPr>
                        <a:t>for discretion and judgment in the selection of equipment, services or contingency measures;</a:t>
                      </a:r>
                      <a:br>
                        <a:rPr lang="en-US" sz="1800" b="0" i="0" kern="1200" dirty="0" smtClean="0">
                          <a:solidFill>
                            <a:schemeClr val="tx1"/>
                          </a:solidFill>
                          <a:effectLst/>
                          <a:latin typeface="+mn-lt"/>
                          <a:ea typeface="+mn-ea"/>
                          <a:cs typeface="+mn-cs"/>
                        </a:rPr>
                      </a:br>
                      <a:r>
                        <a:rPr lang="en-US" sz="1800" b="0" i="0" kern="1200" dirty="0" smtClean="0">
                          <a:solidFill>
                            <a:schemeClr val="tx1"/>
                          </a:solidFill>
                          <a:effectLst/>
                          <a:latin typeface="+mn-lt"/>
                          <a:ea typeface="+mn-ea"/>
                          <a:cs typeface="+mn-cs"/>
                        </a:rPr>
                        <a:t>to adapt and transfer skills and knowledge within known routines, methods, procedures and time constraints; and</a:t>
                      </a:r>
                      <a:br>
                        <a:rPr lang="en-US" sz="1800" b="0" i="0" kern="1200" dirty="0" smtClean="0">
                          <a:solidFill>
                            <a:schemeClr val="tx1"/>
                          </a:solidFill>
                          <a:effectLst/>
                          <a:latin typeface="+mn-lt"/>
                          <a:ea typeface="+mn-ea"/>
                          <a:cs typeface="+mn-cs"/>
                        </a:rPr>
                      </a:br>
                      <a:r>
                        <a:rPr lang="en-US" sz="1800" b="0" i="0" kern="1200" dirty="0" smtClean="0">
                          <a:solidFill>
                            <a:schemeClr val="tx1"/>
                          </a:solidFill>
                          <a:effectLst/>
                          <a:latin typeface="+mn-lt"/>
                          <a:ea typeface="+mn-ea"/>
                          <a:cs typeface="+mn-cs"/>
                        </a:rPr>
                        <a:t>in contexts that include taking responsibility for own outputs in work and learning including participation in teams and taking limited responsibility for the output of others within established parameters.</a:t>
                      </a:r>
                      <a:endParaRPr lang="en-US" sz="1800" b="0" dirty="0">
                        <a:solidFill>
                          <a:srgbClr val="111111"/>
                        </a:solidFill>
                        <a:effectLst/>
                      </a:endParaRPr>
                    </a:p>
                  </a:txBody>
                  <a:tcPr marL="48134" marR="48134" marT="48134" marB="48134">
                    <a:lnL>
                      <a:noFill/>
                    </a:lnL>
                    <a:lnR>
                      <a:noFill/>
                    </a:lnR>
                    <a:lnT>
                      <a:noFill/>
                    </a:lnT>
                    <a:lnB>
                      <a:noFill/>
                    </a:lnB>
                    <a:solidFill>
                      <a:srgbClr val="F3F3F3"/>
                    </a:solidFill>
                  </a:tcPr>
                </a:tc>
                <a:extLst>
                  <a:ext uri="{0D108BD9-81ED-4DB2-BD59-A6C34878D82A}">
                    <a16:rowId xmlns:a16="http://schemas.microsoft.com/office/drawing/2014/main" val="4227333543"/>
                  </a:ext>
                </a:extLst>
              </a:tr>
            </a:tbl>
          </a:graphicData>
        </a:graphic>
      </p:graphicFrame>
    </p:spTree>
    <p:extLst>
      <p:ext uri="{BB962C8B-B14F-4D97-AF65-F5344CB8AC3E}">
        <p14:creationId xmlns:p14="http://schemas.microsoft.com/office/powerpoint/2010/main" val="31015051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Content Placeholder 13"/>
          <p:cNvGraphicFramePr>
            <a:graphicFrameLocks noGrp="1"/>
          </p:cNvGraphicFramePr>
          <p:nvPr>
            <p:ph idx="1"/>
            <p:extLst>
              <p:ext uri="{D42A27DB-BD31-4B8C-83A1-F6EECF244321}">
                <p14:modId xmlns:p14="http://schemas.microsoft.com/office/powerpoint/2010/main" val="28435327"/>
              </p:ext>
            </p:extLst>
          </p:nvPr>
        </p:nvGraphicFramePr>
        <p:xfrm>
          <a:off x="235129" y="130629"/>
          <a:ext cx="11430004" cy="6227576"/>
        </p:xfrm>
        <a:graphic>
          <a:graphicData uri="http://schemas.openxmlformats.org/drawingml/2006/table">
            <a:tbl>
              <a:tblPr/>
              <a:tblGrid>
                <a:gridCol w="2857501">
                  <a:extLst>
                    <a:ext uri="{9D8B030D-6E8A-4147-A177-3AD203B41FA5}">
                      <a16:colId xmlns:a16="http://schemas.microsoft.com/office/drawing/2014/main" val="327061033"/>
                    </a:ext>
                  </a:extLst>
                </a:gridCol>
                <a:gridCol w="2857501">
                  <a:extLst>
                    <a:ext uri="{9D8B030D-6E8A-4147-A177-3AD203B41FA5}">
                      <a16:colId xmlns:a16="http://schemas.microsoft.com/office/drawing/2014/main" val="2346210555"/>
                    </a:ext>
                  </a:extLst>
                </a:gridCol>
                <a:gridCol w="2857501">
                  <a:extLst>
                    <a:ext uri="{9D8B030D-6E8A-4147-A177-3AD203B41FA5}">
                      <a16:colId xmlns:a16="http://schemas.microsoft.com/office/drawing/2014/main" val="2935891437"/>
                    </a:ext>
                  </a:extLst>
                </a:gridCol>
                <a:gridCol w="2857501">
                  <a:extLst>
                    <a:ext uri="{9D8B030D-6E8A-4147-A177-3AD203B41FA5}">
                      <a16:colId xmlns:a16="http://schemas.microsoft.com/office/drawing/2014/main" val="3273012976"/>
                    </a:ext>
                  </a:extLst>
                </a:gridCol>
              </a:tblGrid>
              <a:tr h="335789">
                <a:tc>
                  <a:txBody>
                    <a:bodyPr/>
                    <a:lstStyle/>
                    <a:p>
                      <a:pPr algn="l" fontAlgn="t" latinLnBrk="0"/>
                      <a:r>
                        <a:rPr lang="en-US" sz="1800" b="1">
                          <a:solidFill>
                            <a:srgbClr val="111111"/>
                          </a:solidFill>
                          <a:effectLst/>
                        </a:rPr>
                        <a:t>Level</a:t>
                      </a:r>
                    </a:p>
                  </a:txBody>
                  <a:tcPr marL="48134" marR="48134" marT="48134" marB="48134">
                    <a:lnL>
                      <a:noFill/>
                    </a:lnL>
                    <a:lnR>
                      <a:noFill/>
                    </a:lnR>
                    <a:lnT>
                      <a:noFill/>
                    </a:lnT>
                    <a:lnB>
                      <a:noFill/>
                    </a:lnB>
                    <a:solidFill>
                      <a:srgbClr val="D9EDF7"/>
                    </a:solidFill>
                  </a:tcPr>
                </a:tc>
                <a:tc>
                  <a:txBody>
                    <a:bodyPr/>
                    <a:lstStyle/>
                    <a:p>
                      <a:pPr algn="l" fontAlgn="t" latinLnBrk="0"/>
                      <a:r>
                        <a:rPr lang="en-US" sz="1800" b="1" dirty="0">
                          <a:solidFill>
                            <a:srgbClr val="111111"/>
                          </a:solidFill>
                          <a:effectLst/>
                        </a:rPr>
                        <a:t>skills</a:t>
                      </a:r>
                    </a:p>
                  </a:txBody>
                  <a:tcPr marL="48134" marR="48134" marT="48134" marB="48134">
                    <a:lnL>
                      <a:noFill/>
                    </a:lnL>
                    <a:lnR>
                      <a:noFill/>
                    </a:lnR>
                    <a:lnT>
                      <a:noFill/>
                    </a:lnT>
                    <a:lnB>
                      <a:noFill/>
                    </a:lnB>
                    <a:solidFill>
                      <a:srgbClr val="D9EDF7"/>
                    </a:solidFill>
                  </a:tcPr>
                </a:tc>
                <a:tc>
                  <a:txBody>
                    <a:bodyPr/>
                    <a:lstStyle/>
                    <a:p>
                      <a:pPr algn="l" fontAlgn="t" latinLnBrk="0"/>
                      <a:r>
                        <a:rPr lang="en-US" sz="1800" b="1">
                          <a:solidFill>
                            <a:srgbClr val="111111"/>
                          </a:solidFill>
                          <a:effectLst/>
                        </a:rPr>
                        <a:t>Knowledge</a:t>
                      </a:r>
                    </a:p>
                  </a:txBody>
                  <a:tcPr marL="48134" marR="48134" marT="48134" marB="48134">
                    <a:lnL>
                      <a:noFill/>
                    </a:lnL>
                    <a:lnR>
                      <a:noFill/>
                    </a:lnR>
                    <a:lnT>
                      <a:noFill/>
                    </a:lnT>
                    <a:lnB>
                      <a:noFill/>
                    </a:lnB>
                    <a:solidFill>
                      <a:srgbClr val="D9EDF7"/>
                    </a:solidFill>
                  </a:tcPr>
                </a:tc>
                <a:tc>
                  <a:txBody>
                    <a:bodyPr/>
                    <a:lstStyle/>
                    <a:p>
                      <a:pPr algn="l" fontAlgn="t" latinLnBrk="0"/>
                      <a:r>
                        <a:rPr lang="en-US" sz="1800" b="1">
                          <a:solidFill>
                            <a:srgbClr val="111111"/>
                          </a:solidFill>
                          <a:effectLst/>
                        </a:rPr>
                        <a:t>Competence</a:t>
                      </a:r>
                    </a:p>
                  </a:txBody>
                  <a:tcPr marL="48134" marR="48134" marT="48134" marB="48134">
                    <a:lnL>
                      <a:noFill/>
                    </a:lnL>
                    <a:lnR>
                      <a:noFill/>
                    </a:lnR>
                    <a:lnT>
                      <a:noFill/>
                    </a:lnT>
                    <a:lnB>
                      <a:noFill/>
                    </a:lnB>
                    <a:solidFill>
                      <a:srgbClr val="D9EDF7"/>
                    </a:solidFill>
                  </a:tcPr>
                </a:tc>
                <a:extLst>
                  <a:ext uri="{0D108BD9-81ED-4DB2-BD59-A6C34878D82A}">
                    <a16:rowId xmlns:a16="http://schemas.microsoft.com/office/drawing/2014/main" val="1520098786"/>
                  </a:ext>
                </a:extLst>
              </a:tr>
              <a:tr h="5555559">
                <a:tc>
                  <a:txBody>
                    <a:bodyPr/>
                    <a:lstStyle/>
                    <a:p>
                      <a:pPr algn="l" fontAlgn="t"/>
                      <a:r>
                        <a:rPr lang="en-US" sz="1800" b="0" i="0" kern="1200" dirty="0" smtClean="0">
                          <a:solidFill>
                            <a:schemeClr val="tx1"/>
                          </a:solidFill>
                          <a:effectLst/>
                          <a:latin typeface="+mn-lt"/>
                          <a:ea typeface="+mn-ea"/>
                          <a:cs typeface="+mn-cs"/>
                        </a:rPr>
                        <a:t>Level 4 qualifies a graduate to apply a broad range of specialized knowledge and skills in varied contexts to undertake skilled work and as a pathway for further learning.</a:t>
                      </a:r>
                      <a:endParaRPr lang="en-US" sz="1800" b="0" dirty="0">
                        <a:solidFill>
                          <a:srgbClr val="111111"/>
                        </a:solidFill>
                        <a:effectLst/>
                      </a:endParaRPr>
                    </a:p>
                  </a:txBody>
                  <a:tcPr marL="48134" marR="48134" marT="48134" marB="48134">
                    <a:lnL>
                      <a:noFill/>
                    </a:lnL>
                    <a:lnR>
                      <a:noFill/>
                    </a:lnR>
                    <a:lnT>
                      <a:noFill/>
                    </a:lnT>
                    <a:lnB>
                      <a:noFill/>
                    </a:lnB>
                    <a:solidFill>
                      <a:srgbClr val="F3F3F3"/>
                    </a:solidFill>
                  </a:tcPr>
                </a:tc>
                <a:tc>
                  <a:txBody>
                    <a:bodyPr/>
                    <a:lstStyle/>
                    <a:p>
                      <a:pPr algn="l" fontAlgn="t"/>
                      <a:r>
                        <a:rPr lang="en-US" sz="1800" b="0" i="0" kern="1200" dirty="0" smtClean="0">
                          <a:solidFill>
                            <a:schemeClr val="tx1"/>
                          </a:solidFill>
                          <a:effectLst/>
                          <a:latin typeface="+mn-lt"/>
                          <a:ea typeface="+mn-ea"/>
                          <a:cs typeface="+mn-cs"/>
                        </a:rPr>
                        <a:t>A graduate at this level should have —</a:t>
                      </a:r>
                      <a:r>
                        <a:rPr lang="en-US" dirty="0" smtClean="0"/>
                        <a:t/>
                      </a:r>
                      <a:br>
                        <a:rPr lang="en-US" dirty="0" smtClean="0"/>
                      </a:br>
                      <a:r>
                        <a:rPr lang="en-US" sz="1800" b="0" i="0" kern="1200" dirty="0" smtClean="0">
                          <a:solidFill>
                            <a:schemeClr val="tx1"/>
                          </a:solidFill>
                          <a:effectLst/>
                          <a:latin typeface="+mn-lt"/>
                          <a:ea typeface="+mn-ea"/>
                          <a:cs typeface="+mn-cs"/>
                        </a:rPr>
                        <a:t>cognitive skills to identify, analyze, compare and act on information from a range of sources;</a:t>
                      </a:r>
                      <a:r>
                        <a:rPr lang="en-US" dirty="0" smtClean="0"/>
                        <a:t/>
                      </a:r>
                      <a:br>
                        <a:rPr lang="en-US" dirty="0" smtClean="0"/>
                      </a:br>
                      <a:r>
                        <a:rPr lang="en-US" sz="1800" b="0" i="0" kern="1200" dirty="0" smtClean="0">
                          <a:solidFill>
                            <a:schemeClr val="tx1"/>
                          </a:solidFill>
                          <a:effectLst/>
                          <a:latin typeface="+mn-lt"/>
                          <a:ea typeface="+mn-ea"/>
                          <a:cs typeface="+mn-cs"/>
                        </a:rPr>
                        <a:t>cognitive, technical and communication skills to apply and communicate technical;</a:t>
                      </a:r>
                      <a:r>
                        <a:rPr lang="en-US" dirty="0" smtClean="0"/>
                        <a:t/>
                      </a:r>
                      <a:br>
                        <a:rPr lang="en-US" dirty="0" smtClean="0"/>
                      </a:br>
                      <a:r>
                        <a:rPr lang="en-US" sz="1800" b="0" i="0" kern="1200" dirty="0" smtClean="0">
                          <a:solidFill>
                            <a:schemeClr val="tx1"/>
                          </a:solidFill>
                          <a:effectLst/>
                          <a:latin typeface="+mn-lt"/>
                          <a:ea typeface="+mn-ea"/>
                          <a:cs typeface="+mn-cs"/>
                        </a:rPr>
                        <a:t>solutions of a non-routine or contingency nature to a defined range of predictable and unpredictable problems;</a:t>
                      </a:r>
                      <a:r>
                        <a:rPr lang="en-US" dirty="0" smtClean="0"/>
                        <a:t/>
                      </a:r>
                      <a:br>
                        <a:rPr lang="en-US" dirty="0" smtClean="0"/>
                      </a:br>
                      <a:r>
                        <a:rPr lang="en-US" sz="1800" b="0" i="0" kern="1200" dirty="0" smtClean="0">
                          <a:solidFill>
                            <a:schemeClr val="tx1"/>
                          </a:solidFill>
                          <a:effectLst/>
                          <a:latin typeface="+mn-lt"/>
                          <a:ea typeface="+mn-ea"/>
                          <a:cs typeface="+mn-cs"/>
                        </a:rPr>
                        <a:t>specialist technical skills to complete routine and non-routine tasks and functions; and</a:t>
                      </a:r>
                      <a:r>
                        <a:rPr lang="en-US" dirty="0" smtClean="0"/>
                        <a:t/>
                      </a:r>
                      <a:br>
                        <a:rPr lang="en-US" dirty="0" smtClean="0"/>
                      </a:br>
                      <a:r>
                        <a:rPr lang="en-US" sz="1800" b="0" i="0" kern="1200" dirty="0" smtClean="0">
                          <a:solidFill>
                            <a:schemeClr val="tx1"/>
                          </a:solidFill>
                          <a:effectLst/>
                          <a:latin typeface="+mn-lt"/>
                          <a:ea typeface="+mn-ea"/>
                          <a:cs typeface="+mn-cs"/>
                        </a:rPr>
                        <a:t>communication skills to guide activities and provide technical advice in work and learning</a:t>
                      </a:r>
                      <a:endParaRPr lang="en-US" sz="1800" b="0" dirty="0">
                        <a:solidFill>
                          <a:srgbClr val="111111"/>
                        </a:solidFill>
                        <a:effectLst/>
                      </a:endParaRPr>
                    </a:p>
                  </a:txBody>
                  <a:tcPr marL="48134" marR="48134" marT="48134" marB="48134">
                    <a:lnL>
                      <a:noFill/>
                    </a:lnL>
                    <a:lnR>
                      <a:noFill/>
                    </a:lnR>
                    <a:lnT>
                      <a:noFill/>
                    </a:lnT>
                    <a:lnB>
                      <a:noFill/>
                    </a:lnB>
                    <a:solidFill>
                      <a:srgbClr val="F3F3F3"/>
                    </a:solidFill>
                  </a:tcPr>
                </a:tc>
                <a:tc>
                  <a:txBody>
                    <a:bodyPr/>
                    <a:lstStyle/>
                    <a:p>
                      <a:pPr algn="l" fontAlgn="t"/>
                      <a:r>
                        <a:rPr lang="en-US" sz="1800" b="0" i="0" kern="1200" dirty="0" smtClean="0">
                          <a:solidFill>
                            <a:schemeClr val="tx1"/>
                          </a:solidFill>
                          <a:effectLst/>
                          <a:latin typeface="+mn-lt"/>
                          <a:ea typeface="+mn-ea"/>
                          <a:cs typeface="+mn-cs"/>
                        </a:rPr>
                        <a:t>A graduate at this level should have broad factual, technical and theoretical knowledge in a specialized field of work and learning.</a:t>
                      </a:r>
                      <a:r>
                        <a:rPr lang="en-US" sz="1800" b="0" dirty="0" smtClean="0">
                          <a:solidFill>
                            <a:srgbClr val="111111"/>
                          </a:solidFill>
                          <a:effectLst/>
                        </a:rPr>
                        <a:t/>
                      </a:r>
                      <a:br>
                        <a:rPr lang="en-US" sz="1800" b="0" dirty="0" smtClean="0">
                          <a:solidFill>
                            <a:srgbClr val="111111"/>
                          </a:solidFill>
                          <a:effectLst/>
                        </a:rPr>
                      </a:br>
                      <a:endParaRPr lang="en-US" sz="1800" b="0" dirty="0">
                        <a:solidFill>
                          <a:srgbClr val="111111"/>
                        </a:solidFill>
                        <a:effectLst/>
                      </a:endParaRPr>
                    </a:p>
                  </a:txBody>
                  <a:tcPr marL="48134" marR="48134" marT="48134" marB="48134">
                    <a:lnL>
                      <a:noFill/>
                    </a:lnL>
                    <a:lnR>
                      <a:noFill/>
                    </a:lnR>
                    <a:lnT>
                      <a:noFill/>
                    </a:lnT>
                    <a:lnB>
                      <a:noFill/>
                    </a:lnB>
                    <a:solidFill>
                      <a:srgbClr val="F3F3F3"/>
                    </a:solidFill>
                  </a:tcPr>
                </a:tc>
                <a:tc>
                  <a:txBody>
                    <a:bodyPr/>
                    <a:lstStyle/>
                    <a:p>
                      <a:pPr algn="l" fontAlgn="t"/>
                      <a:r>
                        <a:rPr lang="en-US" sz="1800" b="0" i="0" kern="1200" dirty="0" smtClean="0">
                          <a:solidFill>
                            <a:schemeClr val="tx1"/>
                          </a:solidFill>
                          <a:effectLst/>
                          <a:latin typeface="+mn-lt"/>
                          <a:ea typeface="+mn-ea"/>
                          <a:cs typeface="+mn-cs"/>
                        </a:rPr>
                        <a:t>A graduate at this level should demonstrate the application of knowledge and skills —</a:t>
                      </a:r>
                      <a:r>
                        <a:rPr lang="en-US" dirty="0" smtClean="0"/>
                        <a:t/>
                      </a:r>
                      <a:br>
                        <a:rPr lang="en-US" dirty="0" smtClean="0"/>
                      </a:br>
                      <a:r>
                        <a:rPr lang="en-US" sz="1800" b="0" i="0" kern="1200" dirty="0" smtClean="0">
                          <a:solidFill>
                            <a:schemeClr val="tx1"/>
                          </a:solidFill>
                          <a:effectLst/>
                          <a:latin typeface="+mn-lt"/>
                          <a:ea typeface="+mn-ea"/>
                          <a:cs typeface="+mn-cs"/>
                        </a:rPr>
                        <a:t>to specialized tasks or functions in known or changing contexts;</a:t>
                      </a:r>
                      <a:r>
                        <a:rPr lang="en-US" dirty="0" smtClean="0"/>
                        <a:t/>
                      </a:r>
                      <a:br>
                        <a:rPr lang="en-US" dirty="0" smtClean="0"/>
                      </a:br>
                      <a:r>
                        <a:rPr lang="en-US" sz="1800" b="0" i="0" kern="1200" dirty="0" smtClean="0">
                          <a:solidFill>
                            <a:schemeClr val="tx1"/>
                          </a:solidFill>
                          <a:effectLst/>
                          <a:latin typeface="+mn-lt"/>
                          <a:ea typeface="+mn-ea"/>
                          <a:cs typeface="+mn-cs"/>
                        </a:rPr>
                        <a:t>for responsibility for own functions and outputs, and may have limited responsibility for organization of others; and</a:t>
                      </a:r>
                      <a:r>
                        <a:rPr lang="en-US" dirty="0" smtClean="0"/>
                        <a:t/>
                      </a:r>
                      <a:br>
                        <a:rPr lang="en-US" dirty="0" smtClean="0"/>
                      </a:br>
                      <a:r>
                        <a:rPr lang="en-US" sz="1800" b="0" i="0" kern="1200" dirty="0" smtClean="0">
                          <a:solidFill>
                            <a:schemeClr val="tx1"/>
                          </a:solidFill>
                          <a:effectLst/>
                          <a:latin typeface="+mn-lt"/>
                          <a:ea typeface="+mn-ea"/>
                          <a:cs typeface="+mn-cs"/>
                        </a:rPr>
                        <a:t>for limited responsibility for the quantity and quality of the output of others in a team within limited parameters</a:t>
                      </a:r>
                      <a:endParaRPr lang="en-US" sz="1800" b="0" dirty="0">
                        <a:solidFill>
                          <a:srgbClr val="111111"/>
                        </a:solidFill>
                        <a:effectLst/>
                      </a:endParaRPr>
                    </a:p>
                  </a:txBody>
                  <a:tcPr marL="48134" marR="48134" marT="48134" marB="48134">
                    <a:lnL>
                      <a:noFill/>
                    </a:lnL>
                    <a:lnR>
                      <a:noFill/>
                    </a:lnR>
                    <a:lnT>
                      <a:noFill/>
                    </a:lnT>
                    <a:lnB>
                      <a:noFill/>
                    </a:lnB>
                    <a:solidFill>
                      <a:srgbClr val="F3F3F3"/>
                    </a:solidFill>
                  </a:tcPr>
                </a:tc>
                <a:extLst>
                  <a:ext uri="{0D108BD9-81ED-4DB2-BD59-A6C34878D82A}">
                    <a16:rowId xmlns:a16="http://schemas.microsoft.com/office/drawing/2014/main" val="4227333543"/>
                  </a:ext>
                </a:extLst>
              </a:tr>
            </a:tbl>
          </a:graphicData>
        </a:graphic>
      </p:graphicFrame>
    </p:spTree>
    <p:extLst>
      <p:ext uri="{BB962C8B-B14F-4D97-AF65-F5344CB8AC3E}">
        <p14:creationId xmlns:p14="http://schemas.microsoft.com/office/powerpoint/2010/main" val="9679154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Content Placeholder 13"/>
          <p:cNvGraphicFramePr>
            <a:graphicFrameLocks noGrp="1"/>
          </p:cNvGraphicFramePr>
          <p:nvPr>
            <p:ph idx="1"/>
            <p:extLst>
              <p:ext uri="{D42A27DB-BD31-4B8C-83A1-F6EECF244321}">
                <p14:modId xmlns:p14="http://schemas.microsoft.com/office/powerpoint/2010/main" val="237454062"/>
              </p:ext>
            </p:extLst>
          </p:nvPr>
        </p:nvGraphicFramePr>
        <p:xfrm>
          <a:off x="235128" y="130629"/>
          <a:ext cx="11652071" cy="6227576"/>
        </p:xfrm>
        <a:graphic>
          <a:graphicData uri="http://schemas.openxmlformats.org/drawingml/2006/table">
            <a:tbl>
              <a:tblPr/>
              <a:tblGrid>
                <a:gridCol w="2913018">
                  <a:extLst>
                    <a:ext uri="{9D8B030D-6E8A-4147-A177-3AD203B41FA5}">
                      <a16:colId xmlns:a16="http://schemas.microsoft.com/office/drawing/2014/main" val="327061033"/>
                    </a:ext>
                  </a:extLst>
                </a:gridCol>
                <a:gridCol w="3146059">
                  <a:extLst>
                    <a:ext uri="{9D8B030D-6E8A-4147-A177-3AD203B41FA5}">
                      <a16:colId xmlns:a16="http://schemas.microsoft.com/office/drawing/2014/main" val="2346210555"/>
                    </a:ext>
                  </a:extLst>
                </a:gridCol>
                <a:gridCol w="2679976">
                  <a:extLst>
                    <a:ext uri="{9D8B030D-6E8A-4147-A177-3AD203B41FA5}">
                      <a16:colId xmlns:a16="http://schemas.microsoft.com/office/drawing/2014/main" val="2935891437"/>
                    </a:ext>
                  </a:extLst>
                </a:gridCol>
                <a:gridCol w="2913018">
                  <a:extLst>
                    <a:ext uri="{9D8B030D-6E8A-4147-A177-3AD203B41FA5}">
                      <a16:colId xmlns:a16="http://schemas.microsoft.com/office/drawing/2014/main" val="3273012976"/>
                    </a:ext>
                  </a:extLst>
                </a:gridCol>
              </a:tblGrid>
              <a:tr h="335789">
                <a:tc>
                  <a:txBody>
                    <a:bodyPr/>
                    <a:lstStyle/>
                    <a:p>
                      <a:pPr algn="l" fontAlgn="t" latinLnBrk="0"/>
                      <a:r>
                        <a:rPr lang="en-US" sz="1800" b="1">
                          <a:solidFill>
                            <a:srgbClr val="111111"/>
                          </a:solidFill>
                          <a:effectLst/>
                        </a:rPr>
                        <a:t>Level</a:t>
                      </a:r>
                    </a:p>
                  </a:txBody>
                  <a:tcPr marL="48134" marR="48134" marT="48134" marB="48134">
                    <a:lnL>
                      <a:noFill/>
                    </a:lnL>
                    <a:lnR>
                      <a:noFill/>
                    </a:lnR>
                    <a:lnT>
                      <a:noFill/>
                    </a:lnT>
                    <a:lnB>
                      <a:noFill/>
                    </a:lnB>
                    <a:solidFill>
                      <a:srgbClr val="D9EDF7"/>
                    </a:solidFill>
                  </a:tcPr>
                </a:tc>
                <a:tc>
                  <a:txBody>
                    <a:bodyPr/>
                    <a:lstStyle/>
                    <a:p>
                      <a:pPr algn="l" fontAlgn="t" latinLnBrk="0"/>
                      <a:r>
                        <a:rPr lang="en-US" sz="1800" b="1" dirty="0">
                          <a:solidFill>
                            <a:srgbClr val="111111"/>
                          </a:solidFill>
                          <a:effectLst/>
                        </a:rPr>
                        <a:t>skills</a:t>
                      </a:r>
                    </a:p>
                  </a:txBody>
                  <a:tcPr marL="48134" marR="48134" marT="48134" marB="48134">
                    <a:lnL>
                      <a:noFill/>
                    </a:lnL>
                    <a:lnR>
                      <a:noFill/>
                    </a:lnR>
                    <a:lnT>
                      <a:noFill/>
                    </a:lnT>
                    <a:lnB>
                      <a:noFill/>
                    </a:lnB>
                    <a:solidFill>
                      <a:srgbClr val="D9EDF7"/>
                    </a:solidFill>
                  </a:tcPr>
                </a:tc>
                <a:tc>
                  <a:txBody>
                    <a:bodyPr/>
                    <a:lstStyle/>
                    <a:p>
                      <a:pPr algn="l" fontAlgn="t" latinLnBrk="0"/>
                      <a:r>
                        <a:rPr lang="en-US" sz="1800" b="1">
                          <a:solidFill>
                            <a:srgbClr val="111111"/>
                          </a:solidFill>
                          <a:effectLst/>
                        </a:rPr>
                        <a:t>Knowledge</a:t>
                      </a:r>
                    </a:p>
                  </a:txBody>
                  <a:tcPr marL="48134" marR="48134" marT="48134" marB="48134">
                    <a:lnL>
                      <a:noFill/>
                    </a:lnL>
                    <a:lnR>
                      <a:noFill/>
                    </a:lnR>
                    <a:lnT>
                      <a:noFill/>
                    </a:lnT>
                    <a:lnB>
                      <a:noFill/>
                    </a:lnB>
                    <a:solidFill>
                      <a:srgbClr val="D9EDF7"/>
                    </a:solidFill>
                  </a:tcPr>
                </a:tc>
                <a:tc>
                  <a:txBody>
                    <a:bodyPr/>
                    <a:lstStyle/>
                    <a:p>
                      <a:pPr algn="l" fontAlgn="t" latinLnBrk="0"/>
                      <a:r>
                        <a:rPr lang="en-US" sz="1800" b="1">
                          <a:solidFill>
                            <a:srgbClr val="111111"/>
                          </a:solidFill>
                          <a:effectLst/>
                        </a:rPr>
                        <a:t>Competence</a:t>
                      </a:r>
                    </a:p>
                  </a:txBody>
                  <a:tcPr marL="48134" marR="48134" marT="48134" marB="48134">
                    <a:lnL>
                      <a:noFill/>
                    </a:lnL>
                    <a:lnR>
                      <a:noFill/>
                    </a:lnR>
                    <a:lnT>
                      <a:noFill/>
                    </a:lnT>
                    <a:lnB>
                      <a:noFill/>
                    </a:lnB>
                    <a:solidFill>
                      <a:srgbClr val="D9EDF7"/>
                    </a:solidFill>
                  </a:tcPr>
                </a:tc>
                <a:extLst>
                  <a:ext uri="{0D108BD9-81ED-4DB2-BD59-A6C34878D82A}">
                    <a16:rowId xmlns:a16="http://schemas.microsoft.com/office/drawing/2014/main" val="1520098786"/>
                  </a:ext>
                </a:extLst>
              </a:tr>
              <a:tr h="5555559">
                <a:tc>
                  <a:txBody>
                    <a:bodyPr/>
                    <a:lstStyle/>
                    <a:p>
                      <a:pPr algn="l" fontAlgn="t"/>
                      <a:r>
                        <a:rPr lang="en-US" sz="1800" b="0" i="0" kern="1200" dirty="0" smtClean="0">
                          <a:solidFill>
                            <a:schemeClr val="tx1"/>
                          </a:solidFill>
                          <a:effectLst/>
                          <a:latin typeface="+mn-lt"/>
                          <a:ea typeface="+mn-ea"/>
                          <a:cs typeface="+mn-cs"/>
                        </a:rPr>
                        <a:t>Level 5 qualifies a graduate to apply integrated technical and theoretical concepts in a broad range of contexts to undertake advanced skilled or paraprofessional work and as a pathway for further learning.</a:t>
                      </a:r>
                      <a:endParaRPr lang="en-US" sz="1800" b="0" dirty="0">
                        <a:solidFill>
                          <a:srgbClr val="111111"/>
                        </a:solidFill>
                        <a:effectLst/>
                      </a:endParaRPr>
                    </a:p>
                  </a:txBody>
                  <a:tcPr marL="48134" marR="48134" marT="48134" marB="48134">
                    <a:lnL>
                      <a:noFill/>
                    </a:lnL>
                    <a:lnR>
                      <a:noFill/>
                    </a:lnR>
                    <a:lnT>
                      <a:noFill/>
                    </a:lnT>
                    <a:lnB>
                      <a:noFill/>
                    </a:lnB>
                    <a:solidFill>
                      <a:srgbClr val="F3F3F3"/>
                    </a:solidFill>
                  </a:tcPr>
                </a:tc>
                <a:tc>
                  <a:txBody>
                    <a:bodyPr/>
                    <a:lstStyle/>
                    <a:p>
                      <a:pPr algn="l" fontAlgn="t"/>
                      <a:r>
                        <a:rPr lang="en-US" sz="1800" b="0" i="0" kern="1200" dirty="0" smtClean="0">
                          <a:solidFill>
                            <a:schemeClr val="tx1"/>
                          </a:solidFill>
                          <a:effectLst/>
                          <a:latin typeface="+mn-lt"/>
                          <a:ea typeface="+mn-ea"/>
                          <a:cs typeface="+mn-cs"/>
                        </a:rPr>
                        <a:t>A graduate at this level should have —</a:t>
                      </a:r>
                      <a:r>
                        <a:rPr lang="en-US" dirty="0" smtClean="0"/>
                        <a:t/>
                      </a:r>
                      <a:br>
                        <a:rPr lang="en-US" dirty="0" smtClean="0"/>
                      </a:br>
                      <a:r>
                        <a:rPr lang="en-US" sz="1800" b="0" i="0" kern="1200" dirty="0" smtClean="0">
                          <a:solidFill>
                            <a:schemeClr val="tx1"/>
                          </a:solidFill>
                          <a:effectLst/>
                          <a:latin typeface="+mn-lt"/>
                          <a:ea typeface="+mn-ea"/>
                          <a:cs typeface="+mn-cs"/>
                        </a:rPr>
                        <a:t>cognitive and communication skills to identify, analyze, synthesize and act on information from a range of sources;</a:t>
                      </a:r>
                      <a:r>
                        <a:rPr lang="en-US" dirty="0" smtClean="0"/>
                        <a:t/>
                      </a:r>
                      <a:br>
                        <a:rPr lang="en-US" dirty="0" smtClean="0"/>
                      </a:br>
                      <a:r>
                        <a:rPr lang="en-US" sz="1800" b="0" i="0" kern="1200" dirty="0" smtClean="0">
                          <a:solidFill>
                            <a:schemeClr val="tx1"/>
                          </a:solidFill>
                          <a:effectLst/>
                          <a:latin typeface="+mn-lt"/>
                          <a:ea typeface="+mn-ea"/>
                          <a:cs typeface="+mn-cs"/>
                        </a:rPr>
                        <a:t>cognitive, technical and communication skills to analyst, plan, design and evaluate approaches to unpredictable problems and/or management requirements;</a:t>
                      </a:r>
                      <a:r>
                        <a:rPr lang="en-US" dirty="0" smtClean="0"/>
                        <a:t/>
                      </a:r>
                      <a:br>
                        <a:rPr lang="en-US" dirty="0" smtClean="0"/>
                      </a:br>
                      <a:r>
                        <a:rPr lang="en-US" sz="1800" b="0" i="0" kern="1200" dirty="0" smtClean="0">
                          <a:solidFill>
                            <a:schemeClr val="tx1"/>
                          </a:solidFill>
                          <a:effectLst/>
                          <a:latin typeface="+mn-lt"/>
                          <a:ea typeface="+mn-ea"/>
                          <a:cs typeface="+mn-cs"/>
                        </a:rPr>
                        <a:t>specialist technical and creative skills to express ideas and perspectives; and</a:t>
                      </a:r>
                      <a:r>
                        <a:rPr lang="en-US" dirty="0" smtClean="0"/>
                        <a:t/>
                      </a:r>
                      <a:br>
                        <a:rPr lang="en-US" dirty="0" smtClean="0"/>
                      </a:br>
                      <a:r>
                        <a:rPr lang="en-US" sz="1800" b="0" i="0" kern="1200" dirty="0" smtClean="0">
                          <a:solidFill>
                            <a:schemeClr val="tx1"/>
                          </a:solidFill>
                          <a:effectLst/>
                          <a:latin typeface="+mn-lt"/>
                          <a:ea typeface="+mn-ea"/>
                          <a:cs typeface="+mn-cs"/>
                        </a:rPr>
                        <a:t>communication skills to transfer knowledge and specialized skills to others and demonstrate understanding of knowledge.</a:t>
                      </a:r>
                      <a:endParaRPr lang="en-US" sz="1800" b="0" dirty="0">
                        <a:solidFill>
                          <a:srgbClr val="111111"/>
                        </a:solidFill>
                        <a:effectLst/>
                      </a:endParaRPr>
                    </a:p>
                  </a:txBody>
                  <a:tcPr marL="48134" marR="48134" marT="48134" marB="48134">
                    <a:lnL>
                      <a:noFill/>
                    </a:lnL>
                    <a:lnR>
                      <a:noFill/>
                    </a:lnR>
                    <a:lnT>
                      <a:noFill/>
                    </a:lnT>
                    <a:lnB>
                      <a:noFill/>
                    </a:lnB>
                    <a:solidFill>
                      <a:srgbClr val="F3F3F3"/>
                    </a:solidFill>
                  </a:tcPr>
                </a:tc>
                <a:tc>
                  <a:txBody>
                    <a:bodyPr/>
                    <a:lstStyle/>
                    <a:p>
                      <a:pPr algn="l" fontAlgn="t"/>
                      <a:r>
                        <a:rPr lang="en-US" sz="1800" b="0" i="0" kern="1200" dirty="0" smtClean="0">
                          <a:solidFill>
                            <a:schemeClr val="tx1"/>
                          </a:solidFill>
                          <a:effectLst/>
                          <a:latin typeface="+mn-lt"/>
                          <a:ea typeface="+mn-ea"/>
                          <a:cs typeface="+mn-cs"/>
                        </a:rPr>
                        <a:t>A graduate at this level should have technical and theoretical knowledge and concepts, with depth in some areas within a field of work and learning.</a:t>
                      </a:r>
                      <a:r>
                        <a:rPr lang="en-US" sz="1800" b="0" dirty="0" smtClean="0">
                          <a:solidFill>
                            <a:srgbClr val="111111"/>
                          </a:solidFill>
                          <a:effectLst/>
                        </a:rPr>
                        <a:t/>
                      </a:r>
                      <a:br>
                        <a:rPr lang="en-US" sz="1800" b="0" dirty="0" smtClean="0">
                          <a:solidFill>
                            <a:srgbClr val="111111"/>
                          </a:solidFill>
                          <a:effectLst/>
                        </a:rPr>
                      </a:br>
                      <a:endParaRPr lang="en-US" sz="1800" b="0" dirty="0">
                        <a:solidFill>
                          <a:srgbClr val="111111"/>
                        </a:solidFill>
                        <a:effectLst/>
                      </a:endParaRPr>
                    </a:p>
                  </a:txBody>
                  <a:tcPr marL="48134" marR="48134" marT="48134" marB="48134">
                    <a:lnL>
                      <a:noFill/>
                    </a:lnL>
                    <a:lnR>
                      <a:noFill/>
                    </a:lnR>
                    <a:lnT>
                      <a:noFill/>
                    </a:lnT>
                    <a:lnB>
                      <a:noFill/>
                    </a:lnB>
                    <a:solidFill>
                      <a:srgbClr val="F3F3F3"/>
                    </a:solidFill>
                  </a:tcPr>
                </a:tc>
                <a:tc>
                  <a:txBody>
                    <a:bodyPr/>
                    <a:lstStyle/>
                    <a:p>
                      <a:pPr algn="l" fontAlgn="t"/>
                      <a:r>
                        <a:rPr lang="en-US" sz="1800" b="0" i="0" kern="1200" dirty="0" smtClean="0">
                          <a:solidFill>
                            <a:schemeClr val="tx1"/>
                          </a:solidFill>
                          <a:effectLst/>
                          <a:latin typeface="+mn-lt"/>
                          <a:ea typeface="+mn-ea"/>
                          <a:cs typeface="+mn-cs"/>
                        </a:rPr>
                        <a:t>A graduate at this level should demonstrate the application of knowledge and skills —</a:t>
                      </a:r>
                      <a:r>
                        <a:rPr lang="en-US" dirty="0" smtClean="0"/>
                        <a:t/>
                      </a:r>
                      <a:br>
                        <a:rPr lang="en-US" dirty="0" smtClean="0"/>
                      </a:br>
                      <a:r>
                        <a:rPr lang="en-US" sz="1800" b="0" i="0" kern="1200" dirty="0" smtClean="0">
                          <a:solidFill>
                            <a:schemeClr val="tx1"/>
                          </a:solidFill>
                          <a:effectLst/>
                          <a:latin typeface="+mn-lt"/>
                          <a:ea typeface="+mn-ea"/>
                          <a:cs typeface="+mn-cs"/>
                        </a:rPr>
                        <a:t>to transfer and apply theoretical concepts, technical or creative skills in a range of situations;</a:t>
                      </a:r>
                      <a:r>
                        <a:rPr lang="en-US" dirty="0" smtClean="0"/>
                        <a:t/>
                      </a:r>
                      <a:br>
                        <a:rPr lang="en-US" dirty="0" smtClean="0"/>
                      </a:br>
                      <a:r>
                        <a:rPr lang="en-US" sz="1800" b="0" i="0" kern="1200" dirty="0" smtClean="0">
                          <a:solidFill>
                            <a:schemeClr val="tx1"/>
                          </a:solidFill>
                          <a:effectLst/>
                          <a:latin typeface="+mn-lt"/>
                          <a:ea typeface="+mn-ea"/>
                          <a:cs typeface="+mn-cs"/>
                        </a:rPr>
                        <a:t>for personal responsibility and autonomy in performing complex technical operations with responsibility for own outputs in relation to broad parameters for quantity and quality; and</a:t>
                      </a:r>
                      <a:r>
                        <a:rPr lang="en-US" dirty="0" smtClean="0"/>
                        <a:t/>
                      </a:r>
                      <a:br>
                        <a:rPr lang="en-US" dirty="0" smtClean="0"/>
                      </a:br>
                      <a:r>
                        <a:rPr lang="en-US" sz="1800" b="0" i="0" kern="1200" dirty="0" smtClean="0">
                          <a:solidFill>
                            <a:schemeClr val="tx1"/>
                          </a:solidFill>
                          <a:effectLst/>
                          <a:latin typeface="+mn-lt"/>
                          <a:ea typeface="+mn-ea"/>
                          <a:cs typeface="+mn-cs"/>
                        </a:rPr>
                        <a:t>for initiative and judgment to organize the work of self and others and plan, coordinate and evaluate the work of teams within broad but generally well-defined parameter</a:t>
                      </a:r>
                      <a:endParaRPr lang="en-US" sz="1800" b="0" dirty="0">
                        <a:solidFill>
                          <a:srgbClr val="111111"/>
                        </a:solidFill>
                        <a:effectLst/>
                      </a:endParaRPr>
                    </a:p>
                  </a:txBody>
                  <a:tcPr marL="48134" marR="48134" marT="48134" marB="48134">
                    <a:lnL>
                      <a:noFill/>
                    </a:lnL>
                    <a:lnR>
                      <a:noFill/>
                    </a:lnR>
                    <a:lnT>
                      <a:noFill/>
                    </a:lnT>
                    <a:lnB>
                      <a:noFill/>
                    </a:lnB>
                    <a:solidFill>
                      <a:srgbClr val="F3F3F3"/>
                    </a:solidFill>
                  </a:tcPr>
                </a:tc>
                <a:extLst>
                  <a:ext uri="{0D108BD9-81ED-4DB2-BD59-A6C34878D82A}">
                    <a16:rowId xmlns:a16="http://schemas.microsoft.com/office/drawing/2014/main" val="4227333543"/>
                  </a:ext>
                </a:extLst>
              </a:tr>
            </a:tbl>
          </a:graphicData>
        </a:graphic>
      </p:graphicFrame>
    </p:spTree>
    <p:extLst>
      <p:ext uri="{BB962C8B-B14F-4D97-AF65-F5344CB8AC3E}">
        <p14:creationId xmlns:p14="http://schemas.microsoft.com/office/powerpoint/2010/main" val="2141378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Content Placeholder 13"/>
          <p:cNvGraphicFramePr>
            <a:graphicFrameLocks noGrp="1"/>
          </p:cNvGraphicFramePr>
          <p:nvPr>
            <p:ph idx="1"/>
            <p:extLst>
              <p:ext uri="{D42A27DB-BD31-4B8C-83A1-F6EECF244321}">
                <p14:modId xmlns:p14="http://schemas.microsoft.com/office/powerpoint/2010/main" val="3040553222"/>
              </p:ext>
            </p:extLst>
          </p:nvPr>
        </p:nvGraphicFramePr>
        <p:xfrm>
          <a:off x="235128" y="130629"/>
          <a:ext cx="11652071" cy="5953256"/>
        </p:xfrm>
        <a:graphic>
          <a:graphicData uri="http://schemas.openxmlformats.org/drawingml/2006/table">
            <a:tbl>
              <a:tblPr/>
              <a:tblGrid>
                <a:gridCol w="2913018">
                  <a:extLst>
                    <a:ext uri="{9D8B030D-6E8A-4147-A177-3AD203B41FA5}">
                      <a16:colId xmlns:a16="http://schemas.microsoft.com/office/drawing/2014/main" val="327061033"/>
                    </a:ext>
                  </a:extLst>
                </a:gridCol>
                <a:gridCol w="3146059">
                  <a:extLst>
                    <a:ext uri="{9D8B030D-6E8A-4147-A177-3AD203B41FA5}">
                      <a16:colId xmlns:a16="http://schemas.microsoft.com/office/drawing/2014/main" val="2346210555"/>
                    </a:ext>
                  </a:extLst>
                </a:gridCol>
                <a:gridCol w="2510161">
                  <a:extLst>
                    <a:ext uri="{9D8B030D-6E8A-4147-A177-3AD203B41FA5}">
                      <a16:colId xmlns:a16="http://schemas.microsoft.com/office/drawing/2014/main" val="2935891437"/>
                    </a:ext>
                  </a:extLst>
                </a:gridCol>
                <a:gridCol w="3082833">
                  <a:extLst>
                    <a:ext uri="{9D8B030D-6E8A-4147-A177-3AD203B41FA5}">
                      <a16:colId xmlns:a16="http://schemas.microsoft.com/office/drawing/2014/main" val="3273012976"/>
                    </a:ext>
                  </a:extLst>
                </a:gridCol>
              </a:tblGrid>
              <a:tr h="335789">
                <a:tc>
                  <a:txBody>
                    <a:bodyPr/>
                    <a:lstStyle/>
                    <a:p>
                      <a:pPr algn="l" fontAlgn="t" latinLnBrk="0"/>
                      <a:r>
                        <a:rPr lang="en-US" sz="1800" b="1">
                          <a:solidFill>
                            <a:srgbClr val="111111"/>
                          </a:solidFill>
                          <a:effectLst/>
                        </a:rPr>
                        <a:t>Level</a:t>
                      </a:r>
                    </a:p>
                  </a:txBody>
                  <a:tcPr marL="48134" marR="48134" marT="48134" marB="48134">
                    <a:lnL>
                      <a:noFill/>
                    </a:lnL>
                    <a:lnR>
                      <a:noFill/>
                    </a:lnR>
                    <a:lnT>
                      <a:noFill/>
                    </a:lnT>
                    <a:lnB>
                      <a:noFill/>
                    </a:lnB>
                    <a:solidFill>
                      <a:srgbClr val="D9EDF7"/>
                    </a:solidFill>
                  </a:tcPr>
                </a:tc>
                <a:tc>
                  <a:txBody>
                    <a:bodyPr/>
                    <a:lstStyle/>
                    <a:p>
                      <a:pPr algn="l" fontAlgn="t" latinLnBrk="0"/>
                      <a:r>
                        <a:rPr lang="en-US" sz="1800" b="1" dirty="0">
                          <a:solidFill>
                            <a:srgbClr val="111111"/>
                          </a:solidFill>
                          <a:effectLst/>
                        </a:rPr>
                        <a:t>skills</a:t>
                      </a:r>
                    </a:p>
                  </a:txBody>
                  <a:tcPr marL="48134" marR="48134" marT="48134" marB="48134">
                    <a:lnL>
                      <a:noFill/>
                    </a:lnL>
                    <a:lnR>
                      <a:noFill/>
                    </a:lnR>
                    <a:lnT>
                      <a:noFill/>
                    </a:lnT>
                    <a:lnB>
                      <a:noFill/>
                    </a:lnB>
                    <a:solidFill>
                      <a:srgbClr val="D9EDF7"/>
                    </a:solidFill>
                  </a:tcPr>
                </a:tc>
                <a:tc>
                  <a:txBody>
                    <a:bodyPr/>
                    <a:lstStyle/>
                    <a:p>
                      <a:pPr algn="l" fontAlgn="t" latinLnBrk="0"/>
                      <a:r>
                        <a:rPr lang="en-US" sz="1800" b="1">
                          <a:solidFill>
                            <a:srgbClr val="111111"/>
                          </a:solidFill>
                          <a:effectLst/>
                        </a:rPr>
                        <a:t>Knowledge</a:t>
                      </a:r>
                    </a:p>
                  </a:txBody>
                  <a:tcPr marL="48134" marR="48134" marT="48134" marB="48134">
                    <a:lnL>
                      <a:noFill/>
                    </a:lnL>
                    <a:lnR>
                      <a:noFill/>
                    </a:lnR>
                    <a:lnT>
                      <a:noFill/>
                    </a:lnT>
                    <a:lnB>
                      <a:noFill/>
                    </a:lnB>
                    <a:solidFill>
                      <a:srgbClr val="D9EDF7"/>
                    </a:solidFill>
                  </a:tcPr>
                </a:tc>
                <a:tc>
                  <a:txBody>
                    <a:bodyPr/>
                    <a:lstStyle/>
                    <a:p>
                      <a:pPr algn="l" fontAlgn="t" latinLnBrk="0"/>
                      <a:r>
                        <a:rPr lang="en-US" sz="1800" b="1">
                          <a:solidFill>
                            <a:srgbClr val="111111"/>
                          </a:solidFill>
                          <a:effectLst/>
                        </a:rPr>
                        <a:t>Competence</a:t>
                      </a:r>
                    </a:p>
                  </a:txBody>
                  <a:tcPr marL="48134" marR="48134" marT="48134" marB="48134">
                    <a:lnL>
                      <a:noFill/>
                    </a:lnL>
                    <a:lnR>
                      <a:noFill/>
                    </a:lnR>
                    <a:lnT>
                      <a:noFill/>
                    </a:lnT>
                    <a:lnB>
                      <a:noFill/>
                    </a:lnB>
                    <a:solidFill>
                      <a:srgbClr val="D9EDF7"/>
                    </a:solidFill>
                  </a:tcPr>
                </a:tc>
                <a:extLst>
                  <a:ext uri="{0D108BD9-81ED-4DB2-BD59-A6C34878D82A}">
                    <a16:rowId xmlns:a16="http://schemas.microsoft.com/office/drawing/2014/main" val="1520098786"/>
                  </a:ext>
                </a:extLst>
              </a:tr>
              <a:tr h="5555559">
                <a:tc>
                  <a:txBody>
                    <a:bodyPr/>
                    <a:lstStyle/>
                    <a:p>
                      <a:pPr algn="l" fontAlgn="t"/>
                      <a:r>
                        <a:rPr lang="en-US" sz="1800" b="0" i="0" kern="1200" dirty="0" smtClean="0">
                          <a:solidFill>
                            <a:schemeClr val="tx1"/>
                          </a:solidFill>
                          <a:effectLst/>
                          <a:latin typeface="+mn-lt"/>
                          <a:ea typeface="+mn-ea"/>
                          <a:cs typeface="+mn-cs"/>
                        </a:rPr>
                        <a:t>Level 6 qualifies a graduate to apply specialized knowledge in a range of contexts to undertake advanced skilled or paraprofessional work and as a pathway for further learning.</a:t>
                      </a:r>
                      <a:endParaRPr lang="en-US" sz="1800" b="0" dirty="0">
                        <a:solidFill>
                          <a:srgbClr val="111111"/>
                        </a:solidFill>
                        <a:effectLst/>
                      </a:endParaRPr>
                    </a:p>
                  </a:txBody>
                  <a:tcPr marL="48134" marR="48134" marT="48134" marB="48134">
                    <a:lnL>
                      <a:noFill/>
                    </a:lnL>
                    <a:lnR>
                      <a:noFill/>
                    </a:lnR>
                    <a:lnT>
                      <a:noFill/>
                    </a:lnT>
                    <a:lnB>
                      <a:noFill/>
                    </a:lnB>
                    <a:solidFill>
                      <a:srgbClr val="F3F3F3"/>
                    </a:solidFill>
                  </a:tcPr>
                </a:tc>
                <a:tc>
                  <a:txBody>
                    <a:bodyPr/>
                    <a:lstStyle/>
                    <a:p>
                      <a:pPr algn="l" fontAlgn="t"/>
                      <a:r>
                        <a:rPr lang="en-US" sz="1800" b="0" i="0" kern="1200" dirty="0" smtClean="0">
                          <a:solidFill>
                            <a:schemeClr val="tx1"/>
                          </a:solidFill>
                          <a:effectLst/>
                          <a:latin typeface="+mn-lt"/>
                          <a:ea typeface="+mn-ea"/>
                          <a:cs typeface="+mn-cs"/>
                        </a:rPr>
                        <a:t>A graduate at this level should have —</a:t>
                      </a:r>
                      <a:r>
                        <a:rPr lang="en-US" dirty="0" smtClean="0"/>
                        <a:t/>
                      </a:r>
                      <a:br>
                        <a:rPr lang="en-US" dirty="0" smtClean="0"/>
                      </a:br>
                      <a:r>
                        <a:rPr lang="en-US" sz="1800" b="0" i="0" kern="1200" dirty="0" smtClean="0">
                          <a:solidFill>
                            <a:schemeClr val="tx1"/>
                          </a:solidFill>
                          <a:effectLst/>
                          <a:latin typeface="+mn-lt"/>
                          <a:ea typeface="+mn-ea"/>
                          <a:cs typeface="+mn-cs"/>
                        </a:rPr>
                        <a:t>cognitive and communication skills to identify, analyze, synthesize and act on information from a range of sources;</a:t>
                      </a:r>
                      <a:r>
                        <a:rPr lang="en-US" dirty="0" smtClean="0"/>
                        <a:t/>
                      </a:r>
                      <a:br>
                        <a:rPr lang="en-US" dirty="0" smtClean="0"/>
                      </a:br>
                      <a:r>
                        <a:rPr lang="en-US" sz="1800" b="0" i="0" kern="1200" dirty="0" smtClean="0">
                          <a:solidFill>
                            <a:schemeClr val="tx1"/>
                          </a:solidFill>
                          <a:effectLst/>
                          <a:latin typeface="+mn-lt"/>
                          <a:ea typeface="+mn-ea"/>
                          <a:cs typeface="+mn-cs"/>
                        </a:rPr>
                        <a:t>cognitive and communication skills to transfer knowledge and skills to others and to demonstrate understanding of specialized knowledge with depth in some areas;</a:t>
                      </a:r>
                      <a:r>
                        <a:rPr lang="en-US" dirty="0" smtClean="0"/>
                        <a:t/>
                      </a:r>
                      <a:br>
                        <a:rPr lang="en-US" dirty="0" smtClean="0"/>
                      </a:br>
                      <a:r>
                        <a:rPr lang="en-US" sz="1800" b="0" i="0" kern="1200" dirty="0" smtClean="0">
                          <a:solidFill>
                            <a:schemeClr val="tx1"/>
                          </a:solidFill>
                          <a:effectLst/>
                          <a:latin typeface="+mn-lt"/>
                          <a:ea typeface="+mn-ea"/>
                          <a:cs typeface="+mn-cs"/>
                        </a:rPr>
                        <a:t>cognitive and communication skills to formulate responses to complex problems; and</a:t>
                      </a:r>
                      <a:r>
                        <a:rPr lang="en-US" dirty="0" smtClean="0"/>
                        <a:t/>
                      </a:r>
                      <a:br>
                        <a:rPr lang="en-US" dirty="0" smtClean="0"/>
                      </a:br>
                      <a:r>
                        <a:rPr lang="en-US" sz="1800" b="0" i="0" kern="1200" dirty="0" smtClean="0">
                          <a:solidFill>
                            <a:schemeClr val="tx1"/>
                          </a:solidFill>
                          <a:effectLst/>
                          <a:latin typeface="+mn-lt"/>
                          <a:ea typeface="+mn-ea"/>
                          <a:cs typeface="+mn-cs"/>
                        </a:rPr>
                        <a:t>wide-ranging specialized technical, creative or conceptual skills to express ideas and perspectives.</a:t>
                      </a:r>
                      <a:endParaRPr lang="en-US" sz="1800" b="0" dirty="0">
                        <a:solidFill>
                          <a:srgbClr val="111111"/>
                        </a:solidFill>
                        <a:effectLst/>
                      </a:endParaRPr>
                    </a:p>
                  </a:txBody>
                  <a:tcPr marL="48134" marR="48134" marT="48134" marB="48134">
                    <a:lnL>
                      <a:noFill/>
                    </a:lnL>
                    <a:lnR>
                      <a:noFill/>
                    </a:lnR>
                    <a:lnT>
                      <a:noFill/>
                    </a:lnT>
                    <a:lnB>
                      <a:noFill/>
                    </a:lnB>
                    <a:solidFill>
                      <a:srgbClr val="F3F3F3"/>
                    </a:solidFill>
                  </a:tcPr>
                </a:tc>
                <a:tc>
                  <a:txBody>
                    <a:bodyPr/>
                    <a:lstStyle/>
                    <a:p>
                      <a:pPr algn="l" fontAlgn="t"/>
                      <a:r>
                        <a:rPr lang="en-US" sz="1800" b="0" i="0" kern="1200" dirty="0" smtClean="0">
                          <a:solidFill>
                            <a:schemeClr val="tx1"/>
                          </a:solidFill>
                          <a:effectLst/>
                          <a:latin typeface="+mn-lt"/>
                          <a:ea typeface="+mn-ea"/>
                          <a:cs typeface="+mn-cs"/>
                        </a:rPr>
                        <a:t>A graduate at this level should have specialized and integrated technical and theoretical knowledge with depth within one or more fields of work and learning</a:t>
                      </a:r>
                      <a:r>
                        <a:rPr lang="en-US" sz="1800" b="0" dirty="0" smtClean="0">
                          <a:solidFill>
                            <a:srgbClr val="111111"/>
                          </a:solidFill>
                          <a:effectLst/>
                        </a:rPr>
                        <a:t/>
                      </a:r>
                      <a:br>
                        <a:rPr lang="en-US" sz="1800" b="0" dirty="0" smtClean="0">
                          <a:solidFill>
                            <a:srgbClr val="111111"/>
                          </a:solidFill>
                          <a:effectLst/>
                        </a:rPr>
                      </a:br>
                      <a:endParaRPr lang="en-US" sz="1800" b="0" dirty="0">
                        <a:solidFill>
                          <a:srgbClr val="111111"/>
                        </a:solidFill>
                        <a:effectLst/>
                      </a:endParaRPr>
                    </a:p>
                  </a:txBody>
                  <a:tcPr marL="48134" marR="48134" marT="48134" marB="48134">
                    <a:lnL>
                      <a:noFill/>
                    </a:lnL>
                    <a:lnR>
                      <a:noFill/>
                    </a:lnR>
                    <a:lnT>
                      <a:noFill/>
                    </a:lnT>
                    <a:lnB>
                      <a:noFill/>
                    </a:lnB>
                    <a:solidFill>
                      <a:srgbClr val="F3F3F3"/>
                    </a:solidFill>
                  </a:tcPr>
                </a:tc>
                <a:tc>
                  <a:txBody>
                    <a:bodyPr/>
                    <a:lstStyle/>
                    <a:p>
                      <a:pPr algn="l" fontAlgn="t"/>
                      <a:r>
                        <a:rPr lang="en-US" sz="1800" b="0" i="0" kern="1200" dirty="0" smtClean="0">
                          <a:solidFill>
                            <a:schemeClr val="tx1"/>
                          </a:solidFill>
                          <a:effectLst/>
                          <a:latin typeface="+mn-lt"/>
                          <a:ea typeface="+mn-ea"/>
                          <a:cs typeface="+mn-cs"/>
                        </a:rPr>
                        <a:t>A graduate at this level should demonstrate the application of knowledge and skills —</a:t>
                      </a:r>
                      <a:r>
                        <a:rPr lang="en-US" dirty="0" smtClean="0"/>
                        <a:t/>
                      </a:r>
                      <a:br>
                        <a:rPr lang="en-US" dirty="0" smtClean="0"/>
                      </a:br>
                      <a:r>
                        <a:rPr lang="en-US" sz="1800" b="0" i="0" kern="1200" dirty="0" smtClean="0">
                          <a:solidFill>
                            <a:schemeClr val="tx1"/>
                          </a:solidFill>
                          <a:effectLst/>
                          <a:latin typeface="+mn-lt"/>
                          <a:ea typeface="+mn-ea"/>
                          <a:cs typeface="+mn-cs"/>
                        </a:rPr>
                        <a:t>for depth in areas of specialization, in contexts subject to change;</a:t>
                      </a:r>
                      <a:r>
                        <a:rPr lang="en-US" dirty="0" smtClean="0"/>
                        <a:t/>
                      </a:r>
                      <a:br>
                        <a:rPr lang="en-US" dirty="0" smtClean="0"/>
                      </a:br>
                      <a:r>
                        <a:rPr lang="en-US" sz="1800" b="0" i="0" kern="1200" dirty="0" smtClean="0">
                          <a:solidFill>
                            <a:schemeClr val="tx1"/>
                          </a:solidFill>
                          <a:effectLst/>
                          <a:latin typeface="+mn-lt"/>
                          <a:ea typeface="+mn-ea"/>
                          <a:cs typeface="+mn-cs"/>
                        </a:rPr>
                        <a:t>for initiative and judgment in planning, design, technical or management functions with some direction;</a:t>
                      </a:r>
                      <a:r>
                        <a:rPr lang="en-US" dirty="0" smtClean="0"/>
                        <a:t/>
                      </a:r>
                      <a:br>
                        <a:rPr lang="en-US" dirty="0" smtClean="0"/>
                      </a:br>
                      <a:r>
                        <a:rPr lang="en-US" sz="1800" b="0" i="0" kern="1200" dirty="0" smtClean="0">
                          <a:solidFill>
                            <a:schemeClr val="tx1"/>
                          </a:solidFill>
                          <a:effectLst/>
                          <a:latin typeface="+mn-lt"/>
                          <a:ea typeface="+mn-ea"/>
                          <a:cs typeface="+mn-cs"/>
                        </a:rPr>
                        <a:t>to adapt a range of fundamental principles and complex techniques to known and unknown situations; and</a:t>
                      </a:r>
                      <a:r>
                        <a:rPr lang="en-US" dirty="0" smtClean="0"/>
                        <a:t/>
                      </a:r>
                      <a:br>
                        <a:rPr lang="en-US" dirty="0" smtClean="0"/>
                      </a:br>
                      <a:r>
                        <a:rPr lang="en-US" sz="1800" b="0" i="0" kern="1200" dirty="0" smtClean="0">
                          <a:solidFill>
                            <a:schemeClr val="tx1"/>
                          </a:solidFill>
                          <a:effectLst/>
                          <a:latin typeface="+mn-lt"/>
                          <a:ea typeface="+mn-ea"/>
                          <a:cs typeface="+mn-cs"/>
                        </a:rPr>
                        <a:t>across a broad range of technical or management functions with accountability for personal outputs and personal and team outcomes within broad parameters.</a:t>
                      </a:r>
                      <a:endParaRPr lang="en-US" sz="1800" b="0" dirty="0">
                        <a:solidFill>
                          <a:srgbClr val="111111"/>
                        </a:solidFill>
                        <a:effectLst/>
                      </a:endParaRPr>
                    </a:p>
                  </a:txBody>
                  <a:tcPr marL="48134" marR="48134" marT="48134" marB="48134">
                    <a:lnL>
                      <a:noFill/>
                    </a:lnL>
                    <a:lnR>
                      <a:noFill/>
                    </a:lnR>
                    <a:lnT>
                      <a:noFill/>
                    </a:lnT>
                    <a:lnB>
                      <a:noFill/>
                    </a:lnB>
                    <a:solidFill>
                      <a:srgbClr val="F3F3F3"/>
                    </a:solidFill>
                  </a:tcPr>
                </a:tc>
                <a:extLst>
                  <a:ext uri="{0D108BD9-81ED-4DB2-BD59-A6C34878D82A}">
                    <a16:rowId xmlns:a16="http://schemas.microsoft.com/office/drawing/2014/main" val="4227333543"/>
                  </a:ext>
                </a:extLst>
              </a:tr>
            </a:tbl>
          </a:graphicData>
        </a:graphic>
      </p:graphicFrame>
    </p:spTree>
    <p:extLst>
      <p:ext uri="{BB962C8B-B14F-4D97-AF65-F5344CB8AC3E}">
        <p14:creationId xmlns:p14="http://schemas.microsoft.com/office/powerpoint/2010/main" val="27237438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6132" y="2611936"/>
            <a:ext cx="10515600" cy="1325563"/>
          </a:xfrm>
        </p:spPr>
        <p:txBody>
          <a:bodyPr/>
          <a:lstStyle/>
          <a:p>
            <a:pPr algn="ctr"/>
            <a:r>
              <a:rPr lang="en-US" b="1" dirty="0" smtClean="0">
                <a:solidFill>
                  <a:srgbClr val="FF0000"/>
                </a:solidFill>
              </a:rPr>
              <a:t>THE END</a:t>
            </a:r>
            <a:endParaRPr lang="en-US" b="1" dirty="0">
              <a:solidFill>
                <a:srgbClr val="FF0000"/>
              </a:solidFill>
            </a:endParaRPr>
          </a:p>
        </p:txBody>
      </p:sp>
    </p:spTree>
    <p:extLst>
      <p:ext uri="{BB962C8B-B14F-4D97-AF65-F5344CB8AC3E}">
        <p14:creationId xmlns:p14="http://schemas.microsoft.com/office/powerpoint/2010/main" val="40113129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48</TotalTime>
  <Words>2046</Words>
  <Application>Microsoft Office PowerPoint</Application>
  <PresentationFormat>Widescreen</PresentationFormat>
  <Paragraphs>114</Paragraphs>
  <Slides>19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Arial</vt:lpstr>
      <vt:lpstr>Calibri</vt:lpstr>
      <vt:lpstr>Calibri Light</vt:lpstr>
      <vt:lpstr>Courier New</vt:lpstr>
      <vt:lpstr>Times New Roman</vt:lpstr>
      <vt:lpstr>Office Theme</vt:lpstr>
      <vt:lpstr>PowerPoint Presentation</vt:lpstr>
      <vt:lpstr>GROUP 1</vt:lpstr>
      <vt:lpstr>MINISTRY OF EDUCATION </vt:lpstr>
      <vt:lpstr>Cabinet Secretary (CS) for Education</vt:lpstr>
      <vt:lpstr>State Department of Technical and Vocational Education and Training</vt:lpstr>
      <vt:lpstr>National Industrial Training Authority (NITA)</vt:lpstr>
      <vt:lpstr>Functions of NITA</vt:lpstr>
      <vt:lpstr>Functions of NITA (cont…)</vt:lpstr>
      <vt:lpstr>Kenya National Qualifications Framework(KNQF)</vt:lpstr>
      <vt:lpstr>Functions of the Kenya National Qualifications Authority </vt:lpstr>
      <vt:lpstr>Functions of the Kenya National Qualifications Authority </vt:lpstr>
      <vt:lpstr>National Qualification Framework-KNQF 10 Level Descriptors</vt:lpstr>
      <vt:lpstr>PowerPoint Presentation</vt:lpstr>
      <vt:lpstr>PowerPoint Presentation</vt:lpstr>
      <vt:lpstr>PowerPoint Presentation</vt:lpstr>
      <vt:lpstr>PowerPoint Presentation</vt:lpstr>
      <vt:lpstr>PowerPoint Presentation</vt:lpstr>
      <vt:lpstr>PowerPoint Presentation</vt:lpstr>
      <vt:lpstr>THE END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DUNCAN</dc:creator>
  <cp:lastModifiedBy>DUNCAN</cp:lastModifiedBy>
  <cp:revision>7</cp:revision>
  <dcterms:created xsi:type="dcterms:W3CDTF">2025-12-04T11:45:41Z</dcterms:created>
  <dcterms:modified xsi:type="dcterms:W3CDTF">2025-12-04T12:34:20Z</dcterms:modified>
</cp:coreProperties>
</file>