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6" r:id="rId51"/>
    <p:sldId id="307" r:id="rId52"/>
    <p:sldId id="308" r:id="rId53"/>
    <p:sldId id="309" r:id="rId54"/>
    <p:sldId id="310" r:id="rId55"/>
    <p:sldId id="311" r:id="rId56"/>
    <p:sldId id="312" r:id="rId57"/>
    <p:sldId id="313" r:id="rId58"/>
    <p:sldId id="314" r:id="rId59"/>
    <p:sldId id="315" r:id="rId60"/>
    <p:sldId id="316" r:id="rId61"/>
    <p:sldId id="319" r:id="rId62"/>
    <p:sldId id="320" r:id="rId63"/>
    <p:sldId id="321" r:id="rId64"/>
    <p:sldId id="322" r:id="rId65"/>
    <p:sldId id="323" r:id="rId66"/>
    <p:sldId id="324" r:id="rId67"/>
    <p:sldId id="325" r:id="rId68"/>
    <p:sldId id="328" r:id="rId69"/>
    <p:sldId id="329" r:id="rId70"/>
    <p:sldId id="330" r:id="rId71"/>
    <p:sldId id="331"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1" autoAdjust="0"/>
    <p:restoredTop sz="94660"/>
  </p:normalViewPr>
  <p:slideViewPr>
    <p:cSldViewPr snapToGrid="0">
      <p:cViewPr varScale="1">
        <p:scale>
          <a:sx n="74" d="100"/>
          <a:sy n="74" d="100"/>
        </p:scale>
        <p:origin x="58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6AB2250-1F25-4344-B20C-9E51F0557C48}" type="datetimeFigureOut">
              <a:rPr lang="en-US" smtClean="0"/>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78D08-9480-443A-9DB4-6D0C73545CE1}" type="slidenum">
              <a:rPr lang="en-US" smtClean="0"/>
              <a:t>‹#›</a:t>
            </a:fld>
            <a:endParaRPr lang="en-US"/>
          </a:p>
        </p:txBody>
      </p:sp>
    </p:spTree>
    <p:extLst>
      <p:ext uri="{BB962C8B-B14F-4D97-AF65-F5344CB8AC3E}">
        <p14:creationId xmlns:p14="http://schemas.microsoft.com/office/powerpoint/2010/main" val="1254334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AB2250-1F25-4344-B20C-9E51F0557C48}" type="datetimeFigureOut">
              <a:rPr lang="en-US" smtClean="0"/>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78D08-9480-443A-9DB4-6D0C73545CE1}" type="slidenum">
              <a:rPr lang="en-US" smtClean="0"/>
              <a:t>‹#›</a:t>
            </a:fld>
            <a:endParaRPr lang="en-US"/>
          </a:p>
        </p:txBody>
      </p:sp>
    </p:spTree>
    <p:extLst>
      <p:ext uri="{BB962C8B-B14F-4D97-AF65-F5344CB8AC3E}">
        <p14:creationId xmlns:p14="http://schemas.microsoft.com/office/powerpoint/2010/main" val="1026027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6AB2250-1F25-4344-B20C-9E51F0557C48}" type="datetimeFigureOut">
              <a:rPr lang="en-US" smtClean="0"/>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78D08-9480-443A-9DB4-6D0C73545CE1}" type="slidenum">
              <a:rPr lang="en-US" smtClean="0"/>
              <a:t>‹#›</a:t>
            </a:fld>
            <a:endParaRPr lang="en-US"/>
          </a:p>
        </p:txBody>
      </p:sp>
    </p:spTree>
    <p:extLst>
      <p:ext uri="{BB962C8B-B14F-4D97-AF65-F5344CB8AC3E}">
        <p14:creationId xmlns:p14="http://schemas.microsoft.com/office/powerpoint/2010/main" val="1998173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6AB2250-1F25-4344-B20C-9E51F0557C48}" type="datetimeFigureOut">
              <a:rPr lang="en-US" smtClean="0"/>
              <a:t>9/11/2024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E78D08-9480-443A-9DB4-6D0C73545CE1}" type="slidenum">
              <a:rPr lang="en-US" smtClean="0"/>
              <a:t>‹#›</a:t>
            </a:fld>
            <a:endParaRPr lang="en-US"/>
          </a:p>
        </p:txBody>
      </p:sp>
    </p:spTree>
    <p:extLst>
      <p:ext uri="{BB962C8B-B14F-4D97-AF65-F5344CB8AC3E}">
        <p14:creationId xmlns:p14="http://schemas.microsoft.com/office/powerpoint/2010/main" val="706110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6AB2250-1F25-4344-B20C-9E51F0557C48}" type="datetimeFigureOut">
              <a:rPr lang="en-US" smtClean="0"/>
              <a:t>9/11/2024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E78D08-9480-443A-9DB4-6D0C73545CE1}" type="slidenum">
              <a:rPr lang="en-US" smtClean="0"/>
              <a:t>‹#›</a:t>
            </a:fld>
            <a:endParaRPr lang="en-US"/>
          </a:p>
        </p:txBody>
      </p:sp>
    </p:spTree>
    <p:extLst>
      <p:ext uri="{BB962C8B-B14F-4D97-AF65-F5344CB8AC3E}">
        <p14:creationId xmlns:p14="http://schemas.microsoft.com/office/powerpoint/2010/main" val="107097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6AB2250-1F25-4344-B20C-9E51F0557C48}" type="datetimeFigureOut">
              <a:rPr lang="en-US" smtClean="0"/>
              <a:t>9/11/2024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E78D08-9480-443A-9DB4-6D0C73545CE1}" type="slidenum">
              <a:rPr lang="en-US" smtClean="0"/>
              <a:t>‹#›</a:t>
            </a:fld>
            <a:endParaRPr lang="en-US"/>
          </a:p>
        </p:txBody>
      </p:sp>
    </p:spTree>
    <p:extLst>
      <p:ext uri="{BB962C8B-B14F-4D97-AF65-F5344CB8AC3E}">
        <p14:creationId xmlns:p14="http://schemas.microsoft.com/office/powerpoint/2010/main" val="940257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AB2250-1F25-4344-B20C-9E51F0557C48}" type="datetimeFigureOut">
              <a:rPr lang="en-US" smtClean="0"/>
              <a:t>9/11/2024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E78D08-9480-443A-9DB4-6D0C73545CE1}" type="slidenum">
              <a:rPr lang="en-US" smtClean="0"/>
              <a:t>‹#›</a:t>
            </a:fld>
            <a:endParaRPr lang="en-US"/>
          </a:p>
        </p:txBody>
      </p:sp>
    </p:spTree>
    <p:extLst>
      <p:ext uri="{BB962C8B-B14F-4D97-AF65-F5344CB8AC3E}">
        <p14:creationId xmlns:p14="http://schemas.microsoft.com/office/powerpoint/2010/main" val="2040231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6AB2250-1F25-4344-B20C-9E51F0557C48}" type="datetimeFigureOut">
              <a:rPr lang="en-US" smtClean="0"/>
              <a:t>9/11/2024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E78D08-9480-443A-9DB4-6D0C73545CE1}" type="slidenum">
              <a:rPr lang="en-US" smtClean="0"/>
              <a:t>‹#›</a:t>
            </a:fld>
            <a:endParaRPr lang="en-US"/>
          </a:p>
        </p:txBody>
      </p:sp>
    </p:spTree>
    <p:extLst>
      <p:ext uri="{BB962C8B-B14F-4D97-AF65-F5344CB8AC3E}">
        <p14:creationId xmlns:p14="http://schemas.microsoft.com/office/powerpoint/2010/main" val="1246740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6AB2250-1F25-4344-B20C-9E51F0557C48}" type="datetimeFigureOut">
              <a:rPr lang="en-US" smtClean="0"/>
              <a:t>9/11/2024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E78D08-9480-443A-9DB4-6D0C73545CE1}" type="slidenum">
              <a:rPr lang="en-US" smtClean="0"/>
              <a:t>‹#›</a:t>
            </a:fld>
            <a:endParaRPr lang="en-US"/>
          </a:p>
        </p:txBody>
      </p:sp>
    </p:spTree>
    <p:extLst>
      <p:ext uri="{BB962C8B-B14F-4D97-AF65-F5344CB8AC3E}">
        <p14:creationId xmlns:p14="http://schemas.microsoft.com/office/powerpoint/2010/main" val="3379054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AB2250-1F25-4344-B20C-9E51F0557C48}" type="datetimeFigureOut">
              <a:rPr lang="en-US" smtClean="0"/>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78D08-9480-443A-9DB4-6D0C73545CE1}" type="slidenum">
              <a:rPr lang="en-US" smtClean="0"/>
              <a:t>‹#›</a:t>
            </a:fld>
            <a:endParaRPr lang="en-US"/>
          </a:p>
        </p:txBody>
      </p:sp>
    </p:spTree>
    <p:extLst>
      <p:ext uri="{BB962C8B-B14F-4D97-AF65-F5344CB8AC3E}">
        <p14:creationId xmlns:p14="http://schemas.microsoft.com/office/powerpoint/2010/main" val="4116399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AB2250-1F25-4344-B20C-9E51F0557C48}" type="datetimeFigureOut">
              <a:rPr lang="en-US" smtClean="0"/>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78D08-9480-443A-9DB4-6D0C73545CE1}" type="slidenum">
              <a:rPr lang="en-US" smtClean="0"/>
              <a:t>‹#›</a:t>
            </a:fld>
            <a:endParaRPr lang="en-US"/>
          </a:p>
        </p:txBody>
      </p:sp>
    </p:spTree>
    <p:extLst>
      <p:ext uri="{BB962C8B-B14F-4D97-AF65-F5344CB8AC3E}">
        <p14:creationId xmlns:p14="http://schemas.microsoft.com/office/powerpoint/2010/main" val="4173192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AB2250-1F25-4344-B20C-9E51F0557C48}" type="datetimeFigureOut">
              <a:rPr lang="en-US" smtClean="0"/>
              <a:t>9/11/2024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E78D08-9480-443A-9DB4-6D0C73545CE1}" type="slidenum">
              <a:rPr lang="en-US" smtClean="0"/>
              <a:t>‹#›</a:t>
            </a:fld>
            <a:endParaRPr lang="en-US"/>
          </a:p>
        </p:txBody>
      </p:sp>
    </p:spTree>
    <p:extLst>
      <p:ext uri="{BB962C8B-B14F-4D97-AF65-F5344CB8AC3E}">
        <p14:creationId xmlns:p14="http://schemas.microsoft.com/office/powerpoint/2010/main" val="30598476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PHILOSOPHY OF EDUCATION </a:t>
            </a:r>
            <a:endParaRPr lang="en-US" dirty="0"/>
          </a:p>
        </p:txBody>
      </p:sp>
      <p:sp>
        <p:nvSpPr>
          <p:cNvPr id="3" name="Subtitle 2"/>
          <p:cNvSpPr>
            <a:spLocks noGrp="1"/>
          </p:cNvSpPr>
          <p:nvPr>
            <p:ph type="subTitle" idx="1"/>
          </p:nvPr>
        </p:nvSpPr>
        <p:spPr/>
        <p:txBody>
          <a:bodyPr>
            <a:normAutofit/>
          </a:bodyPr>
          <a:lstStyle/>
          <a:p>
            <a:r>
              <a:rPr lang="en-US" sz="3600" dirty="0" smtClean="0"/>
              <a:t>Lecture One</a:t>
            </a:r>
            <a:endParaRPr lang="en-US" sz="3600" dirty="0"/>
          </a:p>
        </p:txBody>
      </p:sp>
    </p:spTree>
    <p:extLst>
      <p:ext uri="{BB962C8B-B14F-4D97-AF65-F5344CB8AC3E}">
        <p14:creationId xmlns:p14="http://schemas.microsoft.com/office/powerpoint/2010/main" val="1352968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Philosophy of Education </a:t>
            </a:r>
            <a:endParaRPr lang="en-US" b="1" dirty="0"/>
          </a:p>
        </p:txBody>
      </p:sp>
      <p:sp>
        <p:nvSpPr>
          <p:cNvPr id="3" name="Content Placeholder 2"/>
          <p:cNvSpPr>
            <a:spLocks noGrp="1"/>
          </p:cNvSpPr>
          <p:nvPr>
            <p:ph idx="1"/>
          </p:nvPr>
        </p:nvSpPr>
        <p:spPr/>
        <p:txBody>
          <a:bodyPr>
            <a:normAutofit/>
          </a:bodyPr>
          <a:lstStyle/>
          <a:p>
            <a:pPr marL="0" indent="0">
              <a:buNone/>
            </a:pPr>
            <a:r>
              <a:rPr lang="en-US" sz="3200" b="1" dirty="0" smtClean="0"/>
              <a:t>Introduction </a:t>
            </a:r>
          </a:p>
          <a:p>
            <a:pPr marL="0" indent="0">
              <a:buNone/>
            </a:pPr>
            <a:r>
              <a:rPr lang="en-US" sz="3200" dirty="0" smtClean="0"/>
              <a:t>Philosophy of education is an interdisciplinary field that draws on inspiration from various disciplines both within and outside philosophy like ethics, political philosophy, psychology and sociology. Many of these theories focus especially on education in schools but it also encompass other forms of education .</a:t>
            </a:r>
            <a:endParaRPr lang="en-US" sz="3200" dirty="0"/>
          </a:p>
        </p:txBody>
      </p:sp>
    </p:spTree>
    <p:extLst>
      <p:ext uri="{BB962C8B-B14F-4D97-AF65-F5344CB8AC3E}">
        <p14:creationId xmlns:p14="http://schemas.microsoft.com/office/powerpoint/2010/main" val="3845864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lnSpcReduction="10000"/>
          </a:bodyPr>
          <a:lstStyle/>
          <a:p>
            <a:r>
              <a:rPr lang="en-US" b="1" dirty="0"/>
              <a:t>Learning Outcomes</a:t>
            </a:r>
            <a:endParaRPr lang="en-US" dirty="0"/>
          </a:p>
          <a:p>
            <a:r>
              <a:rPr lang="en-US" dirty="0"/>
              <a:t>At the end of the lesson, students shall be able to:</a:t>
            </a:r>
          </a:p>
          <a:p>
            <a:pPr lvl="0"/>
            <a:r>
              <a:rPr lang="en-US" dirty="0"/>
              <a:t>Define Philosophy</a:t>
            </a:r>
          </a:p>
          <a:p>
            <a:pPr lvl="0"/>
            <a:r>
              <a:rPr lang="en-US" dirty="0"/>
              <a:t>Discuss effectively the two world of philosophy</a:t>
            </a:r>
          </a:p>
          <a:p>
            <a:pPr lvl="0"/>
            <a:r>
              <a:rPr lang="en-US" dirty="0"/>
              <a:t>Identify some characteristics of philosophy</a:t>
            </a:r>
          </a:p>
          <a:p>
            <a:pPr lvl="0"/>
            <a:r>
              <a:rPr lang="en-US" dirty="0"/>
              <a:t>Identify the branches of Technical Philosophy</a:t>
            </a:r>
          </a:p>
          <a:p>
            <a:pPr lvl="0"/>
            <a:r>
              <a:rPr lang="en-US" dirty="0"/>
              <a:t>Name correctly the methods of Technical philosophy</a:t>
            </a:r>
          </a:p>
          <a:p>
            <a:pPr lvl="0"/>
            <a:r>
              <a:rPr lang="en-US" dirty="0"/>
              <a:t>Suggest characteristics of each method</a:t>
            </a:r>
          </a:p>
          <a:p>
            <a:pPr lvl="0"/>
            <a:r>
              <a:rPr lang="en-US" dirty="0"/>
              <a:t>Correctly show why each method is critical for effective education.</a:t>
            </a:r>
          </a:p>
          <a:p>
            <a:endParaRPr lang="en-US" dirty="0"/>
          </a:p>
        </p:txBody>
      </p:sp>
    </p:spTree>
    <p:extLst>
      <p:ext uri="{BB962C8B-B14F-4D97-AF65-F5344CB8AC3E}">
        <p14:creationId xmlns:p14="http://schemas.microsoft.com/office/powerpoint/2010/main" val="1714109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Definition and meaning</a:t>
            </a:r>
          </a:p>
          <a:p>
            <a:endParaRPr lang="en-US" dirty="0"/>
          </a:p>
          <a:p>
            <a:r>
              <a:rPr lang="en-US" dirty="0"/>
              <a:t>Cambridge Advanced Learner’s Dictionary gives four definitions for ‘philosophy’ (Standish, 2010, 5- 6):</a:t>
            </a:r>
          </a:p>
          <a:p>
            <a:pPr marL="0" indent="0">
              <a:buNone/>
            </a:pPr>
            <a:endParaRPr lang="en-US" dirty="0"/>
          </a:p>
          <a:p>
            <a:pPr lvl="0"/>
            <a:r>
              <a:rPr lang="en-US" dirty="0"/>
              <a:t>The use of reason in understanding such things as the nature and existence, the use and limits of knowledge and the principles that govern and influence moral </a:t>
            </a:r>
            <a:r>
              <a:rPr lang="en-US" dirty="0" err="1"/>
              <a:t>judgement</a:t>
            </a:r>
            <a:r>
              <a:rPr lang="en-US" dirty="0"/>
              <a:t>;</a:t>
            </a:r>
          </a:p>
          <a:p>
            <a:endParaRPr lang="en-US" dirty="0"/>
          </a:p>
          <a:p>
            <a:pPr lvl="0"/>
            <a:r>
              <a:rPr lang="en-US" dirty="0"/>
              <a:t>A group of theories and ideas related to the understanding of a particular subject, e.g. philosophy of education/religion/science;</a:t>
            </a:r>
          </a:p>
          <a:p>
            <a:endParaRPr lang="en-US" dirty="0"/>
          </a:p>
          <a:p>
            <a:pPr marL="0" indent="0">
              <a:buNone/>
            </a:pPr>
            <a:endParaRPr lang="en-US" dirty="0"/>
          </a:p>
        </p:txBody>
      </p:sp>
    </p:spTree>
    <p:extLst>
      <p:ext uri="{BB962C8B-B14F-4D97-AF65-F5344CB8AC3E}">
        <p14:creationId xmlns:p14="http://schemas.microsoft.com/office/powerpoint/2010/main" val="1574838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a:t>
            </a:r>
            <a:endParaRPr lang="en-US" dirty="0"/>
          </a:p>
        </p:txBody>
      </p:sp>
      <p:sp>
        <p:nvSpPr>
          <p:cNvPr id="3" name="Content Placeholder 2"/>
          <p:cNvSpPr>
            <a:spLocks noGrp="1"/>
          </p:cNvSpPr>
          <p:nvPr>
            <p:ph idx="1"/>
          </p:nvPr>
        </p:nvSpPr>
        <p:spPr/>
        <p:txBody>
          <a:bodyPr>
            <a:normAutofit lnSpcReduction="10000"/>
          </a:bodyPr>
          <a:lstStyle/>
          <a:p>
            <a:pPr lvl="0"/>
            <a:r>
              <a:rPr lang="en-US" dirty="0"/>
              <a:t>Philosophy is a systematic study of general and fundamental questions concerning topics like existence, reason, knowledge, values, mind and language. It is a rational and critical inquiry that reflects on its own methods and assumptions;</a:t>
            </a:r>
          </a:p>
          <a:p>
            <a:pPr marL="0" indent="0">
              <a:buNone/>
            </a:pPr>
            <a:r>
              <a:rPr lang="en-US" dirty="0"/>
              <a:t> </a:t>
            </a:r>
          </a:p>
          <a:p>
            <a:pPr lvl="0"/>
            <a:r>
              <a:rPr lang="en-US" dirty="0"/>
              <a:t>The study of the fundamental nature of reality and existence, especially when considered as academic discipline;</a:t>
            </a:r>
          </a:p>
          <a:p>
            <a:endParaRPr lang="en-US" dirty="0"/>
          </a:p>
          <a:p>
            <a:pPr lvl="0"/>
            <a:r>
              <a:rPr lang="en-US" dirty="0"/>
              <a:t>The study of the basic ideas about truth, knowledge, right and wrong, religion and the nature and meaning of life;</a:t>
            </a:r>
          </a:p>
          <a:p>
            <a:pPr marL="0" indent="0">
              <a:buNone/>
            </a:pPr>
            <a:endParaRPr lang="en-US" dirty="0"/>
          </a:p>
        </p:txBody>
      </p:sp>
    </p:spTree>
    <p:extLst>
      <p:ext uri="{BB962C8B-B14F-4D97-AF65-F5344CB8AC3E}">
        <p14:creationId xmlns:p14="http://schemas.microsoft.com/office/powerpoint/2010/main" val="55432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lnSpcReduction="10000"/>
          </a:bodyPr>
          <a:lstStyle/>
          <a:p>
            <a:pPr lvl="0"/>
            <a:r>
              <a:rPr lang="en-US" dirty="0"/>
              <a:t>A way of thinking about certain subjects such as ethics, thought, existence, time, meaning and value</a:t>
            </a:r>
            <a:r>
              <a:rPr lang="en-US" dirty="0" smtClean="0"/>
              <a:t>;</a:t>
            </a:r>
            <a:endParaRPr lang="en-US" dirty="0"/>
          </a:p>
          <a:p>
            <a:pPr lvl="0"/>
            <a:r>
              <a:rPr lang="en-US" dirty="0"/>
              <a:t>Is the study or creation of theories about basic things such as the nature of existence, knowledge and thought or about how people should live</a:t>
            </a:r>
            <a:r>
              <a:rPr lang="en-US" dirty="0" smtClean="0"/>
              <a:t>;</a:t>
            </a:r>
            <a:endParaRPr lang="en-US" dirty="0"/>
          </a:p>
          <a:p>
            <a:pPr lvl="0"/>
            <a:r>
              <a:rPr lang="en-US" dirty="0"/>
              <a:t>A particular system of beliefs, values and principles ;</a:t>
            </a:r>
          </a:p>
          <a:p>
            <a:pPr marL="0" indent="0">
              <a:buNone/>
            </a:pPr>
            <a:endParaRPr lang="en-US" dirty="0"/>
          </a:p>
          <a:p>
            <a:pPr lvl="0"/>
            <a:r>
              <a:rPr lang="en-US" dirty="0"/>
              <a:t>Someone’s approach to life and their way of dealing with it (This is an informal definition of philosophy). For instance “live now pay later- that’s my philosophy of life!</a:t>
            </a:r>
          </a:p>
          <a:p>
            <a:pPr marL="0" indent="0">
              <a:buNone/>
            </a:pPr>
            <a:endParaRPr lang="en-US" dirty="0"/>
          </a:p>
        </p:txBody>
      </p:sp>
    </p:spTree>
    <p:extLst>
      <p:ext uri="{BB962C8B-B14F-4D97-AF65-F5344CB8AC3E}">
        <p14:creationId xmlns:p14="http://schemas.microsoft.com/office/powerpoint/2010/main" val="2016745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a:t>
            </a:r>
            <a:endParaRPr lang="en-US" dirty="0"/>
          </a:p>
        </p:txBody>
      </p:sp>
      <p:sp>
        <p:nvSpPr>
          <p:cNvPr id="3" name="Content Placeholder 2"/>
          <p:cNvSpPr>
            <a:spLocks noGrp="1"/>
          </p:cNvSpPr>
          <p:nvPr>
            <p:ph idx="1"/>
          </p:nvPr>
        </p:nvSpPr>
        <p:spPr/>
        <p:txBody>
          <a:bodyPr/>
          <a:lstStyle/>
          <a:p>
            <a:r>
              <a:rPr lang="en-US" dirty="0"/>
              <a:t>The eight and nine definitions are less relevant to our purposes here. The first one says that philosophy involves the use of reason in relation to the understanding of three things: knowledge, moral </a:t>
            </a:r>
            <a:r>
              <a:rPr lang="en-US" dirty="0" err="1"/>
              <a:t>judgement</a:t>
            </a:r>
            <a:r>
              <a:rPr lang="en-US" dirty="0"/>
              <a:t> and the nature of reality. The second talks of system of beliefs, values and principles, suggesting, people’s world view, assumptions about things.</a:t>
            </a:r>
          </a:p>
          <a:p>
            <a:r>
              <a:rPr lang="en-US" dirty="0"/>
              <a:t>The word philosophy is derived from two Greek words. The first word Philo or </a:t>
            </a:r>
            <a:r>
              <a:rPr lang="en-US" dirty="0" err="1"/>
              <a:t>Philcin</a:t>
            </a:r>
            <a:r>
              <a:rPr lang="en-US" dirty="0"/>
              <a:t>, means ‘Love, to search for; the second, </a:t>
            </a:r>
            <a:r>
              <a:rPr lang="en-US" dirty="0" err="1"/>
              <a:t>Sophy</a:t>
            </a:r>
            <a:r>
              <a:rPr lang="en-US" dirty="0"/>
              <a:t> or </a:t>
            </a:r>
            <a:r>
              <a:rPr lang="en-US" dirty="0" err="1"/>
              <a:t>Sophias</a:t>
            </a:r>
            <a:r>
              <a:rPr lang="en-US" dirty="0"/>
              <a:t>, means ‘Wisdom’. </a:t>
            </a:r>
          </a:p>
          <a:p>
            <a:pPr marL="0" indent="0">
              <a:buNone/>
            </a:pPr>
            <a:endParaRPr lang="en-US" dirty="0"/>
          </a:p>
        </p:txBody>
      </p:sp>
    </p:spTree>
    <p:extLst>
      <p:ext uri="{BB962C8B-B14F-4D97-AF65-F5344CB8AC3E}">
        <p14:creationId xmlns:p14="http://schemas.microsoft.com/office/powerpoint/2010/main" val="1985486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lstStyle/>
          <a:p>
            <a:pPr marL="0" indent="0">
              <a:buNone/>
            </a:pPr>
            <a:r>
              <a:rPr lang="en-US" dirty="0"/>
              <a:t>Literally, then, philosophy means ‘Love of Wisdom’, or ‘search for Wisdom’. </a:t>
            </a:r>
          </a:p>
          <a:p>
            <a:pPr marL="0" indent="0">
              <a:buNone/>
            </a:pPr>
            <a:endParaRPr lang="en-US" dirty="0"/>
          </a:p>
        </p:txBody>
      </p:sp>
    </p:spTree>
    <p:extLst>
      <p:ext uri="{BB962C8B-B14F-4D97-AF65-F5344CB8AC3E}">
        <p14:creationId xmlns:p14="http://schemas.microsoft.com/office/powerpoint/2010/main" val="1729498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lstStyle/>
          <a:p>
            <a:pPr lvl="0"/>
            <a:r>
              <a:rPr lang="en-US" dirty="0"/>
              <a:t>Given the above, you will realize that philosophers are Lovers of Wisdom. People who search for wisdom as they live in this world. Sometimes wisdom is referred to as knowledge, so philosophy has come to be associated with love of knowledge. </a:t>
            </a:r>
          </a:p>
          <a:p>
            <a:pPr marL="0" indent="0">
              <a:buNone/>
            </a:pPr>
            <a:r>
              <a:rPr lang="en-US" b="1" dirty="0"/>
              <a:t> </a:t>
            </a:r>
            <a:endParaRPr lang="en-US" dirty="0"/>
          </a:p>
          <a:p>
            <a:pPr lvl="0"/>
            <a:r>
              <a:rPr lang="en-US" dirty="0"/>
              <a:t>Philosophers are people who are puzzled about many things in the world they live in. As a result of this, they ask themselves many questions with a hope of getting rational answers that will help them understand, and survive in the world, themselves being part of that world. </a:t>
            </a:r>
          </a:p>
          <a:p>
            <a:pPr marL="0" indent="0">
              <a:buNone/>
            </a:pPr>
            <a:endParaRPr lang="en-US" dirty="0"/>
          </a:p>
        </p:txBody>
      </p:sp>
    </p:spTree>
    <p:extLst>
      <p:ext uri="{BB962C8B-B14F-4D97-AF65-F5344CB8AC3E}">
        <p14:creationId xmlns:p14="http://schemas.microsoft.com/office/powerpoint/2010/main" val="1926719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Many philosophers have argued, in fact, that philosophy begins in wonder and wonder is the feeling of a philosopher. What is to wonder? To wonder is to realize that there is something strange behind things that we ordinarily perceive, something that needs MORE answers than what we ordinarily take for granted. </a:t>
            </a:r>
          </a:p>
          <a:p>
            <a:pPr marL="0" indent="0">
              <a:buNone/>
            </a:pPr>
            <a:endParaRPr lang="en-US" dirty="0"/>
          </a:p>
          <a:p>
            <a:pPr lvl="0"/>
            <a:r>
              <a:rPr lang="en-US" dirty="0"/>
              <a:t>For this reason philosophers take nothing for granted. They constantly try to look for answers particularly to the MEANING and SIGNIFICANCE of life. In a way also, philosophers through their questioning habit, admit that they are ignorant of some issues. By questing they want answers; they want to know because they know that they don’t know. It is this knowledge that makes them love or search for further knowledge. </a:t>
            </a:r>
          </a:p>
          <a:p>
            <a:pPr marL="0" indent="0">
              <a:buNone/>
            </a:pPr>
            <a:endParaRPr lang="en-US" dirty="0"/>
          </a:p>
        </p:txBody>
      </p:sp>
    </p:spTree>
    <p:extLst>
      <p:ext uri="{BB962C8B-B14F-4D97-AF65-F5344CB8AC3E}">
        <p14:creationId xmlns:p14="http://schemas.microsoft.com/office/powerpoint/2010/main" val="2991797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a:t>
            </a:r>
            <a:endParaRPr lang="en-US" dirty="0"/>
          </a:p>
        </p:txBody>
      </p:sp>
      <p:sp>
        <p:nvSpPr>
          <p:cNvPr id="3" name="Content Placeholder 2"/>
          <p:cNvSpPr>
            <a:spLocks noGrp="1"/>
          </p:cNvSpPr>
          <p:nvPr>
            <p:ph idx="1"/>
          </p:nvPr>
        </p:nvSpPr>
        <p:spPr/>
        <p:txBody>
          <a:bodyPr>
            <a:normAutofit/>
          </a:bodyPr>
          <a:lstStyle/>
          <a:p>
            <a:pPr marL="0" lvl="0" indent="0">
              <a:buNone/>
            </a:pPr>
            <a:r>
              <a:rPr lang="en-US" sz="4000" dirty="0"/>
              <a:t>Basically, therefore, philosophy is based on man’s curiosity and wonder about the world we live in and consists in finding possible rational answers to many questions about its nature (world). It tries to rationally investigate certain fundamental problems with regards to the relationship between man and the world he lives in. </a:t>
            </a:r>
          </a:p>
          <a:p>
            <a:pPr marL="0" indent="0">
              <a:buNone/>
            </a:pPr>
            <a:endParaRPr lang="en-US" sz="4000" dirty="0"/>
          </a:p>
        </p:txBody>
      </p:sp>
    </p:spTree>
    <p:extLst>
      <p:ext uri="{BB962C8B-B14F-4D97-AF65-F5344CB8AC3E}">
        <p14:creationId xmlns:p14="http://schemas.microsoft.com/office/powerpoint/2010/main" val="1158758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a:bodyPr>
          <a:lstStyle/>
          <a:p>
            <a:pPr marL="0" indent="0">
              <a:buNone/>
            </a:pPr>
            <a:r>
              <a:rPr lang="en-US" sz="4000" dirty="0"/>
              <a:t>It is important to know that philosophy is an activity undertaken by man in this world and to discard a notion you may have probably heard that philosophers are detached and always absorbed in abstract deep thought completely unaware of the world around them. In reality actually the contrary is true.</a:t>
            </a:r>
          </a:p>
        </p:txBody>
      </p:sp>
    </p:spTree>
    <p:extLst>
      <p:ext uri="{BB962C8B-B14F-4D97-AF65-F5344CB8AC3E}">
        <p14:creationId xmlns:p14="http://schemas.microsoft.com/office/powerpoint/2010/main" val="3273999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a:bodyPr>
          <a:lstStyle/>
          <a:p>
            <a:pPr marL="0" indent="0">
              <a:buNone/>
            </a:pPr>
            <a:r>
              <a:rPr lang="en-US" sz="4000" dirty="0"/>
              <a:t>Philosophy consists of two worlds: The world of General philosophy which is wide and the small world of Technical or Professional Philosophy. </a:t>
            </a:r>
          </a:p>
          <a:p>
            <a:pPr marL="0" indent="0">
              <a:buNone/>
            </a:pPr>
            <a:endParaRPr lang="en-US" sz="4000" dirty="0"/>
          </a:p>
        </p:txBody>
      </p:sp>
    </p:spTree>
    <p:extLst>
      <p:ext uri="{BB962C8B-B14F-4D97-AF65-F5344CB8AC3E}">
        <p14:creationId xmlns:p14="http://schemas.microsoft.com/office/powerpoint/2010/main" val="1158029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b="1" i="1" dirty="0"/>
              <a:t>General Philosophy (The wide world)</a:t>
            </a:r>
            <a:endParaRPr lang="en-US" dirty="0"/>
          </a:p>
          <a:p>
            <a:r>
              <a:rPr lang="en-US" dirty="0"/>
              <a:t>As </a:t>
            </a:r>
            <a:r>
              <a:rPr lang="en-US" dirty="0" err="1"/>
              <a:t>Njoroge</a:t>
            </a:r>
            <a:r>
              <a:rPr lang="en-US" dirty="0"/>
              <a:t> and </a:t>
            </a:r>
            <a:r>
              <a:rPr lang="en-US" dirty="0" err="1"/>
              <a:t>Bennars</a:t>
            </a:r>
            <a:r>
              <a:rPr lang="en-US" dirty="0"/>
              <a:t> (1986) put it, general philosophy is and has always been the concern of all human beings for the simple reason that they are humans, questioning their humanity, the human condition and the human experience. </a:t>
            </a:r>
          </a:p>
          <a:p>
            <a:r>
              <a:rPr lang="en-US" dirty="0"/>
              <a:t>Any person, who seriously and genuinely tries to come to terms with life in the sense of understanding it, does philosophy at the general level. </a:t>
            </a:r>
          </a:p>
          <a:p>
            <a:r>
              <a:rPr lang="en-US" dirty="0"/>
              <a:t>Done by all, though in different contexts, it includes what we can call ‘Philosophy of life’, where different groups could be said to have a philosophy of life- a set of thought out beliefs or ideas that guide one’s life. For example, a student can have a philosophy of life, and so is a farmer, a parent or even a political leader. </a:t>
            </a:r>
          </a:p>
          <a:p>
            <a:pPr marL="0" indent="0">
              <a:buNone/>
            </a:pPr>
            <a:endParaRPr lang="en-US" dirty="0"/>
          </a:p>
        </p:txBody>
      </p:sp>
    </p:spTree>
    <p:extLst>
      <p:ext uri="{BB962C8B-B14F-4D97-AF65-F5344CB8AC3E}">
        <p14:creationId xmlns:p14="http://schemas.microsoft.com/office/powerpoint/2010/main" val="2831996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a:bodyPr>
          <a:lstStyle/>
          <a:p>
            <a:pPr marL="0" indent="0">
              <a:buNone/>
            </a:pPr>
            <a:r>
              <a:rPr lang="en-US" sz="4800" dirty="0"/>
              <a:t>Included in the wide world of Philosophy are National Philosophies such as ‘</a:t>
            </a:r>
            <a:r>
              <a:rPr lang="en-US" sz="4800" dirty="0" err="1"/>
              <a:t>Nyayo</a:t>
            </a:r>
            <a:r>
              <a:rPr lang="en-US" sz="4800" dirty="0"/>
              <a:t> Philosophy’, ‘</a:t>
            </a:r>
            <a:r>
              <a:rPr lang="en-US" sz="4800" dirty="0" err="1"/>
              <a:t>Ujamaa</a:t>
            </a:r>
            <a:r>
              <a:rPr lang="en-US" sz="4800" dirty="0"/>
              <a:t>’, and Humanism’, among others. </a:t>
            </a:r>
          </a:p>
          <a:p>
            <a:pPr marL="0" indent="0">
              <a:buNone/>
            </a:pPr>
            <a:endParaRPr lang="en-US" sz="4800" dirty="0"/>
          </a:p>
        </p:txBody>
      </p:sp>
    </p:spTree>
    <p:extLst>
      <p:ext uri="{BB962C8B-B14F-4D97-AF65-F5344CB8AC3E}">
        <p14:creationId xmlns:p14="http://schemas.microsoft.com/office/powerpoint/2010/main" val="2335649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Autofit/>
          </a:bodyPr>
          <a:lstStyle/>
          <a:p>
            <a:pPr marL="0" indent="0">
              <a:buNone/>
            </a:pPr>
            <a:r>
              <a:rPr lang="en-US" sz="3600" dirty="0"/>
              <a:t>General philosophy can be both personal as well as collective in nature. However, whether personal or collective, philosophy expresses man’s response to life. In this context all human beings have a philosophy or are philosophers since they have a set of ideas or beliefs that guide their lives. They are general because they tend to be subjective. They are not a product of serious deliberations and thought. They are informal in nature and they are not written in any way or form. </a:t>
            </a:r>
          </a:p>
        </p:txBody>
      </p:sp>
    </p:spTree>
    <p:extLst>
      <p:ext uri="{BB962C8B-B14F-4D97-AF65-F5344CB8AC3E}">
        <p14:creationId xmlns:p14="http://schemas.microsoft.com/office/powerpoint/2010/main" val="2777762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lstStyle/>
          <a:p>
            <a:pPr marL="0" indent="0">
              <a:buNone/>
            </a:pPr>
            <a:r>
              <a:rPr lang="en-US" sz="4000" dirty="0"/>
              <a:t>They are frequently formed in the course of prolonged experience and are normally unstable in that they do not stand the test of time. They tend to be abandoned as they become outdated or as they get ousted by more reliable, rival, valued and well tested positions, beliefs or assumptions. </a:t>
            </a:r>
          </a:p>
          <a:p>
            <a:pPr marL="0" indent="0">
              <a:buNone/>
            </a:pPr>
            <a:endParaRPr lang="en-US" dirty="0"/>
          </a:p>
        </p:txBody>
      </p:sp>
    </p:spTree>
    <p:extLst>
      <p:ext uri="{BB962C8B-B14F-4D97-AF65-F5344CB8AC3E}">
        <p14:creationId xmlns:p14="http://schemas.microsoft.com/office/powerpoint/2010/main" val="26591727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a:bodyPr>
          <a:lstStyle/>
          <a:p>
            <a:pPr marL="0" indent="0">
              <a:buNone/>
            </a:pPr>
            <a:r>
              <a:rPr lang="en-US" sz="4000" dirty="0"/>
              <a:t>General philosophy is the broad world philosophy inhabited by all those who severally and genuinely try to come to terms with life and who struggle for understanding and wisdom. It is characterized by genuine human response to life and it’s taught in most cultures and societies. </a:t>
            </a:r>
          </a:p>
          <a:p>
            <a:pPr marL="0" indent="0">
              <a:buNone/>
            </a:pPr>
            <a:endParaRPr lang="en-US" sz="4000" dirty="0"/>
          </a:p>
        </p:txBody>
      </p:sp>
    </p:spTree>
    <p:extLst>
      <p:ext uri="{BB962C8B-B14F-4D97-AF65-F5344CB8AC3E}">
        <p14:creationId xmlns:p14="http://schemas.microsoft.com/office/powerpoint/2010/main" val="4214907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lstStyle/>
          <a:p>
            <a:pPr marL="0" indent="0">
              <a:buNone/>
            </a:pPr>
            <a:r>
              <a:rPr lang="en-US" sz="3200" dirty="0"/>
              <a:t>It also refer to those set of beliefs, assumptions, traditions, customs or principles which individuals or societies have defined and set informally way to regulate general thinking, habits and conducts of life, They include traditional habits, modes of character and intellectual inclinations of a general kind. Others are cultural traditions, attitudes, values and peer-driven norms and standards of conduct which individuals or societies have set and use to respond to every day tribulations and/or universal issues of life. </a:t>
            </a:r>
          </a:p>
          <a:p>
            <a:pPr marL="0" indent="0">
              <a:buNone/>
            </a:pPr>
            <a:endParaRPr lang="en-US" dirty="0"/>
          </a:p>
        </p:txBody>
      </p:sp>
    </p:spTree>
    <p:extLst>
      <p:ext uri="{BB962C8B-B14F-4D97-AF65-F5344CB8AC3E}">
        <p14:creationId xmlns:p14="http://schemas.microsoft.com/office/powerpoint/2010/main" val="3007758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a:bodyPr>
          <a:lstStyle/>
          <a:p>
            <a:r>
              <a:rPr lang="en-US" sz="4000" dirty="0"/>
              <a:t>Such philosophies may be used in making decisions on some traditions, events like marriage or divorce, heredity issues, they may be used to assist status, offer simple explanations and seasons and simple predictions of some future event. </a:t>
            </a:r>
          </a:p>
          <a:p>
            <a:endParaRPr lang="en-US" sz="4000" dirty="0"/>
          </a:p>
        </p:txBody>
      </p:sp>
    </p:spTree>
    <p:extLst>
      <p:ext uri="{BB962C8B-B14F-4D97-AF65-F5344CB8AC3E}">
        <p14:creationId xmlns:p14="http://schemas.microsoft.com/office/powerpoint/2010/main" val="25335700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a:t>
            </a:r>
            <a:endParaRPr lang="en-US" dirty="0"/>
          </a:p>
        </p:txBody>
      </p:sp>
      <p:sp>
        <p:nvSpPr>
          <p:cNvPr id="3" name="Content Placeholder 2"/>
          <p:cNvSpPr>
            <a:spLocks noGrp="1"/>
          </p:cNvSpPr>
          <p:nvPr>
            <p:ph idx="1"/>
          </p:nvPr>
        </p:nvSpPr>
        <p:spPr/>
        <p:txBody>
          <a:bodyPr/>
          <a:lstStyle/>
          <a:p>
            <a:pPr marL="0" indent="0">
              <a:buNone/>
            </a:pPr>
            <a:r>
              <a:rPr lang="en-US" dirty="0"/>
              <a:t>According to </a:t>
            </a:r>
            <a:r>
              <a:rPr lang="en-US" dirty="0" err="1"/>
              <a:t>Njoroge</a:t>
            </a:r>
            <a:r>
              <a:rPr lang="en-US" dirty="0"/>
              <a:t> and </a:t>
            </a:r>
            <a:r>
              <a:rPr lang="en-US" dirty="0" err="1"/>
              <a:t>Bennars</a:t>
            </a:r>
            <a:r>
              <a:rPr lang="en-US" dirty="0"/>
              <a:t> (1986), what makes a response philosophical is NOT the way it is expressed, in simple or sophisticated language, in oral or written form. Nor does it matter if the statement comes from a learned scholar. What matters eventually, what makes a human thought philosophical in character is the authenticity of the thought. General philosophy is the universal part of philosophy. An example of general philosophy is sage philosophy which was propagated in the 1970s by Henry </a:t>
            </a:r>
            <a:r>
              <a:rPr lang="en-US" dirty="0" err="1"/>
              <a:t>Odera</a:t>
            </a:r>
            <a:r>
              <a:rPr lang="en-US" dirty="0"/>
              <a:t> </a:t>
            </a:r>
            <a:r>
              <a:rPr lang="en-US" dirty="0" err="1"/>
              <a:t>Oruka</a:t>
            </a:r>
            <a:r>
              <a:rPr lang="en-US" dirty="0"/>
              <a:t>, in an attempt to preserve the knowledge of the indigenous thinkers in traditional African communities. 	</a:t>
            </a:r>
          </a:p>
          <a:p>
            <a:pPr marL="0" indent="0">
              <a:buNone/>
            </a:pPr>
            <a:endParaRPr lang="en-US" dirty="0"/>
          </a:p>
        </p:txBody>
      </p:sp>
    </p:spTree>
    <p:extLst>
      <p:ext uri="{BB962C8B-B14F-4D97-AF65-F5344CB8AC3E}">
        <p14:creationId xmlns:p14="http://schemas.microsoft.com/office/powerpoint/2010/main" val="34976132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a:bodyPr>
          <a:lstStyle/>
          <a:p>
            <a:r>
              <a:rPr lang="en-US" b="1" i="1" dirty="0"/>
              <a:t>Technical Philosophy (The small world</a:t>
            </a:r>
            <a:r>
              <a:rPr lang="en-US" b="1" i="1" dirty="0" smtClean="0"/>
              <a:t>)</a:t>
            </a:r>
            <a:endParaRPr lang="en-US" dirty="0"/>
          </a:p>
          <a:p>
            <a:r>
              <a:rPr lang="en-US" dirty="0"/>
              <a:t>Different from the wide world of general philosophy, Technical or professional philosophy is associated with a small world of academic scholars who have undergone formal training. Philosophy in this sense has a structure, a system of </a:t>
            </a:r>
            <a:r>
              <a:rPr lang="en-US" dirty="0" err="1"/>
              <a:t>organised</a:t>
            </a:r>
            <a:r>
              <a:rPr lang="en-US" dirty="0"/>
              <a:t> thought evidenced in a world of books, and scholarly writings.</a:t>
            </a:r>
          </a:p>
          <a:p>
            <a:r>
              <a:rPr lang="en-US" dirty="0"/>
              <a:t>It is sometimes referred to as professional philosophy for one to claim to be technical philosopher, one must study the history of European philosophy and be conversant with all the Greek philosophers. Some individuals refer to it as formal philosophy. </a:t>
            </a:r>
          </a:p>
          <a:p>
            <a:endParaRPr lang="en-US" dirty="0"/>
          </a:p>
        </p:txBody>
      </p:sp>
    </p:spTree>
    <p:extLst>
      <p:ext uri="{BB962C8B-B14F-4D97-AF65-F5344CB8AC3E}">
        <p14:creationId xmlns:p14="http://schemas.microsoft.com/office/powerpoint/2010/main" val="4185930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a:t>
            </a:r>
            <a:endParaRPr lang="en-US" dirty="0"/>
          </a:p>
        </p:txBody>
      </p:sp>
      <p:sp>
        <p:nvSpPr>
          <p:cNvPr id="3" name="Content Placeholder 2"/>
          <p:cNvSpPr>
            <a:spLocks noGrp="1"/>
          </p:cNvSpPr>
          <p:nvPr>
            <p:ph idx="1"/>
          </p:nvPr>
        </p:nvSpPr>
        <p:spPr/>
        <p:txBody>
          <a:bodyPr/>
          <a:lstStyle/>
          <a:p>
            <a:pPr marL="0" indent="0">
              <a:buNone/>
            </a:pPr>
            <a:r>
              <a:rPr lang="en-US" sz="3600" dirty="0"/>
              <a:t>Technical philosophy is a formal area of the discipline which contains tested and verified beliefs, assumptions, principles, or ideas in some clearly identifiable and special form of experience. Technical philosophy has grown out of this wide world of general philosophy it has taken place through factors namely formalization, westernization and specialization. </a:t>
            </a:r>
          </a:p>
          <a:p>
            <a:pPr marL="0" indent="0">
              <a:buNone/>
            </a:pPr>
            <a:endParaRPr lang="en-US" dirty="0"/>
          </a:p>
        </p:txBody>
      </p:sp>
    </p:spTree>
    <p:extLst>
      <p:ext uri="{BB962C8B-B14F-4D97-AF65-F5344CB8AC3E}">
        <p14:creationId xmlns:p14="http://schemas.microsoft.com/office/powerpoint/2010/main" val="21986637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fontScale="92500"/>
          </a:bodyPr>
          <a:lstStyle/>
          <a:p>
            <a:pPr marL="0" indent="0">
              <a:buNone/>
            </a:pPr>
            <a:r>
              <a:rPr lang="en-US" dirty="0" smtClean="0"/>
              <a:t>a) </a:t>
            </a:r>
            <a:r>
              <a:rPr lang="en-US" sz="3200" b="1" dirty="0" smtClean="0"/>
              <a:t>Formalization</a:t>
            </a:r>
            <a:r>
              <a:rPr lang="en-US" sz="3200" dirty="0"/>
              <a:t>: The term form refers to the presence of a system, pattern, or structure, therefore formalization is the process when various human activities are given a specific structure or system. This leads to the implication that when we talk about formal education we mean a well-defined system of education. Some few thousand years ago, the technique of writing developed in different parts of the world; hence ideas came to be expressed in a more systematic, more definite and a more lasting form, the formalization of ideas through writing encouraged the development of formal philosophy. </a:t>
            </a:r>
          </a:p>
        </p:txBody>
      </p:sp>
    </p:spTree>
    <p:extLst>
      <p:ext uri="{BB962C8B-B14F-4D97-AF65-F5344CB8AC3E}">
        <p14:creationId xmlns:p14="http://schemas.microsoft.com/office/powerpoint/2010/main" val="1586770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a:bodyPr>
          <a:lstStyle/>
          <a:p>
            <a:pPr marL="0" lvl="0" indent="0">
              <a:buNone/>
            </a:pPr>
            <a:r>
              <a:rPr lang="en-US" sz="4400" dirty="0"/>
              <a:t>The first philosophical writings of any given area mark the beginning of technical philosophy. For example, Indian philosophy goes back to the </a:t>
            </a:r>
            <a:r>
              <a:rPr lang="en-US" sz="4400" dirty="0" err="1"/>
              <a:t>Vedes</a:t>
            </a:r>
            <a:r>
              <a:rPr lang="en-US" sz="4400" dirty="0"/>
              <a:t>, while the Chinese formal philosophy dates back to the written work of Kung’ </a:t>
            </a:r>
            <a:r>
              <a:rPr lang="en-US" sz="4400" dirty="0" err="1"/>
              <a:t>Futzu</a:t>
            </a:r>
            <a:r>
              <a:rPr lang="en-US" sz="4400" dirty="0"/>
              <a:t> (Confucius) and Lao Tzu. </a:t>
            </a:r>
          </a:p>
          <a:p>
            <a:pPr marL="0" indent="0">
              <a:buNone/>
            </a:pPr>
            <a:endParaRPr lang="en-US" sz="4400" dirty="0"/>
          </a:p>
        </p:txBody>
      </p:sp>
    </p:spTree>
    <p:extLst>
      <p:ext uri="{BB962C8B-B14F-4D97-AF65-F5344CB8AC3E}">
        <p14:creationId xmlns:p14="http://schemas.microsoft.com/office/powerpoint/2010/main" val="2330488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lstStyle/>
          <a:p>
            <a:r>
              <a:rPr lang="en-US" sz="3200" dirty="0"/>
              <a:t>In Western Europe, the beginnings are found in the philosophical writings of the ancient Greek philosophers in the ancient philosophy period, from 600BC – 300AD. The likes of Heraclitus, Pythagoras and </a:t>
            </a:r>
            <a:r>
              <a:rPr lang="en-US" sz="3200" dirty="0" err="1"/>
              <a:t>Empedocks</a:t>
            </a:r>
            <a:r>
              <a:rPr lang="en-US" sz="3200" dirty="0"/>
              <a:t>. </a:t>
            </a:r>
          </a:p>
          <a:p>
            <a:r>
              <a:rPr lang="en-US" sz="3200" dirty="0"/>
              <a:t>Nowadays, the world of technical philosophy is a world of books, formal language, scholarly writings and systematic thought. Thus, this does not leave room for the common philosophies of life even if they may be personal or collective. </a:t>
            </a:r>
          </a:p>
          <a:p>
            <a:pPr marL="0" indent="0">
              <a:buNone/>
            </a:pPr>
            <a:endParaRPr lang="en-US" dirty="0"/>
          </a:p>
        </p:txBody>
      </p:sp>
    </p:spTree>
    <p:extLst>
      <p:ext uri="{BB962C8B-B14F-4D97-AF65-F5344CB8AC3E}">
        <p14:creationId xmlns:p14="http://schemas.microsoft.com/office/powerpoint/2010/main" val="13753888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lnSpcReduction="10000"/>
          </a:bodyPr>
          <a:lstStyle/>
          <a:p>
            <a:pPr marL="0" lvl="0" indent="0">
              <a:buNone/>
            </a:pPr>
            <a:r>
              <a:rPr lang="en-US" sz="4000" dirty="0" smtClean="0"/>
              <a:t>b) </a:t>
            </a:r>
            <a:r>
              <a:rPr lang="en-US" sz="4000" b="1" dirty="0" smtClean="0"/>
              <a:t>Westernization</a:t>
            </a:r>
            <a:r>
              <a:rPr lang="en-US" dirty="0"/>
              <a:t>:  </a:t>
            </a:r>
            <a:r>
              <a:rPr lang="en-US" sz="4000" dirty="0"/>
              <a:t>Due to the dominant position of western civilization which resulted in imperialism and colonialism formal philosophy with time came to be dominated by western philosophers. Philosophy in the formal technical sense came to be regarded as predominantly western affair, the impression created by western book in Western Europe into what it is now. </a:t>
            </a:r>
          </a:p>
          <a:p>
            <a:pPr marL="0" indent="0">
              <a:buNone/>
            </a:pPr>
            <a:endParaRPr lang="en-US" dirty="0"/>
          </a:p>
        </p:txBody>
      </p:sp>
    </p:spTree>
    <p:extLst>
      <p:ext uri="{BB962C8B-B14F-4D97-AF65-F5344CB8AC3E}">
        <p14:creationId xmlns:p14="http://schemas.microsoft.com/office/powerpoint/2010/main" val="9268609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lstStyle/>
          <a:p>
            <a:pPr marL="0" indent="0">
              <a:buNone/>
            </a:pPr>
            <a:r>
              <a:rPr lang="en-US" sz="4000" dirty="0"/>
              <a:t>Anyone who wishes to be a formal philosopher, he or she must be familiar with western philosophy various schools of thought, like realism, idealism, pragmatism and writings of famous western philosopher and with all the technical language used in western philosophy.</a:t>
            </a:r>
          </a:p>
          <a:p>
            <a:pPr marL="0" indent="0">
              <a:buNone/>
            </a:pPr>
            <a:endParaRPr lang="en-US" dirty="0"/>
          </a:p>
        </p:txBody>
      </p:sp>
    </p:spTree>
    <p:extLst>
      <p:ext uri="{BB962C8B-B14F-4D97-AF65-F5344CB8AC3E}">
        <p14:creationId xmlns:p14="http://schemas.microsoft.com/office/powerpoint/2010/main" val="1799932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lstStyle/>
          <a:p>
            <a:pPr marL="0" indent="0">
              <a:buNone/>
            </a:pPr>
            <a:r>
              <a:rPr lang="en-US" sz="3600" dirty="0"/>
              <a:t>The world of technical philosophy is highly western in expression, character and orientation. In other word western philosophy to all appearances provides the standard of what technical philosophy thought to be /supposed to be. This type of conclusion is internationally accepted as a result of the specialization that has occurred in formal philosophy through the efforts of western philosophers. </a:t>
            </a:r>
          </a:p>
          <a:p>
            <a:pPr marL="0" indent="0">
              <a:buNone/>
            </a:pPr>
            <a:endParaRPr lang="en-US" dirty="0"/>
          </a:p>
        </p:txBody>
      </p:sp>
    </p:spTree>
    <p:extLst>
      <p:ext uri="{BB962C8B-B14F-4D97-AF65-F5344CB8AC3E}">
        <p14:creationId xmlns:p14="http://schemas.microsoft.com/office/powerpoint/2010/main" val="6645174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fontScale="92500" lnSpcReduction="10000"/>
          </a:bodyPr>
          <a:lstStyle/>
          <a:p>
            <a:pPr marL="0" lvl="0" indent="0">
              <a:buNone/>
            </a:pPr>
            <a:r>
              <a:rPr lang="en-US" sz="4300" dirty="0" smtClean="0"/>
              <a:t>C) Specialization</a:t>
            </a:r>
            <a:r>
              <a:rPr lang="en-US" dirty="0"/>
              <a:t>: This is the process of when through which persons acquire exceptional knowledge about skills in a particular subjects as a result of intensive and constant of the subject. Thus the persons are referred to as experts or specialists in their field. </a:t>
            </a:r>
          </a:p>
          <a:p>
            <a:pPr marL="0" indent="0">
              <a:buNone/>
            </a:pPr>
            <a:r>
              <a:rPr lang="en-US" dirty="0"/>
              <a:t>With the increase of specialists in a given field, they tend to create a small globe of their own, which is characterized by a special language, special interests, special skills and special methods. In the case of professional philosophy, specialization occurred at different time in the history and in different parts of the world. The Western European countries, the Middle East region and in Asian countries like China, India and Japan. Through specialization and westernization professional philosophy became highly technical because of its western context and the experts in the field. </a:t>
            </a:r>
          </a:p>
          <a:p>
            <a:pPr marL="0" indent="0">
              <a:buNone/>
            </a:pPr>
            <a:endParaRPr lang="en-US" dirty="0"/>
          </a:p>
        </p:txBody>
      </p:sp>
    </p:spTree>
    <p:extLst>
      <p:ext uri="{BB962C8B-B14F-4D97-AF65-F5344CB8AC3E}">
        <p14:creationId xmlns:p14="http://schemas.microsoft.com/office/powerpoint/2010/main" val="382376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a:bodyPr>
          <a:lstStyle/>
          <a:p>
            <a:r>
              <a:rPr lang="en-US" sz="3200" dirty="0"/>
              <a:t>Therefore Technical philosophy has a specific form of thought, has emerged from ‘Western Philosophy’ i.e. European in origin and </a:t>
            </a:r>
            <a:r>
              <a:rPr lang="en-US" sz="3200" dirty="0" err="1"/>
              <a:t>characterised</a:t>
            </a:r>
            <a:r>
              <a:rPr lang="en-US" sz="3200" dirty="0"/>
              <a:t> by specialization, a matter of experts. </a:t>
            </a:r>
          </a:p>
          <a:p>
            <a:r>
              <a:rPr lang="en-US" sz="3200" dirty="0"/>
              <a:t>The student of Philosophy of Education need not become a professional Philosopher. As it has been argued, he only needs a general introduction to help him/her understand and appreciate the meaning and significance of Technical Philosopher as an educator. </a:t>
            </a:r>
          </a:p>
          <a:p>
            <a:pPr marL="0" indent="0">
              <a:buNone/>
            </a:pPr>
            <a:endParaRPr lang="en-US" sz="3200" dirty="0"/>
          </a:p>
        </p:txBody>
      </p:sp>
    </p:spTree>
    <p:extLst>
      <p:ext uri="{BB962C8B-B14F-4D97-AF65-F5344CB8AC3E}">
        <p14:creationId xmlns:p14="http://schemas.microsoft.com/office/powerpoint/2010/main" val="32489725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sz="4400" dirty="0"/>
              <a:t>There are four distinct areas or branches in Technical Philosophy. These are: </a:t>
            </a:r>
          </a:p>
          <a:p>
            <a:r>
              <a:rPr lang="en-US" sz="4400" dirty="0"/>
              <a:t>Logic, </a:t>
            </a:r>
            <a:endParaRPr lang="en-US" sz="4400" dirty="0" smtClean="0"/>
          </a:p>
          <a:p>
            <a:r>
              <a:rPr lang="en-US" sz="4400" dirty="0" smtClean="0"/>
              <a:t>Epistemology</a:t>
            </a:r>
            <a:r>
              <a:rPr lang="en-US" sz="4400" dirty="0"/>
              <a:t>, </a:t>
            </a:r>
            <a:endParaRPr lang="en-US" sz="4400" dirty="0" smtClean="0"/>
          </a:p>
          <a:p>
            <a:r>
              <a:rPr lang="en-US" sz="4400" dirty="0" smtClean="0"/>
              <a:t>Axiology </a:t>
            </a:r>
            <a:r>
              <a:rPr lang="en-US" sz="4400" dirty="0"/>
              <a:t>and </a:t>
            </a:r>
            <a:endParaRPr lang="en-US" sz="4400" dirty="0" smtClean="0"/>
          </a:p>
          <a:p>
            <a:r>
              <a:rPr lang="en-US" sz="4400" dirty="0" smtClean="0"/>
              <a:t>Metaphysics</a:t>
            </a:r>
            <a:r>
              <a:rPr lang="en-US" sz="4400" dirty="0"/>
              <a:t>. </a:t>
            </a:r>
            <a:endParaRPr lang="en-US" sz="4400" dirty="0" smtClean="0"/>
          </a:p>
          <a:p>
            <a:pPr marL="0" indent="0">
              <a:buNone/>
            </a:pPr>
            <a:r>
              <a:rPr lang="en-US" sz="4400" dirty="0" smtClean="0"/>
              <a:t>Let </a:t>
            </a:r>
            <a:r>
              <a:rPr lang="en-US" sz="4400" dirty="0"/>
              <a:t>us examine each one of </a:t>
            </a:r>
            <a:r>
              <a:rPr lang="en-US" sz="4400" dirty="0" smtClean="0"/>
              <a:t>them </a:t>
            </a:r>
            <a:r>
              <a:rPr lang="en-US" sz="4400" dirty="0"/>
              <a:t>separately.</a:t>
            </a:r>
          </a:p>
          <a:p>
            <a:pPr marL="0" indent="0">
              <a:buNone/>
            </a:pPr>
            <a:endParaRPr lang="en-US" sz="4400" dirty="0"/>
          </a:p>
        </p:txBody>
      </p:sp>
    </p:spTree>
    <p:extLst>
      <p:ext uri="{BB962C8B-B14F-4D97-AF65-F5344CB8AC3E}">
        <p14:creationId xmlns:p14="http://schemas.microsoft.com/office/powerpoint/2010/main" val="38049116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sz="3500" i="1" dirty="0" smtClean="0"/>
              <a:t>a) Logic</a:t>
            </a:r>
            <a:endParaRPr lang="en-US" sz="3500" dirty="0"/>
          </a:p>
          <a:p>
            <a:pPr marL="0" indent="0">
              <a:buNone/>
            </a:pPr>
            <a:endParaRPr lang="en-US" dirty="0"/>
          </a:p>
          <a:p>
            <a:r>
              <a:rPr lang="en-US" dirty="0"/>
              <a:t>Logic is the study of correct reasoning. It is the study of the principles and methods used to distinguish between correct and incorrect types of reasoning (</a:t>
            </a:r>
            <a:r>
              <a:rPr lang="en-US" dirty="0" err="1"/>
              <a:t>Copi</a:t>
            </a:r>
            <a:r>
              <a:rPr lang="en-US" dirty="0"/>
              <a:t> and </a:t>
            </a:r>
            <a:r>
              <a:rPr lang="en-US" dirty="0" err="1"/>
              <a:t>Choen</a:t>
            </a:r>
            <a:r>
              <a:rPr lang="en-US" dirty="0"/>
              <a:t>, 1990). It studies how arguments are to be constructed and how fallacies can be detected and avoided. Why is this necessary?</a:t>
            </a:r>
          </a:p>
          <a:p>
            <a:r>
              <a:rPr lang="en-US" dirty="0"/>
              <a:t>On many occasions where human beings discuss and argue, logical reasoning is abandoned and people draw wrong conclusions that are unwanted. Logic helps us avoid such problems and is, therefore, an indispensable tool if only to show how correct arguments are made. But what are arguments? </a:t>
            </a:r>
          </a:p>
          <a:p>
            <a:pPr marL="0" indent="0">
              <a:buNone/>
            </a:pPr>
            <a:endParaRPr lang="en-US" dirty="0"/>
          </a:p>
        </p:txBody>
      </p:sp>
    </p:spTree>
    <p:extLst>
      <p:ext uri="{BB962C8B-B14F-4D97-AF65-F5344CB8AC3E}">
        <p14:creationId xmlns:p14="http://schemas.microsoft.com/office/powerpoint/2010/main" val="26278297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a:bodyPr>
          <a:lstStyle/>
          <a:p>
            <a:pPr marL="0" indent="0">
              <a:buNone/>
            </a:pPr>
            <a:r>
              <a:rPr lang="en-US" sz="3600" dirty="0"/>
              <a:t>From a philosophical standpoint, an argument is a set of statements one of which is a conclusion and the rest designated as premises. An example of an argument presented in a formal way is the following:</a:t>
            </a:r>
          </a:p>
          <a:p>
            <a:r>
              <a:rPr lang="en-US" sz="3600" i="1" dirty="0" err="1"/>
              <a:t>Dr</a:t>
            </a:r>
            <a:r>
              <a:rPr lang="en-US" sz="3600" i="1" dirty="0"/>
              <a:t> </a:t>
            </a:r>
            <a:r>
              <a:rPr lang="en-US" sz="3600" i="1" dirty="0" err="1"/>
              <a:t>Nyanje</a:t>
            </a:r>
            <a:r>
              <a:rPr lang="en-US" sz="3600" i="1" dirty="0"/>
              <a:t> is a 25 years old lady. All ladies aged 25 years and above are married.  Dr. </a:t>
            </a:r>
            <a:r>
              <a:rPr lang="en-US" sz="3600" i="1" dirty="0" err="1"/>
              <a:t>Nyanje</a:t>
            </a:r>
            <a:r>
              <a:rPr lang="en-US" sz="3600" i="1" dirty="0"/>
              <a:t> is a 25 year old married lady. </a:t>
            </a:r>
            <a:endParaRPr lang="en-US" sz="3600" dirty="0"/>
          </a:p>
          <a:p>
            <a:pPr marL="0" indent="0">
              <a:buNone/>
            </a:pPr>
            <a:endParaRPr lang="en-US" sz="3600" dirty="0"/>
          </a:p>
        </p:txBody>
      </p:sp>
    </p:spTree>
    <p:extLst>
      <p:ext uri="{BB962C8B-B14F-4D97-AF65-F5344CB8AC3E}">
        <p14:creationId xmlns:p14="http://schemas.microsoft.com/office/powerpoint/2010/main" val="31743604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lstStyle/>
          <a:p>
            <a:pPr marL="0" indent="0">
              <a:buNone/>
            </a:pPr>
            <a:r>
              <a:rPr lang="en-US" b="1" dirty="0" smtClean="0"/>
              <a:t>Note </a:t>
            </a:r>
          </a:p>
          <a:p>
            <a:pPr marL="0" indent="0">
              <a:buNone/>
            </a:pPr>
            <a:r>
              <a:rPr lang="en-US" sz="4000" dirty="0"/>
              <a:t>From the example given above, the first two statements are the premises and the last statement is the conclusion given assuming that the first two statements are true it follows that the third statement/conclusion must be true. That is an example of a valid logical argument.</a:t>
            </a:r>
            <a:endParaRPr lang="en-US" sz="4000" b="1" dirty="0"/>
          </a:p>
        </p:txBody>
      </p:sp>
    </p:spTree>
    <p:extLst>
      <p:ext uri="{BB962C8B-B14F-4D97-AF65-F5344CB8AC3E}">
        <p14:creationId xmlns:p14="http://schemas.microsoft.com/office/powerpoint/2010/main" val="8326096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a:t>In logic, we generally have two types of arguments or reasoning: Deductive reasoning and Inductive reasoning. </a:t>
            </a:r>
          </a:p>
          <a:p>
            <a:r>
              <a:rPr lang="en-US" dirty="0"/>
              <a:t>Deductive reasoning is the type of reasoning where the conclusion is deduced from the premises. Given true premises, the conclusion necessarily follows from the premises. </a:t>
            </a:r>
          </a:p>
          <a:p>
            <a:r>
              <a:rPr lang="en-US" dirty="0"/>
              <a:t>Inductive reasoning depends on the strengths of the premises. Strong premises give a strong conclusion while weak premises give rise to a weak conclusion. The conclusion is probabilistic in nature. An example of inductive reasoning is that: if we see many swans and they are always white we certainly feel more confident in claiming that all swans are white.  </a:t>
            </a:r>
          </a:p>
          <a:p>
            <a:pPr marL="0" indent="0">
              <a:buNone/>
            </a:pPr>
            <a:endParaRPr lang="en-US" dirty="0"/>
          </a:p>
        </p:txBody>
      </p:sp>
    </p:spTree>
    <p:extLst>
      <p:ext uri="{BB962C8B-B14F-4D97-AF65-F5344CB8AC3E}">
        <p14:creationId xmlns:p14="http://schemas.microsoft.com/office/powerpoint/2010/main" val="9091077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a:bodyPr>
          <a:lstStyle/>
          <a:p>
            <a:pPr marL="0" indent="0">
              <a:buNone/>
            </a:pPr>
            <a:r>
              <a:rPr lang="en-US" sz="4000" i="1" dirty="0"/>
              <a:t>Consider the example below:</a:t>
            </a:r>
            <a:endParaRPr lang="en-US" sz="4000" dirty="0"/>
          </a:p>
          <a:p>
            <a:pPr lvl="0"/>
            <a:r>
              <a:rPr lang="en-US" sz="4000" i="1" dirty="0"/>
              <a:t>Mr. Kobe is a kind person</a:t>
            </a:r>
            <a:endParaRPr lang="en-US" sz="4000" dirty="0"/>
          </a:p>
          <a:p>
            <a:pPr lvl="0"/>
            <a:r>
              <a:rPr lang="en-US" sz="4000" i="1" dirty="0"/>
              <a:t>Mr. Kobe is a Kenyan</a:t>
            </a:r>
            <a:endParaRPr lang="en-US" sz="4000" dirty="0"/>
          </a:p>
          <a:p>
            <a:pPr lvl="0"/>
            <a:r>
              <a:rPr lang="en-US" sz="4000" i="1" dirty="0"/>
              <a:t>Kenyans are kind people</a:t>
            </a:r>
            <a:endParaRPr lang="en-US" sz="4000"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42670541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sz="4000" dirty="0"/>
              <a:t>Aristotle is considered as one of the founders of traditional logic in the western world. Logicians have identified two types of reasoning. On one hand we usually start our reasoning by adopting and making a general statement about reality and in the end of the thinking process (an argument) we are able to arrive at a specific conclusion about reality.</a:t>
            </a:r>
          </a:p>
          <a:p>
            <a:pPr marL="0" indent="0">
              <a:buNone/>
            </a:pPr>
            <a:endParaRPr lang="en-US" dirty="0"/>
          </a:p>
        </p:txBody>
      </p:sp>
    </p:spTree>
    <p:extLst>
      <p:ext uri="{BB962C8B-B14F-4D97-AF65-F5344CB8AC3E}">
        <p14:creationId xmlns:p14="http://schemas.microsoft.com/office/powerpoint/2010/main" val="1946582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sz="4000" dirty="0"/>
              <a:t>One of the most celebrated logical arguments is this: </a:t>
            </a:r>
            <a:r>
              <a:rPr lang="en-US" sz="4000" i="1" dirty="0"/>
              <a:t>All human beings are mortal. Socrates is a human being. Therefore Socrates is mortal. </a:t>
            </a:r>
            <a:r>
              <a:rPr lang="en-US" sz="4000" dirty="0"/>
              <a:t>In this type of reasoning, the conclusion of the thinking structure (argument) is deduced from the general statement (that all human beings are mortals) that was made at the beginning. This is perhaps why we call this type of reasoning Deductive reasoning. Logicians like to say that the conclusion is already in the general statement. </a:t>
            </a:r>
          </a:p>
          <a:p>
            <a:pPr marL="0" indent="0">
              <a:buNone/>
            </a:pPr>
            <a:endParaRPr lang="en-US" dirty="0"/>
          </a:p>
        </p:txBody>
      </p:sp>
    </p:spTree>
    <p:extLst>
      <p:ext uri="{BB962C8B-B14F-4D97-AF65-F5344CB8AC3E}">
        <p14:creationId xmlns:p14="http://schemas.microsoft.com/office/powerpoint/2010/main" val="5989690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a:t>On the other hand we could have a type of reasoning where we start with various specific statements about reality and end up with general statement (conclusion) about reality that is ‘inferred’, ‘drawn’ or ‘induced’  from the starting statement (premises). This type of reasoning is referred to as Inductive reasoning.  An example of an inductive type of reasoning runs like this: </a:t>
            </a:r>
            <a:r>
              <a:rPr lang="en-US" i="1" dirty="0"/>
              <a:t>Carl Lewis was a good short-distance runner and a good long-jumper. Jesse Owens was a good short-distance runner and a good long-jumper. Marion Jones is a good short-distance runner and a good long- jumper. Daniel </a:t>
            </a:r>
            <a:r>
              <a:rPr lang="en-US" i="1" dirty="0" err="1"/>
              <a:t>Sapeng</a:t>
            </a:r>
            <a:r>
              <a:rPr lang="en-US" i="1" dirty="0"/>
              <a:t> is a good short - distance runner and a good long-jumper. Therefore Daniel Komen who is a good short- distance runner and a good short distance runner is likely to be a good long-jumper. </a:t>
            </a:r>
            <a:endParaRPr lang="en-US" dirty="0"/>
          </a:p>
          <a:p>
            <a:pPr marL="0" indent="0">
              <a:buNone/>
            </a:pPr>
            <a:endParaRPr lang="en-US" dirty="0"/>
          </a:p>
        </p:txBody>
      </p:sp>
    </p:spTree>
    <p:extLst>
      <p:ext uri="{BB962C8B-B14F-4D97-AF65-F5344CB8AC3E}">
        <p14:creationId xmlns:p14="http://schemas.microsoft.com/office/powerpoint/2010/main" val="15685199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fontScale="92500" lnSpcReduction="10000"/>
          </a:bodyPr>
          <a:lstStyle/>
          <a:p>
            <a:r>
              <a:rPr lang="en-US" dirty="0"/>
              <a:t>In daily life, the deductive type of reasoning is illustrated by situations where we attempt to behave in a certain way because there is a general rule or principle, which states that we should behave in such a way. For example in many countries, we drive on the left side of the road because there is a traffic rule that bides us to do just that. Inductive type of reasoning is exemplified by the scientific mode of investigation where we try to study specific cases but in the end we come up building a scientific law or theory. </a:t>
            </a:r>
          </a:p>
          <a:p>
            <a:r>
              <a:rPr lang="en-US" dirty="0"/>
              <a:t>What is striking about the two types of reasoning identified above is the fact that in deductive reasoning the conclusion follows logically from the general statement, in inductive reasoning, the conclusion never be conclusive even when it is derived from the combination of the earlier. </a:t>
            </a:r>
          </a:p>
          <a:p>
            <a:pPr marL="0" indent="0">
              <a:buNone/>
            </a:pPr>
            <a:endParaRPr lang="en-US" dirty="0"/>
          </a:p>
        </p:txBody>
      </p:sp>
    </p:spTree>
    <p:extLst>
      <p:ext uri="{BB962C8B-B14F-4D97-AF65-F5344CB8AC3E}">
        <p14:creationId xmlns:p14="http://schemas.microsoft.com/office/powerpoint/2010/main" val="11437496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lstStyle/>
          <a:p>
            <a:pPr marL="0" indent="0">
              <a:buNone/>
            </a:pPr>
            <a:r>
              <a:rPr lang="en-US" sz="3600" dirty="0"/>
              <a:t>It is vital to remember that logic helps us to learn the art of correct reasoning and also basically establishes the criteria by which we judge valid and invalid reasoning. Because reasoning is carried out in any field of study, it (logic) is a necessary tool for any student, hence the need for Education students to get acquainted with aspects of logic</a:t>
            </a:r>
            <a:r>
              <a:rPr lang="en-US" dirty="0"/>
              <a:t>. </a:t>
            </a:r>
          </a:p>
        </p:txBody>
      </p:sp>
    </p:spTree>
    <p:extLst>
      <p:ext uri="{BB962C8B-B14F-4D97-AF65-F5344CB8AC3E}">
        <p14:creationId xmlns:p14="http://schemas.microsoft.com/office/powerpoint/2010/main" val="6942873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lstStyle/>
          <a:p>
            <a:pPr marL="0" indent="0">
              <a:buNone/>
            </a:pPr>
            <a:r>
              <a:rPr lang="en-US" dirty="0"/>
              <a:t>An argument is valid when conclusion is entailed by, or logically follows from, the premises. Accordingly, validity is a property of the argument’s form and it does not matter what the premises and the conclusions actually say. In fact, a valid argument need not have a true premises or a true conclusion. </a:t>
            </a:r>
          </a:p>
          <a:p>
            <a:pPr marL="0" indent="0">
              <a:buNone/>
            </a:pPr>
            <a:r>
              <a:rPr lang="en-US" dirty="0"/>
              <a:t>Consider the following argument which is considered to be valid:</a:t>
            </a:r>
          </a:p>
          <a:p>
            <a:pPr lvl="0"/>
            <a:r>
              <a:rPr lang="en-US" dirty="0"/>
              <a:t>All dogs are birds</a:t>
            </a:r>
          </a:p>
          <a:p>
            <a:pPr lvl="0"/>
            <a:r>
              <a:rPr lang="en-US" dirty="0"/>
              <a:t>Poppy is a dog</a:t>
            </a:r>
          </a:p>
          <a:p>
            <a:pPr lvl="0"/>
            <a:r>
              <a:rPr lang="en-US" dirty="0"/>
              <a:t>(Therefore) poppy is a bird</a:t>
            </a:r>
          </a:p>
          <a:p>
            <a:pPr marL="0" indent="0">
              <a:buNone/>
            </a:pPr>
            <a:endParaRPr lang="en-US" dirty="0"/>
          </a:p>
        </p:txBody>
      </p:sp>
    </p:spTree>
    <p:extLst>
      <p:ext uri="{BB962C8B-B14F-4D97-AF65-F5344CB8AC3E}">
        <p14:creationId xmlns:p14="http://schemas.microsoft.com/office/powerpoint/2010/main" val="13492841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a:bodyPr>
          <a:lstStyle/>
          <a:p>
            <a:pPr marL="0" indent="0">
              <a:buNone/>
            </a:pPr>
            <a:r>
              <a:rPr lang="en-US" sz="4000" dirty="0"/>
              <a:t>Let us now consider the following three sentences:</a:t>
            </a:r>
          </a:p>
          <a:p>
            <a:pPr lvl="0"/>
            <a:r>
              <a:rPr lang="en-US" sz="4000" dirty="0"/>
              <a:t>All women are bipeds</a:t>
            </a:r>
          </a:p>
          <a:p>
            <a:pPr lvl="0"/>
            <a:r>
              <a:rPr lang="en-US" sz="4000" dirty="0"/>
              <a:t>Helen is a woman </a:t>
            </a:r>
          </a:p>
          <a:p>
            <a:pPr lvl="0"/>
            <a:r>
              <a:rPr lang="en-US" sz="4000" dirty="0"/>
              <a:t>(Therefore) a bicycle is a </a:t>
            </a:r>
            <a:r>
              <a:rPr lang="en-US" sz="4000" dirty="0" smtClean="0"/>
              <a:t>biped</a:t>
            </a:r>
            <a:endParaRPr lang="en-US" sz="4000" dirty="0"/>
          </a:p>
        </p:txBody>
      </p:sp>
    </p:spTree>
    <p:extLst>
      <p:ext uri="{BB962C8B-B14F-4D97-AF65-F5344CB8AC3E}">
        <p14:creationId xmlns:p14="http://schemas.microsoft.com/office/powerpoint/2010/main" val="40892592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Autofit/>
          </a:bodyPr>
          <a:lstStyle/>
          <a:p>
            <a:pPr marL="0" indent="0">
              <a:buNone/>
            </a:pPr>
            <a:r>
              <a:rPr lang="en-US" sz="3600" dirty="0"/>
              <a:t>In the example above, we have an argument in which the purported conclusion, line (3), does not follow from the premises at all. It is thus not a good argument since its conclusion does not follow from its premises. We call such arguments invalid. </a:t>
            </a:r>
          </a:p>
          <a:p>
            <a:r>
              <a:rPr lang="en-US" sz="3600" dirty="0"/>
              <a:t>What do you think is the relevance of logic in our daily lives? </a:t>
            </a:r>
          </a:p>
          <a:p>
            <a:r>
              <a:rPr lang="en-US" sz="3600" dirty="0"/>
              <a:t>We now move to another branch of philosophy- Epistemology.</a:t>
            </a:r>
          </a:p>
          <a:p>
            <a:pPr marL="0" indent="0">
              <a:buNone/>
            </a:pPr>
            <a:endParaRPr lang="en-US" sz="3600" dirty="0"/>
          </a:p>
        </p:txBody>
      </p:sp>
    </p:spTree>
    <p:extLst>
      <p:ext uri="{BB962C8B-B14F-4D97-AF65-F5344CB8AC3E}">
        <p14:creationId xmlns:p14="http://schemas.microsoft.com/office/powerpoint/2010/main" val="23529346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a:bodyPr>
          <a:lstStyle/>
          <a:p>
            <a:pPr marL="0" indent="0">
              <a:buNone/>
            </a:pPr>
            <a:r>
              <a:rPr lang="en-US" b="1" i="1" dirty="0" smtClean="0"/>
              <a:t>b) Epistemology</a:t>
            </a:r>
            <a:endParaRPr lang="en-US" b="1" dirty="0"/>
          </a:p>
          <a:p>
            <a:r>
              <a:rPr lang="en-US" dirty="0"/>
              <a:t>It is a branch of philosophy that forms part of Technical Philosophy. The term refers to a general theory of knowledge.  Epistemology is referred to as the study of knowledge, asking questions such as ‘what is knowledge? What does it mean to say that ‘I know’? In other words what does it mean ‘to know something? ‘How do I know that I know? How much are human beings capable of knowing about reality, including about themselves? </a:t>
            </a:r>
          </a:p>
        </p:txBody>
      </p:sp>
    </p:spTree>
    <p:extLst>
      <p:ext uri="{BB962C8B-B14F-4D97-AF65-F5344CB8AC3E}">
        <p14:creationId xmlns:p14="http://schemas.microsoft.com/office/powerpoint/2010/main" val="7564974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sz="4000" dirty="0"/>
              <a:t>What is the difference between theoretical and practical knowledge? What is the difference between religious knowledge, scientific knowledge and mathematical knowledge? Finally, what criteria or test do we use to distinguish between a true statement from a false statement and how do we even understand the concept of the term truth? </a:t>
            </a:r>
          </a:p>
          <a:p>
            <a:pPr marL="0" indent="0">
              <a:buNone/>
            </a:pPr>
            <a:endParaRPr lang="en-US" dirty="0"/>
          </a:p>
        </p:txBody>
      </p:sp>
    </p:spTree>
    <p:extLst>
      <p:ext uri="{BB962C8B-B14F-4D97-AF65-F5344CB8AC3E}">
        <p14:creationId xmlns:p14="http://schemas.microsoft.com/office/powerpoint/2010/main" val="31702038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a:bodyPr>
          <a:lstStyle/>
          <a:p>
            <a:pPr marL="0" indent="0">
              <a:buNone/>
            </a:pPr>
            <a:r>
              <a:rPr lang="en-US" dirty="0"/>
              <a:t>These (questions) are seemingly simple, but very difficult to answer when one attempts them.  Two schools of thought are usually associated with the ‘philosophical study of knowledge. These are:</a:t>
            </a:r>
          </a:p>
          <a:p>
            <a:pPr lvl="0"/>
            <a:r>
              <a:rPr lang="en-US" dirty="0"/>
              <a:t>RATIONALISM</a:t>
            </a:r>
          </a:p>
          <a:p>
            <a:pPr lvl="0"/>
            <a:r>
              <a:rPr lang="en-US" dirty="0"/>
              <a:t>EMPIRICISM</a:t>
            </a:r>
          </a:p>
          <a:p>
            <a:r>
              <a:rPr lang="en-US" dirty="0"/>
              <a:t>The Empiricist zeros in on one’s sense experience in matters of acquisition of knowledge. For him/her, all knowledge is derived from sense experience and that any learning cannot take place in the absence of our senses. </a:t>
            </a:r>
          </a:p>
          <a:p>
            <a:pPr marL="0" indent="0">
              <a:buNone/>
            </a:pPr>
            <a:endParaRPr lang="en-US" dirty="0"/>
          </a:p>
        </p:txBody>
      </p:sp>
    </p:spTree>
    <p:extLst>
      <p:ext uri="{BB962C8B-B14F-4D97-AF65-F5344CB8AC3E}">
        <p14:creationId xmlns:p14="http://schemas.microsoft.com/office/powerpoint/2010/main" val="13467285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lstStyle/>
          <a:p>
            <a:r>
              <a:rPr lang="en-US" dirty="0"/>
              <a:t>Educationist in this school plan their curriculum with this in mind, where learners may/ or are required to see, touch, smell and possibly taste. </a:t>
            </a:r>
          </a:p>
          <a:p>
            <a:r>
              <a:rPr lang="en-US" dirty="0"/>
              <a:t>The Rationalist on the other hand pays more attention to the part played by the intellect in the acquisition of knowledge. The point stressed is that, it is possible to acquire knowledge purely through the intellect since it is the source of all knowledge. And because teachers deal with epistemological (knowledge) issues, it is important that they be familiar with this branch of philosophy. </a:t>
            </a:r>
          </a:p>
          <a:p>
            <a:pPr marL="0" indent="0">
              <a:buNone/>
            </a:pPr>
            <a:endParaRPr lang="en-US" dirty="0"/>
          </a:p>
        </p:txBody>
      </p:sp>
    </p:spTree>
    <p:extLst>
      <p:ext uri="{BB962C8B-B14F-4D97-AF65-F5344CB8AC3E}">
        <p14:creationId xmlns:p14="http://schemas.microsoft.com/office/powerpoint/2010/main" val="38429108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sz="3600" b="1" dirty="0" smtClean="0"/>
              <a:t>Note</a:t>
            </a:r>
          </a:p>
          <a:p>
            <a:pPr marL="0" indent="0">
              <a:buNone/>
            </a:pPr>
            <a:r>
              <a:rPr lang="en-US" sz="4000" dirty="0"/>
              <a:t>All learning involves getting certain knowledge. The content and how learners acquire this knowledge is the area of epistemology and so is the justification of this knowledge. Whether that knowledge is valuable or not is dealt with by another branch, axiology which is next in discussion.</a:t>
            </a:r>
          </a:p>
        </p:txBody>
      </p:sp>
    </p:spTree>
    <p:extLst>
      <p:ext uri="{BB962C8B-B14F-4D97-AF65-F5344CB8AC3E}">
        <p14:creationId xmlns:p14="http://schemas.microsoft.com/office/powerpoint/2010/main" val="15849345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sz="3500" b="1" dirty="0" smtClean="0"/>
              <a:t>c) </a:t>
            </a:r>
            <a:r>
              <a:rPr lang="en-US" sz="3500" b="1" i="1" dirty="0"/>
              <a:t>Axiology</a:t>
            </a:r>
            <a:endParaRPr lang="en-US" sz="3500" b="1" dirty="0"/>
          </a:p>
          <a:p>
            <a:pPr marL="0" indent="0">
              <a:buNone/>
            </a:pPr>
            <a:r>
              <a:rPr lang="en-US" dirty="0"/>
              <a:t>A broad definition of axiology is that it is the philosophical study of values. Values are, however, grouped into two categories:</a:t>
            </a:r>
          </a:p>
          <a:p>
            <a:pPr lvl="0"/>
            <a:r>
              <a:rPr lang="en-US" dirty="0"/>
              <a:t>Ethical values or moral values, hence ethics as a sub-set of axiology</a:t>
            </a:r>
          </a:p>
          <a:p>
            <a:pPr lvl="0"/>
            <a:r>
              <a:rPr lang="en-US" dirty="0"/>
              <a:t>Aesthetic values or non-moral values- hence Aesthetics as another sub-set of axiology. </a:t>
            </a:r>
          </a:p>
          <a:p>
            <a:pPr marL="0" indent="0">
              <a:buNone/>
            </a:pPr>
            <a:endParaRPr lang="en-US" dirty="0"/>
          </a:p>
          <a:p>
            <a:pPr lvl="0"/>
            <a:r>
              <a:rPr lang="en-US" dirty="0"/>
              <a:t>Ethics:  Also known as moral philosophy, ethics studies moral values. This has to do with what is right or wrong in human relationships within a given society. The good or bad in human conduct is within the purview of ethics.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1486434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fontScale="92500"/>
          </a:bodyPr>
          <a:lstStyle/>
          <a:p>
            <a:r>
              <a:rPr lang="en-US" dirty="0"/>
              <a:t>Ethics also investigates the reasons why certain actions are universally considered good or bad, prescribed or forbidden. </a:t>
            </a:r>
          </a:p>
          <a:p>
            <a:pPr marL="0" indent="0">
              <a:buNone/>
            </a:pPr>
            <a:endParaRPr lang="en-US" dirty="0"/>
          </a:p>
          <a:p>
            <a:r>
              <a:rPr lang="en-US" dirty="0"/>
              <a:t>Ethics seeks to give an answer to the question whether there is something in the nature of an act that determines its righteous or wrongness or whether it comes from without. A common question asked at this level is, for example, what makes a right action right, or a wrong act wrong? Do we have some common standards, which we use to distinguish between right actions from wrong actions as far as human </a:t>
            </a:r>
            <a:r>
              <a:rPr lang="en-US" dirty="0" err="1"/>
              <a:t>behaviour</a:t>
            </a:r>
            <a:r>
              <a:rPr lang="en-US" dirty="0"/>
              <a:t> is concerned? How do we determine what is the best life for human beings to follow as opposed to the type of life that we ought to avoid? </a:t>
            </a:r>
          </a:p>
          <a:p>
            <a:endParaRPr lang="en-US" dirty="0"/>
          </a:p>
          <a:p>
            <a:pPr marL="0" indent="0">
              <a:buNone/>
            </a:pPr>
            <a:endParaRPr lang="en-US" dirty="0"/>
          </a:p>
        </p:txBody>
      </p:sp>
    </p:spTree>
    <p:extLst>
      <p:ext uri="{BB962C8B-B14F-4D97-AF65-F5344CB8AC3E}">
        <p14:creationId xmlns:p14="http://schemas.microsoft.com/office/powerpoint/2010/main" val="5628559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a:bodyPr>
          <a:lstStyle/>
          <a:p>
            <a:pPr marL="0" indent="0">
              <a:buNone/>
            </a:pPr>
            <a:r>
              <a:rPr lang="en-US" sz="4000" dirty="0"/>
              <a:t>In response to this question, we can make reference to discuss here Teleological and deontological arguments or theories. In the study of ethics, deontological ethics approaches the question of right or wrong in terms of human actions by focusing on the motives and intentions of the human actor. </a:t>
            </a:r>
          </a:p>
          <a:p>
            <a:pPr marL="0" indent="0">
              <a:buNone/>
            </a:pPr>
            <a:endParaRPr lang="en-US" dirty="0"/>
          </a:p>
        </p:txBody>
      </p:sp>
    </p:spTree>
    <p:extLst>
      <p:ext uri="{BB962C8B-B14F-4D97-AF65-F5344CB8AC3E}">
        <p14:creationId xmlns:p14="http://schemas.microsoft.com/office/powerpoint/2010/main" val="4003679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sz="4000" dirty="0"/>
              <a:t>Accordingly, deontological (duty-based) ethics are concerned with what people do, not with the consequences of their actions. On the other hand, teleological theories focus on the ends, results or the consequences the action finally brings about. Accordingly the rightness of an act is determined by its end in terms of whether it is acceptable or otherwise. </a:t>
            </a:r>
          </a:p>
          <a:p>
            <a:pPr marL="0" indent="0">
              <a:buNone/>
            </a:pPr>
            <a:endParaRPr lang="en-US" dirty="0"/>
          </a:p>
        </p:txBody>
      </p:sp>
    </p:spTree>
    <p:extLst>
      <p:ext uri="{BB962C8B-B14F-4D97-AF65-F5344CB8AC3E}">
        <p14:creationId xmlns:p14="http://schemas.microsoft.com/office/powerpoint/2010/main" val="28654411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a:bodyPr>
          <a:lstStyle/>
          <a:p>
            <a:pPr marL="0" lvl="0" indent="0">
              <a:buNone/>
            </a:pPr>
            <a:r>
              <a:rPr lang="en-US" b="1" dirty="0" smtClean="0"/>
              <a:t>c) Aesthetics</a:t>
            </a:r>
            <a:r>
              <a:rPr lang="en-US" dirty="0"/>
              <a:t>: Is the artistic values and these are not moral in nature. In this area, we have issues such as the meaning of beauty, social, cultural and political values. Aesthetics, to be precise, deals with norms according to which we judge the object or perception to be beautiful or ugly. A car, for example, is beautifully/good aesthetically but not morally so. How do we distinguish between a beautiful girl from an ugly girl, between a handsome man from an ugly man? How do we tell a good piece of music from a bad piece of music? Finally, how do we </a:t>
            </a:r>
            <a:r>
              <a:rPr lang="en-US" dirty="0" err="1"/>
              <a:t>recognise</a:t>
            </a:r>
            <a:r>
              <a:rPr lang="en-US" dirty="0"/>
              <a:t> a work of art from a variety of drawings or pieces of sculpture? </a:t>
            </a:r>
          </a:p>
          <a:p>
            <a:endParaRPr lang="en-US" dirty="0"/>
          </a:p>
          <a:p>
            <a:pPr marL="0" indent="0">
              <a:buNone/>
            </a:pPr>
            <a:endParaRPr lang="en-US" dirty="0"/>
          </a:p>
        </p:txBody>
      </p:sp>
    </p:spTree>
    <p:extLst>
      <p:ext uri="{BB962C8B-B14F-4D97-AF65-F5344CB8AC3E}">
        <p14:creationId xmlns:p14="http://schemas.microsoft.com/office/powerpoint/2010/main" val="21963679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Autofit/>
          </a:bodyPr>
          <a:lstStyle/>
          <a:p>
            <a:pPr marL="0" indent="0">
              <a:buNone/>
            </a:pPr>
            <a:r>
              <a:rPr lang="en-US" sz="4000" dirty="0"/>
              <a:t>In our lives we are always making value </a:t>
            </a:r>
            <a:r>
              <a:rPr lang="en-US" sz="4000" dirty="0" err="1"/>
              <a:t>judgement</a:t>
            </a:r>
            <a:r>
              <a:rPr lang="en-US" sz="4000" dirty="0"/>
              <a:t> about what is the good life, the right actions, good music, beautiful women and handsome men. Value issues related to human goals and actions are usually treated under a sub- section of axiology called ethics or moral philosophy while values associated with things such as music and work of art are handled under aesthetics. </a:t>
            </a:r>
          </a:p>
          <a:p>
            <a:endParaRPr lang="en-US" sz="4000" dirty="0"/>
          </a:p>
        </p:txBody>
      </p:sp>
    </p:spTree>
    <p:extLst>
      <p:ext uri="{BB962C8B-B14F-4D97-AF65-F5344CB8AC3E}">
        <p14:creationId xmlns:p14="http://schemas.microsoft.com/office/powerpoint/2010/main" val="6982726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a:bodyPr>
          <a:lstStyle/>
          <a:p>
            <a:pPr marL="0" indent="0">
              <a:buNone/>
            </a:pPr>
            <a:r>
              <a:rPr lang="en-US" sz="3200" dirty="0" smtClean="0"/>
              <a:t>Note </a:t>
            </a:r>
          </a:p>
          <a:p>
            <a:pPr marL="0" indent="0">
              <a:buNone/>
            </a:pPr>
            <a:r>
              <a:rPr lang="en-US" sz="3200" dirty="0" smtClean="0"/>
              <a:t>Basically</a:t>
            </a:r>
            <a:r>
              <a:rPr lang="en-US" sz="3200" dirty="0"/>
              <a:t>, therefore, axiology is the reflection of values, and this particularly so, when people are no longer clear about what is valuable or worthwhile. With regards to educational links, we realize that education, as an enterprise in any country is intricately associated with what is valuable. It would appear pointless to spend years in school if what we are doing is of no value. What is valuable, however, may need insight before it can be adopted and this is where axiology comes in. </a:t>
            </a:r>
          </a:p>
        </p:txBody>
      </p:sp>
    </p:spTree>
    <p:extLst>
      <p:ext uri="{BB962C8B-B14F-4D97-AF65-F5344CB8AC3E}">
        <p14:creationId xmlns:p14="http://schemas.microsoft.com/office/powerpoint/2010/main" val="24954536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3500" b="1" i="1" dirty="0" smtClean="0"/>
              <a:t>d) Metaphysics</a:t>
            </a:r>
            <a:endParaRPr lang="en-US" sz="3500" b="1" dirty="0"/>
          </a:p>
          <a:p>
            <a:r>
              <a:rPr lang="en-US" dirty="0"/>
              <a:t>In its Greek origin the term metaphysics literally means the study ‘beyond’ or ‘after’ (Meta) the physical world or reality (physics).  However, it has been </a:t>
            </a:r>
            <a:r>
              <a:rPr lang="en-US" dirty="0" err="1"/>
              <a:t>realised</a:t>
            </a:r>
            <a:r>
              <a:rPr lang="en-US" dirty="0"/>
              <a:t> that as a branch of philosophy, metaphysics deals with issues within both the physical and the non-physical worlds. Metaphysics deals with ‘Being’ as such it is the study of what there is, of being. It enquires into the ultimate meaning of ‘being’.  </a:t>
            </a:r>
          </a:p>
        </p:txBody>
      </p:sp>
    </p:spTree>
    <p:extLst>
      <p:ext uri="{BB962C8B-B14F-4D97-AF65-F5344CB8AC3E}">
        <p14:creationId xmlns:p14="http://schemas.microsoft.com/office/powerpoint/2010/main" val="8915709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sz="4000" dirty="0"/>
              <a:t>Philosophers argue that both living and non-living have ‘Being’ as a common element even though these ‘Beings’ participate in ‘Being’ differently. The examination of the meaning of being belongs to that part of metaphysics referred to as ontology. However, from a general point of view, the study of ‘being’ as such is what is referred to as metaphysics. </a:t>
            </a:r>
          </a:p>
          <a:p>
            <a:pPr marL="0" indent="0">
              <a:buNone/>
            </a:pPr>
            <a:endParaRPr lang="en-US" dirty="0"/>
          </a:p>
        </p:txBody>
      </p:sp>
    </p:spTree>
    <p:extLst>
      <p:ext uri="{BB962C8B-B14F-4D97-AF65-F5344CB8AC3E}">
        <p14:creationId xmlns:p14="http://schemas.microsoft.com/office/powerpoint/2010/main" val="19462002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lstStyle/>
          <a:p>
            <a:pPr marL="0" indent="0">
              <a:buNone/>
            </a:pPr>
            <a:r>
              <a:rPr lang="en-US" dirty="0"/>
              <a:t>Metaphysical questions could be described most general questions in philosophy. The questions includes human concerns about relationships between physical and non-physical worlds, the final or the ultimate goal(s) of human life, the existence or non-existence of super-human being(s) who control everything that there is, including ourselves as human beings, the relationship between ourselves and other beings and things, the general principles of acquiring knowledge about what exists just to mention but a few. Metaphysical questions cut across other areas or branches of philosophy such as epistemology, axiology and logic. </a:t>
            </a:r>
          </a:p>
          <a:p>
            <a:pPr marL="0" indent="0">
              <a:buNone/>
            </a:pPr>
            <a:endParaRPr lang="en-US" dirty="0"/>
          </a:p>
        </p:txBody>
      </p:sp>
    </p:spTree>
    <p:extLst>
      <p:ext uri="{BB962C8B-B14F-4D97-AF65-F5344CB8AC3E}">
        <p14:creationId xmlns:p14="http://schemas.microsoft.com/office/powerpoint/2010/main" val="29280449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lstStyle/>
          <a:p>
            <a:pPr marL="0" indent="0">
              <a:buNone/>
            </a:pPr>
            <a:r>
              <a:rPr lang="en-US" b="1" i="1" dirty="0"/>
              <a:t>Methods of Technical Philosophy</a:t>
            </a:r>
            <a:endParaRPr lang="en-US" dirty="0"/>
          </a:p>
          <a:p>
            <a:pPr marL="0" indent="0">
              <a:buNone/>
            </a:pPr>
            <a:r>
              <a:rPr lang="en-US" dirty="0"/>
              <a:t>Methods in philosophy are various depending on the philosophers’ perception. In this lesson we shall consider the following:</a:t>
            </a:r>
          </a:p>
          <a:p>
            <a:pPr marL="0" lvl="0" indent="0">
              <a:buNone/>
            </a:pPr>
            <a:r>
              <a:rPr lang="en-US" dirty="0" err="1" smtClean="0"/>
              <a:t>i</a:t>
            </a:r>
            <a:r>
              <a:rPr lang="en-US" dirty="0" smtClean="0"/>
              <a:t>) Critical/Socratic </a:t>
            </a:r>
            <a:r>
              <a:rPr lang="en-US" dirty="0"/>
              <a:t>method (From the critical function of philosophy)</a:t>
            </a:r>
          </a:p>
          <a:p>
            <a:pPr marL="0" lvl="0" indent="0">
              <a:buNone/>
            </a:pPr>
            <a:r>
              <a:rPr lang="en-US" dirty="0" smtClean="0"/>
              <a:t>ii) Logical</a:t>
            </a:r>
            <a:r>
              <a:rPr lang="en-US" dirty="0"/>
              <a:t>/ rational method (From the rational function of philosophy)</a:t>
            </a:r>
          </a:p>
          <a:p>
            <a:pPr marL="0" lvl="0" indent="0">
              <a:buNone/>
            </a:pPr>
            <a:r>
              <a:rPr lang="en-US" dirty="0" smtClean="0"/>
              <a:t>iii) Reflective </a:t>
            </a:r>
            <a:r>
              <a:rPr lang="en-US" dirty="0"/>
              <a:t>method (From the phenomenological function of philosophy)</a:t>
            </a:r>
          </a:p>
          <a:p>
            <a:pPr marL="0" lvl="0" indent="0">
              <a:buNone/>
            </a:pPr>
            <a:r>
              <a:rPr lang="en-US" dirty="0" smtClean="0"/>
              <a:t>iv) Speculative </a:t>
            </a:r>
            <a:r>
              <a:rPr lang="en-US" dirty="0"/>
              <a:t>method (From the speculative function of philosophy)</a:t>
            </a:r>
          </a:p>
          <a:p>
            <a:pPr marL="0" indent="0">
              <a:buNone/>
            </a:pPr>
            <a:endParaRPr lang="en-US" dirty="0"/>
          </a:p>
        </p:txBody>
      </p:sp>
    </p:spTree>
    <p:extLst>
      <p:ext uri="{BB962C8B-B14F-4D97-AF65-F5344CB8AC3E}">
        <p14:creationId xmlns:p14="http://schemas.microsoft.com/office/powerpoint/2010/main" val="4479749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lstStyle/>
          <a:p>
            <a:pPr marL="0" indent="0">
              <a:buNone/>
            </a:pPr>
            <a:r>
              <a:rPr lang="en-US" b="1" i="1" dirty="0"/>
              <a:t>The Critical/Socratic method</a:t>
            </a:r>
            <a:endParaRPr lang="en-US" b="1" dirty="0"/>
          </a:p>
          <a:p>
            <a:r>
              <a:rPr lang="en-US" dirty="0"/>
              <a:t>The word ‘critical’ is derived from the Greek word ‘</a:t>
            </a:r>
            <a:r>
              <a:rPr lang="en-US" dirty="0" err="1"/>
              <a:t>krinein</a:t>
            </a:r>
            <a:r>
              <a:rPr lang="en-US" dirty="0"/>
              <a:t>’, which translates to ‘judge’. The word points to criticism, to evaluation. To evaluate implies questioning. To evaluate something one needs to ask questions, critical questions. The critical approach, it must be noted, is not negative or destructive in nature, but rather it is positive and constructive in nature aimed at liberating man from fanaticism, dogmatism and intolerance. As a historical fact, this method is associated with the Greek Philosopher- Socrates- hence referred to as the ‘Socratic Method’. </a:t>
            </a:r>
          </a:p>
          <a:p>
            <a:pPr marL="0" indent="0">
              <a:buNone/>
            </a:pPr>
            <a:endParaRPr lang="en-US" dirty="0"/>
          </a:p>
        </p:txBody>
      </p:sp>
    </p:spTree>
    <p:extLst>
      <p:ext uri="{BB962C8B-B14F-4D97-AF65-F5344CB8AC3E}">
        <p14:creationId xmlns:p14="http://schemas.microsoft.com/office/powerpoint/2010/main" val="20374479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lstStyle/>
          <a:p>
            <a:pPr marL="0" indent="0">
              <a:buNone/>
            </a:pPr>
            <a:r>
              <a:rPr lang="en-US" sz="4000" b="1" dirty="0" smtClean="0"/>
              <a:t>First Task </a:t>
            </a:r>
          </a:p>
          <a:p>
            <a:pPr marL="0" indent="0">
              <a:buNone/>
            </a:pPr>
            <a:r>
              <a:rPr lang="en-US" sz="4400" dirty="0"/>
              <a:t>Acquaint yourself with the works or ideas of Socrates from several sources in the library or online sources to explain why this method is also called the Socratic method.</a:t>
            </a:r>
            <a:endParaRPr lang="en-US" sz="4400" b="1" dirty="0"/>
          </a:p>
        </p:txBody>
      </p:sp>
    </p:spTree>
    <p:extLst>
      <p:ext uri="{BB962C8B-B14F-4D97-AF65-F5344CB8AC3E}">
        <p14:creationId xmlns:p14="http://schemas.microsoft.com/office/powerpoint/2010/main" val="4294556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b="1" i="1" dirty="0"/>
              <a:t>The Logical/Rational Method</a:t>
            </a:r>
            <a:endParaRPr lang="en-US" dirty="0"/>
          </a:p>
          <a:p>
            <a:pPr marL="0" indent="0">
              <a:buNone/>
            </a:pPr>
            <a:r>
              <a:rPr lang="en-US" dirty="0"/>
              <a:t>The rational function of Philosophy gives birth to the rational or logical method in philosophy. It stresses on logical reasoning that is very systematic. As a method, it is based on clarity and is analytic in nature. To </a:t>
            </a:r>
            <a:r>
              <a:rPr lang="en-US" dirty="0" err="1"/>
              <a:t>analyse</a:t>
            </a:r>
            <a:r>
              <a:rPr lang="en-US" dirty="0"/>
              <a:t> is to break an issue into simpler parts for purposes of easy understanding. Analysis eventually aims at synthesis. </a:t>
            </a:r>
          </a:p>
          <a:p>
            <a:r>
              <a:rPr lang="en-US" dirty="0"/>
              <a:t>The philosopher using this method seeks to </a:t>
            </a:r>
            <a:r>
              <a:rPr lang="en-US" dirty="0" err="1"/>
              <a:t>analyse</a:t>
            </a:r>
            <a:r>
              <a:rPr lang="en-US" dirty="0"/>
              <a:t> concepts, statements and language in order to clarify and justify their meaning. This is the method referred to as conceptual analysis, one that enhances rationality of thought. </a:t>
            </a:r>
          </a:p>
          <a:p>
            <a:r>
              <a:rPr lang="en-US" dirty="0"/>
              <a:t>The bottom line is that Education matters need to be approached very rationally and logically if we have to fully benefit from it. </a:t>
            </a:r>
          </a:p>
          <a:p>
            <a:pPr marL="0" indent="0">
              <a:buNone/>
            </a:pPr>
            <a:endParaRPr lang="en-US" dirty="0"/>
          </a:p>
        </p:txBody>
      </p:sp>
    </p:spTree>
    <p:extLst>
      <p:ext uri="{BB962C8B-B14F-4D97-AF65-F5344CB8AC3E}">
        <p14:creationId xmlns:p14="http://schemas.microsoft.com/office/powerpoint/2010/main" val="26674320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b="1" dirty="0"/>
              <a:t>The Reflective/Phenomenological Method</a:t>
            </a:r>
            <a:endParaRPr lang="en-US" dirty="0"/>
          </a:p>
          <a:p>
            <a:pPr marL="0" indent="0">
              <a:buNone/>
            </a:pPr>
            <a:r>
              <a:rPr lang="en-US" dirty="0"/>
              <a:t>Phenomenologists go for ‘Lived’ or ‘ordinary’ experiences. The argument is that through analysis of or reflection of our ordinary experiences, we are able to understand our own reality and our surroundings as conscious individuals. </a:t>
            </a:r>
          </a:p>
          <a:p>
            <a:pPr marL="0" indent="0">
              <a:buNone/>
            </a:pPr>
            <a:r>
              <a:rPr lang="en-US" dirty="0"/>
              <a:t>The method points further that living and experiencing things personally makes us know the world in a personal way.</a:t>
            </a:r>
          </a:p>
          <a:p>
            <a:pPr marL="0" indent="0">
              <a:buNone/>
            </a:pPr>
            <a:r>
              <a:rPr lang="en-US" dirty="0"/>
              <a:t>These experiences, we are aware, may be different from person to person, but discovering the underlying meaning and a deeper understanding must be the concern. What, however, are these life experiences?</a:t>
            </a:r>
          </a:p>
          <a:p>
            <a:pPr marL="0" indent="0">
              <a:buNone/>
            </a:pPr>
            <a:endParaRPr lang="en-US" dirty="0"/>
          </a:p>
        </p:txBody>
      </p:sp>
    </p:spTree>
    <p:extLst>
      <p:ext uri="{BB962C8B-B14F-4D97-AF65-F5344CB8AC3E}">
        <p14:creationId xmlns:p14="http://schemas.microsoft.com/office/powerpoint/2010/main" val="26811925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a:bodyPr>
          <a:lstStyle/>
          <a:p>
            <a:pPr marL="0" indent="0">
              <a:buNone/>
            </a:pPr>
            <a:r>
              <a:rPr lang="en-US" dirty="0"/>
              <a:t>These experiences include those of joy, loving, pain, fear, and even those of frustrations. These experiences, reflected upon in a concrete, existential way, may give an individual meaning and substance in human life. </a:t>
            </a:r>
          </a:p>
          <a:p>
            <a:pPr marL="0" indent="0">
              <a:buNone/>
            </a:pPr>
            <a:r>
              <a:rPr lang="en-US" dirty="0"/>
              <a:t>The implication of the above is that philosophy starts from ordinary human experiences, emphasizing the idea that philosophy or philosophers are not detached from this world in their quest to find answers to life issues. </a:t>
            </a:r>
          </a:p>
        </p:txBody>
      </p:sp>
    </p:spTree>
    <p:extLst>
      <p:ext uri="{BB962C8B-B14F-4D97-AF65-F5344CB8AC3E}">
        <p14:creationId xmlns:p14="http://schemas.microsoft.com/office/powerpoint/2010/main" val="36790695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sz="4000" dirty="0"/>
              <a:t>This agrees with John Terry (1994) who argues that the experiences of growing, seeing, feeling, thinking, and loving are common experiences that all people in all places have and on which they build primary philosophical notions. Philosophy, it is being suggested, derives its primary notions from the common experiences of mankind which Santayana calls public experiences. </a:t>
            </a:r>
          </a:p>
          <a:p>
            <a:pPr marL="0" indent="0">
              <a:buNone/>
            </a:pPr>
            <a:endParaRPr lang="en-US" dirty="0"/>
          </a:p>
        </p:txBody>
      </p:sp>
    </p:spTree>
    <p:extLst>
      <p:ext uri="{BB962C8B-B14F-4D97-AF65-F5344CB8AC3E}">
        <p14:creationId xmlns:p14="http://schemas.microsoft.com/office/powerpoint/2010/main" val="40741299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b="1" i="1" dirty="0"/>
              <a:t>The Speculative Method</a:t>
            </a:r>
            <a:endParaRPr lang="en-US" dirty="0"/>
          </a:p>
          <a:p>
            <a:pPr marL="0" indent="0">
              <a:buNone/>
            </a:pPr>
            <a:r>
              <a:rPr lang="en-US" dirty="0"/>
              <a:t>The speculative function of philosophy gives birth to the speculative method in philosophy. </a:t>
            </a:r>
          </a:p>
          <a:p>
            <a:pPr marL="0" indent="0">
              <a:buNone/>
            </a:pPr>
            <a:r>
              <a:rPr lang="en-US" dirty="0"/>
              <a:t>This is a method used to try to give answers to questions that do not seem to have simple answers. The question, for example, of death, suffering and happiness invite in human being not only the questions of what happens but why it happens.</a:t>
            </a:r>
          </a:p>
          <a:p>
            <a:pPr marL="0" indent="0">
              <a:buNone/>
            </a:pPr>
            <a:r>
              <a:rPr lang="en-US" dirty="0"/>
              <a:t>Traditional answers have been offered, mostly hinging on religion, but philosophers want to go beyond religion to a rational explanation to such phenomena. It is in this realm that philosophers, faced with these questions get very cautious and rationally speculate, hence name speculative method. </a:t>
            </a:r>
          </a:p>
          <a:p>
            <a:pPr marL="0" indent="0">
              <a:buNone/>
            </a:pPr>
            <a:endParaRPr lang="en-US" dirty="0"/>
          </a:p>
        </p:txBody>
      </p:sp>
    </p:spTree>
    <p:extLst>
      <p:ext uri="{BB962C8B-B14F-4D97-AF65-F5344CB8AC3E}">
        <p14:creationId xmlns:p14="http://schemas.microsoft.com/office/powerpoint/2010/main" val="15833722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sz="4400" dirty="0" smtClean="0"/>
              <a:t>Note</a:t>
            </a:r>
          </a:p>
          <a:p>
            <a:pPr marL="0" indent="0">
              <a:buNone/>
            </a:pPr>
            <a:r>
              <a:rPr lang="en-US" sz="4400" dirty="0" smtClean="0"/>
              <a:t>It </a:t>
            </a:r>
            <a:r>
              <a:rPr lang="en-US" sz="4400" dirty="0"/>
              <a:t>is suggested that the four methods discussed have a place in educational matters. An educationist can therefore be successful philosophically, if she or he incorporates these methods in handling educational issues. </a:t>
            </a:r>
          </a:p>
        </p:txBody>
      </p:sp>
    </p:spTree>
    <p:extLst>
      <p:ext uri="{BB962C8B-B14F-4D97-AF65-F5344CB8AC3E}">
        <p14:creationId xmlns:p14="http://schemas.microsoft.com/office/powerpoint/2010/main" val="641400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b="1" dirty="0"/>
              <a:t>Summary</a:t>
            </a:r>
          </a:p>
          <a:p>
            <a:r>
              <a:rPr lang="en-US" dirty="0"/>
              <a:t>In this lesson we have briefly discussed four branches of philosophy (logic, epistemology, axiology and metaphysics) and suggested how or why they are related to education as a whole thereby showing why Education students need to know these branches of philosophy. </a:t>
            </a:r>
          </a:p>
          <a:p>
            <a:r>
              <a:rPr lang="en-US" dirty="0"/>
              <a:t>In this lesson methods of Technical or Professional Philosophy have been discussed. It has been suggested that the methods are various. This lesson adopted the </a:t>
            </a:r>
            <a:r>
              <a:rPr lang="en-US" dirty="0" err="1"/>
              <a:t>Njoroge</a:t>
            </a:r>
            <a:r>
              <a:rPr lang="en-US" dirty="0"/>
              <a:t>/</a:t>
            </a:r>
            <a:r>
              <a:rPr lang="en-US" dirty="0" err="1"/>
              <a:t>Bennars</a:t>
            </a:r>
            <a:r>
              <a:rPr lang="en-US" dirty="0"/>
              <a:t> approach and discussed four such methods. These include the critical method, rational method, reflective method and finally speculative method. </a:t>
            </a:r>
          </a:p>
          <a:p>
            <a:r>
              <a:rPr lang="en-US" dirty="0"/>
              <a:t>The general assumption is that the above methods are crucial in matters pertaining to our education and that education students need to acquaint themselves with them for any effective approach to Education matters</a:t>
            </a:r>
          </a:p>
        </p:txBody>
      </p:sp>
    </p:spTree>
    <p:extLst>
      <p:ext uri="{BB962C8B-B14F-4D97-AF65-F5344CB8AC3E}">
        <p14:creationId xmlns:p14="http://schemas.microsoft.com/office/powerpoint/2010/main" val="26592639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 of Education </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b="1" dirty="0"/>
              <a:t>Further Reading 	</a:t>
            </a:r>
            <a:endParaRPr lang="en-US" dirty="0"/>
          </a:p>
          <a:p>
            <a:r>
              <a:rPr lang="en-US" dirty="0"/>
              <a:t>John- Terry, C. (1994). For the Love of Wisdom and explanation of the meaning and purpose of philosophy. New York: ALBA- House. </a:t>
            </a:r>
          </a:p>
          <a:p>
            <a:r>
              <a:rPr lang="en-US" dirty="0" err="1"/>
              <a:t>Njoroge</a:t>
            </a:r>
            <a:r>
              <a:rPr lang="en-US" dirty="0"/>
              <a:t>, R.J. and </a:t>
            </a:r>
            <a:r>
              <a:rPr lang="en-US" dirty="0" err="1"/>
              <a:t>Bennars</a:t>
            </a:r>
            <a:r>
              <a:rPr lang="en-US" dirty="0"/>
              <a:t>, G.A. (1986). Philosophy and Education in Africa. Nairobi: Trans- Africa Press.</a:t>
            </a:r>
          </a:p>
          <a:p>
            <a:r>
              <a:rPr lang="en-US" dirty="0"/>
              <a:t>Peters, R.S. (1987). Philosophy and Education. Oxford : Oxford University Press.</a:t>
            </a:r>
          </a:p>
          <a:p>
            <a:r>
              <a:rPr lang="en-US" dirty="0" err="1"/>
              <a:t>Sifuna</a:t>
            </a:r>
            <a:r>
              <a:rPr lang="en-US" dirty="0"/>
              <a:t>, D, N. et al. (</a:t>
            </a:r>
            <a:r>
              <a:rPr lang="en-US" dirty="0" err="1"/>
              <a:t>eds</a:t>
            </a:r>
            <a:r>
              <a:rPr lang="en-US" dirty="0"/>
              <a:t>). Themes in the study of the Foundations of Education. Nairobi: </a:t>
            </a:r>
            <a:r>
              <a:rPr lang="en-US" dirty="0" err="1"/>
              <a:t>Jomo</a:t>
            </a:r>
            <a:r>
              <a:rPr lang="en-US" dirty="0"/>
              <a:t> Kenyatta Foundation. </a:t>
            </a:r>
          </a:p>
          <a:p>
            <a:r>
              <a:rPr lang="en-US" dirty="0" err="1"/>
              <a:t>Wamburi</a:t>
            </a:r>
            <a:r>
              <a:rPr lang="en-US" dirty="0"/>
              <a:t>, K. (ed.) (1992). Reading in introduction to Critical Thinking. Nairobi: AIC </a:t>
            </a:r>
            <a:r>
              <a:rPr lang="en-US" dirty="0" err="1"/>
              <a:t>Kijabe</a:t>
            </a:r>
            <a:r>
              <a:rPr lang="en-US" dirty="0"/>
              <a:t> Printing Press. </a:t>
            </a:r>
          </a:p>
          <a:p>
            <a:pPr marL="0" indent="0">
              <a:buNone/>
            </a:pPr>
            <a:endParaRPr lang="en-US" dirty="0"/>
          </a:p>
        </p:txBody>
      </p:sp>
    </p:spTree>
    <p:extLst>
      <p:ext uri="{BB962C8B-B14F-4D97-AF65-F5344CB8AC3E}">
        <p14:creationId xmlns:p14="http://schemas.microsoft.com/office/powerpoint/2010/main" val="1464066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TotalTime>
  <Words>5604</Words>
  <Application>Microsoft Office PowerPoint</Application>
  <PresentationFormat>Widescreen</PresentationFormat>
  <Paragraphs>243</Paragraphs>
  <Slides>71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71</vt:i4>
      </vt:variant>
    </vt:vector>
  </HeadingPairs>
  <TitlesOfParts>
    <vt:vector size="75" baseType="lpstr">
      <vt:lpstr>Arial</vt:lpstr>
      <vt:lpstr>Calibri</vt:lpstr>
      <vt:lpstr>Calibri Light</vt:lpstr>
      <vt:lpstr>Office Theme</vt:lpstr>
      <vt:lpstr>PHILOSOPHY OF EDUCATION </vt:lpstr>
      <vt:lpstr>Philosophy of Education </vt:lpstr>
      <vt:lpstr>Philosophy of Education </vt:lpstr>
      <vt:lpstr>Philosophy of Education </vt:lpstr>
      <vt:lpstr>Philosophy of Education</vt:lpstr>
      <vt:lpstr>Philosophy of Education </vt:lpstr>
      <vt:lpstr>Philosophy of Education</vt:lpstr>
      <vt:lpstr>Philosophy of Education </vt:lpstr>
      <vt:lpstr>Philosophy of education </vt:lpstr>
      <vt:lpstr>Philosophy of Education </vt:lpstr>
      <vt:lpstr>Philosophy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vt:lpstr>
      <vt:lpstr>Philosophy of Education </vt:lpstr>
      <vt:lpstr>Philosophy of Education</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PowerPoint Presentation</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 </vt:lpstr>
      <vt:lpstr>Philosophy of Education</vt:lpstr>
      <vt:lpstr>Philosophy of Education </vt:lpstr>
      <vt:lpstr>Philosophy of Education </vt:lpstr>
      <vt:lpstr>Philosophy of Education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Dr.Makori</dc:creator>
  <cp:lastModifiedBy>Dr.Makori</cp:lastModifiedBy>
  <cp:revision>18</cp:revision>
  <dcterms:created xsi:type="dcterms:W3CDTF">2024-09-10T13:24:22Z</dcterms:created>
  <dcterms:modified xsi:type="dcterms:W3CDTF">2024-09-11T03:55:07Z</dcterms:modified>
</cp:coreProperties>
</file>