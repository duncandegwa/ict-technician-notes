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9" r:id="rId1"/>
  </p:sldMasterIdLst>
  <p:notesMasterIdLst>
    <p:notesMasterId r:id="rId24"/>
  </p:notesMasterIdLst>
  <p:sldIdLst>
    <p:sldId id="256" r:id="rId2"/>
    <p:sldId id="257" r:id="rId3"/>
    <p:sldId id="279" r:id="rId4"/>
    <p:sldId id="280" r:id="rId5"/>
    <p:sldId id="286" r:id="rId6"/>
    <p:sldId id="281" r:id="rId7"/>
    <p:sldId id="282" r:id="rId8"/>
    <p:sldId id="283" r:id="rId9"/>
    <p:sldId id="284" r:id="rId10"/>
    <p:sldId id="264" r:id="rId11"/>
    <p:sldId id="288" r:id="rId12"/>
    <p:sldId id="276" r:id="rId13"/>
    <p:sldId id="266" r:id="rId14"/>
    <p:sldId id="267" r:id="rId15"/>
    <p:sldId id="268" r:id="rId16"/>
    <p:sldId id="269" r:id="rId17"/>
    <p:sldId id="270" r:id="rId18"/>
    <p:sldId id="271" r:id="rId19"/>
    <p:sldId id="287" r:id="rId20"/>
    <p:sldId id="272" r:id="rId21"/>
    <p:sldId id="273" r:id="rId22"/>
    <p:sldId id="2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18D409-F24C-4108-8359-09B7A2DA5A7E}" type="datetimeFigureOut">
              <a:rPr lang="en-GB" smtClean="0"/>
              <a:t>29/08/2024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0CEA2F-0B77-4191-8245-430B33B9DD5A}" type="slidenum">
              <a:rPr lang="en-GB" smtClean="0"/>
              <a:t>‹#›</a:t>
            </a:fld>
            <a:endParaRPr lang="en-GB"/>
          </a:p>
        </p:txBody>
      </p:sp>
    </p:spTree>
    <p:extLst>
      <p:ext uri="{BB962C8B-B14F-4D97-AF65-F5344CB8AC3E}">
        <p14:creationId xmlns:p14="http://schemas.microsoft.com/office/powerpoint/2010/main" val="1952295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A0CEA2F-0B77-4191-8245-430B33B9DD5A}" type="slidenum">
              <a:rPr lang="en-GB" smtClean="0"/>
              <a:t>1</a:t>
            </a:fld>
            <a:endParaRPr lang="en-GB"/>
          </a:p>
        </p:txBody>
      </p:sp>
    </p:spTree>
    <p:extLst>
      <p:ext uri="{BB962C8B-B14F-4D97-AF65-F5344CB8AC3E}">
        <p14:creationId xmlns:p14="http://schemas.microsoft.com/office/powerpoint/2010/main" val="1056481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Educational media refers to any materials, tools, or resources used to facilitate teaching and learning processes. This can include traditional forms of media such as textbooks, blackboards, and printed materials, as well as modern digital technologies like computers, tablets, and online resources. Educational media is designed to enhance instruction, engage students, and support learning outcomes. It can take various forms, including audio, visual, and interactive materials, and is used in diverse educational settings such as classrooms, libraries, and online learning environments.</a:t>
            </a:r>
            <a:endParaRPr lang="en-GB" dirty="0"/>
          </a:p>
        </p:txBody>
      </p:sp>
      <p:sp>
        <p:nvSpPr>
          <p:cNvPr id="4" name="Slide Number Placeholder 3"/>
          <p:cNvSpPr>
            <a:spLocks noGrp="1"/>
          </p:cNvSpPr>
          <p:nvPr>
            <p:ph type="sldNum" sz="quarter" idx="10"/>
          </p:nvPr>
        </p:nvSpPr>
        <p:spPr/>
        <p:txBody>
          <a:bodyPr/>
          <a:lstStyle/>
          <a:p>
            <a:fld id="{6A0CEA2F-0B77-4191-8245-430B33B9DD5A}" type="slidenum">
              <a:rPr lang="en-GB" smtClean="0"/>
              <a:t>2</a:t>
            </a:fld>
            <a:endParaRPr lang="en-GB"/>
          </a:p>
        </p:txBody>
      </p:sp>
    </p:spTree>
    <p:extLst>
      <p:ext uri="{BB962C8B-B14F-4D97-AF65-F5344CB8AC3E}">
        <p14:creationId xmlns:p14="http://schemas.microsoft.com/office/powerpoint/2010/main" val="2160026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A0CEA2F-0B77-4191-8245-430B33B9DD5A}" type="slidenum">
              <a:rPr lang="en-GB" smtClean="0"/>
              <a:t>5</a:t>
            </a:fld>
            <a:endParaRPr lang="en-GB"/>
          </a:p>
        </p:txBody>
      </p:sp>
    </p:spTree>
    <p:extLst>
      <p:ext uri="{BB962C8B-B14F-4D97-AF65-F5344CB8AC3E}">
        <p14:creationId xmlns:p14="http://schemas.microsoft.com/office/powerpoint/2010/main" val="733623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 of the internet</a:t>
            </a:r>
            <a:r>
              <a:rPr lang="en-GB" baseline="0" dirty="0"/>
              <a:t> and social media</a:t>
            </a:r>
            <a:endParaRPr lang="en-GB" dirty="0"/>
          </a:p>
        </p:txBody>
      </p:sp>
      <p:sp>
        <p:nvSpPr>
          <p:cNvPr id="4" name="Slide Number Placeholder 3"/>
          <p:cNvSpPr>
            <a:spLocks noGrp="1"/>
          </p:cNvSpPr>
          <p:nvPr>
            <p:ph type="sldNum" sz="quarter" idx="10"/>
          </p:nvPr>
        </p:nvSpPr>
        <p:spPr/>
        <p:txBody>
          <a:bodyPr/>
          <a:lstStyle/>
          <a:p>
            <a:fld id="{6A0CEA2F-0B77-4191-8245-430B33B9DD5A}" type="slidenum">
              <a:rPr lang="en-GB" smtClean="0"/>
              <a:t>6</a:t>
            </a:fld>
            <a:endParaRPr lang="en-GB"/>
          </a:p>
        </p:txBody>
      </p:sp>
    </p:spTree>
    <p:extLst>
      <p:ext uri="{BB962C8B-B14F-4D97-AF65-F5344CB8AC3E}">
        <p14:creationId xmlns:p14="http://schemas.microsoft.com/office/powerpoint/2010/main" val="3944592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Photos, Drawings, Bar</a:t>
            </a:r>
            <a:r>
              <a:rPr lang="en-GB" baseline="0" dirty="0"/>
              <a:t> graphs, Line graphs, Pie Charts for visual representation of information. </a:t>
            </a:r>
            <a:endParaRPr lang="en-GB" dirty="0"/>
          </a:p>
        </p:txBody>
      </p:sp>
      <p:sp>
        <p:nvSpPr>
          <p:cNvPr id="4" name="Slide Number Placeholder 3"/>
          <p:cNvSpPr>
            <a:spLocks noGrp="1"/>
          </p:cNvSpPr>
          <p:nvPr>
            <p:ph type="sldNum" sz="quarter" idx="10"/>
          </p:nvPr>
        </p:nvSpPr>
        <p:spPr/>
        <p:txBody>
          <a:bodyPr/>
          <a:lstStyle/>
          <a:p>
            <a:fld id="{6A0CEA2F-0B77-4191-8245-430B33B9DD5A}" type="slidenum">
              <a:rPr lang="en-GB" smtClean="0"/>
              <a:t>7</a:t>
            </a:fld>
            <a:endParaRPr lang="en-GB"/>
          </a:p>
        </p:txBody>
      </p:sp>
    </p:spTree>
    <p:extLst>
      <p:ext uri="{BB962C8B-B14F-4D97-AF65-F5344CB8AC3E}">
        <p14:creationId xmlns:p14="http://schemas.microsoft.com/office/powerpoint/2010/main" val="1759486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Digital representations of objects or scenes in three dimensions. </a:t>
            </a:r>
          </a:p>
          <a:p>
            <a:r>
              <a:rPr lang="en-US" sz="1200" b="0" i="0" kern="1200" dirty="0">
                <a:solidFill>
                  <a:schemeClr val="tx1"/>
                </a:solidFill>
                <a:effectLst/>
                <a:latin typeface="+mn-lt"/>
                <a:ea typeface="+mn-ea"/>
                <a:cs typeface="+mn-cs"/>
              </a:rPr>
              <a:t>They can be used to visualize complex concepts, such as anatomy, engineering designs, and historical artifacts, making them easier to understand and explore.</a:t>
            </a:r>
            <a:endParaRPr lang="en-GB" dirty="0"/>
          </a:p>
        </p:txBody>
      </p:sp>
      <p:sp>
        <p:nvSpPr>
          <p:cNvPr id="4" name="Slide Number Placeholder 3"/>
          <p:cNvSpPr>
            <a:spLocks noGrp="1"/>
          </p:cNvSpPr>
          <p:nvPr>
            <p:ph type="sldNum" sz="quarter" idx="10"/>
          </p:nvPr>
        </p:nvSpPr>
        <p:spPr/>
        <p:txBody>
          <a:bodyPr/>
          <a:lstStyle/>
          <a:p>
            <a:fld id="{6A0CEA2F-0B77-4191-8245-430B33B9DD5A}" type="slidenum">
              <a:rPr lang="en-GB" smtClean="0"/>
              <a:t>8</a:t>
            </a:fld>
            <a:endParaRPr lang="en-GB"/>
          </a:p>
        </p:txBody>
      </p:sp>
    </p:spTree>
    <p:extLst>
      <p:ext uri="{BB962C8B-B14F-4D97-AF65-F5344CB8AC3E}">
        <p14:creationId xmlns:p14="http://schemas.microsoft.com/office/powerpoint/2010/main" val="3986989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Tool</a:t>
            </a:r>
            <a:r>
              <a:rPr lang="en-GB" baseline="0" dirty="0"/>
              <a:t>s used in different subjects: scissors, pliers, tape measure, screw drivers</a:t>
            </a:r>
            <a:endParaRPr lang="en-GB" dirty="0"/>
          </a:p>
        </p:txBody>
      </p:sp>
      <p:sp>
        <p:nvSpPr>
          <p:cNvPr id="4" name="Slide Number Placeholder 3"/>
          <p:cNvSpPr>
            <a:spLocks noGrp="1"/>
          </p:cNvSpPr>
          <p:nvPr>
            <p:ph type="sldNum" sz="quarter" idx="10"/>
          </p:nvPr>
        </p:nvSpPr>
        <p:spPr/>
        <p:txBody>
          <a:bodyPr/>
          <a:lstStyle/>
          <a:p>
            <a:fld id="{6A0CEA2F-0B77-4191-8245-430B33B9DD5A}" type="slidenum">
              <a:rPr lang="en-GB" smtClean="0"/>
              <a:t>9</a:t>
            </a:fld>
            <a:endParaRPr lang="en-GB"/>
          </a:p>
        </p:txBody>
      </p:sp>
    </p:spTree>
    <p:extLst>
      <p:ext uri="{BB962C8B-B14F-4D97-AF65-F5344CB8AC3E}">
        <p14:creationId xmlns:p14="http://schemas.microsoft.com/office/powerpoint/2010/main" val="1311988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Community Resources</a:t>
            </a:r>
            <a:r>
              <a:rPr lang="en-GB" baseline="0" dirty="0"/>
              <a:t>: </a:t>
            </a:r>
            <a:r>
              <a:rPr lang="en-US" dirty="0"/>
              <a:t>These are facilities and objects that are found within the catchment area of a school and its environs and can be used for instructional purposes. </a:t>
            </a:r>
            <a:endParaRPr lang="en-GB" dirty="0"/>
          </a:p>
        </p:txBody>
      </p:sp>
      <p:sp>
        <p:nvSpPr>
          <p:cNvPr id="4" name="Slide Number Placeholder 3"/>
          <p:cNvSpPr>
            <a:spLocks noGrp="1"/>
          </p:cNvSpPr>
          <p:nvPr>
            <p:ph type="sldNum" sz="quarter" idx="10"/>
          </p:nvPr>
        </p:nvSpPr>
        <p:spPr/>
        <p:txBody>
          <a:bodyPr/>
          <a:lstStyle/>
          <a:p>
            <a:fld id="{6A0CEA2F-0B77-4191-8245-430B33B9DD5A}" type="slidenum">
              <a:rPr lang="en-GB" smtClean="0"/>
              <a:t>10</a:t>
            </a:fld>
            <a:endParaRPr lang="en-GB"/>
          </a:p>
        </p:txBody>
      </p:sp>
    </p:spTree>
    <p:extLst>
      <p:ext uri="{BB962C8B-B14F-4D97-AF65-F5344CB8AC3E}">
        <p14:creationId xmlns:p14="http://schemas.microsoft.com/office/powerpoint/2010/main" val="3113700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A0CEA2F-0B77-4191-8245-430B33B9DD5A}" type="slidenum">
              <a:rPr lang="en-GB" smtClean="0"/>
              <a:t>11</a:t>
            </a:fld>
            <a:endParaRPr lang="en-GB"/>
          </a:p>
        </p:txBody>
      </p:sp>
    </p:spTree>
    <p:extLst>
      <p:ext uri="{BB962C8B-B14F-4D97-AF65-F5344CB8AC3E}">
        <p14:creationId xmlns:p14="http://schemas.microsoft.com/office/powerpoint/2010/main" val="22411866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 classification</a:t>
            </a:r>
            <a:r>
              <a:rPr lang="en-GB" baseline="0" dirty="0"/>
              <a:t> of Educational Media</a:t>
            </a:r>
            <a:endParaRPr lang="en-GB" dirty="0"/>
          </a:p>
        </p:txBody>
      </p:sp>
      <p:sp>
        <p:nvSpPr>
          <p:cNvPr id="4" name="Slide Number Placeholder 3"/>
          <p:cNvSpPr>
            <a:spLocks noGrp="1"/>
          </p:cNvSpPr>
          <p:nvPr>
            <p:ph type="sldNum" sz="quarter" idx="10"/>
          </p:nvPr>
        </p:nvSpPr>
        <p:spPr/>
        <p:txBody>
          <a:bodyPr/>
          <a:lstStyle/>
          <a:p>
            <a:fld id="{6A0CEA2F-0B77-4191-8245-430B33B9DD5A}" type="slidenum">
              <a:rPr lang="en-GB" smtClean="0"/>
              <a:t>12</a:t>
            </a:fld>
            <a:endParaRPr lang="en-GB"/>
          </a:p>
        </p:txBody>
      </p:sp>
    </p:spTree>
    <p:extLst>
      <p:ext uri="{BB962C8B-B14F-4D97-AF65-F5344CB8AC3E}">
        <p14:creationId xmlns:p14="http://schemas.microsoft.com/office/powerpoint/2010/main" val="25204981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Mobil</a:t>
            </a:r>
            <a:r>
              <a:rPr lang="en-US" sz="1200" b="0" i="0" kern="1200" baseline="0" dirty="0">
                <a:solidFill>
                  <a:schemeClr val="tx1"/>
                </a:solidFill>
                <a:effectLst/>
                <a:latin typeface="+mn-lt"/>
                <a:ea typeface="+mn-ea"/>
                <a:cs typeface="+mn-cs"/>
              </a:rPr>
              <a:t>e learning: apps, gaming, podcasts and audio learning. Example </a:t>
            </a:r>
            <a:r>
              <a:rPr lang="en-US" sz="1200" b="0" i="0" kern="1200" baseline="0" dirty="0" err="1">
                <a:solidFill>
                  <a:schemeClr val="tx1"/>
                </a:solidFill>
                <a:effectLst/>
                <a:latin typeface="+mn-lt"/>
                <a:ea typeface="+mn-ea"/>
                <a:cs typeface="+mn-cs"/>
              </a:rPr>
              <a:t>Duolingo</a:t>
            </a:r>
            <a:r>
              <a:rPr lang="en-US" sz="1200" b="0" i="0" kern="1200" baseline="0" dirty="0">
                <a:solidFill>
                  <a:schemeClr val="tx1"/>
                </a:solidFill>
                <a:effectLst/>
                <a:latin typeface="+mn-lt"/>
                <a:ea typeface="+mn-ea"/>
                <a:cs typeface="+mn-cs"/>
              </a:rPr>
              <a:t> for language learning. </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Open educational resources (OER) are instructional and learning materials that can be found in the public domain. Examples:</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youtube</a:t>
            </a:r>
            <a:r>
              <a:rPr lang="en-US" sz="1200" b="0" i="0" kern="1200" baseline="0" dirty="0">
                <a:solidFill>
                  <a:schemeClr val="tx1"/>
                </a:solidFill>
                <a:effectLst/>
                <a:latin typeface="+mn-lt"/>
                <a:ea typeface="+mn-ea"/>
                <a:cs typeface="+mn-cs"/>
              </a:rPr>
              <a:t> lesson videos, learning simulations, online textbooks.</a:t>
            </a:r>
          </a:p>
          <a:p>
            <a:r>
              <a:rPr lang="en-US" sz="1200" b="0" i="0" kern="1200" baseline="0" dirty="0">
                <a:solidFill>
                  <a:schemeClr val="tx1"/>
                </a:solidFill>
                <a:effectLst/>
                <a:latin typeface="+mn-lt"/>
                <a:ea typeface="+mn-ea"/>
                <a:cs typeface="+mn-cs"/>
              </a:rPr>
              <a:t>Moodle used for distance and open learning</a:t>
            </a:r>
            <a:endParaRPr lang="en-GB" dirty="0"/>
          </a:p>
        </p:txBody>
      </p:sp>
      <p:sp>
        <p:nvSpPr>
          <p:cNvPr id="4" name="Slide Number Placeholder 3"/>
          <p:cNvSpPr>
            <a:spLocks noGrp="1"/>
          </p:cNvSpPr>
          <p:nvPr>
            <p:ph type="sldNum" sz="quarter" idx="10"/>
          </p:nvPr>
        </p:nvSpPr>
        <p:spPr/>
        <p:txBody>
          <a:bodyPr/>
          <a:lstStyle/>
          <a:p>
            <a:fld id="{6A0CEA2F-0B77-4191-8245-430B33B9DD5A}" type="slidenum">
              <a:rPr lang="en-GB" smtClean="0"/>
              <a:t>18</a:t>
            </a:fld>
            <a:endParaRPr lang="en-GB"/>
          </a:p>
        </p:txBody>
      </p:sp>
    </p:spTree>
    <p:extLst>
      <p:ext uri="{BB962C8B-B14F-4D97-AF65-F5344CB8AC3E}">
        <p14:creationId xmlns:p14="http://schemas.microsoft.com/office/powerpoint/2010/main" val="839877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A0CEA2F-0B77-4191-8245-430B33B9DD5A}" type="slidenum">
              <a:rPr lang="en-GB" smtClean="0"/>
              <a:t>20</a:t>
            </a:fld>
            <a:endParaRPr lang="en-GB"/>
          </a:p>
        </p:txBody>
      </p:sp>
    </p:spTree>
    <p:extLst>
      <p:ext uri="{BB962C8B-B14F-4D97-AF65-F5344CB8AC3E}">
        <p14:creationId xmlns:p14="http://schemas.microsoft.com/office/powerpoint/2010/main" val="2419316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p>
            <a:fld id="{36D3E2EC-704D-42EA-BA7B-E581AAD03CF0}" type="datetimeFigureOut">
              <a:rPr lang="en-GB" smtClean="0"/>
              <a:t>29/08/2024</a:t>
            </a:fld>
            <a:endParaRPr lang="en-GB"/>
          </a:p>
        </p:txBody>
      </p:sp>
      <p:sp>
        <p:nvSpPr>
          <p:cNvPr id="9" name="Footer Placeholder 8"/>
          <p:cNvSpPr>
            <a:spLocks noGrp="1"/>
          </p:cNvSpPr>
          <p:nvPr>
            <p:ph type="ftr" sz="quarter" idx="11"/>
          </p:nvPr>
        </p:nvSpPr>
        <p:spPr/>
        <p:txBody>
          <a:bodyPr/>
          <a:lstStyle/>
          <a:p>
            <a:endParaRPr lang="en-GB"/>
          </a:p>
        </p:txBody>
      </p:sp>
      <p:sp>
        <p:nvSpPr>
          <p:cNvPr id="10" name="Slide Number Placeholder 9"/>
          <p:cNvSpPr>
            <a:spLocks noGrp="1"/>
          </p:cNvSpPr>
          <p:nvPr>
            <p:ph type="sldNum" sz="quarter" idx="12"/>
          </p:nvPr>
        </p:nvSpPr>
        <p:spPr/>
        <p:txBody>
          <a:bodyPr/>
          <a:lstStyle/>
          <a:p>
            <a:fld id="{8357417C-C868-4439-B43A-5C76BEEEADCC}" type="slidenum">
              <a:rPr lang="en-GB" smtClean="0"/>
              <a:t>‹#›</a:t>
            </a:fld>
            <a:endParaRPr lang="en-GB"/>
          </a:p>
        </p:txBody>
      </p:sp>
      <p:sp>
        <p:nvSpPr>
          <p:cNvPr id="11" name="Rectangle 10"/>
          <p:cNvSpPr/>
          <p:nvPr/>
        </p:nvSpPr>
        <p:spPr>
          <a:xfrm>
            <a:off x="11292840" y="0"/>
            <a:ext cx="91440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7891969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D3E2EC-704D-42EA-BA7B-E581AAD03CF0}" type="datetimeFigureOut">
              <a:rPr lang="en-GB" smtClean="0"/>
              <a:t>29/08/2024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357417C-C868-4439-B43A-5C76BEEEADCC}" type="slidenum">
              <a:rPr lang="en-GB" smtClean="0"/>
              <a:t>‹#›</a:t>
            </a:fld>
            <a:endParaRPr lang="en-GB"/>
          </a:p>
        </p:txBody>
      </p:sp>
    </p:spTree>
    <p:extLst>
      <p:ext uri="{BB962C8B-B14F-4D97-AF65-F5344CB8AC3E}">
        <p14:creationId xmlns:p14="http://schemas.microsoft.com/office/powerpoint/2010/main" val="2932364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spc="30" baseline="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6D3E2EC-704D-42EA-BA7B-E581AAD03CF0}" type="datetimeFigureOut">
              <a:rPr lang="en-GB" smtClean="0"/>
              <a:t>29/08/2024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357417C-C868-4439-B43A-5C76BEEEADCC}" type="slidenum">
              <a:rPr lang="en-GB" smtClean="0"/>
              <a:t>‹#›</a:t>
            </a:fld>
            <a:endParaRPr lang="en-GB"/>
          </a:p>
        </p:txBody>
      </p:sp>
      <p:sp>
        <p:nvSpPr>
          <p:cNvPr id="8" name="Rectangle 7"/>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26779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D3E2EC-704D-42EA-BA7B-E581AAD03CF0}" type="datetimeFigureOut">
              <a:rPr lang="en-GB" smtClean="0"/>
              <a:t>29/08/2024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357417C-C868-4439-B43A-5C76BEEEADCC}" type="slidenum">
              <a:rPr lang="en-GB" smtClean="0"/>
              <a:t>‹#›</a:t>
            </a:fld>
            <a:endParaRPr lang="en-GB"/>
          </a:p>
        </p:txBody>
      </p:sp>
    </p:spTree>
    <p:extLst>
      <p:ext uri="{BB962C8B-B14F-4D97-AF65-F5344CB8AC3E}">
        <p14:creationId xmlns:p14="http://schemas.microsoft.com/office/powerpoint/2010/main" val="251129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21606"/>
            <a:ext cx="4480560" cy="731520"/>
          </a:xfrm>
        </p:spPr>
        <p:txBody>
          <a:bodyPr anchor="b">
            <a:normAutofit/>
          </a:bodyPr>
          <a:lstStyle>
            <a:lvl1pPr marL="0" indent="0">
              <a:spcBef>
                <a:spcPts val="0"/>
              </a:spcBef>
              <a:buNone/>
              <a:defRPr sz="2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3"/>
          </p:nvPr>
        </p:nvSpPr>
        <p:spPr>
          <a:xfrm>
            <a:off x="6126480" y="1721606"/>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D3E2EC-704D-42EA-BA7B-E581AAD03CF0}" type="datetimeFigureOut">
              <a:rPr lang="en-GB" smtClean="0"/>
              <a:t>29/08/2024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357417C-C868-4439-B43A-5C76BEEEADCC}" type="slidenum">
              <a:rPr lang="en-GB" smtClean="0"/>
              <a:t>‹#›</a:t>
            </a:fld>
            <a:endParaRPr lang="en-GB"/>
          </a:p>
        </p:txBody>
      </p:sp>
    </p:spTree>
    <p:extLst>
      <p:ext uri="{BB962C8B-B14F-4D97-AF65-F5344CB8AC3E}">
        <p14:creationId xmlns:p14="http://schemas.microsoft.com/office/powerpoint/2010/main" val="2555987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D3E2EC-704D-42EA-BA7B-E581AAD03CF0}" type="datetimeFigureOut">
              <a:rPr lang="en-GB" smtClean="0"/>
              <a:t>29/08/2024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357417C-C868-4439-B43A-5C76BEEEADCC}" type="slidenum">
              <a:rPr lang="en-GB" smtClean="0"/>
              <a:t>‹#›</a:t>
            </a:fld>
            <a:endParaRPr lang="en-GB"/>
          </a:p>
        </p:txBody>
      </p:sp>
    </p:spTree>
    <p:extLst>
      <p:ext uri="{BB962C8B-B14F-4D97-AF65-F5344CB8AC3E}">
        <p14:creationId xmlns:p14="http://schemas.microsoft.com/office/powerpoint/2010/main" val="2603085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D3E2EC-704D-42EA-BA7B-E581AAD03CF0}" type="datetimeFigureOut">
              <a:rPr lang="en-GB" smtClean="0"/>
              <a:t>29/08/2024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357417C-C868-4439-B43A-5C76BEEEADCC}" type="slidenum">
              <a:rPr lang="en-GB" smtClean="0"/>
              <a:t>‹#›</a:t>
            </a:fld>
            <a:endParaRPr lang="en-GB"/>
          </a:p>
        </p:txBody>
      </p:sp>
    </p:spTree>
    <p:extLst>
      <p:ext uri="{BB962C8B-B14F-4D97-AF65-F5344CB8AC3E}">
        <p14:creationId xmlns:p14="http://schemas.microsoft.com/office/powerpoint/2010/main" val="2970721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1"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6D3E2EC-704D-42EA-BA7B-E581AAD03CF0}" type="datetimeFigureOut">
              <a:rPr lang="en-GB" smtClean="0"/>
              <a:t>29/08/2024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357417C-C868-4439-B43A-5C76BEEEADCC}" type="slidenum">
              <a:rPr lang="en-GB" smtClean="0"/>
              <a:t>‹#›</a:t>
            </a:fld>
            <a:endParaRPr lang="en-GB"/>
          </a:p>
        </p:txBody>
      </p:sp>
    </p:spTree>
    <p:extLst>
      <p:ext uri="{BB962C8B-B14F-4D97-AF65-F5344CB8AC3E}">
        <p14:creationId xmlns:p14="http://schemas.microsoft.com/office/powerpoint/2010/main" val="1747577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1">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400">
                <a:solidFill>
                  <a:schemeClr val="accent1">
                    <a:lumMod val="20000"/>
                    <a:lumOff val="8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6D3E2EC-704D-42EA-BA7B-E581AAD03CF0}" type="datetimeFigureOut">
              <a:rPr lang="en-GB" smtClean="0"/>
              <a:t>29/08/2024</a:t>
            </a:fld>
            <a:endParaRPr lang="en-GB"/>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357417C-C868-4439-B43A-5C76BEEEADCC}" type="slidenum">
              <a:rPr lang="en-GB" smtClean="0"/>
              <a:t>‹#›</a:t>
            </a:fld>
            <a:endParaRPr lang="en-GB"/>
          </a:p>
        </p:txBody>
      </p:sp>
    </p:spTree>
    <p:extLst>
      <p:ext uri="{BB962C8B-B14F-4D97-AF65-F5344CB8AC3E}">
        <p14:creationId xmlns:p14="http://schemas.microsoft.com/office/powerpoint/2010/main" val="409604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D3E2EC-704D-42EA-BA7B-E581AAD03CF0}" type="datetimeFigureOut">
              <a:rPr lang="en-GB" smtClean="0"/>
              <a:t>29/08/2024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357417C-C868-4439-B43A-5C76BEEEADCC}" type="slidenum">
              <a:rPr lang="en-GB" smtClean="0"/>
              <a:t>‹#›</a:t>
            </a:fld>
            <a:endParaRPr lang="en-GB"/>
          </a:p>
        </p:txBody>
      </p:sp>
    </p:spTree>
    <p:extLst>
      <p:ext uri="{BB962C8B-B14F-4D97-AF65-F5344CB8AC3E}">
        <p14:creationId xmlns:p14="http://schemas.microsoft.com/office/powerpoint/2010/main" val="2869441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D3E2EC-704D-42EA-BA7B-E581AAD03CF0}" type="datetimeFigureOut">
              <a:rPr lang="en-GB" smtClean="0"/>
              <a:t>29/08/2024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357417C-C868-4439-B43A-5C76BEEEADCC}" type="slidenum">
              <a:rPr lang="en-GB" smtClean="0"/>
              <a:t>‹#›</a:t>
            </a:fld>
            <a:endParaRPr lang="en-GB"/>
          </a:p>
        </p:txBody>
      </p:sp>
    </p:spTree>
    <p:extLst>
      <p:ext uri="{BB962C8B-B14F-4D97-AF65-F5344CB8AC3E}">
        <p14:creationId xmlns:p14="http://schemas.microsoft.com/office/powerpoint/2010/main" val="3763110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262393"/>
            <a:ext cx="9692640" cy="1428929"/>
          </a:xfrm>
          <a:prstGeom prst="rect">
            <a:avLst/>
          </a:prstGeom>
        </p:spPr>
        <p:txBody>
          <a:bodyPr vert="horz" lIns="91440" tIns="27432"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100" b="0">
                <a:solidFill>
                  <a:schemeClr val="tx2">
                    <a:lumMod val="40000"/>
                    <a:lumOff val="60000"/>
                  </a:schemeClr>
                </a:solidFill>
              </a:defRPr>
            </a:lvl1pPr>
          </a:lstStyle>
          <a:p>
            <a:fld id="{36D3E2EC-704D-42EA-BA7B-E581AAD03CF0}" type="datetimeFigureOut">
              <a:rPr lang="en-GB" smtClean="0"/>
              <a:t>29/08/2024</a:t>
            </a:fld>
            <a:endParaRPr lang="en-GB"/>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100">
                <a:solidFill>
                  <a:schemeClr val="tx2">
                    <a:lumMod val="40000"/>
                    <a:lumOff val="60000"/>
                  </a:schemeClr>
                </a:solidFill>
              </a:defRPr>
            </a:lvl1pPr>
          </a:lstStyle>
          <a:p>
            <a:endParaRPr lang="en-GB"/>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mj-lt"/>
              </a:defRPr>
            </a:lvl1pPr>
          </a:lstStyle>
          <a:p>
            <a:fld id="{8357417C-C868-4439-B43A-5C76BEEEADCC}" type="slidenum">
              <a:rPr lang="en-GB" smtClean="0"/>
              <a:t>‹#›</a:t>
            </a:fld>
            <a:endParaRPr lang="en-GB"/>
          </a:p>
        </p:txBody>
      </p:sp>
    </p:spTree>
    <p:extLst>
      <p:ext uri="{BB962C8B-B14F-4D97-AF65-F5344CB8AC3E}">
        <p14:creationId xmlns:p14="http://schemas.microsoft.com/office/powerpoint/2010/main" val="2858640198"/>
      </p:ext>
    </p:extLst>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Lst>
  <p:txStyles>
    <p:title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fif"/><Relationship Id="rId2" Type="http://schemas.openxmlformats.org/officeDocument/2006/relationships/image" Target="../media/image1.jfif"/><Relationship Id="rId1" Type="http://schemas.openxmlformats.org/officeDocument/2006/relationships/slideLayout" Target="../slideLayouts/slideLayout8.xml"/><Relationship Id="rId4" Type="http://schemas.openxmlformats.org/officeDocument/2006/relationships/image" Target="../media/image3.jfif"/></Relationships>
</file>

<file path=ppt/slides/_rels/slide4.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image" Target="../media/image4.jfif"/><Relationship Id="rId1" Type="http://schemas.openxmlformats.org/officeDocument/2006/relationships/slideLayout" Target="../slideLayouts/slideLayout8.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7.jfif"/><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image" Target="../media/image9.jfif"/><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11.jfif"/><Relationship Id="rId4" Type="http://schemas.openxmlformats.org/officeDocument/2006/relationships/image" Target="../media/image10.jfif"/></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4.jfif"/><Relationship Id="rId4" Type="http://schemas.openxmlformats.org/officeDocument/2006/relationships/image" Target="../media/image13.jfif"/></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6.jfif"/></Relationships>
</file>

<file path=ppt/slides/_rels/slide9.xml.rels><?xml version="1.0" encoding="UTF-8" standalone="yes"?>
<Relationships xmlns="http://schemas.openxmlformats.org/package/2006/relationships"><Relationship Id="rId3" Type="http://schemas.openxmlformats.org/officeDocument/2006/relationships/image" Target="../media/image17.jfif"/><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8.jfi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f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2416628"/>
            <a:ext cx="9418320" cy="2024743"/>
          </a:xfrm>
        </p:spPr>
        <p:txBody>
          <a:bodyPr>
            <a:normAutofit fontScale="90000"/>
          </a:bodyPr>
          <a:lstStyle/>
          <a:p>
            <a:pPr algn="ctr"/>
            <a:br>
              <a:rPr lang="en-GB" sz="3600" dirty="0"/>
            </a:br>
            <a:r>
              <a:rPr lang="en-GB" sz="8000" dirty="0"/>
              <a:t>Lesson 8: Introduction to Educational Media</a:t>
            </a:r>
            <a:br>
              <a:rPr lang="en-GB" sz="3600" dirty="0"/>
            </a:br>
            <a:endParaRPr lang="en-GB" sz="3600" dirty="0"/>
          </a:p>
        </p:txBody>
      </p:sp>
    </p:spTree>
    <p:extLst>
      <p:ext uri="{BB962C8B-B14F-4D97-AF65-F5344CB8AC3E}">
        <p14:creationId xmlns:p14="http://schemas.microsoft.com/office/powerpoint/2010/main" val="1795288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872" y="381000"/>
            <a:ext cx="9692640" cy="1859280"/>
          </a:xfrm>
        </p:spPr>
        <p:txBody>
          <a:bodyPr>
            <a:normAutofit fontScale="90000"/>
          </a:bodyPr>
          <a:lstStyle/>
          <a:p>
            <a:r>
              <a:rPr lang="en-GB" b="0" dirty="0"/>
              <a:t>Definition of Educational Media</a:t>
            </a:r>
            <a:br>
              <a:rPr lang="en-GB" b="0" dirty="0"/>
            </a:br>
            <a:br>
              <a:rPr lang="en-GB" dirty="0"/>
            </a:br>
            <a:endParaRPr lang="en-GB" dirty="0"/>
          </a:p>
        </p:txBody>
      </p:sp>
      <p:sp>
        <p:nvSpPr>
          <p:cNvPr id="3" name="Content Placeholder 2"/>
          <p:cNvSpPr>
            <a:spLocks noGrp="1"/>
          </p:cNvSpPr>
          <p:nvPr>
            <p:ph idx="1"/>
          </p:nvPr>
        </p:nvSpPr>
        <p:spPr/>
        <p:txBody>
          <a:bodyPr>
            <a:normAutofit/>
          </a:bodyPr>
          <a:lstStyle/>
          <a:p>
            <a:r>
              <a:rPr lang="en-US" dirty="0"/>
              <a:t>A media for learning and teaching or learning software. Media itself means a method of communication</a:t>
            </a:r>
          </a:p>
          <a:p>
            <a:r>
              <a:rPr lang="en-US" dirty="0"/>
              <a:t>Educational media refers to channels of communication that carry messages with an instructional purpose. They are usually utilized for the sole purpose of learning and teaching (WebCrawler, 2013)</a:t>
            </a:r>
            <a:br>
              <a:rPr lang="en-US" dirty="0"/>
            </a:br>
            <a:endParaRPr lang="en-US" dirty="0"/>
          </a:p>
          <a:p>
            <a:r>
              <a:rPr lang="en-US" dirty="0"/>
              <a:t>Educational media refers to materials, specimens, apparatus, software, hardware, and equipment used in teaching and learning at all levels.</a:t>
            </a:r>
          </a:p>
          <a:p>
            <a:r>
              <a:rPr lang="en-US" dirty="0"/>
              <a:t>Also known as: Instructional Media.</a:t>
            </a:r>
            <a:br>
              <a:rPr lang="en-US" dirty="0"/>
            </a:br>
            <a:endParaRPr lang="en-GB" dirty="0"/>
          </a:p>
        </p:txBody>
      </p:sp>
    </p:spTree>
    <p:extLst>
      <p:ext uri="{BB962C8B-B14F-4D97-AF65-F5344CB8AC3E}">
        <p14:creationId xmlns:p14="http://schemas.microsoft.com/office/powerpoint/2010/main" val="436821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4040" y="0"/>
            <a:ext cx="7513320" cy="944880"/>
          </a:xfrm>
        </p:spPr>
        <p:txBody>
          <a:bodyPr/>
          <a:lstStyle/>
          <a:p>
            <a:pPr algn="ctr"/>
            <a:r>
              <a:rPr lang="en-GB" sz="3600" dirty="0"/>
              <a:t>Types</a:t>
            </a:r>
            <a:r>
              <a:rPr lang="en-GB" dirty="0"/>
              <a:t> of Educational Media</a:t>
            </a:r>
          </a:p>
        </p:txBody>
      </p:sp>
      <p:pic>
        <p:nvPicPr>
          <p:cNvPr id="5"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86200" y="944880"/>
            <a:ext cx="2634853" cy="2534602"/>
          </a:xfr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2860" y="1234440"/>
            <a:ext cx="3429000" cy="3870246"/>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2154" y="4138374"/>
            <a:ext cx="2628900" cy="2143125"/>
          </a:xfrm>
          <a:prstGeom prst="rect">
            <a:avLst/>
          </a:prstGeom>
        </p:spPr>
      </p:pic>
      <p:sp>
        <p:nvSpPr>
          <p:cNvPr id="9" name="TextBox 8"/>
          <p:cNvSpPr txBox="1"/>
          <p:nvPr/>
        </p:nvSpPr>
        <p:spPr>
          <a:xfrm>
            <a:off x="4018598" y="3619261"/>
            <a:ext cx="2336482" cy="369332"/>
          </a:xfrm>
          <a:prstGeom prst="rect">
            <a:avLst/>
          </a:prstGeom>
          <a:noFill/>
        </p:spPr>
        <p:txBody>
          <a:bodyPr wrap="square" rtlCol="0">
            <a:spAutoFit/>
          </a:bodyPr>
          <a:lstStyle/>
          <a:p>
            <a:pPr lvl="0" algn="ctr"/>
            <a:r>
              <a:rPr lang="en-US" dirty="0"/>
              <a:t>Books/Journals</a:t>
            </a:r>
          </a:p>
        </p:txBody>
      </p:sp>
      <p:sp>
        <p:nvSpPr>
          <p:cNvPr id="10" name="TextBox 9"/>
          <p:cNvSpPr txBox="1"/>
          <p:nvPr/>
        </p:nvSpPr>
        <p:spPr>
          <a:xfrm>
            <a:off x="4018598" y="6431280"/>
            <a:ext cx="2732722" cy="369332"/>
          </a:xfrm>
          <a:prstGeom prst="rect">
            <a:avLst/>
          </a:prstGeom>
          <a:noFill/>
        </p:spPr>
        <p:txBody>
          <a:bodyPr wrap="square" rtlCol="0">
            <a:spAutoFit/>
          </a:bodyPr>
          <a:lstStyle/>
          <a:p>
            <a:pPr algn="ctr"/>
            <a:r>
              <a:rPr lang="en-GB" dirty="0"/>
              <a:t>Newspapers/Magazine</a:t>
            </a:r>
          </a:p>
        </p:txBody>
      </p:sp>
      <p:sp>
        <p:nvSpPr>
          <p:cNvPr id="11" name="TextBox 10"/>
          <p:cNvSpPr txBox="1"/>
          <p:nvPr/>
        </p:nvSpPr>
        <p:spPr>
          <a:xfrm>
            <a:off x="8153400" y="5303520"/>
            <a:ext cx="2575560" cy="369332"/>
          </a:xfrm>
          <a:prstGeom prst="rect">
            <a:avLst/>
          </a:prstGeom>
          <a:noFill/>
        </p:spPr>
        <p:txBody>
          <a:bodyPr wrap="square" rtlCol="0">
            <a:spAutoFit/>
          </a:bodyPr>
          <a:lstStyle/>
          <a:p>
            <a:pPr algn="ctr"/>
            <a:r>
              <a:rPr lang="en-GB" dirty="0"/>
              <a:t>Manilla Papers</a:t>
            </a:r>
          </a:p>
        </p:txBody>
      </p:sp>
      <p:grpSp>
        <p:nvGrpSpPr>
          <p:cNvPr id="17" name="Group 16"/>
          <p:cNvGrpSpPr/>
          <p:nvPr/>
        </p:nvGrpSpPr>
        <p:grpSpPr>
          <a:xfrm>
            <a:off x="594361" y="2212181"/>
            <a:ext cx="3125866" cy="2892505"/>
            <a:chOff x="2271826" y="1151364"/>
            <a:chExt cx="2070699" cy="2070801"/>
          </a:xfrm>
        </p:grpSpPr>
        <p:sp>
          <p:nvSpPr>
            <p:cNvPr id="18" name="Oval 17"/>
            <p:cNvSpPr/>
            <p:nvPr/>
          </p:nvSpPr>
          <p:spPr>
            <a:xfrm>
              <a:off x="2271826" y="1151364"/>
              <a:ext cx="2070699" cy="2070801"/>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Oval 4"/>
            <p:cNvSpPr txBox="1"/>
            <p:nvPr/>
          </p:nvSpPr>
          <p:spPr>
            <a:xfrm>
              <a:off x="2575073" y="1454626"/>
              <a:ext cx="1464205" cy="146427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9530" tIns="49530" rIns="49530" bIns="49530" numCol="1" spcCol="1270" anchor="ctr" anchorCtr="0">
              <a:noAutofit/>
            </a:bodyPr>
            <a:lstStyle/>
            <a:p>
              <a:pPr lvl="0" algn="ctr" defTabSz="1733550">
                <a:lnSpc>
                  <a:spcPct val="90000"/>
                </a:lnSpc>
                <a:spcBef>
                  <a:spcPct val="0"/>
                </a:spcBef>
                <a:spcAft>
                  <a:spcPct val="35000"/>
                </a:spcAft>
              </a:pPr>
              <a:r>
                <a:rPr lang="en-GB" sz="3900" dirty="0"/>
                <a:t>Printed</a:t>
              </a:r>
              <a:r>
                <a:rPr lang="en-GB" sz="3900" b="0" i="0" kern="1200" dirty="0"/>
                <a:t> media</a:t>
              </a:r>
              <a:endParaRPr lang="en-US" sz="3900" kern="1200" dirty="0"/>
            </a:p>
          </p:txBody>
        </p:sp>
      </p:grpSp>
    </p:spTree>
    <p:extLst>
      <p:ext uri="{BB962C8B-B14F-4D97-AF65-F5344CB8AC3E}">
        <p14:creationId xmlns:p14="http://schemas.microsoft.com/office/powerpoint/2010/main" val="2092271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4040" y="0"/>
            <a:ext cx="7513320" cy="944880"/>
          </a:xfrm>
        </p:spPr>
        <p:txBody>
          <a:bodyPr/>
          <a:lstStyle/>
          <a:p>
            <a:pPr algn="ctr"/>
            <a:r>
              <a:rPr lang="en-GB" sz="3600" dirty="0"/>
              <a:t>Types</a:t>
            </a:r>
            <a:r>
              <a:rPr lang="en-GB" dirty="0"/>
              <a:t> of Educational Media</a:t>
            </a:r>
          </a:p>
        </p:txBody>
      </p:sp>
      <p:grpSp>
        <p:nvGrpSpPr>
          <p:cNvPr id="17" name="Group 16"/>
          <p:cNvGrpSpPr/>
          <p:nvPr/>
        </p:nvGrpSpPr>
        <p:grpSpPr>
          <a:xfrm>
            <a:off x="594361" y="2212181"/>
            <a:ext cx="3125866" cy="2892505"/>
            <a:chOff x="2271826" y="1151364"/>
            <a:chExt cx="2070699" cy="2070801"/>
          </a:xfrm>
        </p:grpSpPr>
        <p:sp>
          <p:nvSpPr>
            <p:cNvPr id="18" name="Oval 17"/>
            <p:cNvSpPr/>
            <p:nvPr/>
          </p:nvSpPr>
          <p:spPr>
            <a:xfrm>
              <a:off x="2271826" y="1151364"/>
              <a:ext cx="2070699" cy="2070801"/>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Oval 4"/>
            <p:cNvSpPr txBox="1"/>
            <p:nvPr/>
          </p:nvSpPr>
          <p:spPr>
            <a:xfrm>
              <a:off x="2575073" y="1454626"/>
              <a:ext cx="1464205" cy="146427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9530" tIns="49530" rIns="49530" bIns="49530" numCol="1" spcCol="1270" anchor="ctr" anchorCtr="0">
              <a:noAutofit/>
            </a:bodyPr>
            <a:lstStyle/>
            <a:p>
              <a:pPr lvl="0" algn="ctr" defTabSz="1733550">
                <a:lnSpc>
                  <a:spcPct val="90000"/>
                </a:lnSpc>
                <a:spcBef>
                  <a:spcPct val="0"/>
                </a:spcBef>
                <a:spcAft>
                  <a:spcPct val="35000"/>
                </a:spcAft>
              </a:pPr>
              <a:r>
                <a:rPr lang="en-GB" sz="3900" dirty="0"/>
                <a:t>Audio</a:t>
              </a:r>
              <a:r>
                <a:rPr lang="en-GB" sz="3900" b="0" i="0" kern="1200" dirty="0"/>
                <a:t> media</a:t>
              </a:r>
              <a:endParaRPr lang="en-US" sz="3900" kern="1200" dirty="0"/>
            </a:p>
          </p:txBody>
        </p:sp>
      </p:gr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5416" y="3025960"/>
            <a:ext cx="3459480" cy="3459480"/>
          </a:xfrm>
          <a:prstGeom prst="rect">
            <a:avLst/>
          </a:prstGeom>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1462" y="1148450"/>
            <a:ext cx="3038475" cy="1504950"/>
          </a:xfrm>
          <a:prstGeom prst="rect">
            <a:avLst/>
          </a:prstGeom>
        </p:spPr>
      </p:pic>
      <p:pic>
        <p:nvPicPr>
          <p:cNvPr id="23" name="Picture 2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8125" y="215000"/>
            <a:ext cx="2044700" cy="2438400"/>
          </a:xfrm>
          <a:prstGeom prst="rect">
            <a:avLst/>
          </a:prstGeom>
        </p:spPr>
      </p:pic>
      <p:sp>
        <p:nvSpPr>
          <p:cNvPr id="24" name="TextBox 23"/>
          <p:cNvSpPr txBox="1"/>
          <p:nvPr/>
        </p:nvSpPr>
        <p:spPr>
          <a:xfrm>
            <a:off x="4335779" y="2841294"/>
            <a:ext cx="2545080" cy="369332"/>
          </a:xfrm>
          <a:prstGeom prst="rect">
            <a:avLst/>
          </a:prstGeom>
          <a:noFill/>
        </p:spPr>
        <p:txBody>
          <a:bodyPr wrap="square" rtlCol="0">
            <a:spAutoFit/>
          </a:bodyPr>
          <a:lstStyle/>
          <a:p>
            <a:pPr algn="ctr"/>
            <a:r>
              <a:rPr lang="en-GB" dirty="0"/>
              <a:t>CD player</a:t>
            </a:r>
          </a:p>
        </p:txBody>
      </p:sp>
      <p:sp>
        <p:nvSpPr>
          <p:cNvPr id="25" name="TextBox 24"/>
          <p:cNvSpPr txBox="1"/>
          <p:nvPr/>
        </p:nvSpPr>
        <p:spPr>
          <a:xfrm>
            <a:off x="8610599" y="2841294"/>
            <a:ext cx="1932226" cy="369332"/>
          </a:xfrm>
          <a:prstGeom prst="rect">
            <a:avLst/>
          </a:prstGeom>
          <a:noFill/>
        </p:spPr>
        <p:txBody>
          <a:bodyPr wrap="square" rtlCol="0">
            <a:spAutoFit/>
          </a:bodyPr>
          <a:lstStyle/>
          <a:p>
            <a:pPr algn="ctr"/>
            <a:r>
              <a:rPr lang="en-GB" dirty="0"/>
              <a:t>Radio</a:t>
            </a:r>
          </a:p>
        </p:txBody>
      </p:sp>
      <p:sp>
        <p:nvSpPr>
          <p:cNvPr id="26" name="TextBox 25"/>
          <p:cNvSpPr txBox="1"/>
          <p:nvPr/>
        </p:nvSpPr>
        <p:spPr>
          <a:xfrm>
            <a:off x="6096000" y="6485440"/>
            <a:ext cx="2608896" cy="372560"/>
          </a:xfrm>
          <a:prstGeom prst="rect">
            <a:avLst/>
          </a:prstGeom>
          <a:noFill/>
        </p:spPr>
        <p:txBody>
          <a:bodyPr wrap="square" rtlCol="0">
            <a:spAutoFit/>
          </a:bodyPr>
          <a:lstStyle/>
          <a:p>
            <a:r>
              <a:rPr lang="en-GB" dirty="0"/>
              <a:t>Musical Instruments</a:t>
            </a:r>
          </a:p>
        </p:txBody>
      </p:sp>
    </p:spTree>
    <p:extLst>
      <p:ext uri="{BB962C8B-B14F-4D97-AF65-F5344CB8AC3E}">
        <p14:creationId xmlns:p14="http://schemas.microsoft.com/office/powerpoint/2010/main" val="3803411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4040" y="0"/>
            <a:ext cx="7513320" cy="944880"/>
          </a:xfrm>
        </p:spPr>
        <p:txBody>
          <a:bodyPr/>
          <a:lstStyle/>
          <a:p>
            <a:pPr algn="ctr"/>
            <a:r>
              <a:rPr lang="en-GB" sz="3600" dirty="0"/>
              <a:t>Types</a:t>
            </a:r>
            <a:r>
              <a:rPr lang="en-GB" dirty="0"/>
              <a:t> of Educational Media</a:t>
            </a:r>
          </a:p>
        </p:txBody>
      </p:sp>
      <p:grpSp>
        <p:nvGrpSpPr>
          <p:cNvPr id="17" name="Group 16"/>
          <p:cNvGrpSpPr/>
          <p:nvPr/>
        </p:nvGrpSpPr>
        <p:grpSpPr>
          <a:xfrm>
            <a:off x="594361" y="2212181"/>
            <a:ext cx="3125866" cy="2892505"/>
            <a:chOff x="2271826" y="1151364"/>
            <a:chExt cx="2070699" cy="2070801"/>
          </a:xfrm>
        </p:grpSpPr>
        <p:sp>
          <p:nvSpPr>
            <p:cNvPr id="18" name="Oval 17"/>
            <p:cNvSpPr/>
            <p:nvPr/>
          </p:nvSpPr>
          <p:spPr>
            <a:xfrm>
              <a:off x="2271826" y="1151364"/>
              <a:ext cx="2070699" cy="2070801"/>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Oval 4"/>
            <p:cNvSpPr txBox="1"/>
            <p:nvPr/>
          </p:nvSpPr>
          <p:spPr>
            <a:xfrm>
              <a:off x="2575073" y="1454626"/>
              <a:ext cx="1464205" cy="146427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9530" tIns="49530" rIns="49530" bIns="49530" numCol="1" spcCol="1270" anchor="ctr" anchorCtr="0">
              <a:noAutofit/>
            </a:bodyPr>
            <a:lstStyle/>
            <a:p>
              <a:pPr lvl="0" algn="ctr" defTabSz="1733550">
                <a:lnSpc>
                  <a:spcPct val="90000"/>
                </a:lnSpc>
                <a:spcBef>
                  <a:spcPct val="0"/>
                </a:spcBef>
                <a:spcAft>
                  <a:spcPct val="35000"/>
                </a:spcAft>
              </a:pPr>
              <a:r>
                <a:rPr lang="en-GB" sz="3900" dirty="0"/>
                <a:t>Visual</a:t>
              </a:r>
              <a:r>
                <a:rPr lang="en-GB" sz="3900" b="0" i="0" kern="1200" dirty="0"/>
                <a:t> media</a:t>
              </a:r>
              <a:endParaRPr lang="en-US" sz="3900" kern="1200" dirty="0"/>
            </a:p>
          </p:txBody>
        </p:sp>
      </p:gr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7999" y="1194934"/>
            <a:ext cx="2935053" cy="4321946"/>
          </a:xfrm>
          <a:prstGeom prst="rect">
            <a:avLst/>
          </a:prstGeom>
        </p:spPr>
      </p:pic>
      <p:sp>
        <p:nvSpPr>
          <p:cNvPr id="8" name="TextBox 7"/>
          <p:cNvSpPr txBox="1"/>
          <p:nvPr/>
        </p:nvSpPr>
        <p:spPr>
          <a:xfrm>
            <a:off x="4373880" y="5760720"/>
            <a:ext cx="2392680" cy="369332"/>
          </a:xfrm>
          <a:prstGeom prst="rect">
            <a:avLst/>
          </a:prstGeom>
          <a:noFill/>
        </p:spPr>
        <p:txBody>
          <a:bodyPr wrap="square" rtlCol="0">
            <a:spAutoFit/>
          </a:bodyPr>
          <a:lstStyle/>
          <a:p>
            <a:pPr algn="ctr"/>
            <a:r>
              <a:rPr lang="en-GB" dirty="0"/>
              <a:t>Film</a:t>
            </a:r>
          </a:p>
        </p:txBody>
      </p:sp>
      <p:sp>
        <p:nvSpPr>
          <p:cNvPr id="9" name="TextBox 8"/>
          <p:cNvSpPr txBox="1"/>
          <p:nvPr/>
        </p:nvSpPr>
        <p:spPr>
          <a:xfrm>
            <a:off x="7559040" y="5760720"/>
            <a:ext cx="2910840" cy="369332"/>
          </a:xfrm>
          <a:prstGeom prst="rect">
            <a:avLst/>
          </a:prstGeom>
          <a:noFill/>
        </p:spPr>
        <p:txBody>
          <a:bodyPr wrap="square" rtlCol="0">
            <a:spAutoFit/>
          </a:bodyPr>
          <a:lstStyle/>
          <a:p>
            <a:pPr algn="ctr"/>
            <a:r>
              <a:rPr lang="en-GB" dirty="0"/>
              <a:t>Projector</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6120" y="2054792"/>
            <a:ext cx="3638169" cy="2846070"/>
          </a:xfrm>
          <a:prstGeom prst="rect">
            <a:avLst/>
          </a:prstGeom>
        </p:spPr>
      </p:pic>
    </p:spTree>
    <p:extLst>
      <p:ext uri="{BB962C8B-B14F-4D97-AF65-F5344CB8AC3E}">
        <p14:creationId xmlns:p14="http://schemas.microsoft.com/office/powerpoint/2010/main" val="2618438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4040" y="0"/>
            <a:ext cx="7513320" cy="944880"/>
          </a:xfrm>
        </p:spPr>
        <p:txBody>
          <a:bodyPr/>
          <a:lstStyle/>
          <a:p>
            <a:pPr algn="ctr"/>
            <a:r>
              <a:rPr lang="en-GB" sz="3600" dirty="0"/>
              <a:t>Types</a:t>
            </a:r>
            <a:r>
              <a:rPr lang="en-GB" dirty="0"/>
              <a:t> of Educational Media</a:t>
            </a:r>
          </a:p>
        </p:txBody>
      </p:sp>
      <p:grpSp>
        <p:nvGrpSpPr>
          <p:cNvPr id="17" name="Group 16"/>
          <p:cNvGrpSpPr/>
          <p:nvPr/>
        </p:nvGrpSpPr>
        <p:grpSpPr>
          <a:xfrm>
            <a:off x="594361" y="2212181"/>
            <a:ext cx="3125866" cy="2892505"/>
            <a:chOff x="2271826" y="1151364"/>
            <a:chExt cx="2070699" cy="2070801"/>
          </a:xfrm>
        </p:grpSpPr>
        <p:sp>
          <p:nvSpPr>
            <p:cNvPr id="18" name="Oval 17"/>
            <p:cNvSpPr/>
            <p:nvPr/>
          </p:nvSpPr>
          <p:spPr>
            <a:xfrm>
              <a:off x="2271826" y="1151364"/>
              <a:ext cx="2070699" cy="2070801"/>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Oval 4"/>
            <p:cNvSpPr txBox="1"/>
            <p:nvPr/>
          </p:nvSpPr>
          <p:spPr>
            <a:xfrm>
              <a:off x="2433355" y="1454626"/>
              <a:ext cx="1605924" cy="151710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9530" tIns="49530" rIns="49530" bIns="49530" numCol="1" spcCol="1270" anchor="ctr" anchorCtr="0">
              <a:noAutofit/>
            </a:bodyPr>
            <a:lstStyle/>
            <a:p>
              <a:pPr lvl="0" algn="ctr" defTabSz="1733550">
                <a:lnSpc>
                  <a:spcPct val="90000"/>
                </a:lnSpc>
                <a:spcBef>
                  <a:spcPct val="0"/>
                </a:spcBef>
                <a:spcAft>
                  <a:spcPct val="35000"/>
                </a:spcAft>
              </a:pPr>
              <a:r>
                <a:rPr lang="en-GB" sz="3900" dirty="0"/>
                <a:t>Electronic</a:t>
              </a:r>
              <a:r>
                <a:rPr lang="en-GB" sz="3900" b="0" i="0" kern="1200" dirty="0"/>
                <a:t> media</a:t>
              </a:r>
              <a:endParaRPr lang="en-US" sz="3900" kern="1200" dirty="0"/>
            </a:p>
          </p:txBody>
        </p:sp>
      </p:gr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1954" y="3861541"/>
            <a:ext cx="1885950" cy="2428875"/>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83367" y="1140618"/>
            <a:ext cx="2143125" cy="2143125"/>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77288" y="2555082"/>
            <a:ext cx="3831372" cy="2549604"/>
          </a:xfrm>
          <a:prstGeom prst="rect">
            <a:avLst/>
          </a:prstGeom>
        </p:spPr>
      </p:pic>
      <p:sp>
        <p:nvSpPr>
          <p:cNvPr id="15" name="TextBox 14"/>
          <p:cNvSpPr txBox="1"/>
          <p:nvPr/>
        </p:nvSpPr>
        <p:spPr>
          <a:xfrm>
            <a:off x="7239000" y="5364480"/>
            <a:ext cx="3154680" cy="369332"/>
          </a:xfrm>
          <a:prstGeom prst="rect">
            <a:avLst/>
          </a:prstGeom>
          <a:noFill/>
        </p:spPr>
        <p:txBody>
          <a:bodyPr wrap="square" rtlCol="0">
            <a:spAutoFit/>
          </a:bodyPr>
          <a:lstStyle/>
          <a:p>
            <a:pPr algn="ctr"/>
            <a:r>
              <a:rPr lang="en-GB" dirty="0"/>
              <a:t>CD/DVD </a:t>
            </a:r>
          </a:p>
        </p:txBody>
      </p:sp>
      <p:sp>
        <p:nvSpPr>
          <p:cNvPr id="20" name="TextBox 19"/>
          <p:cNvSpPr txBox="1"/>
          <p:nvPr/>
        </p:nvSpPr>
        <p:spPr>
          <a:xfrm>
            <a:off x="4083367" y="6200404"/>
            <a:ext cx="2256473" cy="369332"/>
          </a:xfrm>
          <a:prstGeom prst="rect">
            <a:avLst/>
          </a:prstGeom>
          <a:noFill/>
        </p:spPr>
        <p:txBody>
          <a:bodyPr wrap="square" rtlCol="0">
            <a:spAutoFit/>
          </a:bodyPr>
          <a:lstStyle/>
          <a:p>
            <a:pPr algn="ctr"/>
            <a:r>
              <a:rPr lang="en-GB" dirty="0"/>
              <a:t>Computers</a:t>
            </a:r>
          </a:p>
        </p:txBody>
      </p:sp>
      <p:sp>
        <p:nvSpPr>
          <p:cNvPr id="21" name="TextBox 20"/>
          <p:cNvSpPr txBox="1"/>
          <p:nvPr/>
        </p:nvSpPr>
        <p:spPr>
          <a:xfrm>
            <a:off x="4211954" y="3283743"/>
            <a:ext cx="2014538" cy="369332"/>
          </a:xfrm>
          <a:prstGeom prst="rect">
            <a:avLst/>
          </a:prstGeom>
          <a:noFill/>
        </p:spPr>
        <p:txBody>
          <a:bodyPr wrap="square" rtlCol="0">
            <a:spAutoFit/>
          </a:bodyPr>
          <a:lstStyle/>
          <a:p>
            <a:pPr algn="ctr"/>
            <a:r>
              <a:rPr lang="en-GB" dirty="0"/>
              <a:t>Flash Disks</a:t>
            </a:r>
          </a:p>
        </p:txBody>
      </p:sp>
    </p:spTree>
    <p:extLst>
      <p:ext uri="{BB962C8B-B14F-4D97-AF65-F5344CB8AC3E}">
        <p14:creationId xmlns:p14="http://schemas.microsoft.com/office/powerpoint/2010/main" val="131290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4040" y="0"/>
            <a:ext cx="7513320" cy="944880"/>
          </a:xfrm>
        </p:spPr>
        <p:txBody>
          <a:bodyPr/>
          <a:lstStyle/>
          <a:p>
            <a:pPr algn="ctr"/>
            <a:r>
              <a:rPr lang="en-GB" sz="3600" dirty="0"/>
              <a:t>Types</a:t>
            </a:r>
            <a:r>
              <a:rPr lang="en-GB" dirty="0"/>
              <a:t> of Educational Media</a:t>
            </a:r>
          </a:p>
        </p:txBody>
      </p:sp>
      <p:grpSp>
        <p:nvGrpSpPr>
          <p:cNvPr id="17" name="Group 16"/>
          <p:cNvGrpSpPr/>
          <p:nvPr/>
        </p:nvGrpSpPr>
        <p:grpSpPr>
          <a:xfrm>
            <a:off x="594361" y="2212181"/>
            <a:ext cx="3125866" cy="2892505"/>
            <a:chOff x="2271826" y="1151364"/>
            <a:chExt cx="2070699" cy="2070801"/>
          </a:xfrm>
        </p:grpSpPr>
        <p:sp>
          <p:nvSpPr>
            <p:cNvPr id="18" name="Oval 17"/>
            <p:cNvSpPr/>
            <p:nvPr/>
          </p:nvSpPr>
          <p:spPr>
            <a:xfrm>
              <a:off x="2271826" y="1151364"/>
              <a:ext cx="2070699" cy="2070801"/>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Oval 4"/>
            <p:cNvSpPr txBox="1"/>
            <p:nvPr/>
          </p:nvSpPr>
          <p:spPr>
            <a:xfrm>
              <a:off x="2575073" y="1454626"/>
              <a:ext cx="1464205" cy="146427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9530" tIns="49530" rIns="49530" bIns="49530" numCol="1" spcCol="1270" anchor="ctr" anchorCtr="0">
              <a:noAutofit/>
            </a:bodyPr>
            <a:lstStyle/>
            <a:p>
              <a:pPr lvl="0" algn="ctr" defTabSz="1733550">
                <a:lnSpc>
                  <a:spcPct val="90000"/>
                </a:lnSpc>
                <a:spcBef>
                  <a:spcPct val="0"/>
                </a:spcBef>
                <a:spcAft>
                  <a:spcPct val="35000"/>
                </a:spcAft>
              </a:pPr>
              <a:r>
                <a:rPr lang="en-GB" sz="3900" dirty="0"/>
                <a:t>Graphics</a:t>
              </a:r>
              <a:endParaRPr lang="en-US" sz="3900" kern="1200" dirty="0"/>
            </a:p>
          </p:txBody>
        </p:sp>
      </p:gr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6328" y="944880"/>
            <a:ext cx="3345952" cy="2636520"/>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1438" y="1021555"/>
            <a:ext cx="2167118" cy="2695421"/>
          </a:xfrm>
          <a:prstGeom prst="rect">
            <a:avLst/>
          </a:prstGeom>
        </p:spPr>
      </p:pic>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13960" y="3723680"/>
            <a:ext cx="5242560" cy="2899032"/>
          </a:xfrm>
          <a:prstGeom prst="rect">
            <a:avLst/>
          </a:prstGeom>
        </p:spPr>
      </p:pic>
    </p:spTree>
    <p:extLst>
      <p:ext uri="{BB962C8B-B14F-4D97-AF65-F5344CB8AC3E}">
        <p14:creationId xmlns:p14="http://schemas.microsoft.com/office/powerpoint/2010/main" val="1984539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4040" y="0"/>
            <a:ext cx="7513320" cy="944880"/>
          </a:xfrm>
        </p:spPr>
        <p:txBody>
          <a:bodyPr/>
          <a:lstStyle/>
          <a:p>
            <a:pPr algn="ctr"/>
            <a:r>
              <a:rPr lang="en-GB" sz="3600" dirty="0"/>
              <a:t>Types</a:t>
            </a:r>
            <a:r>
              <a:rPr lang="en-GB" dirty="0"/>
              <a:t> of Educational Media</a:t>
            </a:r>
          </a:p>
        </p:txBody>
      </p:sp>
      <p:grpSp>
        <p:nvGrpSpPr>
          <p:cNvPr id="17" name="Group 16"/>
          <p:cNvGrpSpPr/>
          <p:nvPr/>
        </p:nvGrpSpPr>
        <p:grpSpPr>
          <a:xfrm>
            <a:off x="594361" y="2212181"/>
            <a:ext cx="3125866" cy="2892505"/>
            <a:chOff x="2271826" y="1151364"/>
            <a:chExt cx="2070699" cy="2070801"/>
          </a:xfrm>
        </p:grpSpPr>
        <p:sp>
          <p:nvSpPr>
            <p:cNvPr id="18" name="Oval 17"/>
            <p:cNvSpPr/>
            <p:nvPr/>
          </p:nvSpPr>
          <p:spPr>
            <a:xfrm>
              <a:off x="2271826" y="1151364"/>
              <a:ext cx="2070699" cy="2070801"/>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Oval 4"/>
            <p:cNvSpPr txBox="1"/>
            <p:nvPr/>
          </p:nvSpPr>
          <p:spPr>
            <a:xfrm>
              <a:off x="2575073" y="1454626"/>
              <a:ext cx="1464205" cy="146427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9530" tIns="49530" rIns="49530" bIns="49530" numCol="1" spcCol="1270" anchor="ctr" anchorCtr="0">
              <a:noAutofit/>
            </a:bodyPr>
            <a:lstStyle/>
            <a:p>
              <a:pPr lvl="0" algn="ctr" defTabSz="1733550">
                <a:lnSpc>
                  <a:spcPct val="90000"/>
                </a:lnSpc>
                <a:spcBef>
                  <a:spcPct val="0"/>
                </a:spcBef>
                <a:spcAft>
                  <a:spcPct val="35000"/>
                </a:spcAft>
              </a:pPr>
              <a:r>
                <a:rPr lang="en-GB" sz="3900" dirty="0"/>
                <a:t>Models</a:t>
              </a:r>
              <a:endParaRPr lang="en-US" sz="3900" kern="1200" dirty="0"/>
            </a:p>
          </p:txBody>
        </p:sp>
      </p:gr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3679" y="1336038"/>
            <a:ext cx="3647441" cy="3647441"/>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8240" y="1394101"/>
            <a:ext cx="3589378" cy="3589378"/>
          </a:xfrm>
          <a:prstGeom prst="rect">
            <a:avLst/>
          </a:prstGeom>
        </p:spPr>
      </p:pic>
    </p:spTree>
    <p:extLst>
      <p:ext uri="{BB962C8B-B14F-4D97-AF65-F5344CB8AC3E}">
        <p14:creationId xmlns:p14="http://schemas.microsoft.com/office/powerpoint/2010/main" val="3208069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4040" y="0"/>
            <a:ext cx="7513320" cy="944880"/>
          </a:xfrm>
        </p:spPr>
        <p:txBody>
          <a:bodyPr/>
          <a:lstStyle/>
          <a:p>
            <a:pPr algn="ctr"/>
            <a:r>
              <a:rPr lang="en-GB" sz="3600" dirty="0"/>
              <a:t>Types</a:t>
            </a:r>
            <a:r>
              <a:rPr lang="en-GB" dirty="0"/>
              <a:t> of Educational Media</a:t>
            </a:r>
          </a:p>
        </p:txBody>
      </p:sp>
      <p:grpSp>
        <p:nvGrpSpPr>
          <p:cNvPr id="17" name="Group 16"/>
          <p:cNvGrpSpPr/>
          <p:nvPr/>
        </p:nvGrpSpPr>
        <p:grpSpPr>
          <a:xfrm>
            <a:off x="594361" y="2212181"/>
            <a:ext cx="3078479" cy="2817019"/>
            <a:chOff x="2271826" y="1151364"/>
            <a:chExt cx="2070699" cy="2070801"/>
          </a:xfrm>
        </p:grpSpPr>
        <p:sp>
          <p:nvSpPr>
            <p:cNvPr id="18" name="Oval 17"/>
            <p:cNvSpPr/>
            <p:nvPr/>
          </p:nvSpPr>
          <p:spPr>
            <a:xfrm>
              <a:off x="2271826" y="1151364"/>
              <a:ext cx="2070699" cy="2070801"/>
            </a:xfrm>
            <a:prstGeom prst="ellips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9" name="Oval 4"/>
            <p:cNvSpPr txBox="1"/>
            <p:nvPr/>
          </p:nvSpPr>
          <p:spPr>
            <a:xfrm>
              <a:off x="2575073" y="1454626"/>
              <a:ext cx="1464205" cy="146427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9530" tIns="49530" rIns="49530" bIns="49530" numCol="1" spcCol="1270" anchor="ctr" anchorCtr="0">
              <a:noAutofit/>
            </a:bodyPr>
            <a:lstStyle/>
            <a:p>
              <a:pPr lvl="0" algn="ctr" defTabSz="1733550">
                <a:lnSpc>
                  <a:spcPct val="90000"/>
                </a:lnSpc>
                <a:spcBef>
                  <a:spcPct val="0"/>
                </a:spcBef>
                <a:spcAft>
                  <a:spcPct val="35000"/>
                </a:spcAft>
              </a:pPr>
              <a:r>
                <a:rPr lang="en-GB" sz="3900" dirty="0"/>
                <a:t>Tools</a:t>
              </a:r>
              <a:endParaRPr lang="en-US" sz="3900" kern="1200" dirty="0"/>
            </a:p>
          </p:txBody>
        </p:sp>
      </p:gr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6780" y="1035579"/>
            <a:ext cx="4964384" cy="2710815"/>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6780" y="3837093"/>
            <a:ext cx="4964384" cy="2835132"/>
          </a:xfrm>
          <a:prstGeom prst="rect">
            <a:avLst/>
          </a:prstGeom>
        </p:spPr>
      </p:pic>
    </p:spTree>
    <p:extLst>
      <p:ext uri="{BB962C8B-B14F-4D97-AF65-F5344CB8AC3E}">
        <p14:creationId xmlns:p14="http://schemas.microsoft.com/office/powerpoint/2010/main" val="3537437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Other forms of Educational Media</a:t>
            </a:r>
          </a:p>
        </p:txBody>
      </p:sp>
      <p:sp>
        <p:nvSpPr>
          <p:cNvPr id="3" name="Content Placeholder 2"/>
          <p:cNvSpPr>
            <a:spLocks noGrp="1"/>
          </p:cNvSpPr>
          <p:nvPr>
            <p:ph idx="1"/>
          </p:nvPr>
        </p:nvSpPr>
        <p:spPr/>
        <p:txBody>
          <a:bodyPr/>
          <a:lstStyle/>
          <a:p>
            <a:r>
              <a:rPr lang="en-US" dirty="0"/>
              <a:t>Community Resources E.g. Cattle dip, Game Park, Museum factory Snake Park, Agricultural Research Stations (KARLO)</a:t>
            </a:r>
          </a:p>
          <a:p>
            <a:r>
              <a:rPr lang="en-US" dirty="0"/>
              <a:t>Specimens: Live and preserved animals and plants.</a:t>
            </a:r>
          </a:p>
          <a:p>
            <a:r>
              <a:rPr lang="en-US" dirty="0" err="1"/>
              <a:t>Realia</a:t>
            </a:r>
            <a:r>
              <a:rPr lang="en-US" dirty="0"/>
              <a:t>: Objects from real life that can be touched, smelt, seen, tasted</a:t>
            </a:r>
          </a:p>
          <a:p>
            <a:r>
              <a:rPr lang="en-GB" dirty="0"/>
              <a:t>Apparatus: Thermometer, Syringe, beehive shelf, Voltmeters</a:t>
            </a:r>
          </a:p>
          <a:p>
            <a:r>
              <a:rPr lang="en-US" dirty="0"/>
              <a:t>Reagents: Used in science and applied sciences subjects e.g. Solutes, solvents, carbonates, oxides.</a:t>
            </a:r>
            <a:endParaRPr lang="en-GB" dirty="0"/>
          </a:p>
        </p:txBody>
      </p:sp>
    </p:spTree>
    <p:extLst>
      <p:ext uri="{BB962C8B-B14F-4D97-AF65-F5344CB8AC3E}">
        <p14:creationId xmlns:p14="http://schemas.microsoft.com/office/powerpoint/2010/main" val="1823333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Which forms of Media do you use most?</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88799" y="1691321"/>
            <a:ext cx="3311412" cy="5009211"/>
          </a:xfrm>
          <a:prstGeom prst="rect">
            <a:avLst/>
          </a:prstGeom>
        </p:spPr>
      </p:pic>
    </p:spTree>
    <p:extLst>
      <p:ext uri="{BB962C8B-B14F-4D97-AF65-F5344CB8AC3E}">
        <p14:creationId xmlns:p14="http://schemas.microsoft.com/office/powerpoint/2010/main" val="4209777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680" y="473528"/>
            <a:ext cx="10283506" cy="5812971"/>
          </a:xfrm>
          <a:prstGeom prst="rect">
            <a:avLst/>
          </a:prstGeom>
        </p:spPr>
      </p:pic>
    </p:spTree>
    <p:extLst>
      <p:ext uri="{BB962C8B-B14F-4D97-AF65-F5344CB8AC3E}">
        <p14:creationId xmlns:p14="http://schemas.microsoft.com/office/powerpoint/2010/main" val="3522465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Purpose of Educational Media</a:t>
            </a:r>
          </a:p>
        </p:txBody>
      </p:sp>
      <p:sp>
        <p:nvSpPr>
          <p:cNvPr id="3" name="Content Placeholder 2"/>
          <p:cNvSpPr>
            <a:spLocks noGrp="1"/>
          </p:cNvSpPr>
          <p:nvPr>
            <p:ph idx="1"/>
          </p:nvPr>
        </p:nvSpPr>
        <p:spPr/>
        <p:txBody>
          <a:bodyPr/>
          <a:lstStyle/>
          <a:p>
            <a:r>
              <a:rPr lang="en-US" dirty="0"/>
              <a:t>Assists teachers in effective communication.</a:t>
            </a:r>
          </a:p>
          <a:p>
            <a:r>
              <a:rPr lang="en-US" dirty="0"/>
              <a:t>Provides opportunities for student participation.</a:t>
            </a:r>
          </a:p>
          <a:p>
            <a:r>
              <a:rPr lang="en-US" dirty="0"/>
              <a:t>Facilitates meaningful and permanent learning.</a:t>
            </a:r>
          </a:p>
          <a:p>
            <a:r>
              <a:rPr lang="en-US" dirty="0"/>
              <a:t>Promotes greater understanding of complex concepts.</a:t>
            </a:r>
          </a:p>
          <a:p>
            <a:r>
              <a:rPr lang="en-US" dirty="0"/>
              <a:t>Caters to individual differences in students.</a:t>
            </a:r>
          </a:p>
          <a:p>
            <a:pPr marL="0" indent="0">
              <a:buNone/>
            </a:pPr>
            <a:endParaRPr lang="en-GB" dirty="0"/>
          </a:p>
        </p:txBody>
      </p:sp>
    </p:spTree>
    <p:extLst>
      <p:ext uri="{BB962C8B-B14F-4D97-AF65-F5344CB8AC3E}">
        <p14:creationId xmlns:p14="http://schemas.microsoft.com/office/powerpoint/2010/main" val="1228889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Guiding Principles for Selecting Educational Media</a:t>
            </a:r>
            <a:endParaRPr lang="en-GB" dirty="0"/>
          </a:p>
        </p:txBody>
      </p:sp>
      <p:sp>
        <p:nvSpPr>
          <p:cNvPr id="3" name="Content Placeholder 2"/>
          <p:cNvSpPr>
            <a:spLocks noGrp="1"/>
          </p:cNvSpPr>
          <p:nvPr>
            <p:ph idx="1"/>
          </p:nvPr>
        </p:nvSpPr>
        <p:spPr/>
        <p:txBody>
          <a:bodyPr/>
          <a:lstStyle/>
          <a:p>
            <a:r>
              <a:rPr lang="en-US" dirty="0"/>
              <a:t>Appropriateness for intended purpose/objectives/outcome.</a:t>
            </a:r>
          </a:p>
          <a:p>
            <a:r>
              <a:rPr lang="en-US" dirty="0"/>
              <a:t>Suitability to target audience/learners.</a:t>
            </a:r>
          </a:p>
          <a:p>
            <a:r>
              <a:rPr lang="en-US" dirty="0"/>
              <a:t>Accuracy and up-to-date information.</a:t>
            </a:r>
          </a:p>
          <a:p>
            <a:r>
              <a:rPr lang="en-US" dirty="0"/>
              <a:t>Physical qualities (design, simplicity, durability).</a:t>
            </a:r>
          </a:p>
          <a:p>
            <a:r>
              <a:rPr lang="en-US" dirty="0"/>
              <a:t>Cost-effectiveness.</a:t>
            </a:r>
          </a:p>
          <a:p>
            <a:pPr marL="0" indent="0">
              <a:buNone/>
            </a:pPr>
            <a:endParaRPr lang="en-GB" dirty="0"/>
          </a:p>
        </p:txBody>
      </p:sp>
    </p:spTree>
    <p:extLst>
      <p:ext uri="{BB962C8B-B14F-4D97-AF65-F5344CB8AC3E}">
        <p14:creationId xmlns:p14="http://schemas.microsoft.com/office/powerpoint/2010/main" val="1749181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Role and Significance of Educational Media</a:t>
            </a:r>
            <a:endParaRPr lang="en-GB" dirty="0"/>
          </a:p>
        </p:txBody>
      </p:sp>
      <p:sp>
        <p:nvSpPr>
          <p:cNvPr id="3" name="Content Placeholder 2"/>
          <p:cNvSpPr>
            <a:spLocks noGrp="1"/>
          </p:cNvSpPr>
          <p:nvPr>
            <p:ph idx="1"/>
          </p:nvPr>
        </p:nvSpPr>
        <p:spPr/>
        <p:txBody>
          <a:bodyPr numCol="2">
            <a:normAutofit lnSpcReduction="10000"/>
          </a:bodyPr>
          <a:lstStyle/>
          <a:p>
            <a:r>
              <a:rPr lang="en-US" sz="2200" dirty="0"/>
              <a:t>Arouse curiosity and create interest.</a:t>
            </a:r>
          </a:p>
          <a:p>
            <a:r>
              <a:rPr lang="en-US" sz="2200" dirty="0"/>
              <a:t>Motivate learners.</a:t>
            </a:r>
          </a:p>
          <a:p>
            <a:r>
              <a:rPr lang="en-US" sz="2200" dirty="0"/>
              <a:t>Sustain attention.</a:t>
            </a:r>
          </a:p>
          <a:p>
            <a:r>
              <a:rPr lang="en-US" sz="2200" dirty="0"/>
              <a:t>Clarify concepts and information.</a:t>
            </a:r>
          </a:p>
          <a:p>
            <a:r>
              <a:rPr lang="en-US" sz="2200" dirty="0"/>
              <a:t>Provide stimulus variations.</a:t>
            </a:r>
          </a:p>
          <a:p>
            <a:r>
              <a:rPr lang="en-US" sz="2200" dirty="0"/>
              <a:t>Supplement spoken word with visual material.</a:t>
            </a:r>
          </a:p>
          <a:p>
            <a:pPr marL="0" indent="0">
              <a:buNone/>
            </a:pPr>
            <a:endParaRPr lang="en-US" sz="2200" dirty="0"/>
          </a:p>
          <a:p>
            <a:r>
              <a:rPr lang="en-US" sz="2200" dirty="0"/>
              <a:t>Present new ideas.</a:t>
            </a:r>
          </a:p>
          <a:p>
            <a:r>
              <a:rPr lang="en-US" sz="2200" dirty="0"/>
              <a:t>Stimulate discussion.</a:t>
            </a:r>
          </a:p>
          <a:p>
            <a:r>
              <a:rPr lang="en-US" sz="2200" dirty="0"/>
              <a:t>Summarize information.</a:t>
            </a:r>
          </a:p>
          <a:p>
            <a:r>
              <a:rPr lang="en-US" sz="2200" dirty="0"/>
              <a:t>Enhance retention and memory.</a:t>
            </a:r>
          </a:p>
          <a:p>
            <a:r>
              <a:rPr lang="en-US" sz="2200" dirty="0"/>
              <a:t>Add reality to teaching and learning.</a:t>
            </a:r>
          </a:p>
          <a:p>
            <a:r>
              <a:rPr lang="en-US" sz="2200" dirty="0"/>
              <a:t>Cater to individual differences.</a:t>
            </a:r>
          </a:p>
          <a:p>
            <a:endParaRPr lang="en-GB" dirty="0"/>
          </a:p>
        </p:txBody>
      </p:sp>
    </p:spTree>
    <p:extLst>
      <p:ext uri="{BB962C8B-B14F-4D97-AF65-F5344CB8AC3E}">
        <p14:creationId xmlns:p14="http://schemas.microsoft.com/office/powerpoint/2010/main" val="3239330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Role of Teachers in Using Educational Media</a:t>
            </a:r>
            <a:endParaRPr lang="en-GB" dirty="0"/>
          </a:p>
        </p:txBody>
      </p:sp>
      <p:sp>
        <p:nvSpPr>
          <p:cNvPr id="3" name="Content Placeholder 2"/>
          <p:cNvSpPr>
            <a:spLocks noGrp="1"/>
          </p:cNvSpPr>
          <p:nvPr>
            <p:ph idx="1"/>
          </p:nvPr>
        </p:nvSpPr>
        <p:spPr/>
        <p:txBody>
          <a:bodyPr/>
          <a:lstStyle/>
          <a:p>
            <a:r>
              <a:rPr lang="en-US" dirty="0"/>
              <a:t>Selecting appropriate media for specific learning objectives.</a:t>
            </a:r>
          </a:p>
          <a:p>
            <a:r>
              <a:rPr lang="en-US" dirty="0"/>
              <a:t>Integrating media effectively into lesson plans.</a:t>
            </a:r>
          </a:p>
          <a:p>
            <a:r>
              <a:rPr lang="en-US" dirty="0"/>
              <a:t>Providing guidance and support to students in using media.</a:t>
            </a:r>
          </a:p>
          <a:p>
            <a:r>
              <a:rPr lang="en-US" dirty="0"/>
              <a:t>Evaluating the effectiveness of media in enhancing learning outcomes.</a:t>
            </a:r>
          </a:p>
          <a:p>
            <a:r>
              <a:rPr lang="en-US" dirty="0"/>
              <a:t>Updating and adapting media to meet changing educational needs.</a:t>
            </a:r>
          </a:p>
        </p:txBody>
      </p:sp>
    </p:spTree>
    <p:extLst>
      <p:ext uri="{BB962C8B-B14F-4D97-AF65-F5344CB8AC3E}">
        <p14:creationId xmlns:p14="http://schemas.microsoft.com/office/powerpoint/2010/main" val="1497979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Challenges in Using Educational Media</a:t>
            </a:r>
            <a:endParaRPr lang="en-GB" dirty="0"/>
          </a:p>
        </p:txBody>
      </p:sp>
      <p:sp>
        <p:nvSpPr>
          <p:cNvPr id="3" name="Content Placeholder 2"/>
          <p:cNvSpPr>
            <a:spLocks noGrp="1"/>
          </p:cNvSpPr>
          <p:nvPr>
            <p:ph idx="1"/>
          </p:nvPr>
        </p:nvSpPr>
        <p:spPr/>
        <p:txBody>
          <a:bodyPr/>
          <a:lstStyle/>
          <a:p>
            <a:r>
              <a:rPr lang="en-US" dirty="0"/>
              <a:t>Access to technology and resources.</a:t>
            </a:r>
          </a:p>
          <a:p>
            <a:r>
              <a:rPr lang="en-US" dirty="0"/>
              <a:t>Technical difficulties and maintenance issues.</a:t>
            </a:r>
          </a:p>
          <a:p>
            <a:r>
              <a:rPr lang="en-US" dirty="0"/>
              <a:t>Lack of training and expertise in using media.</a:t>
            </a:r>
          </a:p>
          <a:p>
            <a:r>
              <a:rPr lang="en-US" dirty="0"/>
              <a:t>Integration of media into existing curriculum and teaching methods.</a:t>
            </a:r>
          </a:p>
          <a:p>
            <a:r>
              <a:rPr lang="en-US" dirty="0"/>
              <a:t>Cost and budget constraints.</a:t>
            </a:r>
          </a:p>
          <a:p>
            <a:r>
              <a:rPr lang="en-US" dirty="0"/>
              <a:t>Ensuring media content is accurate, relevant, and up-to-date.</a:t>
            </a:r>
          </a:p>
          <a:p>
            <a:pPr marL="0" indent="0">
              <a:buNone/>
            </a:pPr>
            <a:endParaRPr lang="en-GB" dirty="0"/>
          </a:p>
        </p:txBody>
      </p:sp>
    </p:spTree>
    <p:extLst>
      <p:ext uri="{BB962C8B-B14F-4D97-AF65-F5344CB8AC3E}">
        <p14:creationId xmlns:p14="http://schemas.microsoft.com/office/powerpoint/2010/main" val="4006554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872" y="262393"/>
            <a:ext cx="9692640" cy="1124447"/>
          </a:xfrm>
        </p:spPr>
        <p:txBody>
          <a:bodyPr/>
          <a:lstStyle/>
          <a:p>
            <a:r>
              <a:rPr lang="en-US" dirty="0"/>
              <a:t>Future Trends in Educational Media</a:t>
            </a:r>
            <a:endParaRPr lang="en-GB" dirty="0"/>
          </a:p>
        </p:txBody>
      </p:sp>
      <p:sp>
        <p:nvSpPr>
          <p:cNvPr id="3" name="Content Placeholder 2"/>
          <p:cNvSpPr>
            <a:spLocks noGrp="1"/>
          </p:cNvSpPr>
          <p:nvPr>
            <p:ph idx="1"/>
          </p:nvPr>
        </p:nvSpPr>
        <p:spPr>
          <a:xfrm>
            <a:off x="1261872" y="1828800"/>
            <a:ext cx="8595360" cy="5029200"/>
          </a:xfrm>
        </p:spPr>
        <p:txBody>
          <a:bodyPr/>
          <a:lstStyle/>
          <a:p>
            <a:endParaRPr lang="en-US" dirty="0"/>
          </a:p>
          <a:p>
            <a:endParaRPr lang="en-US" dirty="0"/>
          </a:p>
          <a:p>
            <a:endParaRPr lang="en-US" dirty="0"/>
          </a:p>
          <a:p>
            <a:endParaRPr lang="en-US" dirty="0"/>
          </a:p>
          <a:p>
            <a:r>
              <a:rPr lang="en-US" dirty="0"/>
              <a:t>Virtual and augmented reality for immersive learning experiences.</a:t>
            </a:r>
          </a:p>
          <a:p>
            <a:r>
              <a:rPr lang="en-US" dirty="0"/>
              <a:t>Artificial intelligence for personalized learning and adaptive content.</a:t>
            </a:r>
          </a:p>
          <a:p>
            <a:r>
              <a:rPr lang="en-US" dirty="0"/>
              <a:t>Gamification and interactive storytelling for engagement.</a:t>
            </a:r>
          </a:p>
          <a:p>
            <a:r>
              <a:rPr lang="en-US" dirty="0"/>
              <a:t>Mobile learning and micro learning for on-the-go education.</a:t>
            </a:r>
          </a:p>
          <a:p>
            <a:r>
              <a:rPr lang="en-US" dirty="0"/>
              <a:t>Open educational resources (OER) and online platforms for global access to education. </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4945" y="1386840"/>
            <a:ext cx="4314092" cy="2438400"/>
          </a:xfrm>
          <a:prstGeom prst="rect">
            <a:avLst/>
          </a:prstGeom>
        </p:spPr>
      </p:pic>
    </p:spTree>
    <p:extLst>
      <p:ext uri="{BB962C8B-B14F-4D97-AF65-F5344CB8AC3E}">
        <p14:creationId xmlns:p14="http://schemas.microsoft.com/office/powerpoint/2010/main" val="1807390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What are the impacts of educational media on learning?</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3932" y="1838960"/>
            <a:ext cx="4668520" cy="4668520"/>
          </a:xfrm>
          <a:prstGeom prst="rect">
            <a:avLst/>
          </a:prstGeom>
        </p:spPr>
      </p:pic>
    </p:spTree>
    <p:extLst>
      <p:ext uri="{BB962C8B-B14F-4D97-AF65-F5344CB8AC3E}">
        <p14:creationId xmlns:p14="http://schemas.microsoft.com/office/powerpoint/2010/main" val="1776870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Impact of Educational Media on Learning Outcomes</a:t>
            </a:r>
            <a:endParaRPr lang="en-GB" dirty="0"/>
          </a:p>
        </p:txBody>
      </p:sp>
      <p:sp>
        <p:nvSpPr>
          <p:cNvPr id="3" name="Content Placeholder 2"/>
          <p:cNvSpPr>
            <a:spLocks noGrp="1"/>
          </p:cNvSpPr>
          <p:nvPr>
            <p:ph idx="1"/>
          </p:nvPr>
        </p:nvSpPr>
        <p:spPr>
          <a:xfrm>
            <a:off x="1261872" y="1844040"/>
            <a:ext cx="8595360" cy="4785360"/>
          </a:xfrm>
        </p:spPr>
        <p:txBody>
          <a:bodyPr>
            <a:normAutofit/>
          </a:bodyPr>
          <a:lstStyle/>
          <a:p>
            <a:pPr marL="0" indent="0">
              <a:buNone/>
            </a:pPr>
            <a:endParaRPr lang="en-US" dirty="0"/>
          </a:p>
          <a:p>
            <a:r>
              <a:rPr lang="en-US" dirty="0"/>
              <a:t>Educational media has been shown to improve retention and recall of information.</a:t>
            </a:r>
          </a:p>
          <a:p>
            <a:r>
              <a:rPr lang="en-US" dirty="0"/>
              <a:t>It can enhance critical thinking and problem-solving skills.</a:t>
            </a:r>
          </a:p>
          <a:p>
            <a:r>
              <a:rPr lang="en-US" dirty="0"/>
              <a:t>Media-rich environments can increase student motivation and engagement.</a:t>
            </a:r>
          </a:p>
          <a:p>
            <a:r>
              <a:rPr lang="en-US" dirty="0"/>
              <a:t>Visual and interactive media can accommodate diverse learning styles and preferences.</a:t>
            </a:r>
          </a:p>
          <a:p>
            <a:r>
              <a:rPr lang="en-US" dirty="0"/>
              <a:t>Integrating media into instruction can lead to more effective and efficient learning experiences.</a:t>
            </a:r>
          </a:p>
        </p:txBody>
      </p:sp>
    </p:spTree>
    <p:extLst>
      <p:ext uri="{BB962C8B-B14F-4D97-AF65-F5344CB8AC3E}">
        <p14:creationId xmlns:p14="http://schemas.microsoft.com/office/powerpoint/2010/main" val="95372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Ethical Considerations in Using Educational Media</a:t>
            </a:r>
            <a:endParaRPr lang="en-GB" dirty="0"/>
          </a:p>
        </p:txBody>
      </p:sp>
      <p:sp>
        <p:nvSpPr>
          <p:cNvPr id="3" name="Content Placeholder 2"/>
          <p:cNvSpPr>
            <a:spLocks noGrp="1"/>
          </p:cNvSpPr>
          <p:nvPr>
            <p:ph idx="1"/>
          </p:nvPr>
        </p:nvSpPr>
        <p:spPr>
          <a:xfrm>
            <a:off x="1261872" y="2026919"/>
            <a:ext cx="8595360" cy="3642361"/>
          </a:xfrm>
        </p:spPr>
        <p:txBody>
          <a:bodyPr/>
          <a:lstStyle/>
          <a:p>
            <a:r>
              <a:rPr lang="en-US" dirty="0"/>
              <a:t>Ensuring privacy and confidentiality of student information.</a:t>
            </a:r>
          </a:p>
          <a:p>
            <a:r>
              <a:rPr lang="en-US" dirty="0"/>
              <a:t>Avoiding bias and stereotypes in media content.</a:t>
            </a:r>
          </a:p>
          <a:p>
            <a:r>
              <a:rPr lang="en-US" dirty="0"/>
              <a:t>Providing equal access to educational media for all students.</a:t>
            </a:r>
          </a:p>
          <a:p>
            <a:r>
              <a:rPr lang="en-US" dirty="0"/>
              <a:t>Respecting intellectual property rights and copyrights.</a:t>
            </a:r>
          </a:p>
          <a:p>
            <a:r>
              <a:rPr lang="en-US" dirty="0"/>
              <a:t>Promoting responsible and ethical use of media for educational purposes.</a:t>
            </a:r>
          </a:p>
          <a:p>
            <a:pPr marL="0" indent="0">
              <a:buNone/>
            </a:pPr>
            <a:endParaRPr lang="en-GB" dirty="0"/>
          </a:p>
        </p:txBody>
      </p:sp>
    </p:spTree>
    <p:extLst>
      <p:ext uri="{BB962C8B-B14F-4D97-AF65-F5344CB8AC3E}">
        <p14:creationId xmlns:p14="http://schemas.microsoft.com/office/powerpoint/2010/main" val="1547179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Key Takeaways</a:t>
            </a:r>
          </a:p>
        </p:txBody>
      </p:sp>
      <p:sp>
        <p:nvSpPr>
          <p:cNvPr id="3" name="Content Placeholder 2"/>
          <p:cNvSpPr>
            <a:spLocks noGrp="1"/>
          </p:cNvSpPr>
          <p:nvPr>
            <p:ph idx="1"/>
          </p:nvPr>
        </p:nvSpPr>
        <p:spPr/>
        <p:txBody>
          <a:bodyPr>
            <a:normAutofit fontScale="92500"/>
          </a:bodyPr>
          <a:lstStyle/>
          <a:p>
            <a:r>
              <a:rPr lang="en-US" dirty="0"/>
              <a:t>Educational media is a diverse and essential tool for modern educators.</a:t>
            </a:r>
          </a:p>
          <a:p>
            <a:r>
              <a:rPr lang="en-US" dirty="0"/>
              <a:t>It enhances learning outcomes, engages students, and accommodates diverse learning styles.</a:t>
            </a:r>
          </a:p>
          <a:p>
            <a:r>
              <a:rPr lang="en-US" dirty="0"/>
              <a:t>Teachers play a crucial role in selecting, integrating, and evaluating educational media.</a:t>
            </a:r>
          </a:p>
          <a:p>
            <a:r>
              <a:rPr lang="en-US" dirty="0"/>
              <a:t>Visual and verbal presentations aid in learning abstract concepts.</a:t>
            </a:r>
          </a:p>
          <a:p>
            <a:r>
              <a:rPr lang="en-US" dirty="0"/>
              <a:t>Media caters to different learning styles (visual, auditory, kinesthetic).</a:t>
            </a:r>
          </a:p>
          <a:p>
            <a:r>
              <a:rPr lang="en-US" dirty="0"/>
              <a:t>Future trends in educational media include emerging technologies and innovative approaches.</a:t>
            </a:r>
          </a:p>
          <a:p>
            <a:r>
              <a:rPr lang="en-US" dirty="0"/>
              <a:t>Ethical considerations are important in the use of educational media.</a:t>
            </a:r>
            <a:endParaRPr lang="en-GB" dirty="0"/>
          </a:p>
        </p:txBody>
      </p:sp>
    </p:spTree>
    <p:extLst>
      <p:ext uri="{BB962C8B-B14F-4D97-AF65-F5344CB8AC3E}">
        <p14:creationId xmlns:p14="http://schemas.microsoft.com/office/powerpoint/2010/main" val="3617204863"/>
      </p:ext>
    </p:extLst>
  </p:cSld>
  <p:clrMapOvr>
    <a:masterClrMapping/>
  </p:clrMapOvr>
</p:sld>
</file>

<file path=ppt/theme/theme1.xml><?xml version="1.0" encoding="utf-8"?>
<a:theme xmlns:a="http://schemas.openxmlformats.org/drawingml/2006/main" name="View">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23C5FE65-18CC-4A65-9EBC-B05E331504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306</TotalTime>
  <Words>1038</Words>
  <Application>Microsoft Office PowerPoint</Application>
  <PresentationFormat>Widescreen</PresentationFormat>
  <Paragraphs>132</Paragraphs>
  <Slides>22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Century Schoolbook</vt:lpstr>
      <vt:lpstr>Wingdings 2</vt:lpstr>
      <vt:lpstr>View</vt:lpstr>
      <vt:lpstr> Lesson 8: Introduction to Educational Media </vt:lpstr>
      <vt:lpstr>Definition of Educational Media  </vt:lpstr>
      <vt:lpstr>Types of Educational Media</vt:lpstr>
      <vt:lpstr>Types of Educational Media</vt:lpstr>
      <vt:lpstr>Types of Educational Media</vt:lpstr>
      <vt:lpstr>Types of Educational Media</vt:lpstr>
      <vt:lpstr>Types of Educational Media</vt:lpstr>
      <vt:lpstr>Types of Educational Media</vt:lpstr>
      <vt:lpstr>Types of Educational Media</vt:lpstr>
      <vt:lpstr>Other forms of Educational Media</vt:lpstr>
      <vt:lpstr>Which forms of Media do you use most?</vt:lpstr>
      <vt:lpstr>PowerPoint Presentation</vt:lpstr>
      <vt:lpstr>Purpose of Educational Media</vt:lpstr>
      <vt:lpstr>Guiding Principles for Selecting Educational Media</vt:lpstr>
      <vt:lpstr>Role and Significance of Educational Media</vt:lpstr>
      <vt:lpstr>Role of Teachers in Using Educational Media</vt:lpstr>
      <vt:lpstr>Challenges in Using Educational Media</vt:lpstr>
      <vt:lpstr>Future Trends in Educational Media</vt:lpstr>
      <vt:lpstr>What are the impacts of educational media on learning?</vt:lpstr>
      <vt:lpstr>Impact of Educational Media on Learning Outcomes</vt:lpstr>
      <vt:lpstr>Ethical Considerations in Using Educational Media</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dc:creator>
  <cp:lastModifiedBy>DMungai</cp:lastModifiedBy>
  <cp:revision>66</cp:revision>
  <dcterms:created xsi:type="dcterms:W3CDTF">2024-03-19T02:39:38Z</dcterms:created>
  <dcterms:modified xsi:type="dcterms:W3CDTF">2024-08-29T08:02:10Z</dcterms:modified>
</cp:coreProperties>
</file>