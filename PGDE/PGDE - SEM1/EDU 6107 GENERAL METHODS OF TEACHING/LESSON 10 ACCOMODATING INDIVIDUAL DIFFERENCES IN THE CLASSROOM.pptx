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70" r:id="rId3"/>
    <p:sldId id="271" r:id="rId4"/>
    <p:sldId id="257" r:id="rId5"/>
    <p:sldId id="268" r:id="rId6"/>
    <p:sldId id="272" r:id="rId7"/>
    <p:sldId id="274" r:id="rId8"/>
    <p:sldId id="258" r:id="rId9"/>
    <p:sldId id="259" r:id="rId10"/>
    <p:sldId id="260" r:id="rId11"/>
    <p:sldId id="261" r:id="rId12"/>
    <p:sldId id="262" r:id="rId13"/>
    <p:sldId id="263" r:id="rId14"/>
    <p:sldId id="264" r:id="rId15"/>
    <p:sldId id="265" r:id="rId16"/>
    <p:sldId id="266" r:id="rId17"/>
    <p:sldId id="275"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880592-EF07-42FE-B718-121CB101D170}"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3A54701E-29FA-459A-999C-057BCC7A3D34}">
      <dgm:prSet/>
      <dgm:spPr/>
      <dgm:t>
        <a:bodyPr/>
        <a:lstStyle/>
        <a:p>
          <a:r>
            <a:rPr lang="en-US" b="0" i="0"/>
            <a:t>Some children may have needs you simply cannot meet in the regular classroom. </a:t>
          </a:r>
          <a:r>
            <a:rPr lang="en-US"/>
            <a:t>T</a:t>
          </a:r>
          <a:r>
            <a:rPr lang="en-US" b="0" i="0"/>
            <a:t>herefore, Educators should work with the school’s specialists to ensure skills are developed in other settings. </a:t>
          </a:r>
          <a:endParaRPr lang="en-US"/>
        </a:p>
      </dgm:t>
    </dgm:pt>
    <dgm:pt modelId="{01FF0A50-9000-4162-BDA8-0C5AF09030AE}" type="parTrans" cxnId="{29394BE0-7DA2-4B30-BAAF-E4E6639607EB}">
      <dgm:prSet/>
      <dgm:spPr/>
      <dgm:t>
        <a:bodyPr/>
        <a:lstStyle/>
        <a:p>
          <a:endParaRPr lang="en-US"/>
        </a:p>
      </dgm:t>
    </dgm:pt>
    <dgm:pt modelId="{8B4E2443-9268-4BE6-A086-DF60E927A5D0}" type="sibTrans" cxnId="{29394BE0-7DA2-4B30-BAAF-E4E6639607EB}">
      <dgm:prSet/>
      <dgm:spPr/>
      <dgm:t>
        <a:bodyPr/>
        <a:lstStyle/>
        <a:p>
          <a:endParaRPr lang="en-US"/>
        </a:p>
      </dgm:t>
    </dgm:pt>
    <dgm:pt modelId="{9A359467-C4A2-41A1-B7AD-3774BD9A7C6F}">
      <dgm:prSet/>
      <dgm:spPr/>
      <dgm:t>
        <a:bodyPr/>
        <a:lstStyle/>
        <a:p>
          <a:r>
            <a:rPr lang="en-US" b="0" i="0"/>
            <a:t>A student with a communication disorder might require intensive work with a speech language pathologist. </a:t>
          </a:r>
          <a:endParaRPr lang="en-US"/>
        </a:p>
      </dgm:t>
    </dgm:pt>
    <dgm:pt modelId="{60D40003-2AF9-4A99-8C78-F83F4A1199BE}" type="parTrans" cxnId="{B61EDD1C-42A1-4064-B40E-BA54C8AB7E36}">
      <dgm:prSet/>
      <dgm:spPr/>
      <dgm:t>
        <a:bodyPr/>
        <a:lstStyle/>
        <a:p>
          <a:endParaRPr lang="en-US"/>
        </a:p>
      </dgm:t>
    </dgm:pt>
    <dgm:pt modelId="{0A25C84B-A336-4394-82DA-D9398D43410B}" type="sibTrans" cxnId="{B61EDD1C-42A1-4064-B40E-BA54C8AB7E36}">
      <dgm:prSet/>
      <dgm:spPr/>
      <dgm:t>
        <a:bodyPr/>
        <a:lstStyle/>
        <a:p>
          <a:endParaRPr lang="en-US"/>
        </a:p>
      </dgm:t>
    </dgm:pt>
    <dgm:pt modelId="{B8352350-FB08-47C3-8DBC-CFFCE3BA9597}">
      <dgm:prSet/>
      <dgm:spPr/>
      <dgm:t>
        <a:bodyPr/>
        <a:lstStyle/>
        <a:p>
          <a:r>
            <a:rPr lang="en-US" b="0" i="0"/>
            <a:t>An extremely disruptive student may need to spend part of the day in a program set up for students with serious emotional disorders.</a:t>
          </a:r>
          <a:endParaRPr lang="en-US"/>
        </a:p>
      </dgm:t>
    </dgm:pt>
    <dgm:pt modelId="{83F56924-F5EF-4184-A767-07FEC37A7713}" type="parTrans" cxnId="{8040F001-4943-413E-8F74-BA917D4179D0}">
      <dgm:prSet/>
      <dgm:spPr/>
      <dgm:t>
        <a:bodyPr/>
        <a:lstStyle/>
        <a:p>
          <a:endParaRPr lang="en-US"/>
        </a:p>
      </dgm:t>
    </dgm:pt>
    <dgm:pt modelId="{0EC2906F-CBC9-47AE-8D22-92570ED4600F}" type="sibTrans" cxnId="{8040F001-4943-413E-8F74-BA917D4179D0}">
      <dgm:prSet/>
      <dgm:spPr/>
      <dgm:t>
        <a:bodyPr/>
        <a:lstStyle/>
        <a:p>
          <a:endParaRPr lang="en-US"/>
        </a:p>
      </dgm:t>
    </dgm:pt>
    <dgm:pt modelId="{6DE2454C-921C-4AA8-AECC-8103FFC52F59}" type="pres">
      <dgm:prSet presAssocID="{64880592-EF07-42FE-B718-121CB101D170}" presName="linear" presStyleCnt="0">
        <dgm:presLayoutVars>
          <dgm:animLvl val="lvl"/>
          <dgm:resizeHandles val="exact"/>
        </dgm:presLayoutVars>
      </dgm:prSet>
      <dgm:spPr/>
    </dgm:pt>
    <dgm:pt modelId="{02C09ED3-C760-48F9-816F-17ED1EC18525}" type="pres">
      <dgm:prSet presAssocID="{3A54701E-29FA-459A-999C-057BCC7A3D34}" presName="parentText" presStyleLbl="node1" presStyleIdx="0" presStyleCnt="3">
        <dgm:presLayoutVars>
          <dgm:chMax val="0"/>
          <dgm:bulletEnabled val="1"/>
        </dgm:presLayoutVars>
      </dgm:prSet>
      <dgm:spPr/>
    </dgm:pt>
    <dgm:pt modelId="{6A3213B8-6FE0-4097-8D94-EC67AEF094DB}" type="pres">
      <dgm:prSet presAssocID="{8B4E2443-9268-4BE6-A086-DF60E927A5D0}" presName="spacer" presStyleCnt="0"/>
      <dgm:spPr/>
    </dgm:pt>
    <dgm:pt modelId="{DCF2E9FC-E2B6-421B-9300-AE3000E89A3D}" type="pres">
      <dgm:prSet presAssocID="{9A359467-C4A2-41A1-B7AD-3774BD9A7C6F}" presName="parentText" presStyleLbl="node1" presStyleIdx="1" presStyleCnt="3">
        <dgm:presLayoutVars>
          <dgm:chMax val="0"/>
          <dgm:bulletEnabled val="1"/>
        </dgm:presLayoutVars>
      </dgm:prSet>
      <dgm:spPr/>
    </dgm:pt>
    <dgm:pt modelId="{AEA2F370-A0B3-4D35-BC93-2070D3836481}" type="pres">
      <dgm:prSet presAssocID="{0A25C84B-A336-4394-82DA-D9398D43410B}" presName="spacer" presStyleCnt="0"/>
      <dgm:spPr/>
    </dgm:pt>
    <dgm:pt modelId="{400C44F3-DA56-4F53-8007-2B72DAA2D5FB}" type="pres">
      <dgm:prSet presAssocID="{B8352350-FB08-47C3-8DBC-CFFCE3BA9597}" presName="parentText" presStyleLbl="node1" presStyleIdx="2" presStyleCnt="3">
        <dgm:presLayoutVars>
          <dgm:chMax val="0"/>
          <dgm:bulletEnabled val="1"/>
        </dgm:presLayoutVars>
      </dgm:prSet>
      <dgm:spPr/>
    </dgm:pt>
  </dgm:ptLst>
  <dgm:cxnLst>
    <dgm:cxn modelId="{8040F001-4943-413E-8F74-BA917D4179D0}" srcId="{64880592-EF07-42FE-B718-121CB101D170}" destId="{B8352350-FB08-47C3-8DBC-CFFCE3BA9597}" srcOrd="2" destOrd="0" parTransId="{83F56924-F5EF-4184-A767-07FEC37A7713}" sibTransId="{0EC2906F-CBC9-47AE-8D22-92570ED4600F}"/>
    <dgm:cxn modelId="{BB7B8A09-77C4-4C6C-8742-4361E08502A5}" type="presOf" srcId="{3A54701E-29FA-459A-999C-057BCC7A3D34}" destId="{02C09ED3-C760-48F9-816F-17ED1EC18525}" srcOrd="0" destOrd="0" presId="urn:microsoft.com/office/officeart/2005/8/layout/vList2"/>
    <dgm:cxn modelId="{B61EDD1C-42A1-4064-B40E-BA54C8AB7E36}" srcId="{64880592-EF07-42FE-B718-121CB101D170}" destId="{9A359467-C4A2-41A1-B7AD-3774BD9A7C6F}" srcOrd="1" destOrd="0" parTransId="{60D40003-2AF9-4A99-8C78-F83F4A1199BE}" sibTransId="{0A25C84B-A336-4394-82DA-D9398D43410B}"/>
    <dgm:cxn modelId="{71A59C9D-14C4-48DA-B337-6FAB38B0D876}" type="presOf" srcId="{9A359467-C4A2-41A1-B7AD-3774BD9A7C6F}" destId="{DCF2E9FC-E2B6-421B-9300-AE3000E89A3D}" srcOrd="0" destOrd="0" presId="urn:microsoft.com/office/officeart/2005/8/layout/vList2"/>
    <dgm:cxn modelId="{9B322CB4-A022-4C9C-A8F5-5F6D3099A342}" type="presOf" srcId="{B8352350-FB08-47C3-8DBC-CFFCE3BA9597}" destId="{400C44F3-DA56-4F53-8007-2B72DAA2D5FB}" srcOrd="0" destOrd="0" presId="urn:microsoft.com/office/officeart/2005/8/layout/vList2"/>
    <dgm:cxn modelId="{29394BE0-7DA2-4B30-BAAF-E4E6639607EB}" srcId="{64880592-EF07-42FE-B718-121CB101D170}" destId="{3A54701E-29FA-459A-999C-057BCC7A3D34}" srcOrd="0" destOrd="0" parTransId="{01FF0A50-9000-4162-BDA8-0C5AF09030AE}" sibTransId="{8B4E2443-9268-4BE6-A086-DF60E927A5D0}"/>
    <dgm:cxn modelId="{EDCE33EF-1D46-4326-94CC-66A9ABB583D3}" type="presOf" srcId="{64880592-EF07-42FE-B718-121CB101D170}" destId="{6DE2454C-921C-4AA8-AECC-8103FFC52F59}" srcOrd="0" destOrd="0" presId="urn:microsoft.com/office/officeart/2005/8/layout/vList2"/>
    <dgm:cxn modelId="{BF740F73-3802-440B-B7BD-B6304A8B2E8A}" type="presParOf" srcId="{6DE2454C-921C-4AA8-AECC-8103FFC52F59}" destId="{02C09ED3-C760-48F9-816F-17ED1EC18525}" srcOrd="0" destOrd="0" presId="urn:microsoft.com/office/officeart/2005/8/layout/vList2"/>
    <dgm:cxn modelId="{CA1EEE3C-71CC-4C27-BC59-06EB4779CE7D}" type="presParOf" srcId="{6DE2454C-921C-4AA8-AECC-8103FFC52F59}" destId="{6A3213B8-6FE0-4097-8D94-EC67AEF094DB}" srcOrd="1" destOrd="0" presId="urn:microsoft.com/office/officeart/2005/8/layout/vList2"/>
    <dgm:cxn modelId="{0337874F-45DB-48FF-A08A-2CE96E03FE27}" type="presParOf" srcId="{6DE2454C-921C-4AA8-AECC-8103FFC52F59}" destId="{DCF2E9FC-E2B6-421B-9300-AE3000E89A3D}" srcOrd="2" destOrd="0" presId="urn:microsoft.com/office/officeart/2005/8/layout/vList2"/>
    <dgm:cxn modelId="{85A6DFCE-A470-48FB-AFCE-6E035A45C460}" type="presParOf" srcId="{6DE2454C-921C-4AA8-AECC-8103FFC52F59}" destId="{AEA2F370-A0B3-4D35-BC93-2070D3836481}" srcOrd="3" destOrd="0" presId="urn:microsoft.com/office/officeart/2005/8/layout/vList2"/>
    <dgm:cxn modelId="{F17D5D3D-D80D-4392-86E4-BA41FF346A88}" type="presParOf" srcId="{6DE2454C-921C-4AA8-AECC-8103FFC52F59}" destId="{400C44F3-DA56-4F53-8007-2B72DAA2D5F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C09ED3-C760-48F9-816F-17ED1EC18525}">
      <dsp:nvSpPr>
        <dsp:cNvPr id="0" name=""/>
        <dsp:cNvSpPr/>
      </dsp:nvSpPr>
      <dsp:spPr>
        <a:xfrm>
          <a:off x="0" y="84570"/>
          <a:ext cx="8987404" cy="1123200"/>
        </a:xfrm>
        <a:prstGeom prst="round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Some children may have needs you simply cannot meet in the regular classroom. </a:t>
          </a:r>
          <a:r>
            <a:rPr lang="en-US" sz="2000" kern="1200"/>
            <a:t>T</a:t>
          </a:r>
          <a:r>
            <a:rPr lang="en-US" sz="2000" b="0" i="0" kern="1200"/>
            <a:t>herefore, Educators should work with the school’s specialists to ensure skills are developed in other settings. </a:t>
          </a:r>
          <a:endParaRPr lang="en-US" sz="2000" kern="1200"/>
        </a:p>
      </dsp:txBody>
      <dsp:txXfrm>
        <a:off x="54830" y="139400"/>
        <a:ext cx="8877744" cy="1013540"/>
      </dsp:txXfrm>
    </dsp:sp>
    <dsp:sp modelId="{DCF2E9FC-E2B6-421B-9300-AE3000E89A3D}">
      <dsp:nvSpPr>
        <dsp:cNvPr id="0" name=""/>
        <dsp:cNvSpPr/>
      </dsp:nvSpPr>
      <dsp:spPr>
        <a:xfrm>
          <a:off x="0" y="1265370"/>
          <a:ext cx="8987404" cy="1123200"/>
        </a:xfrm>
        <a:prstGeom prst="roundRect">
          <a:avLst/>
        </a:prstGeom>
        <a:gradFill rotWithShape="0">
          <a:gsLst>
            <a:gs pos="0">
              <a:schemeClr val="accent5">
                <a:hueOff val="2404066"/>
                <a:satOff val="-4882"/>
                <a:lumOff val="3137"/>
                <a:alphaOff val="0"/>
                <a:tint val="96000"/>
                <a:lumMod val="104000"/>
              </a:schemeClr>
            </a:gs>
            <a:gs pos="100000">
              <a:schemeClr val="accent5">
                <a:hueOff val="2404066"/>
                <a:satOff val="-4882"/>
                <a:lumOff val="3137"/>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A student with a communication disorder might require intensive work with a speech language pathologist. </a:t>
          </a:r>
          <a:endParaRPr lang="en-US" sz="2000" kern="1200"/>
        </a:p>
      </dsp:txBody>
      <dsp:txXfrm>
        <a:off x="54830" y="1320200"/>
        <a:ext cx="8877744" cy="1013540"/>
      </dsp:txXfrm>
    </dsp:sp>
    <dsp:sp modelId="{400C44F3-DA56-4F53-8007-2B72DAA2D5FB}">
      <dsp:nvSpPr>
        <dsp:cNvPr id="0" name=""/>
        <dsp:cNvSpPr/>
      </dsp:nvSpPr>
      <dsp:spPr>
        <a:xfrm>
          <a:off x="0" y="2446170"/>
          <a:ext cx="8987404" cy="1123200"/>
        </a:xfrm>
        <a:prstGeom prst="roundRect">
          <a:avLst/>
        </a:prstGeom>
        <a:gradFill rotWithShape="0">
          <a:gsLst>
            <a:gs pos="0">
              <a:schemeClr val="accent5">
                <a:hueOff val="4808133"/>
                <a:satOff val="-9764"/>
                <a:lumOff val="6275"/>
                <a:alphaOff val="0"/>
                <a:tint val="96000"/>
                <a:lumMod val="104000"/>
              </a:schemeClr>
            </a:gs>
            <a:gs pos="100000">
              <a:schemeClr val="accent5">
                <a:hueOff val="4808133"/>
                <a:satOff val="-9764"/>
                <a:lumOff val="6275"/>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An extremely disruptive student may need to spend part of the day in a program set up for students with serious emotional disorders.</a:t>
          </a:r>
          <a:endParaRPr lang="en-US" sz="2000" kern="1200"/>
        </a:p>
      </dsp:txBody>
      <dsp:txXfrm>
        <a:off x="54830" y="2501000"/>
        <a:ext cx="8877744" cy="10135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47B80B-333C-452E-9753-B88891187803}" type="datetimeFigureOut">
              <a:rPr lang="en-US" smtClean="0"/>
              <a:t>8/29/2024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69AE2B-35F2-44B8-A770-6CE201C43306}" type="slidenum">
              <a:rPr lang="en-US" smtClean="0"/>
              <a:t>‹#›</a:t>
            </a:fld>
            <a:endParaRPr lang="en-US"/>
          </a:p>
        </p:txBody>
      </p:sp>
    </p:spTree>
    <p:extLst>
      <p:ext uri="{BB962C8B-B14F-4D97-AF65-F5344CB8AC3E}">
        <p14:creationId xmlns:p14="http://schemas.microsoft.com/office/powerpoint/2010/main" val="2253389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F16B91-4936-4AD2-B860-4FA7CDBD5A0C}" type="datetimeFigureOut">
              <a:rPr lang="en-US" smtClean="0"/>
              <a:t>8/29/2024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602004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F16B91-4936-4AD2-B860-4FA7CDBD5A0C}" type="datetimeFigureOut">
              <a:rPr lang="en-US" smtClean="0"/>
              <a:t>8/29/2024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2477519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16B91-4936-4AD2-B860-4FA7CDBD5A0C}" type="datetimeFigureOut">
              <a:rPr lang="en-US" smtClean="0"/>
              <a:t>8/29/2024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990227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F16B91-4936-4AD2-B860-4FA7CDBD5A0C}" type="datetimeFigureOut">
              <a:rPr lang="en-US" smtClean="0"/>
              <a:t>8/29/2024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6362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F16B91-4936-4AD2-B860-4FA7CDBD5A0C}" type="datetimeFigureOut">
              <a:rPr lang="en-US" smtClean="0"/>
              <a:t>8/29/2024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2123535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F16B91-4936-4AD2-B860-4FA7CDBD5A0C}" type="datetimeFigureOut">
              <a:rPr lang="en-US" smtClean="0"/>
              <a:t>8/29/2024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987800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F16B91-4936-4AD2-B860-4FA7CDBD5A0C}" type="datetimeFigureOut">
              <a:rPr lang="en-US" smtClean="0"/>
              <a:t>8/29/2024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291480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F16B91-4936-4AD2-B860-4FA7CDBD5A0C}" type="datetimeFigureOut">
              <a:rPr lang="en-US" smtClean="0"/>
              <a:t>8/29/2024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812204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F16B91-4936-4AD2-B860-4FA7CDBD5A0C}" type="datetimeFigureOut">
              <a:rPr lang="en-US" smtClean="0"/>
              <a:t>8/29/2024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1332722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16B91-4936-4AD2-B860-4FA7CDBD5A0C}" type="datetimeFigureOut">
              <a:rPr lang="en-US" smtClean="0"/>
              <a:t>8/29/2024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451785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16B91-4936-4AD2-B860-4FA7CDBD5A0C}" type="datetimeFigureOut">
              <a:rPr lang="en-US" smtClean="0"/>
              <a:t>8/29/2024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F2C4E4-05CE-42B9-AF74-4DB2C5D1D11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90680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F16B91-4936-4AD2-B860-4FA7CDBD5A0C}" type="datetimeFigureOut">
              <a:rPr lang="en-US" smtClean="0"/>
              <a:t>8/29/2024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15649613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F16B91-4936-4AD2-B860-4FA7CDBD5A0C}" type="datetimeFigureOut">
              <a:rPr lang="en-US" smtClean="0"/>
              <a:t>8/29/2024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F2C4E4-05CE-42B9-AF74-4DB2C5D1D11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378812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F16B91-4936-4AD2-B860-4FA7CDBD5A0C}" type="datetimeFigureOut">
              <a:rPr lang="en-US" smtClean="0"/>
              <a:t>8/29/2024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24663105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F16B91-4936-4AD2-B860-4FA7CDBD5A0C}" type="datetimeFigureOut">
              <a:rPr lang="en-US" smtClean="0"/>
              <a:t>8/29/2024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1505861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F16B91-4936-4AD2-B860-4FA7CDBD5A0C}" type="datetimeFigureOut">
              <a:rPr lang="en-US" smtClean="0"/>
              <a:t>8/29/2024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F2C4E4-05CE-42B9-AF74-4DB2C5D1D11D}" type="slidenum">
              <a:rPr lang="en-US" smtClean="0"/>
              <a:t>‹#›</a:t>
            </a:fld>
            <a:endParaRPr lang="en-US"/>
          </a:p>
        </p:txBody>
      </p:sp>
    </p:spTree>
    <p:extLst>
      <p:ext uri="{BB962C8B-B14F-4D97-AF65-F5344CB8AC3E}">
        <p14:creationId xmlns:p14="http://schemas.microsoft.com/office/powerpoint/2010/main" val="1074105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2F16B91-4936-4AD2-B860-4FA7CDBD5A0C}" type="datetimeFigureOut">
              <a:rPr lang="en-US" smtClean="0"/>
              <a:t>8/29/2024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DF2C4E4-05CE-42B9-AF74-4DB2C5D1D11D}" type="slidenum">
              <a:rPr lang="en-US" smtClean="0"/>
              <a:t>‹#›</a:t>
            </a:fld>
            <a:endParaRPr lang="en-US"/>
          </a:p>
        </p:txBody>
      </p:sp>
    </p:spTree>
    <p:extLst>
      <p:ext uri="{BB962C8B-B14F-4D97-AF65-F5344CB8AC3E}">
        <p14:creationId xmlns:p14="http://schemas.microsoft.com/office/powerpoint/2010/main" val="13107522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hyperlink" Target="https://www.theguardian.com/teacher-network/2017/sep/28/how-can-teachers-support-vulnerable-children-at-school" TargetMode="External"/><Relationship Id="rId2" Type="http://schemas.openxmlformats.org/officeDocument/2006/relationships/hyperlink" Target="https://www.edupstairs.org/how-schools-can-identify-and-support-vulnerable-learners/" TargetMode="External"/><Relationship Id="rId1" Type="http://schemas.openxmlformats.org/officeDocument/2006/relationships/slideLayout" Target="../slideLayouts/slideLayout2.xml"/><Relationship Id="rId5" Type="http://schemas.openxmlformats.org/officeDocument/2006/relationships/hyperlink" Target="https://sites.google.com/a/pacificu.edu/holocaustunitworksample/accomodating-individual-differences" TargetMode="External"/><Relationship Id="rId4" Type="http://schemas.openxmlformats.org/officeDocument/2006/relationships/hyperlink" Target="http://studylecturenotes.com/effective-ways-for-educators-dealing-with-individual-difference/#:~:text=Effective%20ways%20for%20Educators%20Dealing%20with%20Individual%20Difference,Instruction%20...%205%205.%20Grouping%20of%20Learners%2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B7623-C6FB-30ED-62F7-C4BD1439688C}"/>
              </a:ext>
            </a:extLst>
          </p:cNvPr>
          <p:cNvSpPr>
            <a:spLocks noGrp="1"/>
          </p:cNvSpPr>
          <p:nvPr>
            <p:ph type="ctrTitle"/>
          </p:nvPr>
        </p:nvSpPr>
        <p:spPr>
          <a:xfrm>
            <a:off x="979947" y="2465882"/>
            <a:ext cx="10755443" cy="1926235"/>
          </a:xfrm>
        </p:spPr>
        <p:txBody>
          <a:bodyPr>
            <a:noAutofit/>
          </a:bodyPr>
          <a:lstStyle/>
          <a:p>
            <a:pPr algn="ct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TOPIC 10: ACCOMMODATING INDIVIDUAL DIFFERENCES AND SUPPORTING VULNERABLE LEARNERS</a:t>
            </a:r>
          </a:p>
        </p:txBody>
      </p:sp>
    </p:spTree>
    <p:extLst>
      <p:ext uri="{BB962C8B-B14F-4D97-AF65-F5344CB8AC3E}">
        <p14:creationId xmlns:p14="http://schemas.microsoft.com/office/powerpoint/2010/main" val="2518901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03B2D-432D-6601-C61D-31CBBAEF10D8}"/>
              </a:ext>
            </a:extLst>
          </p:cNvPr>
          <p:cNvSpPr>
            <a:spLocks noGrp="1"/>
          </p:cNvSpPr>
          <p:nvPr>
            <p:ph type="title"/>
          </p:nvPr>
        </p:nvSpPr>
        <p:spPr>
          <a:xfrm>
            <a:off x="2589212" y="519178"/>
            <a:ext cx="8911687" cy="739995"/>
          </a:xfrm>
        </p:spPr>
        <p:txBody>
          <a:bodyPr>
            <a:normAutofit fontScale="90000"/>
          </a:bodyPr>
          <a:lstStyle/>
          <a:p>
            <a:r>
              <a:rPr lang="en-US" sz="3600" b="1" dirty="0">
                <a:latin typeface="Times New Roman" panose="02020603050405020304" pitchFamily="18" charset="0"/>
                <a:cs typeface="Times New Roman" panose="02020603050405020304" pitchFamily="18" charset="0"/>
              </a:rPr>
              <a:t>Individual differences </a:t>
            </a:r>
            <a:br>
              <a:rPr lang="en-US" sz="3600" b="1"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DD0C5BB-F340-6AFB-0BB0-1B0CC1F430A9}"/>
              </a:ext>
            </a:extLst>
          </p:cNvPr>
          <p:cNvSpPr>
            <a:spLocks noGrp="1"/>
          </p:cNvSpPr>
          <p:nvPr>
            <p:ph idx="1"/>
          </p:nvPr>
        </p:nvSpPr>
        <p:spPr>
          <a:xfrm>
            <a:off x="2589212" y="1588958"/>
            <a:ext cx="8964422" cy="4452079"/>
          </a:xfrm>
        </p:spPr>
        <p:txBody>
          <a:bodyPr>
            <a:no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Individual differences can be defined as personal characteristics that distinguish learners from each other in the teaching and learning processes. </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Learners are unique individuals who bring a critical set of variables to each learning situation, including delicate traits as indicators of their potential and the history of achievement as signs of previous accomplishments and predictors of future performance.</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There are several individual differences that affect performance and attitudes of learners during teaching and learning. </a:t>
            </a:r>
          </a:p>
        </p:txBody>
      </p:sp>
    </p:spTree>
    <p:extLst>
      <p:ext uri="{BB962C8B-B14F-4D97-AF65-F5344CB8AC3E}">
        <p14:creationId xmlns:p14="http://schemas.microsoft.com/office/powerpoint/2010/main" val="171450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BEAA3-AB5F-562C-E60E-1588F9D98144}"/>
              </a:ext>
            </a:extLst>
          </p:cNvPr>
          <p:cNvSpPr>
            <a:spLocks noGrp="1"/>
          </p:cNvSpPr>
          <p:nvPr>
            <p:ph type="title"/>
          </p:nvPr>
        </p:nvSpPr>
        <p:spPr>
          <a:xfrm>
            <a:off x="2592925" y="594130"/>
            <a:ext cx="8911687" cy="867411"/>
          </a:xfrm>
        </p:spPr>
        <p:txBody>
          <a:bodyPr/>
          <a:lstStyle/>
          <a:p>
            <a:r>
              <a:rPr lang="en-US" sz="3600" b="1" dirty="0">
                <a:latin typeface="Times New Roman" panose="02020603050405020304" pitchFamily="18" charset="0"/>
                <a:cs typeface="Times New Roman" panose="02020603050405020304" pitchFamily="18" charset="0"/>
              </a:rPr>
              <a:t>Individual differences </a:t>
            </a:r>
            <a:r>
              <a:rPr lang="en-US" sz="3600" b="1" dirty="0" err="1">
                <a:latin typeface="Times New Roman" panose="02020603050405020304" pitchFamily="18" charset="0"/>
                <a:cs typeface="Times New Roman" panose="02020603050405020304" pitchFamily="18" charset="0"/>
              </a:rPr>
              <a:t>cont</a:t>
            </a:r>
            <a:r>
              <a:rPr lang="en-US" sz="3600" b="1"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427F70A3-1D1E-E6E4-5A47-DA71C505408F}"/>
              </a:ext>
            </a:extLst>
          </p:cNvPr>
          <p:cNvSpPr>
            <a:spLocks noGrp="1"/>
          </p:cNvSpPr>
          <p:nvPr>
            <p:ph idx="1"/>
          </p:nvPr>
        </p:nvSpPr>
        <p:spPr>
          <a:xfrm>
            <a:off x="2589212" y="1686393"/>
            <a:ext cx="8915400" cy="4224829"/>
          </a:xfrm>
        </p:spPr>
        <p:txBody>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The most common differences of learners are gender, age, intelligence, ability, interest, prior knowledge, learning style, motivation, locus of control, self-efficacy, </a:t>
            </a:r>
            <a:r>
              <a:rPr lang="en-US" sz="2400" i="0" dirty="0">
                <a:solidFill>
                  <a:srgbClr val="202124"/>
                </a:solidFill>
                <a:effectLst/>
                <a:latin typeface="Times New Roman" panose="02020603050405020304" pitchFamily="18" charset="0"/>
                <a:cs typeface="Times New Roman" panose="02020603050405020304" pitchFamily="18" charset="0"/>
              </a:rPr>
              <a:t>physical mental abilities, knowledge, habit, personality, character traits, </a:t>
            </a:r>
            <a:r>
              <a:rPr lang="en-US" sz="2400" b="0" i="0" dirty="0">
                <a:solidFill>
                  <a:srgbClr val="333333"/>
                </a:solidFill>
                <a:effectLst/>
                <a:latin typeface="Times New Roman" panose="02020603050405020304" pitchFamily="18" charset="0"/>
                <a:cs typeface="Times New Roman" panose="02020603050405020304" pitchFamily="18" charset="0"/>
              </a:rPr>
              <a:t>and epistemological beliefs.</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An effective and productive learning-teaching process can be planned by considering these individual differences of the students. </a:t>
            </a: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r>
              <a:rPr lang="en-US" sz="2400" i="0" dirty="0">
                <a:solidFill>
                  <a:srgbClr val="202124"/>
                </a:solidFill>
                <a:effectLst/>
                <a:latin typeface="Times New Roman" panose="02020603050405020304" pitchFamily="18" charset="0"/>
                <a:cs typeface="Times New Roman" panose="02020603050405020304" pitchFamily="18" charset="0"/>
              </a:rPr>
              <a:t>The first task of every teacher in a class should be to know and study individual differences among his students.</a:t>
            </a:r>
          </a:p>
          <a:p>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86633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CF5F9-82BE-F5BF-E0E2-7AAB36C4B398}"/>
              </a:ext>
            </a:extLst>
          </p:cNvPr>
          <p:cNvSpPr>
            <a:spLocks noGrp="1"/>
          </p:cNvSpPr>
          <p:nvPr>
            <p:ph type="title"/>
          </p:nvPr>
        </p:nvSpPr>
        <p:spPr>
          <a:xfrm>
            <a:off x="2592925" y="541664"/>
            <a:ext cx="8911687" cy="1032303"/>
          </a:xfrm>
        </p:spPr>
        <p:txBody>
          <a:bodyPr>
            <a:normAutofit/>
          </a:bodyPr>
          <a:lstStyle/>
          <a:p>
            <a:r>
              <a:rPr lang="en-US" sz="4400" b="1" dirty="0">
                <a:latin typeface="Times New Roman" panose="02020603050405020304" pitchFamily="18" charset="0"/>
                <a:cs typeface="Times New Roman" panose="02020603050405020304" pitchFamily="18" charset="0"/>
              </a:rPr>
              <a:t>Vulnerable learners </a:t>
            </a:r>
          </a:p>
        </p:txBody>
      </p:sp>
      <p:sp>
        <p:nvSpPr>
          <p:cNvPr id="3" name="Content Placeholder 2">
            <a:extLst>
              <a:ext uri="{FF2B5EF4-FFF2-40B4-BE49-F238E27FC236}">
                <a16:creationId xmlns:a16="http://schemas.microsoft.com/office/drawing/2014/main" id="{BEAA7AA1-AA6E-D3EB-926C-38CD7D9D1A9C}"/>
              </a:ext>
            </a:extLst>
          </p:cNvPr>
          <p:cNvSpPr>
            <a:spLocks noGrp="1"/>
          </p:cNvSpPr>
          <p:nvPr>
            <p:ph idx="1"/>
          </p:nvPr>
        </p:nvSpPr>
        <p:spPr>
          <a:xfrm>
            <a:off x="2592925" y="1656413"/>
            <a:ext cx="9084344" cy="4819338"/>
          </a:xfrm>
        </p:spPr>
        <p:txBody>
          <a:bodyPr>
            <a:noAutofit/>
          </a:bodyPr>
          <a:lstStyle/>
          <a:p>
            <a:pPr algn="just"/>
            <a:r>
              <a:rPr lang="en-US" sz="2400" i="0" dirty="0">
                <a:solidFill>
                  <a:srgbClr val="202124"/>
                </a:solidFill>
                <a:effectLst/>
                <a:latin typeface="Times New Roman" panose="02020603050405020304" pitchFamily="18" charset="0"/>
                <a:cs typeface="Times New Roman" panose="02020603050405020304" pitchFamily="18" charset="0"/>
              </a:rPr>
              <a:t>A vulnerable learner is </a:t>
            </a:r>
            <a:r>
              <a:rPr lang="en-US" sz="2400" dirty="0">
                <a:solidFill>
                  <a:srgbClr val="202124"/>
                </a:solidFill>
                <a:latin typeface="Times New Roman" panose="02020603050405020304" pitchFamily="18" charset="0"/>
                <a:cs typeface="Times New Roman" panose="02020603050405020304" pitchFamily="18" charset="0"/>
              </a:rPr>
              <a:t>an individual </a:t>
            </a:r>
            <a:r>
              <a:rPr lang="en-US" sz="2400" i="0" dirty="0">
                <a:solidFill>
                  <a:srgbClr val="202124"/>
                </a:solidFill>
                <a:effectLst/>
                <a:latin typeface="Times New Roman" panose="02020603050405020304" pitchFamily="18" charset="0"/>
                <a:cs typeface="Times New Roman" panose="02020603050405020304" pitchFamily="18" charset="0"/>
              </a:rPr>
              <a:t>who requires extra support with their education. They include; s</a:t>
            </a:r>
            <a:r>
              <a:rPr lang="en-US" sz="2400" i="0" dirty="0">
                <a:effectLst/>
                <a:latin typeface="Times New Roman" panose="02020603050405020304" pitchFamily="18" charset="0"/>
                <a:cs typeface="Times New Roman" panose="02020603050405020304" pitchFamily="18" charset="0"/>
              </a:rPr>
              <a:t>tudents with special educational needs and disabilities (SEND), those with either mental or physical health issues, young people with behavioural difficulties such as obsessive compulsive disorder (OCD) or emotional disturbance, or students who are in difficult circumstances (i.e. poverty, abuse </a:t>
            </a:r>
            <a:r>
              <a:rPr lang="en-US" sz="2400" i="0" dirty="0" err="1">
                <a:effectLst/>
                <a:latin typeface="Times New Roman" panose="02020603050405020304" pitchFamily="18" charset="0"/>
                <a:cs typeface="Times New Roman" panose="02020603050405020304" pitchFamily="18" charset="0"/>
              </a:rPr>
              <a:t>etc</a:t>
            </a:r>
            <a:r>
              <a:rPr lang="en-US" sz="2400" i="0" dirty="0">
                <a:effectLst/>
                <a:latin typeface="Times New Roman" panose="02020603050405020304" pitchFamily="18" charset="0"/>
                <a:cs typeface="Times New Roman" panose="02020603050405020304" pitchFamily="18" charset="0"/>
              </a:rPr>
              <a:t>).</a:t>
            </a:r>
          </a:p>
          <a:p>
            <a:pPr algn="just"/>
            <a:r>
              <a:rPr lang="en-US" sz="2400" i="0" dirty="0">
                <a:effectLst/>
                <a:latin typeface="Times New Roman" panose="02020603050405020304" pitchFamily="18" charset="0"/>
                <a:cs typeface="Times New Roman" panose="02020603050405020304" pitchFamily="18" charset="0"/>
              </a:rPr>
              <a:t>The vulnerable learners</a:t>
            </a:r>
            <a:r>
              <a:rPr lang="en-US" sz="2400" dirty="0">
                <a:latin typeface="Times New Roman" panose="02020603050405020304" pitchFamily="18" charset="0"/>
                <a:cs typeface="Times New Roman" panose="02020603050405020304" pitchFamily="18" charset="0"/>
              </a:rPr>
              <a:t> face barriers (physical, social) which may hinder or limit their learning. </a:t>
            </a:r>
          </a:p>
          <a:p>
            <a:pPr algn="just"/>
            <a:r>
              <a:rPr lang="en-US" sz="2400" i="0" dirty="0">
                <a:effectLst/>
                <a:latin typeface="Times New Roman" panose="02020603050405020304" pitchFamily="18" charset="0"/>
                <a:cs typeface="Times New Roman" panose="02020603050405020304" pitchFamily="18" charset="0"/>
              </a:rPr>
              <a:t>Some of these vulnerable situations may be long term or short team.</a:t>
            </a:r>
          </a:p>
          <a:p>
            <a:endParaRPr lang="en-US" sz="2400" i="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sz="2400" i="0" dirty="0">
              <a:solidFill>
                <a:srgbClr val="20212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7947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CF5F9-82BE-F5BF-E0E2-7AAB36C4B398}"/>
              </a:ext>
            </a:extLst>
          </p:cNvPr>
          <p:cNvSpPr>
            <a:spLocks noGrp="1"/>
          </p:cNvSpPr>
          <p:nvPr>
            <p:ph type="title"/>
          </p:nvPr>
        </p:nvSpPr>
        <p:spPr>
          <a:xfrm>
            <a:off x="2173574" y="511685"/>
            <a:ext cx="9496269" cy="1054788"/>
          </a:xfrm>
        </p:spPr>
        <p:txBody>
          <a:bodyPr>
            <a:noAutofit/>
          </a:bodyPr>
          <a:lstStyle/>
          <a:p>
            <a:pPr algn="l"/>
            <a:r>
              <a:rPr lang="en-US" sz="4000" b="1" i="0" dirty="0">
                <a:effectLst/>
                <a:latin typeface="Times New Roman" panose="02020603050405020304" pitchFamily="18" charset="0"/>
                <a:cs typeface="Times New Roman" panose="02020603050405020304" pitchFamily="18" charset="0"/>
              </a:rPr>
              <a:t>How can we support vulnerable learners?</a:t>
            </a:r>
            <a:br>
              <a:rPr lang="en-US" sz="4000" b="1" i="0" dirty="0">
                <a:effectLst/>
                <a:latin typeface="Times New Roman" panose="02020603050405020304" pitchFamily="18" charset="0"/>
                <a:cs typeface="Times New Roman" panose="02020603050405020304" pitchFamily="18" charset="0"/>
              </a:rPr>
            </a:br>
            <a:endParaRPr lang="en-US" sz="4000" b="1" i="0" dirty="0">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AA7AA1-AA6E-D3EB-926C-38CD7D9D1A9C}"/>
              </a:ext>
            </a:extLst>
          </p:cNvPr>
          <p:cNvSpPr>
            <a:spLocks noGrp="1"/>
          </p:cNvSpPr>
          <p:nvPr>
            <p:ph idx="1"/>
          </p:nvPr>
        </p:nvSpPr>
        <p:spPr>
          <a:xfrm>
            <a:off x="2300990" y="1566473"/>
            <a:ext cx="9368853" cy="4864307"/>
          </a:xfrm>
        </p:spPr>
        <p:txBody>
          <a:bodyPr>
            <a:noAutofit/>
          </a:bodyPr>
          <a:lstStyle/>
          <a:p>
            <a:pPr algn="just"/>
            <a:r>
              <a:rPr lang="en-US" sz="2400" i="0" dirty="0">
                <a:effectLst/>
                <a:latin typeface="Times New Roman" panose="02020603050405020304" pitchFamily="18" charset="0"/>
                <a:cs typeface="Times New Roman" panose="02020603050405020304" pitchFamily="18" charset="0"/>
              </a:rPr>
              <a:t>Every learner deserves a high-quality education, but some need additional support to achieve their true potential. </a:t>
            </a:r>
            <a:r>
              <a:rPr lang="en-US" sz="2400" dirty="0">
                <a:latin typeface="Times New Roman" panose="02020603050405020304" pitchFamily="18" charset="0"/>
                <a:cs typeface="Times New Roman" panose="02020603050405020304" pitchFamily="18" charset="0"/>
              </a:rPr>
              <a:t>T</a:t>
            </a:r>
            <a:r>
              <a:rPr lang="en-US" sz="2400" i="0" dirty="0">
                <a:effectLst/>
                <a:latin typeface="Times New Roman" panose="02020603050405020304" pitchFamily="18" charset="0"/>
                <a:cs typeface="Times New Roman" panose="02020603050405020304" pitchFamily="18" charset="0"/>
              </a:rPr>
              <a:t>herefore, we should  identify these students and demonstrate how we’re helping them to be the best versions of themselves.</a:t>
            </a:r>
          </a:p>
          <a:p>
            <a:pPr algn="just"/>
            <a:r>
              <a:rPr lang="en-US" sz="2400" b="0" i="0" dirty="0">
                <a:effectLst/>
                <a:latin typeface="Times New Roman" panose="02020603050405020304" pitchFamily="18" charset="0"/>
                <a:cs typeface="Times New Roman" panose="02020603050405020304" pitchFamily="18" charset="0"/>
              </a:rPr>
              <a:t>It is crucial that those who require additional support have access to it, especially if they are not able to attend school in person. </a:t>
            </a:r>
          </a:p>
          <a:p>
            <a:pPr algn="just"/>
            <a:r>
              <a:rPr lang="en-US" sz="2400" dirty="0">
                <a:latin typeface="Times New Roman" panose="02020603050405020304" pitchFamily="18" charset="0"/>
                <a:cs typeface="Times New Roman" panose="02020603050405020304" pitchFamily="18" charset="0"/>
              </a:rPr>
              <a:t>Educators</a:t>
            </a:r>
            <a:r>
              <a:rPr lang="en-US" sz="2400" b="0" i="0" dirty="0">
                <a:effectLst/>
                <a:latin typeface="Times New Roman" panose="02020603050405020304" pitchFamily="18" charset="0"/>
                <a:cs typeface="Times New Roman" panose="02020603050405020304" pitchFamily="18" charset="0"/>
              </a:rPr>
              <a:t> should be passionate about supporting students and schools in helping to deliver the best possible support, and ensure they are able to continue learning regardless of their situation</a:t>
            </a:r>
            <a:r>
              <a:rPr lang="en-US" sz="2400" b="0" i="0" dirty="0">
                <a:effectLst/>
                <a:latin typeface="ubuntu" panose="020B0504030602030204" pitchFamily="34" charset="0"/>
              </a:rPr>
              <a:t>.</a:t>
            </a:r>
          </a:p>
          <a:p>
            <a:pPr algn="just"/>
            <a:r>
              <a:rPr lang="en-US" sz="2400" dirty="0">
                <a:latin typeface="Times New Roman" panose="02020603050405020304" pitchFamily="18" charset="0"/>
                <a:cs typeface="Times New Roman" panose="02020603050405020304" pitchFamily="18" charset="0"/>
              </a:rPr>
              <a:t>The m</a:t>
            </a:r>
            <a:r>
              <a:rPr lang="en-US" sz="2400" b="0" i="0" dirty="0">
                <a:effectLst/>
                <a:latin typeface="Times New Roman" panose="02020603050405020304" pitchFamily="18" charset="0"/>
                <a:cs typeface="Times New Roman" panose="02020603050405020304" pitchFamily="18" charset="0"/>
              </a:rPr>
              <a:t>ost effective way to support the vulnerable students is through offering flexibility in the learning process.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77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CF5F9-82BE-F5BF-E0E2-7AAB36C4B398}"/>
              </a:ext>
            </a:extLst>
          </p:cNvPr>
          <p:cNvSpPr>
            <a:spLocks noGrp="1"/>
          </p:cNvSpPr>
          <p:nvPr>
            <p:ph type="title"/>
          </p:nvPr>
        </p:nvSpPr>
        <p:spPr>
          <a:xfrm>
            <a:off x="1551482" y="511684"/>
            <a:ext cx="10200807" cy="1277141"/>
          </a:xfrm>
        </p:spPr>
        <p:txBody>
          <a:bodyPr>
            <a:noAutofit/>
          </a:bodyPr>
          <a:lstStyle/>
          <a:p>
            <a:pPr algn="l"/>
            <a:r>
              <a:rPr lang="en-US" sz="4000" b="1" i="0" dirty="0">
                <a:effectLst/>
                <a:latin typeface="Times New Roman" panose="02020603050405020304" pitchFamily="18" charset="0"/>
                <a:cs typeface="Times New Roman" panose="02020603050405020304" pitchFamily="18" charset="0"/>
              </a:rPr>
              <a:t>How can we support vulnerable learners?</a:t>
            </a:r>
            <a:br>
              <a:rPr lang="en-US" sz="4000" b="1" i="0" dirty="0">
                <a:effectLst/>
                <a:latin typeface="Times New Roman" panose="02020603050405020304" pitchFamily="18" charset="0"/>
                <a:cs typeface="Times New Roman" panose="02020603050405020304" pitchFamily="18" charset="0"/>
              </a:rPr>
            </a:br>
            <a:r>
              <a:rPr lang="en-US" sz="4000" b="1" dirty="0" err="1">
                <a:latin typeface="Times New Roman" panose="02020603050405020304" pitchFamily="18" charset="0"/>
                <a:cs typeface="Times New Roman" panose="02020603050405020304" pitchFamily="18" charset="0"/>
              </a:rPr>
              <a:t>c</a:t>
            </a:r>
            <a:r>
              <a:rPr lang="en-US" sz="4000" b="1" i="0" dirty="0" err="1">
                <a:effectLst/>
                <a:latin typeface="Times New Roman" panose="02020603050405020304" pitchFamily="18" charset="0"/>
                <a:cs typeface="Times New Roman" panose="02020603050405020304" pitchFamily="18" charset="0"/>
              </a:rPr>
              <a:t>ont</a:t>
            </a:r>
            <a:r>
              <a:rPr lang="en-US" sz="4000" b="1" i="0" dirty="0">
                <a:effectLst/>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BEAA7AA1-AA6E-D3EB-926C-38CD7D9D1A9C}"/>
              </a:ext>
            </a:extLst>
          </p:cNvPr>
          <p:cNvSpPr>
            <a:spLocks noGrp="1"/>
          </p:cNvSpPr>
          <p:nvPr>
            <p:ph idx="1"/>
          </p:nvPr>
        </p:nvSpPr>
        <p:spPr>
          <a:xfrm>
            <a:off x="2585499" y="1901251"/>
            <a:ext cx="9084344" cy="4529529"/>
          </a:xfrm>
        </p:spPr>
        <p:txBody>
          <a:bodyPr>
            <a:noAutofit/>
          </a:bodyPr>
          <a:lstStyle/>
          <a:p>
            <a:pPr algn="just"/>
            <a:r>
              <a:rPr lang="en-US" sz="2400" dirty="0">
                <a:latin typeface="Times New Roman" panose="02020603050405020304" pitchFamily="18" charset="0"/>
                <a:cs typeface="Times New Roman" panose="02020603050405020304" pitchFamily="18" charset="0"/>
              </a:rPr>
              <a:t>A</a:t>
            </a:r>
            <a:r>
              <a:rPr lang="en-US" sz="2400" b="0" i="0" dirty="0">
                <a:effectLst/>
                <a:latin typeface="Times New Roman" panose="02020603050405020304" pitchFamily="18" charset="0"/>
                <a:cs typeface="Times New Roman" panose="02020603050405020304" pitchFamily="18" charset="0"/>
              </a:rPr>
              <a:t> flexible learning environment can help students remain engaged with their learning – without, most importantly, causing disruption to their routine. </a:t>
            </a:r>
          </a:p>
          <a:p>
            <a:pPr algn="just"/>
            <a:r>
              <a:rPr lang="en-US" sz="2400" b="0" i="0" dirty="0">
                <a:effectLst/>
                <a:latin typeface="Times New Roman" panose="02020603050405020304" pitchFamily="18" charset="0"/>
                <a:cs typeface="Times New Roman" panose="02020603050405020304" pitchFamily="18" charset="0"/>
              </a:rPr>
              <a:t>The variety of resources, interactive tools and support options mean that they have access to the best provision which suits their needs.</a:t>
            </a:r>
          </a:p>
          <a:p>
            <a:pPr algn="just"/>
            <a:r>
              <a:rPr lang="en-US" sz="2400" dirty="0">
                <a:latin typeface="Times New Roman" panose="02020603050405020304" pitchFamily="18" charset="0"/>
                <a:cs typeface="Times New Roman" panose="02020603050405020304" pitchFamily="18" charset="0"/>
              </a:rPr>
              <a:t>Educators should create a caring and a supportive class environment which is not only for learning but will also make it easy for vulnerable learners to approach the trainer about their problems.</a:t>
            </a:r>
          </a:p>
          <a:p>
            <a:pPr algn="just"/>
            <a:r>
              <a:rPr lang="en-US" sz="2400" dirty="0">
                <a:latin typeface="Times New Roman" panose="02020603050405020304" pitchFamily="18" charset="0"/>
                <a:cs typeface="Times New Roman" panose="02020603050405020304" pitchFamily="18" charset="0"/>
              </a:rPr>
              <a:t>Educators should always pay attention to the indicators on identifying vulnerable learners, screening and referral of vulnerable learners.</a:t>
            </a:r>
          </a:p>
        </p:txBody>
      </p:sp>
    </p:spTree>
    <p:extLst>
      <p:ext uri="{BB962C8B-B14F-4D97-AF65-F5344CB8AC3E}">
        <p14:creationId xmlns:p14="http://schemas.microsoft.com/office/powerpoint/2010/main" val="2434098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CF5F9-82BE-F5BF-E0E2-7AAB36C4B398}"/>
              </a:ext>
            </a:extLst>
          </p:cNvPr>
          <p:cNvSpPr>
            <a:spLocks noGrp="1"/>
          </p:cNvSpPr>
          <p:nvPr>
            <p:ph type="title"/>
          </p:nvPr>
        </p:nvSpPr>
        <p:spPr>
          <a:xfrm>
            <a:off x="1214202" y="294328"/>
            <a:ext cx="10740453" cy="702518"/>
          </a:xfrm>
        </p:spPr>
        <p:txBody>
          <a:bodyPr>
            <a:noAutofit/>
          </a:bodyPr>
          <a:lstStyle/>
          <a:p>
            <a:pPr algn="l"/>
            <a:r>
              <a:rPr lang="en-US" sz="4000" b="1" i="0" dirty="0">
                <a:effectLst/>
                <a:latin typeface="Times New Roman" panose="02020603050405020304" pitchFamily="18" charset="0"/>
                <a:cs typeface="Times New Roman" panose="02020603050405020304" pitchFamily="18" charset="0"/>
              </a:rPr>
              <a:t>How can we support vulnerable </a:t>
            </a:r>
            <a:r>
              <a:rPr lang="en-US" sz="4000" b="1" i="0" dirty="0" err="1">
                <a:effectLst/>
                <a:latin typeface="Times New Roman" panose="02020603050405020304" pitchFamily="18" charset="0"/>
                <a:cs typeface="Times New Roman" panose="02020603050405020304" pitchFamily="18" charset="0"/>
              </a:rPr>
              <a:t>learners?cont</a:t>
            </a:r>
            <a:r>
              <a:rPr lang="en-US" sz="4000" b="1" i="0" dirty="0">
                <a:effectLst/>
                <a:latin typeface="Times New Roman" panose="02020603050405020304" pitchFamily="18" charset="0"/>
                <a:cs typeface="Times New Roman" panose="02020603050405020304" pitchFamily="18" charset="0"/>
              </a:rPr>
              <a:t>…</a:t>
            </a:r>
            <a:br>
              <a:rPr lang="en-US" sz="4000" b="1" i="0" dirty="0">
                <a:effectLst/>
                <a:latin typeface="Times New Roman" panose="02020603050405020304" pitchFamily="18" charset="0"/>
                <a:cs typeface="Times New Roman" panose="02020603050405020304" pitchFamily="18" charset="0"/>
              </a:rPr>
            </a:br>
            <a:endParaRPr lang="en-US" sz="4000" b="1" i="0" dirty="0">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AA7AA1-AA6E-D3EB-926C-38CD7D9D1A9C}"/>
              </a:ext>
            </a:extLst>
          </p:cNvPr>
          <p:cNvSpPr>
            <a:spLocks noGrp="1"/>
          </p:cNvSpPr>
          <p:nvPr>
            <p:ph idx="1"/>
          </p:nvPr>
        </p:nvSpPr>
        <p:spPr>
          <a:xfrm>
            <a:off x="1896256" y="1356611"/>
            <a:ext cx="9773587" cy="5074170"/>
          </a:xfrm>
        </p:spPr>
        <p:txBody>
          <a:bodyPr>
            <a:noAutofit/>
          </a:bodyPr>
          <a:lstStyle/>
          <a:p>
            <a:pPr algn="just"/>
            <a:r>
              <a:rPr lang="en-US" sz="2400" dirty="0">
                <a:latin typeface="Times New Roman" panose="02020603050405020304" pitchFamily="18" charset="0"/>
                <a:cs typeface="Times New Roman" panose="02020603050405020304" pitchFamily="18" charset="0"/>
              </a:rPr>
              <a:t>Educators should teach learners to report abuse or violence observed against other learners, support other learners who may be facing some challenges, and encourage the students not to bully others.</a:t>
            </a:r>
          </a:p>
          <a:p>
            <a:pPr algn="just"/>
            <a:r>
              <a:rPr lang="en-US" sz="2400" dirty="0">
                <a:latin typeface="Times New Roman" panose="02020603050405020304" pitchFamily="18" charset="0"/>
                <a:cs typeface="Times New Roman" panose="02020603050405020304" pitchFamily="18" charset="0"/>
              </a:rPr>
              <a:t>Educators should always follow up  and continuously monitor vulnerable learners by checking in with them and their referrals resource. </a:t>
            </a:r>
          </a:p>
          <a:p>
            <a:pPr algn="just"/>
            <a:r>
              <a:rPr lang="en-US" sz="2400" dirty="0">
                <a:latin typeface="Times New Roman" panose="02020603050405020304" pitchFamily="18" charset="0"/>
                <a:cs typeface="Times New Roman" panose="02020603050405020304" pitchFamily="18" charset="0"/>
              </a:rPr>
              <a:t>Educators should encourage learners to participate in co-curricular activities such as peer education, sports etc.</a:t>
            </a:r>
          </a:p>
          <a:p>
            <a:pPr algn="just"/>
            <a:r>
              <a:rPr lang="en-US" sz="2400" dirty="0">
                <a:latin typeface="Times New Roman" panose="02020603050405020304" pitchFamily="18" charset="0"/>
                <a:cs typeface="Times New Roman" panose="02020603050405020304" pitchFamily="18" charset="0"/>
              </a:rPr>
              <a:t>Educators should show empathy to vulnerable students instead of judging them and attempt to talk to the students alone to maintain privacy.</a:t>
            </a:r>
          </a:p>
          <a:p>
            <a:pPr algn="just"/>
            <a:r>
              <a:rPr lang="en-US" sz="2400" dirty="0">
                <a:latin typeface="Times New Roman" panose="02020603050405020304" pitchFamily="18" charset="0"/>
                <a:cs typeface="Times New Roman" panose="02020603050405020304" pitchFamily="18" charset="0"/>
              </a:rPr>
              <a:t>Educators should also ensure they use teaching methods and strategies that offer support and cater for learners with different abilities.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6280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AE14A-CB3F-E6BB-1725-FD692FF53FCB}"/>
              </a:ext>
            </a:extLst>
          </p:cNvPr>
          <p:cNvSpPr>
            <a:spLocks noGrp="1"/>
          </p:cNvSpPr>
          <p:nvPr>
            <p:ph type="title"/>
          </p:nvPr>
        </p:nvSpPr>
        <p:spPr>
          <a:xfrm>
            <a:off x="950627" y="97436"/>
            <a:ext cx="10515600" cy="1469036"/>
          </a:xfrm>
        </p:spPr>
        <p:txBody>
          <a:bodyPr>
            <a:normAutofit fontScale="90000"/>
          </a:bodyPr>
          <a:lstStyle/>
          <a:p>
            <a:br>
              <a:rPr lang="en-US" b="1" i="0" dirty="0">
                <a:effectLst/>
                <a:latin typeface="Times New Roman" panose="02020603050405020304" pitchFamily="18" charset="0"/>
                <a:cs typeface="Times New Roman" panose="02020603050405020304" pitchFamily="18" charset="0"/>
              </a:rPr>
            </a:br>
            <a:r>
              <a:rPr lang="en-US" b="1" i="0" dirty="0">
                <a:effectLst/>
                <a:latin typeface="Times New Roman" panose="02020603050405020304" pitchFamily="18" charset="0"/>
                <a:cs typeface="Times New Roman" panose="02020603050405020304" pitchFamily="18" charset="0"/>
              </a:rPr>
              <a:t>Effective teaching strategies that mind individual differences</a:t>
            </a:r>
            <a:br>
              <a:rPr lang="en-US" b="1" i="0" dirty="0">
                <a:effectLst/>
                <a:latin typeface="-apple-system"/>
              </a:rPr>
            </a:br>
            <a:endParaRPr lang="en-US" dirty="0"/>
          </a:p>
        </p:txBody>
      </p:sp>
      <p:sp>
        <p:nvSpPr>
          <p:cNvPr id="3" name="Content Placeholder 2">
            <a:extLst>
              <a:ext uri="{FF2B5EF4-FFF2-40B4-BE49-F238E27FC236}">
                <a16:creationId xmlns:a16="http://schemas.microsoft.com/office/drawing/2014/main" id="{98760CD1-AC74-5C1F-386D-1DA5B407C7B7}"/>
              </a:ext>
            </a:extLst>
          </p:cNvPr>
          <p:cNvSpPr>
            <a:spLocks noGrp="1"/>
          </p:cNvSpPr>
          <p:nvPr>
            <p:ph idx="1"/>
          </p:nvPr>
        </p:nvSpPr>
        <p:spPr>
          <a:xfrm>
            <a:off x="838200" y="2008681"/>
            <a:ext cx="10515600" cy="4168281"/>
          </a:xfrm>
        </p:spPr>
        <p:txBody>
          <a:bodyPr>
            <a:normAutofit/>
          </a:bodyPr>
          <a:lstStyle/>
          <a:p>
            <a:pPr algn="just"/>
            <a:r>
              <a:rPr lang="en-US" sz="2400" b="0" dirty="0">
                <a:effectLst/>
                <a:latin typeface="Times New Roman" panose="02020603050405020304" pitchFamily="18" charset="0"/>
                <a:cs typeface="Times New Roman" panose="02020603050405020304" pitchFamily="18" charset="0"/>
              </a:rPr>
              <a:t>All students are capable learners despite their individual differences.</a:t>
            </a:r>
          </a:p>
          <a:p>
            <a:pPr algn="just"/>
            <a:r>
              <a:rPr lang="en-US" sz="2400" b="0" dirty="0">
                <a:effectLst/>
                <a:latin typeface="Times New Roman" panose="02020603050405020304" pitchFamily="18" charset="0"/>
                <a:cs typeface="Times New Roman" panose="02020603050405020304" pitchFamily="18" charset="0"/>
              </a:rPr>
              <a:t>Therefore</a:t>
            </a:r>
            <a:r>
              <a:rPr lang="en-US" sz="2400" dirty="0">
                <a:latin typeface="Times New Roman" panose="02020603050405020304" pitchFamily="18" charset="0"/>
                <a:cs typeface="Times New Roman" panose="02020603050405020304" pitchFamily="18" charset="0"/>
              </a:rPr>
              <a:t>, educators</a:t>
            </a:r>
            <a:r>
              <a:rPr lang="en-US" sz="2400" b="0" dirty="0">
                <a:effectLst/>
                <a:latin typeface="Times New Roman" panose="02020603050405020304" pitchFamily="18" charset="0"/>
                <a:cs typeface="Times New Roman" panose="02020603050405020304" pitchFamily="18" charset="0"/>
              </a:rPr>
              <a:t> must demonstrate that all students are expected to fully participate in all activities. </a:t>
            </a:r>
          </a:p>
          <a:p>
            <a:pPr algn="just"/>
            <a:r>
              <a:rPr lang="en-US" sz="2400" b="0" dirty="0">
                <a:effectLst/>
                <a:latin typeface="Times New Roman" panose="02020603050405020304" pitchFamily="18" charset="0"/>
                <a:cs typeface="Times New Roman" panose="02020603050405020304" pitchFamily="18" charset="0"/>
              </a:rPr>
              <a:t>Sometimes educators will want to offer options for students to choose from, but everyone should be involved in the learning process.</a:t>
            </a:r>
          </a:p>
          <a:p>
            <a:pPr algn="just"/>
            <a:r>
              <a:rPr lang="en-US" sz="2400" b="0" dirty="0">
                <a:effectLst/>
                <a:latin typeface="Times New Roman" panose="02020603050405020304" pitchFamily="18" charset="0"/>
                <a:cs typeface="Times New Roman" panose="02020603050405020304" pitchFamily="18" charset="0"/>
              </a:rPr>
              <a:t>To ensure that every student is involved in the learning process, Educators should adopt some creative teaching strategies to teach students with different needs in the ways they learn best.</a:t>
            </a:r>
          </a:p>
          <a:p>
            <a:pPr algn="just"/>
            <a:r>
              <a:rPr lang="en-US" sz="2400" b="0" dirty="0">
                <a:effectLst/>
                <a:latin typeface="Times New Roman" panose="02020603050405020304" pitchFamily="18" charset="0"/>
                <a:cs typeface="Times New Roman" panose="02020603050405020304" pitchFamily="18" charset="0"/>
              </a:rPr>
              <a:t> These teaching strategies include: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4100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A29BA-3B06-C1E9-A17B-43493BA98751}"/>
              </a:ext>
            </a:extLst>
          </p:cNvPr>
          <p:cNvSpPr>
            <a:spLocks noGrp="1"/>
          </p:cNvSpPr>
          <p:nvPr>
            <p:ph type="title"/>
          </p:nvPr>
        </p:nvSpPr>
        <p:spPr>
          <a:xfrm>
            <a:off x="2592925" y="624110"/>
            <a:ext cx="8911687" cy="904887"/>
          </a:xfrm>
        </p:spPr>
        <p:txBody>
          <a:bodyPr/>
          <a:lstStyle/>
          <a:p>
            <a:r>
              <a:rPr lang="en-US" b="1" i="0" dirty="0">
                <a:effectLst/>
                <a:latin typeface="Times New Roman" panose="02020603050405020304" pitchFamily="18" charset="0"/>
                <a:cs typeface="Times New Roman" panose="02020603050405020304" pitchFamily="18" charset="0"/>
              </a:rPr>
              <a:t>1. Differentiate instruction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85D8C7-4A50-2171-4A16-AEE64C429E01}"/>
              </a:ext>
            </a:extLst>
          </p:cNvPr>
          <p:cNvSpPr>
            <a:spLocks noGrp="1"/>
          </p:cNvSpPr>
          <p:nvPr>
            <p:ph idx="1"/>
          </p:nvPr>
        </p:nvSpPr>
        <p:spPr>
          <a:xfrm>
            <a:off x="2608288" y="1708879"/>
            <a:ext cx="8896323" cy="4202343"/>
          </a:xfrm>
        </p:spPr>
        <p:txBody>
          <a:bodyPr>
            <a:normAutofit fontScale="92500" lnSpcReduction="20000"/>
          </a:bodyPr>
          <a:lstStyle/>
          <a:p>
            <a:pPr algn="just"/>
            <a:r>
              <a:rPr lang="en-US" sz="2400" b="0" i="0" dirty="0">
                <a:effectLst/>
                <a:latin typeface="Times New Roman" panose="02020603050405020304" pitchFamily="18" charset="0"/>
                <a:cs typeface="Times New Roman" panose="02020603050405020304" pitchFamily="18" charset="0"/>
              </a:rPr>
              <a:t>It’s important to recognize that “fairness” in education doesn’t mean that all students are taught in the exact same way. Instead. it means accounting for the needs of individual students and adjusting the curriculum accordingly. </a:t>
            </a:r>
          </a:p>
          <a:p>
            <a:pPr algn="just"/>
            <a:r>
              <a:rPr lang="en-US" sz="2400" b="0" i="0" dirty="0">
                <a:effectLst/>
                <a:latin typeface="Times New Roman" panose="02020603050405020304" pitchFamily="18" charset="0"/>
                <a:cs typeface="Times New Roman" panose="02020603050405020304" pitchFamily="18" charset="0"/>
              </a:rPr>
              <a:t>Differentiation allows you to provide individualized instruction by changing the pace, level, or style of teaching to engage student strengths and interests. </a:t>
            </a:r>
          </a:p>
          <a:p>
            <a:pPr algn="just"/>
            <a:r>
              <a:rPr lang="en-US" sz="2400" b="0" i="0" dirty="0">
                <a:effectLst/>
                <a:latin typeface="Times New Roman" panose="02020603050405020304" pitchFamily="18" charset="0"/>
                <a:cs typeface="Times New Roman" panose="02020603050405020304" pitchFamily="18" charset="0"/>
              </a:rPr>
              <a:t>Students with mental health and learning disorders are not the only children who benefit from this instructional philosophy—all students in your classroom can achieve at higher levels when you </a:t>
            </a:r>
            <a:r>
              <a:rPr lang="en-US" sz="2400" dirty="0">
                <a:latin typeface="Times New Roman" panose="02020603050405020304" pitchFamily="18" charset="0"/>
                <a:cs typeface="Times New Roman" panose="02020603050405020304" pitchFamily="18" charset="0"/>
              </a:rPr>
              <a:t>are </a:t>
            </a:r>
            <a:r>
              <a:rPr lang="en-US" sz="2400" b="0" i="0" dirty="0">
                <a:effectLst/>
                <a:latin typeface="Times New Roman" panose="02020603050405020304" pitchFamily="18" charset="0"/>
                <a:cs typeface="Times New Roman" panose="02020603050405020304" pitchFamily="18" charset="0"/>
              </a:rPr>
              <a:t>providing instruction  that fits how they learn best. </a:t>
            </a:r>
          </a:p>
          <a:p>
            <a:pPr algn="just"/>
            <a:r>
              <a:rPr lang="en-US" sz="2400" b="0" i="0" dirty="0">
                <a:effectLst/>
                <a:latin typeface="Times New Roman" panose="02020603050405020304" pitchFamily="18" charset="0"/>
                <a:cs typeface="Times New Roman" panose="02020603050405020304" pitchFamily="18" charset="0"/>
              </a:rPr>
              <a:t>Differentiating instruction includes, when appropriate, reducing assignments or extending deadlines to accommodate a child’s  abilities.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456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1C79-17C1-36F6-9827-5C6FAEE52D52}"/>
              </a:ext>
            </a:extLst>
          </p:cNvPr>
          <p:cNvSpPr>
            <a:spLocks noGrp="1"/>
          </p:cNvSpPr>
          <p:nvPr>
            <p:ph type="title"/>
          </p:nvPr>
        </p:nvSpPr>
        <p:spPr>
          <a:xfrm>
            <a:off x="2592925" y="624110"/>
            <a:ext cx="8911687" cy="934867"/>
          </a:xfrm>
        </p:spPr>
        <p:txBody>
          <a:bodyPr/>
          <a:lstStyle/>
          <a:p>
            <a:r>
              <a:rPr lang="en-US" b="1" i="0" dirty="0">
                <a:effectLst/>
                <a:latin typeface="Times New Roman" panose="02020603050405020304" pitchFamily="18" charset="0"/>
                <a:cs typeface="Times New Roman" panose="02020603050405020304" pitchFamily="18" charset="0"/>
              </a:rPr>
              <a:t>2. Capitalize on learning styles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151370-81E2-6AF5-1AB9-0C763582ED5B}"/>
              </a:ext>
            </a:extLst>
          </p:cNvPr>
          <p:cNvSpPr>
            <a:spLocks noGrp="1"/>
          </p:cNvSpPr>
          <p:nvPr>
            <p:ph idx="1"/>
          </p:nvPr>
        </p:nvSpPr>
        <p:spPr>
          <a:xfrm>
            <a:off x="2589212" y="1708879"/>
            <a:ext cx="8915400" cy="4691921"/>
          </a:xfrm>
        </p:spPr>
        <p:txBody>
          <a:bodyPr>
            <a:noAutofit/>
          </a:bodyPr>
          <a:lstStyle/>
          <a:p>
            <a:pPr algn="just"/>
            <a:r>
              <a:rPr lang="en-US" sz="2400" b="0" dirty="0">
                <a:effectLst/>
                <a:latin typeface="Times New Roman" panose="02020603050405020304" pitchFamily="18" charset="0"/>
                <a:cs typeface="Times New Roman" panose="02020603050405020304" pitchFamily="18" charset="0"/>
              </a:rPr>
              <a:t>Students learn in different ways. </a:t>
            </a:r>
          </a:p>
          <a:p>
            <a:pPr algn="just"/>
            <a:r>
              <a:rPr lang="en-US" sz="2400" b="0" dirty="0">
                <a:effectLst/>
                <a:latin typeface="Times New Roman" panose="02020603050405020304" pitchFamily="18" charset="0"/>
                <a:cs typeface="Times New Roman" panose="02020603050405020304" pitchFamily="18" charset="0"/>
              </a:rPr>
              <a:t>Visual learners learn most effectively from visual information, while auditory learners learn best from verbal or audio presentations. </a:t>
            </a:r>
          </a:p>
          <a:p>
            <a:pPr algn="just"/>
            <a:r>
              <a:rPr lang="en-US" sz="2400" b="0" dirty="0">
                <a:effectLst/>
                <a:latin typeface="Times New Roman" panose="02020603050405020304" pitchFamily="18" charset="0"/>
                <a:cs typeface="Times New Roman" panose="02020603050405020304" pitchFamily="18" charset="0"/>
              </a:rPr>
              <a:t>Tactile-kinesthetic learners do well when touching or moving in some way as they take in information (experiential learning). </a:t>
            </a:r>
          </a:p>
          <a:p>
            <a:pPr algn="just"/>
            <a:r>
              <a:rPr lang="en-US" sz="2400" b="0" dirty="0">
                <a:effectLst/>
                <a:latin typeface="Times New Roman" panose="02020603050405020304" pitchFamily="18" charset="0"/>
                <a:cs typeface="Times New Roman" panose="02020603050405020304" pitchFamily="18" charset="0"/>
              </a:rPr>
              <a:t>While students can often learn to some degree in all these different ways, many excel in one area so that instruction based on a particular style is much more effective than that of another. </a:t>
            </a:r>
          </a:p>
          <a:p>
            <a:pPr algn="just"/>
            <a:r>
              <a:rPr lang="en-US" sz="2400" b="0" dirty="0">
                <a:effectLst/>
                <a:latin typeface="Times New Roman" panose="02020603050405020304" pitchFamily="18" charset="0"/>
                <a:cs typeface="Times New Roman" panose="02020603050405020304" pitchFamily="18" charset="0"/>
              </a:rPr>
              <a:t>Deficits in one or more areas of learning can be particularly common in students with learning disabilities.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7725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A77C9-2D55-E0D7-867A-E4EC4390D9EE}"/>
              </a:ext>
            </a:extLst>
          </p:cNvPr>
          <p:cNvSpPr>
            <a:spLocks noGrp="1"/>
          </p:cNvSpPr>
          <p:nvPr>
            <p:ph type="title"/>
          </p:nvPr>
        </p:nvSpPr>
        <p:spPr>
          <a:xfrm>
            <a:off x="2589212" y="429238"/>
            <a:ext cx="8911687" cy="1280890"/>
          </a:xfrm>
        </p:spPr>
        <p:txBody>
          <a:bodyPr/>
          <a:lstStyle/>
          <a:p>
            <a:r>
              <a:rPr lang="en-US" b="1" i="0" dirty="0">
                <a:effectLst/>
                <a:latin typeface="Times New Roman" panose="02020603050405020304" pitchFamily="18" charset="0"/>
                <a:cs typeface="Times New Roman" panose="02020603050405020304" pitchFamily="18" charset="0"/>
              </a:rPr>
              <a:t>3. Incorporate multiple intelligences into curriculum.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571077-1B19-0705-95FC-5CD406B94E9D}"/>
              </a:ext>
            </a:extLst>
          </p:cNvPr>
          <p:cNvSpPr>
            <a:spLocks noGrp="1"/>
          </p:cNvSpPr>
          <p:nvPr>
            <p:ph idx="1"/>
          </p:nvPr>
        </p:nvSpPr>
        <p:spPr>
          <a:xfrm>
            <a:off x="2589212" y="2133599"/>
            <a:ext cx="8915400" cy="4132289"/>
          </a:xfrm>
        </p:spPr>
        <p:txBody>
          <a:bodyPr>
            <a:noAutofit/>
          </a:bodyPr>
          <a:lstStyle/>
          <a:p>
            <a:pPr algn="just"/>
            <a:r>
              <a:rPr lang="en-US" sz="2400" b="0" i="0" dirty="0">
                <a:effectLst/>
                <a:latin typeface="Times New Roman" panose="02020603050405020304" pitchFamily="18" charset="0"/>
                <a:cs typeface="Times New Roman" panose="02020603050405020304" pitchFamily="18" charset="0"/>
              </a:rPr>
              <a:t>Students often have areas of learning in which they are particularly strong. </a:t>
            </a:r>
          </a:p>
          <a:p>
            <a:pPr algn="just"/>
            <a:r>
              <a:rPr lang="en-US" sz="2400" b="0" i="0" dirty="0">
                <a:effectLst/>
                <a:latin typeface="Times New Roman" panose="02020603050405020304" pitchFamily="18" charset="0"/>
                <a:cs typeface="Times New Roman" panose="02020603050405020304" pitchFamily="18" charset="0"/>
              </a:rPr>
              <a:t>These learning strengths can be engaged to help students succeed in the classroom and reach their full potential. </a:t>
            </a:r>
          </a:p>
          <a:p>
            <a:pPr algn="just"/>
            <a:r>
              <a:rPr lang="en-US" sz="2400" b="0" i="0" dirty="0">
                <a:effectLst/>
                <a:latin typeface="Times New Roman" panose="02020603050405020304" pitchFamily="18" charset="0"/>
                <a:cs typeface="Times New Roman" panose="02020603050405020304" pitchFamily="18" charset="0"/>
              </a:rPr>
              <a:t>The multiple intelligences are a framework of strengths outlined by Harvard psychologist Howard Gardner. They are linguistic, logical-mathematical, visual- spatial, musical-</a:t>
            </a:r>
            <a:r>
              <a:rPr lang="en-US" sz="2400" b="0" i="0" dirty="0" err="1">
                <a:effectLst/>
                <a:latin typeface="Times New Roman" panose="02020603050405020304" pitchFamily="18" charset="0"/>
                <a:cs typeface="Times New Roman" panose="02020603050405020304" pitchFamily="18" charset="0"/>
              </a:rPr>
              <a:t>rythmic</a:t>
            </a:r>
            <a:r>
              <a:rPr lang="en-US" sz="2400" b="0" i="0" dirty="0">
                <a:effectLst/>
                <a:latin typeface="Times New Roman" panose="02020603050405020304" pitchFamily="18" charset="0"/>
                <a:cs typeface="Times New Roman" panose="02020603050405020304" pitchFamily="18" charset="0"/>
              </a:rPr>
              <a:t>, bodily-kinesthetic, interpersonal, intrapersonal, and naturalist. Most students have strengths in one or two of these areas.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1427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BA538-115A-E9F7-1B53-F47BAE0EEFE5}"/>
              </a:ext>
            </a:extLst>
          </p:cNvPr>
          <p:cNvSpPr>
            <a:spLocks noGrp="1"/>
          </p:cNvSpPr>
          <p:nvPr>
            <p:ph type="title"/>
          </p:nvPr>
        </p:nvSpPr>
        <p:spPr/>
        <p:txBody>
          <a:bodyPr/>
          <a:lstStyle/>
          <a:p>
            <a:r>
              <a:rPr lang="en-US" b="1" i="0" dirty="0">
                <a:effectLst/>
                <a:latin typeface="Times New Roman" panose="02020603050405020304" pitchFamily="18" charset="0"/>
                <a:cs typeface="Times New Roman" panose="02020603050405020304" pitchFamily="18" charset="0"/>
              </a:rPr>
              <a:t>4. Capitalize on student interests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3565D3-F875-0C5D-3B4B-41EA3C447297}"/>
              </a:ext>
            </a:extLst>
          </p:cNvPr>
          <p:cNvSpPr>
            <a:spLocks noGrp="1"/>
          </p:cNvSpPr>
          <p:nvPr>
            <p:ph idx="1"/>
          </p:nvPr>
        </p:nvSpPr>
        <p:spPr>
          <a:xfrm>
            <a:off x="2589212" y="1905000"/>
            <a:ext cx="8915400" cy="4106056"/>
          </a:xfrm>
        </p:spPr>
        <p:txBody>
          <a:bodyPr>
            <a:noAutofit/>
          </a:bodyPr>
          <a:lstStyle/>
          <a:p>
            <a:pPr algn="just"/>
            <a:r>
              <a:rPr lang="en-US" sz="2800" b="0" i="0" dirty="0">
                <a:effectLst/>
                <a:latin typeface="Times New Roman" panose="02020603050405020304" pitchFamily="18" charset="0"/>
                <a:cs typeface="Times New Roman" panose="02020603050405020304" pitchFamily="18" charset="0"/>
              </a:rPr>
              <a:t>One of the best ways to motivate students is to incorporate their interests into the curriculum. </a:t>
            </a:r>
          </a:p>
          <a:p>
            <a:pPr algn="just"/>
            <a:r>
              <a:rPr lang="en-US" sz="2800" b="0" i="0" dirty="0">
                <a:effectLst/>
                <a:latin typeface="Times New Roman" panose="02020603050405020304" pitchFamily="18" charset="0"/>
                <a:cs typeface="Times New Roman" panose="02020603050405020304" pitchFamily="18" charset="0"/>
              </a:rPr>
              <a:t>As much as possible, teachers should allow students to choose the topics they’ll report on in a paper or project. </a:t>
            </a:r>
          </a:p>
          <a:p>
            <a:pPr algn="just"/>
            <a:r>
              <a:rPr lang="en-US" sz="2800" b="0" i="0" dirty="0">
                <a:effectLst/>
                <a:latin typeface="Times New Roman" panose="02020603050405020304" pitchFamily="18" charset="0"/>
                <a:cs typeface="Times New Roman" panose="02020603050405020304" pitchFamily="18" charset="0"/>
              </a:rPr>
              <a:t>Also look to include interests in other smaller ways—such as in math word problems. </a:t>
            </a:r>
          </a:p>
          <a:p>
            <a:pPr algn="just"/>
            <a:r>
              <a:rPr lang="en-US" sz="2800" b="0" i="0" dirty="0">
                <a:effectLst/>
                <a:latin typeface="Times New Roman" panose="02020603050405020304" pitchFamily="18" charset="0"/>
                <a:cs typeface="Times New Roman" panose="02020603050405020304" pitchFamily="18" charset="0"/>
              </a:rPr>
              <a:t>Tying learning to interests is a potentially powerful way to reinforce core curriculum concepts.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947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D706F-B40F-B2FE-3E9E-9DC58F0E3796}"/>
              </a:ext>
            </a:extLst>
          </p:cNvPr>
          <p:cNvSpPr>
            <a:spLocks noGrp="1"/>
          </p:cNvSpPr>
          <p:nvPr>
            <p:ph type="title"/>
          </p:nvPr>
        </p:nvSpPr>
        <p:spPr>
          <a:xfrm>
            <a:off x="2592925" y="624110"/>
            <a:ext cx="8911687" cy="942362"/>
          </a:xfrm>
        </p:spPr>
        <p:txBody>
          <a:bodyPr/>
          <a:lstStyle/>
          <a:p>
            <a:r>
              <a:rPr lang="en-US" b="1" i="0" dirty="0">
                <a:effectLst/>
                <a:latin typeface="Times New Roman" panose="02020603050405020304" pitchFamily="18" charset="0"/>
                <a:cs typeface="Times New Roman" panose="02020603050405020304" pitchFamily="18" charset="0"/>
              </a:rPr>
              <a:t>5. Involve students in educational goals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4DF48A-3A43-A534-408B-9CDAF18859D8}"/>
              </a:ext>
            </a:extLst>
          </p:cNvPr>
          <p:cNvSpPr>
            <a:spLocks noGrp="1"/>
          </p:cNvSpPr>
          <p:nvPr>
            <p:ph idx="1"/>
          </p:nvPr>
        </p:nvSpPr>
        <p:spPr>
          <a:xfrm>
            <a:off x="2589212" y="1806315"/>
            <a:ext cx="8915400" cy="4104907"/>
          </a:xfrm>
        </p:spPr>
        <p:txBody>
          <a:bodyPr>
            <a:normAutofit/>
          </a:bodyPr>
          <a:lstStyle/>
          <a:p>
            <a:pPr algn="just"/>
            <a:r>
              <a:rPr lang="en-US" sz="2400" b="0" i="0" dirty="0">
                <a:effectLst/>
                <a:latin typeface="Times New Roman" panose="02020603050405020304" pitchFamily="18" charset="0"/>
                <a:cs typeface="Times New Roman" panose="02020603050405020304" pitchFamily="18" charset="0"/>
              </a:rPr>
              <a:t>Students perform best when they feel they are active participants, as opposed to passive subjects, in learning. </a:t>
            </a:r>
          </a:p>
          <a:p>
            <a:pPr algn="just"/>
            <a:r>
              <a:rPr lang="en-US" sz="2400" dirty="0">
                <a:latin typeface="Times New Roman" panose="02020603050405020304" pitchFamily="18" charset="0"/>
                <a:cs typeface="Times New Roman" panose="02020603050405020304" pitchFamily="18" charset="0"/>
              </a:rPr>
              <a:t>Educators should t</a:t>
            </a:r>
            <a:r>
              <a:rPr lang="en-US" sz="2400" b="0" i="0" dirty="0">
                <a:effectLst/>
                <a:latin typeface="Times New Roman" panose="02020603050405020304" pitchFamily="18" charset="0"/>
                <a:cs typeface="Times New Roman" panose="02020603050405020304" pitchFamily="18" charset="0"/>
              </a:rPr>
              <a:t>ry to involve students in creating goals related to learning activities. </a:t>
            </a:r>
          </a:p>
          <a:p>
            <a:pPr algn="just"/>
            <a:r>
              <a:rPr lang="en-US" sz="2400" b="0" i="0" dirty="0">
                <a:effectLst/>
                <a:latin typeface="Times New Roman" panose="02020603050405020304" pitchFamily="18" charset="0"/>
                <a:cs typeface="Times New Roman" panose="02020603050405020304" pitchFamily="18" charset="0"/>
              </a:rPr>
              <a:t>Students with mental health and learning disorders may have a negative attitude toward schoolwork so incentives are required at the outset. Your goal as a trainer ultimately should be to have students genuinely engaged in learning so that rewards become less important.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6280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DD04C-93AC-6D8D-4026-BBF2721701B1}"/>
              </a:ext>
            </a:extLst>
          </p:cNvPr>
          <p:cNvSpPr>
            <a:spLocks noGrp="1"/>
          </p:cNvSpPr>
          <p:nvPr>
            <p:ph type="title"/>
          </p:nvPr>
        </p:nvSpPr>
        <p:spPr/>
        <p:txBody>
          <a:bodyPr/>
          <a:lstStyle/>
          <a:p>
            <a:r>
              <a:rPr lang="en-US" b="1" i="0" dirty="0">
                <a:effectLst/>
                <a:latin typeface="Times New Roman" panose="02020603050405020304" pitchFamily="18" charset="0"/>
                <a:cs typeface="Times New Roman" panose="02020603050405020304" pitchFamily="18" charset="0"/>
              </a:rPr>
              <a:t>6. Use computerized instruction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B33712-8597-A7EE-51FE-EC9506EF7FD4}"/>
              </a:ext>
            </a:extLst>
          </p:cNvPr>
          <p:cNvSpPr>
            <a:spLocks noGrp="1"/>
          </p:cNvSpPr>
          <p:nvPr>
            <p:ph idx="1"/>
          </p:nvPr>
        </p:nvSpPr>
        <p:spPr>
          <a:xfrm>
            <a:off x="2589212" y="1761344"/>
            <a:ext cx="8915400" cy="4149878"/>
          </a:xfrm>
        </p:spPr>
        <p:txBody>
          <a:bodyPr>
            <a:noAutofit/>
          </a:bodyPr>
          <a:lstStyle/>
          <a:p>
            <a:pPr algn="just"/>
            <a:r>
              <a:rPr lang="en-US" sz="2800" b="0" i="0" dirty="0">
                <a:effectLst/>
                <a:latin typeface="Times New Roman" panose="02020603050405020304" pitchFamily="18" charset="0"/>
                <a:cs typeface="Times New Roman" panose="02020603050405020304" pitchFamily="18" charset="0"/>
              </a:rPr>
              <a:t>Most students enjoy working with computers, which can stimulate their interest in schoolwork. </a:t>
            </a:r>
          </a:p>
          <a:p>
            <a:pPr algn="just"/>
            <a:r>
              <a:rPr lang="en-US" sz="2800" b="0" i="0" dirty="0">
                <a:effectLst/>
                <a:latin typeface="Times New Roman" panose="02020603050405020304" pitchFamily="18" charset="0"/>
                <a:cs typeface="Times New Roman" panose="02020603050405020304" pitchFamily="18" charset="0"/>
              </a:rPr>
              <a:t>A wide assortment of available programs from reading instruction to voice recognition software makes computerized instruction very relevant in helping students with special needs. </a:t>
            </a:r>
          </a:p>
          <a:p>
            <a:pPr algn="just"/>
            <a:r>
              <a:rPr lang="en-US" sz="2800" b="0" i="0" dirty="0">
                <a:effectLst/>
                <a:latin typeface="Times New Roman" panose="02020603050405020304" pitchFamily="18" charset="0"/>
                <a:cs typeface="Times New Roman" panose="02020603050405020304" pitchFamily="18" charset="0"/>
              </a:rPr>
              <a:t>Activities and games that incorporate material from content themes can reinforce concepts for visual and tactile learners.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093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8B7B9-418C-3F2E-D00F-277889C186A2}"/>
              </a:ext>
            </a:extLst>
          </p:cNvPr>
          <p:cNvSpPr>
            <a:spLocks noGrp="1"/>
          </p:cNvSpPr>
          <p:nvPr>
            <p:ph type="title"/>
          </p:nvPr>
        </p:nvSpPr>
        <p:spPr>
          <a:xfrm>
            <a:off x="2592925" y="624110"/>
            <a:ext cx="8911687" cy="949857"/>
          </a:xfrm>
        </p:spPr>
        <p:txBody>
          <a:bodyPr/>
          <a:lstStyle/>
          <a:p>
            <a:r>
              <a:rPr lang="en-US" b="1" i="0" dirty="0">
                <a:effectLst/>
                <a:latin typeface="Times New Roman" panose="02020603050405020304" pitchFamily="18" charset="0"/>
                <a:cs typeface="Times New Roman" panose="02020603050405020304" pitchFamily="18" charset="0"/>
              </a:rPr>
              <a:t>7. Group students effectively</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08DBF0-F12A-773B-876A-FAD81F42B571}"/>
              </a:ext>
            </a:extLst>
          </p:cNvPr>
          <p:cNvSpPr>
            <a:spLocks noGrp="1"/>
          </p:cNvSpPr>
          <p:nvPr>
            <p:ph idx="1"/>
          </p:nvPr>
        </p:nvSpPr>
        <p:spPr>
          <a:xfrm>
            <a:off x="2589212" y="1905000"/>
            <a:ext cx="8915400" cy="4203492"/>
          </a:xfrm>
        </p:spPr>
        <p:txBody>
          <a:bodyPr>
            <a:noAutofit/>
          </a:bodyPr>
          <a:lstStyle/>
          <a:p>
            <a:pPr algn="just"/>
            <a:r>
              <a:rPr lang="en-US" sz="2400" b="0" i="0" dirty="0">
                <a:effectLst/>
                <a:latin typeface="Times New Roman" panose="02020603050405020304" pitchFamily="18" charset="0"/>
                <a:cs typeface="Times New Roman" panose="02020603050405020304" pitchFamily="18" charset="0"/>
              </a:rPr>
              <a:t>Group projects provide great opportunities for you to put together the talents of students in complementary ways. </a:t>
            </a:r>
          </a:p>
          <a:p>
            <a:pPr algn="just"/>
            <a:r>
              <a:rPr lang="en-US" sz="2400" b="0" i="0" dirty="0">
                <a:effectLst/>
                <a:latin typeface="Times New Roman" panose="02020603050405020304" pitchFamily="18" charset="0"/>
                <a:cs typeface="Times New Roman" panose="02020603050405020304" pitchFamily="18" charset="0"/>
              </a:rPr>
              <a:t>A student who struggles in one aspect of a subject may excel in another. </a:t>
            </a:r>
          </a:p>
          <a:p>
            <a:pPr algn="just"/>
            <a:r>
              <a:rPr lang="en-US" sz="2400" dirty="0">
                <a:latin typeface="Times New Roman" panose="02020603050405020304" pitchFamily="18" charset="0"/>
                <a:cs typeface="Times New Roman" panose="02020603050405020304" pitchFamily="18" charset="0"/>
              </a:rPr>
              <a:t>Educators should g</a:t>
            </a:r>
            <a:r>
              <a:rPr lang="en-US" sz="2400" b="0" i="0" dirty="0">
                <a:effectLst/>
                <a:latin typeface="Times New Roman" panose="02020603050405020304" pitchFamily="18" charset="0"/>
                <a:cs typeface="Times New Roman" panose="02020603050405020304" pitchFamily="18" charset="0"/>
              </a:rPr>
              <a:t>roup students so that they can both showcase strengths and learn from peers. Therefore, Educators </a:t>
            </a:r>
            <a:r>
              <a:rPr lang="en-US" sz="2400" dirty="0">
                <a:latin typeface="Times New Roman" panose="02020603050405020304" pitchFamily="18" charset="0"/>
                <a:cs typeface="Times New Roman" panose="02020603050405020304" pitchFamily="18" charset="0"/>
              </a:rPr>
              <a:t>should the </a:t>
            </a:r>
            <a:r>
              <a:rPr lang="en-US" sz="2400" b="0" i="0" dirty="0">
                <a:effectLst/>
                <a:latin typeface="Times New Roman" panose="02020603050405020304" pitchFamily="18" charset="0"/>
                <a:cs typeface="Times New Roman" panose="02020603050405020304" pitchFamily="18" charset="0"/>
              </a:rPr>
              <a:t>social dynamics of groups. </a:t>
            </a:r>
          </a:p>
          <a:p>
            <a:pPr algn="just"/>
            <a:r>
              <a:rPr lang="en-US" sz="2400" b="0" i="0" dirty="0">
                <a:effectLst/>
                <a:latin typeface="Times New Roman" panose="02020603050405020304" pitchFamily="18" charset="0"/>
                <a:cs typeface="Times New Roman" panose="02020603050405020304" pitchFamily="18" charset="0"/>
              </a:rPr>
              <a:t>Students who have mental health and learning disorders benefit from working with students who are especially kind, patient, and empathetic.</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7812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66DD2F-FBF5-41CE-A3F4-565352D95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55A66B-6E71-128C-1B21-DE80D1EF51B6}"/>
              </a:ext>
            </a:extLst>
          </p:cNvPr>
          <p:cNvSpPr>
            <a:spLocks noGrp="1"/>
          </p:cNvSpPr>
          <p:nvPr>
            <p:ph type="title"/>
          </p:nvPr>
        </p:nvSpPr>
        <p:spPr>
          <a:xfrm>
            <a:off x="1794897" y="624110"/>
            <a:ext cx="9712998" cy="1280890"/>
          </a:xfrm>
        </p:spPr>
        <p:txBody>
          <a:bodyPr>
            <a:normAutofit/>
          </a:bodyPr>
          <a:lstStyle/>
          <a:p>
            <a:r>
              <a:rPr lang="en-US" b="1" i="0" dirty="0">
                <a:effectLst/>
                <a:latin typeface="Times New Roman" panose="02020603050405020304" pitchFamily="18" charset="0"/>
                <a:cs typeface="Times New Roman" panose="02020603050405020304" pitchFamily="18" charset="0"/>
              </a:rPr>
              <a:t>8. Consider outside placement options</a:t>
            </a:r>
            <a:endParaRPr lang="en-US"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F46FCE2B-F2D2-466E-B0AA-8E341DB49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1">
            <a:extLst>
              <a:ext uri="{FF2B5EF4-FFF2-40B4-BE49-F238E27FC236}">
                <a16:creationId xmlns:a16="http://schemas.microsoft.com/office/drawing/2014/main" id="{2BD31C98-199A-4722-A1A5-4393A43E7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graphicFrame>
        <p:nvGraphicFramePr>
          <p:cNvPr id="5" name="Content Placeholder 2">
            <a:extLst>
              <a:ext uri="{FF2B5EF4-FFF2-40B4-BE49-F238E27FC236}">
                <a16:creationId xmlns:a16="http://schemas.microsoft.com/office/drawing/2014/main" id="{F2E5D123-6EA8-3436-8352-C2086583C462}"/>
              </a:ext>
            </a:extLst>
          </p:cNvPr>
          <p:cNvGraphicFramePr>
            <a:graphicFrameLocks noGrp="1"/>
          </p:cNvGraphicFramePr>
          <p:nvPr>
            <p:ph idx="1"/>
            <p:extLst>
              <p:ext uri="{D42A27DB-BD31-4B8C-83A1-F6EECF244321}">
                <p14:modId xmlns:p14="http://schemas.microsoft.com/office/powerpoint/2010/main" val="24483488"/>
              </p:ext>
            </p:extLst>
          </p:nvPr>
        </p:nvGraphicFramePr>
        <p:xfrm>
          <a:off x="1794897" y="2222983"/>
          <a:ext cx="8987404" cy="3653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9189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94D72-1406-5C18-1011-F2EB93118A1C}"/>
              </a:ext>
            </a:extLst>
          </p:cNvPr>
          <p:cNvSpPr>
            <a:spLocks noGrp="1"/>
          </p:cNvSpPr>
          <p:nvPr>
            <p:ph type="title"/>
          </p:nvPr>
        </p:nvSpPr>
        <p:spPr>
          <a:xfrm>
            <a:off x="2592925" y="594129"/>
            <a:ext cx="8911687" cy="1280890"/>
          </a:xfrm>
        </p:spPr>
        <p:txBody>
          <a:bodyPr/>
          <a:lstStyle/>
          <a:p>
            <a:r>
              <a:rPr lang="en-US" dirty="0"/>
              <a:t>References</a:t>
            </a:r>
          </a:p>
        </p:txBody>
      </p:sp>
      <p:sp>
        <p:nvSpPr>
          <p:cNvPr id="3" name="Content Placeholder 2">
            <a:extLst>
              <a:ext uri="{FF2B5EF4-FFF2-40B4-BE49-F238E27FC236}">
                <a16:creationId xmlns:a16="http://schemas.microsoft.com/office/drawing/2014/main" id="{482A180B-1C40-E858-B73D-E50682789755}"/>
              </a:ext>
            </a:extLst>
          </p:cNvPr>
          <p:cNvSpPr>
            <a:spLocks noGrp="1"/>
          </p:cNvSpPr>
          <p:nvPr>
            <p:ph idx="1"/>
          </p:nvPr>
        </p:nvSpPr>
        <p:spPr>
          <a:xfrm>
            <a:off x="2589212" y="2148590"/>
            <a:ext cx="8915400" cy="3777622"/>
          </a:xfrm>
        </p:spPr>
        <p:txBody>
          <a:bodyPr>
            <a:normAutofit/>
          </a:bodyPr>
          <a:lstStyle/>
          <a:p>
            <a:pPr>
              <a:buFont typeface="+mj-lt"/>
              <a:buAutoNum type="arabicPeriod"/>
            </a:pPr>
            <a:r>
              <a:rPr lang="en-US" dirty="0" err="1"/>
              <a:t>Edupstairs</a:t>
            </a:r>
            <a:r>
              <a:rPr lang="en-US" dirty="0"/>
              <a:t> Staff. “How schools can identify and support vulnerable learners” September 2020.  </a:t>
            </a:r>
            <a:r>
              <a:rPr lang="en-US" dirty="0">
                <a:hlinkClick r:id="rId2"/>
              </a:rPr>
              <a:t>https://www.edupstairs.org/how-schools-can-identify-and-support-vulnerable-learners/</a:t>
            </a:r>
            <a:endParaRPr lang="en-US" dirty="0"/>
          </a:p>
          <a:p>
            <a:pPr algn="l" fontAlgn="base">
              <a:buFont typeface="+mj-lt"/>
              <a:buAutoNum type="arabicPeriod"/>
            </a:pPr>
            <a:r>
              <a:rPr lang="en-US" b="0" dirty="0">
                <a:solidFill>
                  <a:schemeClr val="tx1"/>
                </a:solidFill>
                <a:effectLst/>
                <a:latin typeface="GH Guardian Headline"/>
              </a:rPr>
              <a:t>Sheila </a:t>
            </a:r>
            <a:r>
              <a:rPr lang="en-US" b="0" dirty="0" err="1">
                <a:solidFill>
                  <a:schemeClr val="tx1"/>
                </a:solidFill>
                <a:effectLst/>
                <a:latin typeface="GH Guardian Headline"/>
              </a:rPr>
              <a:t>Mulvenney</a:t>
            </a:r>
            <a:r>
              <a:rPr lang="en-US" b="0" dirty="0">
                <a:solidFill>
                  <a:schemeClr val="tx1"/>
                </a:solidFill>
                <a:effectLst/>
                <a:latin typeface="GH Guardian Headline"/>
              </a:rPr>
              <a:t> “</a:t>
            </a:r>
            <a:r>
              <a:rPr lang="en-US" b="0" i="0" dirty="0">
                <a:solidFill>
                  <a:srgbClr val="121212"/>
                </a:solidFill>
                <a:effectLst/>
                <a:latin typeface="GH Guardian Headline"/>
              </a:rPr>
              <a:t>How can teachers support vulnerable children at school?” </a:t>
            </a:r>
            <a:r>
              <a:rPr lang="en-US" b="0" dirty="0">
                <a:solidFill>
                  <a:schemeClr val="tx1"/>
                </a:solidFill>
                <a:effectLst/>
                <a:latin typeface="GH Guardian Headline"/>
              </a:rPr>
              <a:t>September 2017. </a:t>
            </a:r>
            <a:r>
              <a:rPr lang="en-US" b="0" dirty="0">
                <a:solidFill>
                  <a:schemeClr val="tx1"/>
                </a:solidFill>
                <a:effectLst/>
                <a:latin typeface="GH Guardian Headline"/>
                <a:hlinkClick r:id="rId3"/>
              </a:rPr>
              <a:t>https://www.theguardian.com/teacher-network/2017/sep/28/how-can-teachers-support-vulnerable-children-at-school</a:t>
            </a:r>
            <a:endParaRPr lang="en-US" b="0" dirty="0">
              <a:solidFill>
                <a:schemeClr val="tx1"/>
              </a:solidFill>
              <a:effectLst/>
              <a:latin typeface="GH Guardian Headline"/>
            </a:endParaRPr>
          </a:p>
          <a:p>
            <a:pPr fontAlgn="base">
              <a:buFont typeface="+mj-lt"/>
              <a:buAutoNum type="arabicPeriod"/>
            </a:pPr>
            <a:r>
              <a:rPr lang="en-US" i="0" dirty="0">
                <a:solidFill>
                  <a:srgbClr val="252525"/>
                </a:solidFill>
                <a:effectLst/>
                <a:latin typeface="Roboto" panose="02000000000000000000" pitchFamily="2" charset="0"/>
              </a:rPr>
              <a:t>“Effective ways for Educators Dealing with Individual Difference” </a:t>
            </a:r>
            <a:r>
              <a:rPr lang="en-US" dirty="0">
                <a:hlinkClick r:id="rId4"/>
              </a:rPr>
              <a:t>Effective ways for Educators Dealing with Individual Difference (studylecturenotes.com)</a:t>
            </a:r>
            <a:endParaRPr lang="en-US" b="0" dirty="0">
              <a:solidFill>
                <a:schemeClr val="tx1"/>
              </a:solidFill>
              <a:effectLst/>
              <a:latin typeface="GH Guardian Headline"/>
            </a:endParaRPr>
          </a:p>
          <a:p>
            <a:pPr algn="l" fontAlgn="base">
              <a:buFont typeface="+mj-lt"/>
              <a:buAutoNum type="arabicPeriod"/>
            </a:pPr>
            <a:r>
              <a:rPr lang="en-US" dirty="0" err="1">
                <a:hlinkClick r:id="rId5"/>
              </a:rPr>
              <a:t>Accomodating</a:t>
            </a:r>
            <a:r>
              <a:rPr lang="en-US" dirty="0">
                <a:hlinkClick r:id="rId5"/>
              </a:rPr>
              <a:t> Individual Differences - </a:t>
            </a:r>
            <a:r>
              <a:rPr lang="en-US" dirty="0" err="1">
                <a:hlinkClick r:id="rId5"/>
              </a:rPr>
              <a:t>HolocaustUnitWorkSample</a:t>
            </a:r>
            <a:r>
              <a:rPr lang="en-US" dirty="0">
                <a:hlinkClick r:id="rId5"/>
              </a:rPr>
              <a:t> (google.com)</a:t>
            </a:r>
            <a:endParaRPr lang="en-US" dirty="0">
              <a:solidFill>
                <a:schemeClr val="tx1"/>
              </a:solidFill>
            </a:endParaRPr>
          </a:p>
        </p:txBody>
      </p:sp>
    </p:spTree>
    <p:extLst>
      <p:ext uri="{BB962C8B-B14F-4D97-AF65-F5344CB8AC3E}">
        <p14:creationId xmlns:p14="http://schemas.microsoft.com/office/powerpoint/2010/main" val="3733246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8"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56"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0"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1"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2"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3"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4"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5"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6"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7"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8"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19"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1" name="Group 20">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2"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8"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4"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5"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6"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27"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28"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29"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0"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1"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2"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3"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5" name="Rectangle 34">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59"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60" name="Rectangle 38">
            <a:extLst>
              <a:ext uri="{FF2B5EF4-FFF2-40B4-BE49-F238E27FC236}">
                <a16:creationId xmlns:a16="http://schemas.microsoft.com/office/drawing/2014/main" id="{57ABABA7-0420-4200-9B65-1C1967CE9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40">
            <a:extLst>
              <a:ext uri="{FF2B5EF4-FFF2-40B4-BE49-F238E27FC236}">
                <a16:creationId xmlns:a16="http://schemas.microsoft.com/office/drawing/2014/main" id="{A317EBE3-FF86-4DA1-BC9A-331F7F214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grpSp>
        <p:nvGrpSpPr>
          <p:cNvPr id="62" name="Group 42">
            <a:extLst>
              <a:ext uri="{FF2B5EF4-FFF2-40B4-BE49-F238E27FC236}">
                <a16:creationId xmlns:a16="http://schemas.microsoft.com/office/drawing/2014/main" id="{7A03E380-9CD1-4ABA-A763-9F9D252B8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2">
              <a:lumMod val="90000"/>
            </a:schemeClr>
          </a:solidFill>
        </p:grpSpPr>
        <p:sp>
          <p:nvSpPr>
            <p:cNvPr id="44" name="Freeform 11">
              <a:extLst>
                <a:ext uri="{FF2B5EF4-FFF2-40B4-BE49-F238E27FC236}">
                  <a16:creationId xmlns:a16="http://schemas.microsoft.com/office/drawing/2014/main" id="{66E01B84-4C2B-4DE5-90C8-9C4001A75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63" name="Freeform 12">
              <a:extLst>
                <a:ext uri="{FF2B5EF4-FFF2-40B4-BE49-F238E27FC236}">
                  <a16:creationId xmlns:a16="http://schemas.microsoft.com/office/drawing/2014/main" id="{64CE5A7A-D5C5-4FE5-860C-0B5748FD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46" name="Freeform 13">
              <a:extLst>
                <a:ext uri="{FF2B5EF4-FFF2-40B4-BE49-F238E27FC236}">
                  <a16:creationId xmlns:a16="http://schemas.microsoft.com/office/drawing/2014/main" id="{016A7D2A-6EEA-47B8-A763-7D82E41B3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47" name="Freeform 14">
              <a:extLst>
                <a:ext uri="{FF2B5EF4-FFF2-40B4-BE49-F238E27FC236}">
                  <a16:creationId xmlns:a16="http://schemas.microsoft.com/office/drawing/2014/main" id="{E758F6E7-6DEC-48D0-ACB1-E5E26B13E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48" name="Freeform 15">
              <a:extLst>
                <a:ext uri="{FF2B5EF4-FFF2-40B4-BE49-F238E27FC236}">
                  <a16:creationId xmlns:a16="http://schemas.microsoft.com/office/drawing/2014/main" id="{B56657FF-C027-42E7-859B-902929B6F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49" name="Freeform 16">
              <a:extLst>
                <a:ext uri="{FF2B5EF4-FFF2-40B4-BE49-F238E27FC236}">
                  <a16:creationId xmlns:a16="http://schemas.microsoft.com/office/drawing/2014/main" id="{79047F2A-5978-46C6-B3A2-54AAC2136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0" name="Freeform 17">
              <a:extLst>
                <a:ext uri="{FF2B5EF4-FFF2-40B4-BE49-F238E27FC236}">
                  <a16:creationId xmlns:a16="http://schemas.microsoft.com/office/drawing/2014/main" id="{F3BE8FD1-0A72-4640-AC7A-2E057273F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1" name="Freeform 18">
              <a:extLst>
                <a:ext uri="{FF2B5EF4-FFF2-40B4-BE49-F238E27FC236}">
                  <a16:creationId xmlns:a16="http://schemas.microsoft.com/office/drawing/2014/main" id="{752FC782-A372-4D11-B20D-958955E56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2" name="Freeform 19">
              <a:extLst>
                <a:ext uri="{FF2B5EF4-FFF2-40B4-BE49-F238E27FC236}">
                  <a16:creationId xmlns:a16="http://schemas.microsoft.com/office/drawing/2014/main" id="{AA00B2F1-BEE2-444A-8249-C8E3212CA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3" name="Freeform 20">
              <a:extLst>
                <a:ext uri="{FF2B5EF4-FFF2-40B4-BE49-F238E27FC236}">
                  <a16:creationId xmlns:a16="http://schemas.microsoft.com/office/drawing/2014/main" id="{E7F5747E-514B-4CF7-B6B0-DAD714909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4" name="Freeform 21">
              <a:extLst>
                <a:ext uri="{FF2B5EF4-FFF2-40B4-BE49-F238E27FC236}">
                  <a16:creationId xmlns:a16="http://schemas.microsoft.com/office/drawing/2014/main" id="{931614BB-1593-40ED-8113-2BD11870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55" name="Freeform 22">
              <a:extLst>
                <a:ext uri="{FF2B5EF4-FFF2-40B4-BE49-F238E27FC236}">
                  <a16:creationId xmlns:a16="http://schemas.microsoft.com/office/drawing/2014/main" id="{2691871F-F15C-4E19-BC9C-78E5748D7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sp>
        <p:nvSpPr>
          <p:cNvPr id="2" name="Title 1">
            <a:extLst>
              <a:ext uri="{FF2B5EF4-FFF2-40B4-BE49-F238E27FC236}">
                <a16:creationId xmlns:a16="http://schemas.microsoft.com/office/drawing/2014/main" id="{7AD07480-192D-8D8F-9630-7AABA660E754}"/>
              </a:ext>
            </a:extLst>
          </p:cNvPr>
          <p:cNvSpPr>
            <a:spLocks noGrp="1"/>
          </p:cNvSpPr>
          <p:nvPr>
            <p:ph type="title"/>
          </p:nvPr>
        </p:nvSpPr>
        <p:spPr>
          <a:xfrm>
            <a:off x="1304103" y="1318591"/>
            <a:ext cx="5800929" cy="4220820"/>
          </a:xfrm>
        </p:spPr>
        <p:txBody>
          <a:bodyPr vert="horz" lIns="91440" tIns="45720" rIns="91440" bIns="45720" rtlCol="0" anchor="ctr">
            <a:normAutofit/>
          </a:bodyPr>
          <a:lstStyle/>
          <a:p>
            <a:pPr algn="r"/>
            <a:r>
              <a:rPr lang="en-US" sz="6600">
                <a:solidFill>
                  <a:schemeClr val="tx2">
                    <a:lumMod val="75000"/>
                  </a:schemeClr>
                </a:solidFill>
              </a:rPr>
              <a:t>THANK YOU</a:t>
            </a:r>
          </a:p>
        </p:txBody>
      </p:sp>
      <p:cxnSp>
        <p:nvCxnSpPr>
          <p:cNvPr id="57" name="Straight Connector 56">
            <a:extLst>
              <a:ext uri="{FF2B5EF4-FFF2-40B4-BE49-F238E27FC236}">
                <a16:creationId xmlns:a16="http://schemas.microsoft.com/office/drawing/2014/main" id="{34D43EC1-35FA-4FC3-8526-F655CEB09D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7196" y="1871831"/>
            <a:ext cx="0" cy="320040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158635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Wisp</Template>
  <TotalTime>588</TotalTime>
  <Words>1551</Words>
  <Application>Microsoft Office PowerPoint</Application>
  <PresentationFormat>Widescreen</PresentationFormat>
  <Paragraphs>78</Paragraphs>
  <Slides>18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-apple-system</vt:lpstr>
      <vt:lpstr>Arial</vt:lpstr>
      <vt:lpstr>Calibri</vt:lpstr>
      <vt:lpstr>Century Gothic</vt:lpstr>
      <vt:lpstr>GH Guardian Headline</vt:lpstr>
      <vt:lpstr>Roboto</vt:lpstr>
      <vt:lpstr>Times New Roman</vt:lpstr>
      <vt:lpstr>ubuntu</vt:lpstr>
      <vt:lpstr>Wingdings</vt:lpstr>
      <vt:lpstr>Wingdings 3</vt:lpstr>
      <vt:lpstr>Wisp</vt:lpstr>
      <vt:lpstr>       TOPIC 10: ACCOMMODATING INDIVIDUAL DIFFERENCES AND SUPPORTING VULNERABLE LEARNERS</vt:lpstr>
      <vt:lpstr>Individual differences  </vt:lpstr>
      <vt:lpstr>Individual differences cont…</vt:lpstr>
      <vt:lpstr>Vulnerable learners </vt:lpstr>
      <vt:lpstr>How can we support vulnerable learners? </vt:lpstr>
      <vt:lpstr>How can we support vulnerable learners? cont…</vt:lpstr>
      <vt:lpstr>How can we support vulnerable learners?cont… </vt:lpstr>
      <vt:lpstr> Effective teaching strategies that mind individual differences </vt:lpstr>
      <vt:lpstr>1. Differentiate instruction</vt:lpstr>
      <vt:lpstr>2. Capitalize on learning styles</vt:lpstr>
      <vt:lpstr>3. Incorporate multiple intelligences into curriculum. </vt:lpstr>
      <vt:lpstr>4. Capitalize on student interests</vt:lpstr>
      <vt:lpstr>5. Involve students in educational goals</vt:lpstr>
      <vt:lpstr>6. Use computerized instruction</vt:lpstr>
      <vt:lpstr>7. Group students effectively</vt:lpstr>
      <vt:lpstr>8. Consider outside placement options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Accommodating individual differences and supporting vulnerable learners</dc:title>
  <dc:creator>Everline Onchoke (Techno Brain Global FZE)</dc:creator>
  <cp:lastModifiedBy>DMungai</cp:lastModifiedBy>
  <cp:revision>76</cp:revision>
  <dcterms:created xsi:type="dcterms:W3CDTF">2022-12-01T08:14:12Z</dcterms:created>
  <dcterms:modified xsi:type="dcterms:W3CDTF">2024-08-29T11:11:08Z</dcterms:modified>
</cp:coreProperties>
</file>