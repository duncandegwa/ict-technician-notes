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57"/>
  </p:notesMasterIdLst>
  <p:sldIdLst>
    <p:sldId id="374" r:id="rId2"/>
    <p:sldId id="378" r:id="rId3"/>
    <p:sldId id="381" r:id="rId4"/>
    <p:sldId id="382" r:id="rId5"/>
    <p:sldId id="383" r:id="rId6"/>
    <p:sldId id="371" r:id="rId7"/>
    <p:sldId id="372" r:id="rId8"/>
    <p:sldId id="307" r:id="rId9"/>
    <p:sldId id="305" r:id="rId10"/>
    <p:sldId id="300" r:id="rId11"/>
    <p:sldId id="302" r:id="rId12"/>
    <p:sldId id="306" r:id="rId13"/>
    <p:sldId id="367" r:id="rId14"/>
    <p:sldId id="272" r:id="rId15"/>
    <p:sldId id="368" r:id="rId16"/>
    <p:sldId id="369" r:id="rId17"/>
    <p:sldId id="260" r:id="rId18"/>
    <p:sldId id="370" r:id="rId19"/>
    <p:sldId id="262" r:id="rId20"/>
    <p:sldId id="263" r:id="rId21"/>
    <p:sldId id="264" r:id="rId22"/>
    <p:sldId id="265" r:id="rId23"/>
    <p:sldId id="266" r:id="rId24"/>
    <p:sldId id="271" r:id="rId25"/>
    <p:sldId id="267"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365" r:id="rId40"/>
    <p:sldId id="257" r:id="rId41"/>
    <p:sldId id="259" r:id="rId42"/>
    <p:sldId id="366" r:id="rId43"/>
    <p:sldId id="256" r:id="rId44"/>
    <p:sldId id="258" r:id="rId45"/>
    <p:sldId id="325" r:id="rId46"/>
    <p:sldId id="326" r:id="rId47"/>
    <p:sldId id="358" r:id="rId48"/>
    <p:sldId id="359" r:id="rId49"/>
    <p:sldId id="261" r:id="rId50"/>
    <p:sldId id="360" r:id="rId51"/>
    <p:sldId id="361" r:id="rId52"/>
    <p:sldId id="362" r:id="rId53"/>
    <p:sldId id="363" r:id="rId54"/>
    <p:sldId id="364" r:id="rId55"/>
    <p:sldId id="324" r:id="rId56"/>
  </p:sldIdLst>
  <p:sldSz cx="9144000" cy="6858000" type="screen4x3"/>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9"/>
    <p:restoredTop sz="92735" autoAdjust="0"/>
  </p:normalViewPr>
  <p:slideViewPr>
    <p:cSldViewPr>
      <p:cViewPr varScale="1">
        <p:scale>
          <a:sx n="61" d="100"/>
          <a:sy n="61" d="100"/>
        </p:scale>
        <p:origin x="15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402E54-69D1-4CDC-82BE-23D086F22CF6}" type="datetimeFigureOut">
              <a:rPr lang="en-KE" smtClean="0"/>
              <a:t>29/11/2024</a:t>
            </a:fld>
            <a:endParaRPr lang="en-K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6246C8-B2D3-43C9-A973-BFA25D0D7BCA}" type="slidenum">
              <a:rPr lang="en-KE" smtClean="0"/>
              <a:t>‹#›</a:t>
            </a:fld>
            <a:endParaRPr lang="en-KE"/>
          </a:p>
        </p:txBody>
      </p:sp>
    </p:spTree>
    <p:extLst>
      <p:ext uri="{BB962C8B-B14F-4D97-AF65-F5344CB8AC3E}">
        <p14:creationId xmlns:p14="http://schemas.microsoft.com/office/powerpoint/2010/main" val="98428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f391192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125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1508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684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523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45170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5f391192_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3974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GB"/>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934C4D3E-C15F-4DF9-A1EC-2CDAFF2FBE07}" type="slidenum">
              <a:rPr lang="en-US" smtClean="0"/>
              <a:pPr/>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96618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42413621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45647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21508006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4C4D3E-C15F-4DF9-A1EC-2CDAFF2FBE07}" type="slidenum">
              <a:rPr lang="en-US" smtClean="0"/>
              <a:pPr/>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095361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4C4D3E-C15F-4DF9-A1EC-2CDAFF2FBE07}" type="slidenum">
              <a:rPr lang="en-US" smtClean="0"/>
              <a:pPr/>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62611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27860960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C4D3E-C15F-4DF9-A1EC-2CDAFF2FBE07}" type="slidenum">
              <a:rPr lang="en-US" smtClean="0"/>
              <a:pPr/>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05406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GB"/>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8160588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7335628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79263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73381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spTree>
    <p:extLst>
      <p:ext uri="{BB962C8B-B14F-4D97-AF65-F5344CB8AC3E}">
        <p14:creationId xmlns:p14="http://schemas.microsoft.com/office/powerpoint/2010/main" val="40895370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05287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GB"/>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05451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1356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565D7E1-03A6-44F3-B6AC-AACF207F717B}" type="datetimeFigureOut">
              <a:rPr lang="en-US" smtClean="0"/>
              <a:pPr/>
              <a:t>11/29/2024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C4D3E-C15F-4DF9-A1EC-2CDAFF2FBE07}" type="slidenum">
              <a:rPr lang="en-US" smtClean="0"/>
              <a:pPr/>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32308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ummary 2">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445770" y="102876"/>
            <a:ext cx="8155305" cy="1680205"/>
          </a:xfrm>
          <a:prstGeom prst="rect">
            <a:avLst/>
          </a:prstGeom>
        </p:spPr>
        <p:txBody>
          <a:bodyPr lIns="0" tIns="0" rIns="0" bIns="0" anchor="b" anchorCtr="0">
            <a:noAutofit/>
          </a:bodyPr>
          <a:lstStyle>
            <a:lvl1pPr>
              <a:defRPr sz="33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2743200" y="2282008"/>
            <a:ext cx="5857875" cy="3699328"/>
          </a:xfrm>
        </p:spPr>
        <p:txBody>
          <a:bodyPr lIns="0" tIns="228600" rIns="0" bIns="0">
            <a:normAutofit/>
          </a:bodyPr>
          <a:lstStyle>
            <a:lvl1pPr marL="212598" indent="-212598">
              <a:spcBef>
                <a:spcPts val="1350"/>
              </a:spcBef>
              <a:buFont typeface="Arial" panose="020B0604020202020204" pitchFamily="34" charset="0"/>
              <a:buChar char="•"/>
              <a:defRPr sz="1500"/>
            </a:lvl1pPr>
            <a:lvl2pPr indent="-212598">
              <a:spcBef>
                <a:spcPts val="1350"/>
              </a:spcBef>
              <a:defRPr sz="1500"/>
            </a:lvl2pPr>
            <a:lvl3pPr indent="-212598">
              <a:spcBef>
                <a:spcPts val="1350"/>
              </a:spcBef>
              <a:defRPr sz="1500"/>
            </a:lvl3pPr>
            <a:lvl4pPr indent="-212598">
              <a:spcBef>
                <a:spcPts val="1350"/>
              </a:spcBef>
              <a:defRPr sz="1500"/>
            </a:lvl4pPr>
            <a:lvl5pPr indent="-212598">
              <a:spcBef>
                <a:spcPts val="1350"/>
              </a:spcBef>
              <a:defRPr sz="15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7D2FC871-29B5-42A9-BF93-5401C40EFB06}" type="slidenum">
              <a:rPr lang="en-KE" smtClean="0"/>
              <a:t>‹#›</a:t>
            </a:fld>
            <a:endParaRPr lang="en-KE"/>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fld id="{33D7E446-CDB8-4CD6-92F1-20B34DCCF369}" type="datetimeFigureOut">
              <a:rPr lang="en-KE" smtClean="0"/>
              <a:t>29/11/2024</a:t>
            </a:fld>
            <a:endParaRPr lang="en-KE"/>
          </a:p>
        </p:txBody>
      </p:sp>
    </p:spTree>
    <p:extLst>
      <p:ext uri="{BB962C8B-B14F-4D97-AF65-F5344CB8AC3E}">
        <p14:creationId xmlns:p14="http://schemas.microsoft.com/office/powerpoint/2010/main" val="14289128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6630" y="2671851"/>
            <a:ext cx="4523700" cy="1546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extLst>
      <p:ext uri="{BB962C8B-B14F-4D97-AF65-F5344CB8AC3E}">
        <p14:creationId xmlns:p14="http://schemas.microsoft.com/office/powerpoint/2010/main" val="2198732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letely blank">
  <p:cSld name="Completely blank">
    <p:spTree>
      <p:nvGrpSpPr>
        <p:cNvPr id="1" name="Shape 65"/>
        <p:cNvGrpSpPr/>
        <p:nvPr/>
      </p:nvGrpSpPr>
      <p:grpSpPr>
        <a:xfrm>
          <a:off x="0" y="0"/>
          <a:ext cx="0" cy="0"/>
          <a:chOff x="0" y="0"/>
          <a:chExt cx="0" cy="0"/>
        </a:xfrm>
      </p:grpSpPr>
      <p:sp>
        <p:nvSpPr>
          <p:cNvPr id="66" name="Google Shape;66;p11"/>
          <p:cNvSpPr txBox="1">
            <a:spLocks noGrp="1"/>
          </p:cNvSpPr>
          <p:nvPr>
            <p:ph type="sldNum" idx="12"/>
          </p:nvPr>
        </p:nvSpPr>
        <p:spPr>
          <a:xfrm>
            <a:off x="8543227" y="6333135"/>
            <a:ext cx="5487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22489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3">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565D7E1-03A6-44F3-B6AC-AACF207F717B}" type="datetimeFigureOut">
              <a:rPr lang="en-US" smtClean="0"/>
              <a:pPr/>
              <a:t>11/29/2024</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34C4D3E-C15F-4DF9-A1EC-2CDAFF2FBE07}" type="slidenum">
              <a:rPr lang="en-US" smtClean="0"/>
              <a:pPr/>
              <a:t>‹#›</a:t>
            </a:fld>
            <a:endParaRPr lang="en-US"/>
          </a:p>
        </p:txBody>
      </p:sp>
    </p:spTree>
    <p:extLst>
      <p:ext uri="{BB962C8B-B14F-4D97-AF65-F5344CB8AC3E}">
        <p14:creationId xmlns:p14="http://schemas.microsoft.com/office/powerpoint/2010/main" val="82519999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7" r:id="rId18"/>
    <p:sldLayoutId id="2147483778" r:id="rId19"/>
    <p:sldLayoutId id="2147483779" r:id="rId20"/>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762000" y="1752600"/>
            <a:ext cx="8149798" cy="624705"/>
          </a:xfrm>
        </p:spPr>
        <p:txBody>
          <a:bodyPr/>
          <a:lstStyle/>
          <a:p>
            <a:r>
              <a:rPr sz="2800" b="1" dirty="0">
                <a:solidFill>
                  <a:srgbClr val="FF0000"/>
                </a:solidFill>
              </a:rPr>
              <a:t>LESSON </a:t>
            </a:r>
            <a:r>
              <a:rPr lang="en-US" sz="2800" b="1" dirty="0">
                <a:solidFill>
                  <a:srgbClr val="FF0000"/>
                </a:solidFill>
              </a:rPr>
              <a:t>7</a:t>
            </a:r>
            <a:r>
              <a:rPr sz="2800" b="1" dirty="0">
                <a:solidFill>
                  <a:srgbClr val="FF0000"/>
                </a:solidFill>
              </a:rPr>
              <a:t>: </a:t>
            </a:r>
            <a:r>
              <a:rPr lang="en-US" sz="2800" b="1" dirty="0">
                <a:solidFill>
                  <a:srgbClr val="FF0000"/>
                </a:solidFill>
              </a:rPr>
              <a:t>PLANNING FOR INSTRUCTION </a:t>
            </a:r>
            <a:endParaRPr sz="2800" b="1" dirty="0">
              <a:solidFill>
                <a:srgbClr val="FF0000"/>
              </a:solidFill>
            </a:endParaRPr>
          </a:p>
        </p:txBody>
      </p:sp>
      <p:sp>
        <p:nvSpPr>
          <p:cNvPr id="3" name="Subtitle 2"/>
          <p:cNvSpPr>
            <a:spLocks noGrp="1"/>
          </p:cNvSpPr>
          <p:nvPr>
            <p:ph type="subTitle" idx="4294967295"/>
          </p:nvPr>
        </p:nvSpPr>
        <p:spPr>
          <a:xfrm>
            <a:off x="1200182" y="3195095"/>
            <a:ext cx="7273433" cy="467810"/>
          </a:xfrm>
        </p:spPr>
        <p:txBody>
          <a:bodyPr>
            <a:noAutofit/>
          </a:bodyPr>
          <a:lstStyle/>
          <a:p>
            <a:pPr marL="0" indent="0" algn="ctr">
              <a:buNone/>
            </a:pPr>
            <a:r>
              <a:rPr lang="en-US" sz="3600" b="1" dirty="0"/>
              <a:t>Instructional Planning </a:t>
            </a:r>
            <a:endParaRPr sz="3600" b="1" dirty="0"/>
          </a:p>
        </p:txBody>
      </p:sp>
    </p:spTree>
    <p:extLst>
      <p:ext uri="{BB962C8B-B14F-4D97-AF65-F5344CB8AC3E}">
        <p14:creationId xmlns:p14="http://schemas.microsoft.com/office/powerpoint/2010/main" val="37023194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2632" y="1066800"/>
            <a:ext cx="6798736" cy="4724400"/>
          </a:xfrm>
        </p:spPr>
        <p:txBody>
          <a:bodyPr>
            <a:normAutofit fontScale="92500" lnSpcReduction="20000"/>
          </a:bodyPr>
          <a:lstStyle/>
          <a:p>
            <a:pPr marL="457200" lvl="1" indent="0">
              <a:buNone/>
            </a:pPr>
            <a:r>
              <a:rPr lang="en-US" sz="2800" dirty="0"/>
              <a:t>Simply means planning to effectively execute an instruction  </a:t>
            </a:r>
          </a:p>
          <a:p>
            <a:pPr marL="457200" lvl="1" indent="0">
              <a:buNone/>
            </a:pPr>
            <a:r>
              <a:rPr lang="en-US" sz="2800" dirty="0"/>
              <a:t>In education, Instructional Planning means to </a:t>
            </a:r>
            <a:r>
              <a:rPr lang="en-US" sz="2800" dirty="0">
                <a:highlight>
                  <a:srgbClr val="00FFFF"/>
                </a:highlight>
              </a:rPr>
              <a:t>visualize </a:t>
            </a:r>
            <a:r>
              <a:rPr lang="en-US" sz="2800" dirty="0"/>
              <a:t>and </a:t>
            </a:r>
            <a:r>
              <a:rPr lang="en-US" sz="2800" dirty="0">
                <a:highlight>
                  <a:srgbClr val="00FFFF"/>
                </a:highlight>
              </a:rPr>
              <a:t>forecast </a:t>
            </a:r>
            <a:r>
              <a:rPr lang="en-US" sz="2800" dirty="0"/>
              <a:t>into the future of what, why, and how of the teaching learning process (</a:t>
            </a:r>
            <a:r>
              <a:rPr lang="en-US" sz="2800" dirty="0" err="1"/>
              <a:t>Zulueta</a:t>
            </a:r>
            <a:r>
              <a:rPr lang="en-US" sz="2800" dirty="0"/>
              <a:t>, Francisco)</a:t>
            </a:r>
          </a:p>
          <a:p>
            <a:pPr marL="457200" lvl="1" indent="0">
              <a:buNone/>
            </a:pPr>
            <a:r>
              <a:rPr lang="en-US" sz="2800" b="1" dirty="0"/>
              <a:t>“Why”- </a:t>
            </a:r>
            <a:r>
              <a:rPr lang="en-US" sz="2800" dirty="0"/>
              <a:t>Needs analysis of what to be done/learner’s needs</a:t>
            </a:r>
          </a:p>
          <a:p>
            <a:pPr marL="457200" lvl="1" indent="0">
              <a:buNone/>
            </a:pPr>
            <a:r>
              <a:rPr lang="en-US" sz="2800" b="1" dirty="0"/>
              <a:t>“What”- </a:t>
            </a:r>
            <a:r>
              <a:rPr lang="en-US" sz="2800" dirty="0"/>
              <a:t>formulate objectives and evaluation procedures</a:t>
            </a:r>
          </a:p>
          <a:p>
            <a:pPr marL="457200" lvl="1" indent="0">
              <a:buNone/>
            </a:pPr>
            <a:r>
              <a:rPr lang="en-US" sz="2800" b="1" dirty="0"/>
              <a:t>“How”- </a:t>
            </a:r>
            <a:r>
              <a:rPr lang="en-US" sz="2800" dirty="0"/>
              <a:t>Selecting methods and procedures for doing</a:t>
            </a:r>
          </a:p>
          <a:p>
            <a:pPr marL="457200" lvl="1" indent="0">
              <a:buNone/>
            </a:pPr>
            <a:endParaRPr lang="en-US" dirty="0"/>
          </a:p>
        </p:txBody>
      </p:sp>
    </p:spTree>
    <p:extLst>
      <p:ext uri="{BB962C8B-B14F-4D97-AF65-F5344CB8AC3E}">
        <p14:creationId xmlns:p14="http://schemas.microsoft.com/office/powerpoint/2010/main" val="24390512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Instructional Planning? </a:t>
            </a:r>
            <a:endParaRPr dirty="0"/>
          </a:p>
        </p:txBody>
      </p:sp>
      <p:sp>
        <p:nvSpPr>
          <p:cNvPr id="3" name="Content Placeholder 2"/>
          <p:cNvSpPr>
            <a:spLocks noGrp="1"/>
          </p:cNvSpPr>
          <p:nvPr>
            <p:ph idx="1"/>
          </p:nvPr>
        </p:nvSpPr>
        <p:spPr/>
        <p:txBody>
          <a:bodyPr>
            <a:normAutofit/>
          </a:bodyPr>
          <a:lstStyle/>
          <a:p>
            <a:pPr lvl="1"/>
            <a:r>
              <a:rPr lang="en-US" dirty="0"/>
              <a:t>Provides direction to the teacher, students and all stakeholders</a:t>
            </a:r>
          </a:p>
          <a:p>
            <a:pPr lvl="1"/>
            <a:r>
              <a:rPr lang="en-US" dirty="0"/>
              <a:t>Develops an insight about the broader educational goals </a:t>
            </a:r>
          </a:p>
          <a:p>
            <a:pPr lvl="1"/>
            <a:r>
              <a:rPr lang="en-US" dirty="0"/>
              <a:t>Reduces probability of making mistakes or losing focus  </a:t>
            </a:r>
          </a:p>
          <a:p>
            <a:pPr lvl="1"/>
            <a:r>
              <a:rPr lang="en-US" dirty="0"/>
              <a:t>Economizes on efforts, cost and time of teachers/students</a:t>
            </a:r>
          </a:p>
          <a:p>
            <a:pPr lvl="1"/>
            <a:r>
              <a:rPr lang="en-US" dirty="0"/>
              <a:t>Provides feedback to teachers on performance and baseline for reviews of teaching-learning  </a:t>
            </a:r>
          </a:p>
          <a:p>
            <a:pPr marL="457200" lvl="1" indent="0">
              <a:buNone/>
            </a:pPr>
            <a:endParaRPr lang="en-US" dirty="0"/>
          </a:p>
        </p:txBody>
      </p:sp>
    </p:spTree>
    <p:extLst>
      <p:ext uri="{BB962C8B-B14F-4D97-AF65-F5344CB8AC3E}">
        <p14:creationId xmlns:p14="http://schemas.microsoft.com/office/powerpoint/2010/main" val="9901623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Key Components of Instructional Planning </a:t>
            </a:r>
            <a:endParaRPr dirty="0"/>
          </a:p>
        </p:txBody>
      </p:sp>
      <p:sp>
        <p:nvSpPr>
          <p:cNvPr id="3" name="Content Placeholder 2"/>
          <p:cNvSpPr>
            <a:spLocks noGrp="1"/>
          </p:cNvSpPr>
          <p:nvPr>
            <p:ph idx="1"/>
          </p:nvPr>
        </p:nvSpPr>
        <p:spPr/>
        <p:txBody>
          <a:bodyPr>
            <a:normAutofit/>
          </a:bodyPr>
          <a:lstStyle/>
          <a:p>
            <a:pPr lvl="1"/>
            <a:r>
              <a:rPr lang="en-US" dirty="0"/>
              <a:t>Clear Learning Objectives</a:t>
            </a:r>
          </a:p>
          <a:p>
            <a:pPr lvl="1"/>
            <a:r>
              <a:rPr lang="en-US" dirty="0"/>
              <a:t>Well defined Instructional Methods and Techniques </a:t>
            </a:r>
          </a:p>
          <a:p>
            <a:pPr lvl="1"/>
            <a:r>
              <a:rPr lang="en-US" dirty="0"/>
              <a:t>Well defined Assessment and Evaluation Methods </a:t>
            </a:r>
          </a:p>
          <a:p>
            <a:pPr lvl="1"/>
            <a:r>
              <a:rPr lang="en-US" dirty="0"/>
              <a:t>Well time and paced, and flexible instruction methods </a:t>
            </a:r>
          </a:p>
          <a:p>
            <a:pPr lvl="1"/>
            <a:r>
              <a:rPr lang="en-US" dirty="0"/>
              <a:t>Well defined lecture structures </a:t>
            </a:r>
          </a:p>
          <a:p>
            <a:pPr lvl="1"/>
            <a:r>
              <a:rPr lang="en-US" dirty="0"/>
              <a:t>Instructional planning that creates room for reflection and revision </a:t>
            </a:r>
          </a:p>
          <a:p>
            <a:pPr lvl="1"/>
            <a:r>
              <a:rPr lang="en-US" dirty="0"/>
              <a:t>Well defined classroom rules, regulations and routines </a:t>
            </a:r>
          </a:p>
          <a:p>
            <a:pPr lvl="1"/>
            <a:endParaRPr lang="en-US" dirty="0"/>
          </a:p>
          <a:p>
            <a:pPr marL="457200" lvl="1" indent="0">
              <a:buNone/>
            </a:pPr>
            <a:endParaRPr lang="en-US" dirty="0"/>
          </a:p>
        </p:txBody>
      </p:sp>
    </p:spTree>
    <p:extLst>
      <p:ext uri="{BB962C8B-B14F-4D97-AF65-F5344CB8AC3E}">
        <p14:creationId xmlns:p14="http://schemas.microsoft.com/office/powerpoint/2010/main" val="28506406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6865" y="1143001"/>
            <a:ext cx="6798736" cy="4792132"/>
          </a:xfrm>
        </p:spPr>
        <p:txBody>
          <a:bodyPr>
            <a:noAutofit/>
          </a:bodyPr>
          <a:lstStyle/>
          <a:p>
            <a:pPr lvl="1"/>
            <a:r>
              <a:rPr lang="en-US" sz="2800" dirty="0"/>
              <a:t>Instructional Planning is key to successful teaching learning process</a:t>
            </a:r>
          </a:p>
          <a:p>
            <a:pPr lvl="1"/>
            <a:r>
              <a:rPr lang="en-GB" sz="2800" dirty="0"/>
              <a:t>Effective instructional planning helps create a structured learning environment, supports student engagement, and enhances overall educational outcomes.</a:t>
            </a:r>
          </a:p>
          <a:p>
            <a:pPr marL="457200" lvl="1" indent="0">
              <a:buNone/>
            </a:pPr>
            <a:endParaRPr lang="en-GB" sz="2800" b="1" dirty="0"/>
          </a:p>
          <a:p>
            <a:pPr marL="457200" lvl="1" indent="0" algn="ctr">
              <a:buNone/>
            </a:pPr>
            <a:r>
              <a:rPr lang="en-GB" sz="2800" b="1" i="1" dirty="0"/>
              <a:t>Instructional planning is a bi-polar process where teaching must lead to learning. </a:t>
            </a:r>
          </a:p>
        </p:txBody>
      </p:sp>
    </p:spTree>
    <p:extLst>
      <p:ext uri="{BB962C8B-B14F-4D97-AF65-F5344CB8AC3E}">
        <p14:creationId xmlns:p14="http://schemas.microsoft.com/office/powerpoint/2010/main" val="8491692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2"/>
          <p:cNvSpPr txBox="1">
            <a:spLocks noGrp="1"/>
          </p:cNvSpPr>
          <p:nvPr>
            <p:ph type="ctrTitle"/>
          </p:nvPr>
        </p:nvSpPr>
        <p:spPr>
          <a:xfrm>
            <a:off x="446050" y="4557019"/>
            <a:ext cx="8422888" cy="1159800"/>
          </a:xfrm>
          <a:prstGeom prst="rect">
            <a:avLst/>
          </a:prstGeom>
        </p:spPr>
        <p:txBody>
          <a:bodyPr spcFirstLastPara="1" vert="horz" wrap="square" lIns="91425" tIns="91425" rIns="91425" bIns="91425" rtlCol="0" anchor="b" anchorCtr="0">
            <a:noAutofit/>
          </a:bodyPr>
          <a:lstStyle/>
          <a:p>
            <a:pPr lvl="0" algn="ctr"/>
            <a:br>
              <a:rPr lang="en-GB" u="sng" dirty="0">
                <a:latin typeface="Lora" panose="020B0604020202020204" charset="0"/>
              </a:rPr>
            </a:br>
            <a:endParaRPr u="sng" dirty="0">
              <a:latin typeface="Lora" panose="020B0604020202020204" charset="0"/>
            </a:endParaRPr>
          </a:p>
        </p:txBody>
      </p:sp>
      <p:sp>
        <p:nvSpPr>
          <p:cNvPr id="5" name="TextBox 4"/>
          <p:cNvSpPr txBox="1"/>
          <p:nvPr/>
        </p:nvSpPr>
        <p:spPr>
          <a:xfrm>
            <a:off x="1015454" y="2514600"/>
            <a:ext cx="7284079" cy="553357"/>
          </a:xfrm>
          <a:prstGeom prst="rect">
            <a:avLst/>
          </a:prstGeom>
          <a:noFill/>
        </p:spPr>
        <p:txBody>
          <a:bodyPr wrap="square" rtlCol="0">
            <a:spAutoFit/>
          </a:bodyPr>
          <a:lstStyle/>
          <a:p>
            <a:pPr>
              <a:lnSpc>
                <a:spcPct val="107000"/>
              </a:lnSpc>
              <a:spcAft>
                <a:spcPts val="800"/>
              </a:spcAft>
            </a:pPr>
            <a:r>
              <a:rPr lang="en-GB" sz="2800" b="1" dirty="0">
                <a:solidFill>
                  <a:schemeClr val="accent2"/>
                </a:solidFill>
                <a:latin typeface="Lora" panose="020B0604020202020204" charset="0"/>
                <a:ea typeface="Lora" panose="020B0604020202020204" charset="0"/>
                <a:cs typeface="Lora" panose="020B0604020202020204" charset="0"/>
              </a:rPr>
              <a:t>Steps involved in Instructional planning</a:t>
            </a:r>
            <a:endParaRPr lang="en-US" sz="2800" dirty="0">
              <a:solidFill>
                <a:schemeClr val="accent2"/>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92259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4"/>
          <p:cNvSpPr txBox="1">
            <a:spLocks noGrp="1"/>
          </p:cNvSpPr>
          <p:nvPr>
            <p:ph type="sldNum" idx="12"/>
          </p:nvPr>
        </p:nvSpPr>
        <p:spPr>
          <a:prstGeom prst="rect">
            <a:avLst/>
          </a:prstGeom>
        </p:spPr>
        <p:txBody>
          <a:bodyPr spcFirstLastPara="1" vert="horz" wrap="square" lIns="91425" tIns="91425" rIns="91425" bIns="91425" rtlCol="0" anchor="t" anchorCtr="0">
            <a:noAutofit/>
          </a:bodyPr>
          <a:lstStyle/>
          <a:p>
            <a:fld id="{00000000-1234-1234-1234-123412341234}" type="slidenum">
              <a:rPr lang="en"/>
              <a:pPr/>
              <a:t>7</a:t>
            </a:fld>
            <a:endParaRPr/>
          </a:p>
        </p:txBody>
      </p:sp>
      <p:sp>
        <p:nvSpPr>
          <p:cNvPr id="100" name="Google Shape;100;p14"/>
          <p:cNvSpPr txBox="1">
            <a:spLocks noGrp="1"/>
          </p:cNvSpPr>
          <p:nvPr>
            <p:ph type="subTitle" idx="4294967295"/>
          </p:nvPr>
        </p:nvSpPr>
        <p:spPr>
          <a:xfrm>
            <a:off x="794209" y="1143000"/>
            <a:ext cx="7555581" cy="4648200"/>
          </a:xfrm>
          <a:prstGeom prst="rect">
            <a:avLst/>
          </a:prstGeom>
        </p:spPr>
        <p:txBody>
          <a:bodyPr spcFirstLastPara="1" vert="horz" wrap="square" lIns="91425" tIns="91425" rIns="91425" bIns="91425" rtlCol="0" anchor="t" anchorCtr="0">
            <a:noAutofit/>
          </a:bodyPr>
          <a:lstStyle/>
          <a:p>
            <a:pPr algn="just">
              <a:lnSpc>
                <a:spcPct val="150000"/>
              </a:lnSpc>
            </a:pPr>
            <a:r>
              <a:rPr lang="en-US" dirty="0"/>
              <a:t>Prior to each lesson, unit, semester, or school year, teachers plan the content of instruction, select teaching materials, design learning activities and grouping methods, decide on the pacing and allocation of instructional time, and identify learning opportunities for students.</a:t>
            </a:r>
            <a:endParaRPr lang="en-GB" dirty="0"/>
          </a:p>
          <a:p>
            <a:pPr algn="just">
              <a:lnSpc>
                <a:spcPct val="150000"/>
              </a:lnSpc>
            </a:pPr>
            <a:r>
              <a:rPr lang="en-GB" dirty="0"/>
              <a:t>Instructional planning entails several key steps to ensure effective teaching and learning</a:t>
            </a:r>
          </a:p>
          <a:p>
            <a:pPr marL="0" indent="0" algn="just">
              <a:lnSpc>
                <a:spcPct val="150000"/>
              </a:lnSpc>
              <a:buNone/>
            </a:pPr>
            <a:endParaRPr lang="en-GB" sz="1800" dirty="0"/>
          </a:p>
          <a:p>
            <a:pPr algn="just">
              <a:lnSpc>
                <a:spcPct val="150000"/>
              </a:lnSpc>
            </a:pPr>
            <a:endParaRPr lang="en-GB" sz="1800" dirty="0"/>
          </a:p>
        </p:txBody>
      </p:sp>
    </p:spTree>
    <p:extLst>
      <p:ext uri="{BB962C8B-B14F-4D97-AF65-F5344CB8AC3E}">
        <p14:creationId xmlns:p14="http://schemas.microsoft.com/office/powerpoint/2010/main" val="1969944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0204" y="533400"/>
            <a:ext cx="6798734" cy="557920"/>
          </a:xfrm>
        </p:spPr>
        <p:txBody>
          <a:bodyPr/>
          <a:lstStyle/>
          <a:p>
            <a:r>
              <a:rPr lang="en-GB" sz="2400" dirty="0">
                <a:solidFill>
                  <a:srgbClr val="FF0000"/>
                </a:solidFill>
                <a:latin typeface="Lora" panose="020B0604020202020204" charset="0"/>
              </a:rPr>
              <a:t>KEY STEPS IN INSTRUCTIONAL PLANNING</a:t>
            </a:r>
            <a:endParaRPr lang="en-US" dirty="0">
              <a:solidFill>
                <a:srgbClr val="FF0000"/>
              </a:solidFill>
              <a:latin typeface="Lora" panose="020B0604020202020204" charset="0"/>
            </a:endParaRPr>
          </a:p>
        </p:txBody>
      </p:sp>
      <p:sp>
        <p:nvSpPr>
          <p:cNvPr id="10" name="Content Placeholder 9"/>
          <p:cNvSpPr>
            <a:spLocks noGrp="1"/>
          </p:cNvSpPr>
          <p:nvPr>
            <p:ph sz="half" idx="1"/>
          </p:nvPr>
        </p:nvSpPr>
        <p:spPr>
          <a:xfrm>
            <a:off x="782637" y="1381382"/>
            <a:ext cx="4521199" cy="3285364"/>
          </a:xfrm>
        </p:spPr>
        <p:txBody>
          <a:bodyPr>
            <a:noAutofit/>
          </a:bodyPr>
          <a:lstStyle/>
          <a:p>
            <a:r>
              <a:rPr lang="en-GB" b="1" dirty="0">
                <a:solidFill>
                  <a:srgbClr val="0070C0"/>
                </a:solidFill>
              </a:rPr>
              <a:t>1. Identify learning objectives</a:t>
            </a:r>
          </a:p>
          <a:p>
            <a:r>
              <a:rPr lang="en-GB" b="1" dirty="0">
                <a:solidFill>
                  <a:srgbClr val="0070C0"/>
                </a:solidFill>
              </a:rPr>
              <a:t>2. Analyze learners</a:t>
            </a:r>
          </a:p>
          <a:p>
            <a:r>
              <a:rPr lang="en-GB" b="1" dirty="0">
                <a:solidFill>
                  <a:srgbClr val="0070C0"/>
                </a:solidFill>
              </a:rPr>
              <a:t>3. Design assessment</a:t>
            </a:r>
          </a:p>
          <a:p>
            <a:r>
              <a:rPr lang="en-GB" b="1" dirty="0">
                <a:solidFill>
                  <a:srgbClr val="0070C0"/>
                </a:solidFill>
              </a:rPr>
              <a:t>4. Select instructional material</a:t>
            </a:r>
          </a:p>
          <a:p>
            <a:r>
              <a:rPr lang="en-GB" b="1" dirty="0">
                <a:solidFill>
                  <a:srgbClr val="0070C0"/>
                </a:solidFill>
              </a:rPr>
              <a:t>5. Plan instructional activities</a:t>
            </a:r>
          </a:p>
          <a:p>
            <a:r>
              <a:rPr lang="en-GB" b="1" dirty="0">
                <a:solidFill>
                  <a:srgbClr val="0070C0"/>
                </a:solidFill>
              </a:rPr>
              <a:t>6. Implement instruction</a:t>
            </a:r>
          </a:p>
          <a:p>
            <a:r>
              <a:rPr lang="en-GB" b="1" dirty="0">
                <a:solidFill>
                  <a:srgbClr val="0070C0"/>
                </a:solidFill>
              </a:rPr>
              <a:t>7. Evaluate and reflect</a:t>
            </a:r>
          </a:p>
          <a:p>
            <a:r>
              <a:rPr lang="en-GB" b="1" dirty="0">
                <a:solidFill>
                  <a:srgbClr val="0070C0"/>
                </a:solidFill>
              </a:rPr>
              <a:t>8. Revise and improve</a:t>
            </a:r>
            <a:endParaRPr lang="en-US" dirty="0"/>
          </a:p>
        </p:txBody>
      </p:sp>
      <p:pic>
        <p:nvPicPr>
          <p:cNvPr id="9" name="Content Placeholder 5"/>
          <p:cNvPicPr>
            <a:picLocks noGrp="1" noChangeAspect="1"/>
          </p:cNvPicPr>
          <p:nvPr>
            <p:ph sz="half" idx="2"/>
          </p:nvPr>
        </p:nvPicPr>
        <p:blipFill>
          <a:blip r:embed="rId2"/>
          <a:stretch>
            <a:fillRect/>
          </a:stretch>
        </p:blipFill>
        <p:spPr>
          <a:xfrm>
            <a:off x="5105400" y="2362200"/>
            <a:ext cx="3484563" cy="1614733"/>
          </a:xfrm>
          <a:prstGeom prst="rect">
            <a:avLst/>
          </a:prstGeom>
        </p:spPr>
      </p:pic>
      <p:sp>
        <p:nvSpPr>
          <p:cNvPr id="5" name="Slide Number Placeholder 4"/>
          <p:cNvSpPr>
            <a:spLocks noGrp="1"/>
          </p:cNvSpPr>
          <p:nvPr>
            <p:ph type="sldNum" sz="quarter"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4376452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4"/>
          <p:cNvSpPr txBox="1">
            <a:spLocks noGrp="1"/>
          </p:cNvSpPr>
          <p:nvPr>
            <p:ph type="sldNum" idx="12"/>
          </p:nvPr>
        </p:nvSpPr>
        <p:spPr>
          <a:prstGeom prst="rect">
            <a:avLst/>
          </a:prstGeom>
        </p:spPr>
        <p:txBody>
          <a:bodyPr spcFirstLastPara="1" vert="horz" wrap="square" lIns="91425" tIns="91425" rIns="91425" bIns="91425" rtlCol="0" anchor="t" anchorCtr="0">
            <a:noAutofit/>
          </a:bodyPr>
          <a:lstStyle/>
          <a:p>
            <a:fld id="{00000000-1234-1234-1234-123412341234}" type="slidenum">
              <a:rPr lang="en"/>
              <a:pPr/>
              <a:t>9</a:t>
            </a:fld>
            <a:endParaRPr/>
          </a:p>
        </p:txBody>
      </p:sp>
      <p:sp>
        <p:nvSpPr>
          <p:cNvPr id="100" name="Google Shape;100;p14"/>
          <p:cNvSpPr txBox="1">
            <a:spLocks noGrp="1"/>
          </p:cNvSpPr>
          <p:nvPr>
            <p:ph type="subTitle" idx="4294967295"/>
          </p:nvPr>
        </p:nvSpPr>
        <p:spPr>
          <a:xfrm>
            <a:off x="796891" y="881698"/>
            <a:ext cx="7746336" cy="3281362"/>
          </a:xfrm>
          <a:prstGeom prst="rect">
            <a:avLst/>
          </a:prstGeom>
        </p:spPr>
        <p:txBody>
          <a:bodyPr spcFirstLastPara="1" vert="horz" wrap="square" lIns="91425" tIns="91425" rIns="91425" bIns="91425" rtlCol="0" anchor="t" anchorCtr="0">
            <a:noAutofit/>
          </a:bodyPr>
          <a:lstStyle/>
          <a:p>
            <a:pPr marL="0" indent="0" algn="just">
              <a:lnSpc>
                <a:spcPct val="150000"/>
              </a:lnSpc>
              <a:buNone/>
            </a:pPr>
            <a:r>
              <a:rPr lang="en-GB" b="1" dirty="0">
                <a:solidFill>
                  <a:srgbClr val="0070C0"/>
                </a:solidFill>
              </a:rPr>
              <a:t>1. Identify learning objectives:</a:t>
            </a:r>
          </a:p>
          <a:p>
            <a:pPr algn="just"/>
            <a:r>
              <a:rPr lang="en-GB" dirty="0"/>
              <a:t>Defines what the student needs to know at the end of the lesson/unit</a:t>
            </a:r>
          </a:p>
          <a:p>
            <a:pPr algn="just"/>
            <a:r>
              <a:rPr lang="en-GB" dirty="0"/>
              <a:t>The objective should be SMART; clear, specific, measurable…..</a:t>
            </a:r>
          </a:p>
          <a:p>
            <a:pPr marL="0" indent="0" algn="just">
              <a:buNone/>
            </a:pPr>
            <a:r>
              <a:rPr lang="en-GB" b="1" dirty="0">
                <a:solidFill>
                  <a:srgbClr val="0070C0"/>
                </a:solidFill>
              </a:rPr>
              <a:t>2. Analyze learners: </a:t>
            </a:r>
          </a:p>
          <a:p>
            <a:r>
              <a:rPr lang="en-GB" dirty="0"/>
              <a:t>Understand leaners back ground, needs and prior knowledge of students        </a:t>
            </a:r>
          </a:p>
          <a:p>
            <a:pPr algn="just"/>
            <a:r>
              <a:rPr lang="en-GB" dirty="0"/>
              <a:t>Helps in tailoring instruction to their level and interests</a:t>
            </a:r>
          </a:p>
          <a:p>
            <a:pPr marL="342900" indent="-342900" algn="just">
              <a:lnSpc>
                <a:spcPct val="150000"/>
              </a:lnSpc>
              <a:buFont typeface="+mj-lt"/>
              <a:buAutoNum type="arabicPeriod"/>
            </a:pPr>
            <a:endParaRPr lang="en-GB" sz="1600" b="1" dirty="0"/>
          </a:p>
          <a:p>
            <a:pPr marL="342900" indent="-342900" algn="just">
              <a:lnSpc>
                <a:spcPct val="150000"/>
              </a:lnSpc>
              <a:buFont typeface="+mj-lt"/>
              <a:buAutoNum type="arabicPeriod"/>
            </a:pPr>
            <a:endParaRPr lang="en-GB" sz="1600" b="1" dirty="0"/>
          </a:p>
          <a:p>
            <a:pPr marL="0" indent="0" algn="just">
              <a:lnSpc>
                <a:spcPct val="150000"/>
              </a:lnSpc>
              <a:buNone/>
            </a:pPr>
            <a:endParaRPr lang="en-GB" sz="1600" b="1" dirty="0"/>
          </a:p>
          <a:p>
            <a:pPr marL="0" indent="0" algn="just">
              <a:lnSpc>
                <a:spcPct val="150000"/>
              </a:lnSpc>
              <a:buNone/>
            </a:pPr>
            <a:endParaRPr lang="en-GB" sz="1600" b="1" dirty="0"/>
          </a:p>
          <a:p>
            <a:pPr marL="0" indent="0" algn="just">
              <a:lnSpc>
                <a:spcPct val="150000"/>
              </a:lnSpc>
              <a:buNone/>
            </a:pPr>
            <a:endParaRPr lang="en-GB" sz="1600" b="1" dirty="0"/>
          </a:p>
          <a:p>
            <a:pPr marL="0" indent="0" algn="just">
              <a:lnSpc>
                <a:spcPct val="150000"/>
              </a:lnSpc>
              <a:buNone/>
            </a:pPr>
            <a:endParaRPr lang="en-GB" sz="1600" b="1" dirty="0"/>
          </a:p>
          <a:p>
            <a:pPr marL="0" indent="0" algn="just">
              <a:lnSpc>
                <a:spcPct val="150000"/>
              </a:lnSpc>
              <a:buNone/>
            </a:pPr>
            <a:endParaRPr lang="en-GB" sz="1600" b="1" dirty="0"/>
          </a:p>
          <a:p>
            <a:pPr marL="342900" indent="-342900" algn="just">
              <a:lnSpc>
                <a:spcPct val="150000"/>
              </a:lnSpc>
              <a:buFont typeface="+mj-lt"/>
              <a:buAutoNum type="arabicPeriod"/>
            </a:pPr>
            <a:endParaRPr lang="en-GB" sz="1600" b="1" dirty="0"/>
          </a:p>
          <a:p>
            <a:pPr marL="0" indent="0" algn="ctr">
              <a:lnSpc>
                <a:spcPct val="150000"/>
              </a:lnSpc>
              <a:buNone/>
            </a:pPr>
            <a:endParaRPr lang="en-GB" sz="1600" dirty="0">
              <a:solidFill>
                <a:srgbClr val="000000"/>
              </a:solidFill>
            </a:endParaRPr>
          </a:p>
          <a:p>
            <a:pPr marL="0" indent="0">
              <a:lnSpc>
                <a:spcPct val="150000"/>
              </a:lnSpc>
              <a:buNone/>
            </a:pPr>
            <a:endParaRPr lang="en-GB" sz="1800" b="1" dirty="0"/>
          </a:p>
        </p:txBody>
      </p:sp>
      <p:sp>
        <p:nvSpPr>
          <p:cNvPr id="103" name="Google Shape;103;p14"/>
          <p:cNvSpPr txBox="1">
            <a:spLocks noGrp="1"/>
          </p:cNvSpPr>
          <p:nvPr>
            <p:ph type="ctrTitle" idx="4294967295"/>
          </p:nvPr>
        </p:nvSpPr>
        <p:spPr>
          <a:xfrm>
            <a:off x="796891" y="533400"/>
            <a:ext cx="7899434" cy="524800"/>
          </a:xfrm>
          <a:prstGeom prst="rect">
            <a:avLst/>
          </a:prstGeom>
        </p:spPr>
        <p:txBody>
          <a:bodyPr spcFirstLastPara="1" vert="horz" wrap="square" lIns="91425" tIns="91425" rIns="91425" bIns="91425" rtlCol="0" anchor="ctr" anchorCtr="0">
            <a:noAutofit/>
          </a:bodyPr>
          <a:lstStyle/>
          <a:p>
            <a:pPr lvl="0"/>
            <a:r>
              <a:rPr lang="en-GB" sz="2400" dirty="0">
                <a:solidFill>
                  <a:srgbClr val="FF0000"/>
                </a:solidFill>
                <a:latin typeface="Lora" panose="020B0604020202020204" charset="0"/>
              </a:rPr>
              <a:t>KEY STEPS IN INSTRUCTIONAL PLANNING CONT</a:t>
            </a:r>
            <a:r>
              <a:rPr lang="en-GB" sz="2400" dirty="0">
                <a:solidFill>
                  <a:schemeClr val="accent2"/>
                </a:solidFill>
                <a:latin typeface="Lora" panose="020B0604020202020204" charset="0"/>
              </a:rPr>
              <a:t>’</a:t>
            </a:r>
            <a:endParaRPr sz="2400" dirty="0">
              <a:solidFill>
                <a:schemeClr val="accent2"/>
              </a:solidFill>
              <a:latin typeface="Lora" panose="020B0604020202020204" charset="0"/>
            </a:endParaRPr>
          </a:p>
        </p:txBody>
      </p:sp>
    </p:spTree>
    <p:extLst>
      <p:ext uri="{BB962C8B-B14F-4D97-AF65-F5344CB8AC3E}">
        <p14:creationId xmlns:p14="http://schemas.microsoft.com/office/powerpoint/2010/main" val="2066521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4"/>
          <p:cNvSpPr txBox="1">
            <a:spLocks noGrp="1"/>
          </p:cNvSpPr>
          <p:nvPr>
            <p:ph type="sldNum" idx="12"/>
          </p:nvPr>
        </p:nvSpPr>
        <p:spPr>
          <a:prstGeom prst="rect">
            <a:avLst/>
          </a:prstGeom>
        </p:spPr>
        <p:txBody>
          <a:bodyPr spcFirstLastPara="1" vert="horz" wrap="square" lIns="91425" tIns="91425" rIns="91425" bIns="91425" rtlCol="0" anchor="t" anchorCtr="0">
            <a:noAutofit/>
          </a:bodyPr>
          <a:lstStyle/>
          <a:p>
            <a:fld id="{00000000-1234-1234-1234-123412341234}" type="slidenum">
              <a:rPr lang="en"/>
              <a:pPr/>
              <a:t>10</a:t>
            </a:fld>
            <a:endParaRPr/>
          </a:p>
        </p:txBody>
      </p:sp>
      <p:sp>
        <p:nvSpPr>
          <p:cNvPr id="100" name="Google Shape;100;p14"/>
          <p:cNvSpPr txBox="1">
            <a:spLocks noGrp="1"/>
          </p:cNvSpPr>
          <p:nvPr>
            <p:ph type="subTitle" idx="4294967295"/>
          </p:nvPr>
        </p:nvSpPr>
        <p:spPr>
          <a:xfrm>
            <a:off x="953260" y="1219200"/>
            <a:ext cx="7399371" cy="4267200"/>
          </a:xfrm>
          <a:prstGeom prst="rect">
            <a:avLst/>
          </a:prstGeom>
        </p:spPr>
        <p:txBody>
          <a:bodyPr spcFirstLastPara="1" vert="horz" wrap="square" lIns="91425" tIns="91425" rIns="91425" bIns="91425" rtlCol="0" anchor="t" anchorCtr="0">
            <a:noAutofit/>
          </a:bodyPr>
          <a:lstStyle/>
          <a:p>
            <a:pPr marL="0" indent="0" algn="just">
              <a:buNone/>
            </a:pPr>
            <a:r>
              <a:rPr lang="en-GB" b="1" dirty="0">
                <a:solidFill>
                  <a:srgbClr val="0070C0"/>
                </a:solidFill>
              </a:rPr>
              <a:t>3. Design assessment:</a:t>
            </a:r>
          </a:p>
          <a:p>
            <a:pPr algn="just"/>
            <a:r>
              <a:rPr lang="en-GB" dirty="0"/>
              <a:t>Plan how to measure students  progress towards the learning objective</a:t>
            </a:r>
          </a:p>
          <a:p>
            <a:pPr algn="just"/>
            <a:r>
              <a:rPr lang="en-GB" dirty="0"/>
              <a:t>This includes quizzes, RATS, assignments, projects or observations</a:t>
            </a:r>
          </a:p>
          <a:p>
            <a:pPr marL="0" indent="0" algn="just">
              <a:buNone/>
            </a:pPr>
            <a:r>
              <a:rPr lang="en-GB" b="1" dirty="0">
                <a:solidFill>
                  <a:srgbClr val="0070C0"/>
                </a:solidFill>
              </a:rPr>
              <a:t>4. Select instructional material:</a:t>
            </a:r>
          </a:p>
          <a:p>
            <a:pPr marL="342900" indent="-342900" algn="just"/>
            <a:r>
              <a:rPr lang="en-GB" dirty="0"/>
              <a:t>Select learning material that support your objective</a:t>
            </a:r>
          </a:p>
          <a:p>
            <a:pPr marL="342900" indent="-342900" algn="just"/>
            <a:r>
              <a:rPr lang="en-GB" dirty="0"/>
              <a:t>Material and resources such as text books, videos, journals and online resources</a:t>
            </a:r>
          </a:p>
          <a:p>
            <a:pPr algn="just">
              <a:lnSpc>
                <a:spcPct val="150000"/>
              </a:lnSpc>
            </a:pPr>
            <a:endParaRPr lang="en-GB" sz="1800" b="1" dirty="0"/>
          </a:p>
          <a:p>
            <a:pPr marL="0" indent="0" algn="just">
              <a:lnSpc>
                <a:spcPct val="150000"/>
              </a:lnSpc>
              <a:buNone/>
            </a:pPr>
            <a:endParaRPr lang="en-GB" sz="1800" b="1" dirty="0"/>
          </a:p>
          <a:p>
            <a:pPr marL="342900" indent="-342900" algn="just">
              <a:lnSpc>
                <a:spcPct val="150000"/>
              </a:lnSpc>
              <a:buFont typeface="+mj-lt"/>
              <a:buAutoNum type="arabicPeriod"/>
            </a:pPr>
            <a:endParaRPr lang="en-GB" sz="1800" b="1" dirty="0"/>
          </a:p>
          <a:p>
            <a:pPr marL="342900" indent="-342900" algn="just">
              <a:lnSpc>
                <a:spcPct val="150000"/>
              </a:lnSpc>
              <a:buFont typeface="+mj-lt"/>
              <a:buAutoNum type="arabicPeriod"/>
            </a:pPr>
            <a:endParaRPr lang="en-GB" sz="1800" b="1" dirty="0"/>
          </a:p>
          <a:p>
            <a:pPr algn="just">
              <a:lnSpc>
                <a:spcPct val="150000"/>
              </a:lnSpc>
            </a:pPr>
            <a:endParaRPr lang="en-GB" sz="1800" dirty="0"/>
          </a:p>
        </p:txBody>
      </p:sp>
      <p:sp>
        <p:nvSpPr>
          <p:cNvPr id="103" name="Google Shape;103;p14"/>
          <p:cNvSpPr txBox="1">
            <a:spLocks noGrp="1"/>
          </p:cNvSpPr>
          <p:nvPr>
            <p:ph type="ctrTitle" idx="4294967295"/>
          </p:nvPr>
        </p:nvSpPr>
        <p:spPr>
          <a:xfrm>
            <a:off x="891363" y="685800"/>
            <a:ext cx="7523163" cy="419101"/>
          </a:xfrm>
          <a:prstGeom prst="rect">
            <a:avLst/>
          </a:prstGeom>
        </p:spPr>
        <p:txBody>
          <a:bodyPr spcFirstLastPara="1" vert="horz" wrap="square" lIns="91425" tIns="91425" rIns="91425" bIns="91425" rtlCol="0" anchor="ctr" anchorCtr="0">
            <a:noAutofit/>
          </a:bodyPr>
          <a:lstStyle/>
          <a:p>
            <a:pPr lvl="0"/>
            <a:r>
              <a:rPr lang="en-GB" sz="2400" dirty="0">
                <a:solidFill>
                  <a:srgbClr val="FF0000"/>
                </a:solidFill>
                <a:latin typeface="Lora" panose="020B0604020202020204" charset="0"/>
              </a:rPr>
              <a:t>STEPS IN INSTRUCTIONAL PLANNING CONT</a:t>
            </a:r>
            <a:r>
              <a:rPr lang="en-GB" sz="2400" dirty="0">
                <a:solidFill>
                  <a:schemeClr val="accent2"/>
                </a:solidFill>
                <a:latin typeface="Lora" panose="020B0604020202020204" charset="0"/>
              </a:rPr>
              <a:t>’</a:t>
            </a:r>
            <a:endParaRPr sz="2400" dirty="0">
              <a:solidFill>
                <a:schemeClr val="accent2"/>
              </a:solidFill>
              <a:latin typeface="Lora" panose="020B0604020202020204" charset="0"/>
            </a:endParaRPr>
          </a:p>
        </p:txBody>
      </p:sp>
    </p:spTree>
    <p:extLst>
      <p:ext uri="{BB962C8B-B14F-4D97-AF65-F5344CB8AC3E}">
        <p14:creationId xmlns:p14="http://schemas.microsoft.com/office/powerpoint/2010/main" val="49277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4"/>
          <p:cNvSpPr txBox="1">
            <a:spLocks noGrp="1"/>
          </p:cNvSpPr>
          <p:nvPr>
            <p:ph type="sldNum" idx="12"/>
          </p:nvPr>
        </p:nvSpPr>
        <p:spPr>
          <a:prstGeom prst="rect">
            <a:avLst/>
          </a:prstGeom>
        </p:spPr>
        <p:txBody>
          <a:bodyPr spcFirstLastPara="1" vert="horz" wrap="square" lIns="91425" tIns="91425" rIns="91425" bIns="91425" rtlCol="0" anchor="t" anchorCtr="0">
            <a:noAutofit/>
          </a:bodyPr>
          <a:lstStyle/>
          <a:p>
            <a:fld id="{00000000-1234-1234-1234-123412341234}" type="slidenum">
              <a:rPr lang="en"/>
              <a:pPr/>
              <a:t>11</a:t>
            </a:fld>
            <a:endParaRPr/>
          </a:p>
        </p:txBody>
      </p:sp>
      <p:sp>
        <p:nvSpPr>
          <p:cNvPr id="100" name="Google Shape;100;p14"/>
          <p:cNvSpPr txBox="1">
            <a:spLocks noGrp="1"/>
          </p:cNvSpPr>
          <p:nvPr>
            <p:ph type="subTitle" idx="4294967295"/>
          </p:nvPr>
        </p:nvSpPr>
        <p:spPr>
          <a:xfrm>
            <a:off x="1027906" y="1054389"/>
            <a:ext cx="7088188" cy="3729038"/>
          </a:xfrm>
          <a:prstGeom prst="rect">
            <a:avLst/>
          </a:prstGeom>
        </p:spPr>
        <p:txBody>
          <a:bodyPr spcFirstLastPara="1" vert="horz" wrap="square" lIns="91425" tIns="91425" rIns="91425" bIns="91425" rtlCol="0" anchor="t" anchorCtr="0">
            <a:noAutofit/>
          </a:bodyPr>
          <a:lstStyle/>
          <a:p>
            <a:pPr marL="0" indent="0" algn="just">
              <a:lnSpc>
                <a:spcPct val="150000"/>
              </a:lnSpc>
              <a:buNone/>
            </a:pPr>
            <a:r>
              <a:rPr lang="en-GB" b="1" dirty="0">
                <a:solidFill>
                  <a:srgbClr val="0070C0"/>
                </a:solidFill>
              </a:rPr>
              <a:t>5. Plan instructional activities:</a:t>
            </a:r>
          </a:p>
          <a:p>
            <a:pPr algn="just"/>
            <a:r>
              <a:rPr lang="en-GB" dirty="0"/>
              <a:t>Develop lesson and activities that align with the objectives that engage students in learning</a:t>
            </a:r>
          </a:p>
          <a:p>
            <a:pPr algn="just"/>
            <a:r>
              <a:rPr lang="en-GB" dirty="0"/>
              <a:t>This includes planning the sequence and timing of activities</a:t>
            </a:r>
          </a:p>
          <a:p>
            <a:pPr marL="0" indent="0" algn="just">
              <a:buNone/>
            </a:pPr>
            <a:r>
              <a:rPr lang="en-GB" b="1" dirty="0">
                <a:solidFill>
                  <a:srgbClr val="0070C0"/>
                </a:solidFill>
              </a:rPr>
              <a:t>6. Implement instruction:</a:t>
            </a:r>
          </a:p>
          <a:p>
            <a:pPr algn="just"/>
            <a:r>
              <a:rPr lang="en-GB" dirty="0"/>
              <a:t>Deliver the lesson according to planned lesson and activities keeping time lines</a:t>
            </a:r>
          </a:p>
          <a:p>
            <a:pPr algn="just"/>
            <a:r>
              <a:rPr lang="en-GB" dirty="0"/>
              <a:t>Students responses be the controlling factor in lesson delivery  and  adjust according to their needs</a:t>
            </a:r>
          </a:p>
          <a:p>
            <a:pPr algn="just">
              <a:lnSpc>
                <a:spcPct val="150000"/>
              </a:lnSpc>
            </a:pPr>
            <a:endParaRPr lang="en-GB" sz="1800" b="1" dirty="0"/>
          </a:p>
          <a:p>
            <a:pPr algn="just">
              <a:lnSpc>
                <a:spcPct val="150000"/>
              </a:lnSpc>
            </a:pPr>
            <a:endParaRPr lang="en-GB" sz="1800" dirty="0"/>
          </a:p>
        </p:txBody>
      </p:sp>
      <p:sp>
        <p:nvSpPr>
          <p:cNvPr id="103" name="Google Shape;103;p14"/>
          <p:cNvSpPr txBox="1">
            <a:spLocks noGrp="1"/>
          </p:cNvSpPr>
          <p:nvPr>
            <p:ph type="ctrTitle" idx="4294967295"/>
          </p:nvPr>
        </p:nvSpPr>
        <p:spPr>
          <a:xfrm>
            <a:off x="1145477" y="541019"/>
            <a:ext cx="7397750" cy="524800"/>
          </a:xfrm>
          <a:prstGeom prst="rect">
            <a:avLst/>
          </a:prstGeom>
        </p:spPr>
        <p:txBody>
          <a:bodyPr spcFirstLastPara="1" vert="horz" wrap="square" lIns="91425" tIns="91425" rIns="91425" bIns="91425" rtlCol="0" anchor="ctr" anchorCtr="0">
            <a:noAutofit/>
          </a:bodyPr>
          <a:lstStyle/>
          <a:p>
            <a:pPr lvl="0"/>
            <a:r>
              <a:rPr lang="en-GB" sz="2400" dirty="0">
                <a:solidFill>
                  <a:srgbClr val="FF0000"/>
                </a:solidFill>
                <a:latin typeface="Lora" panose="020B0604020202020204" charset="0"/>
              </a:rPr>
              <a:t>STEPS IN INSTRUCTIONAL PLANNING CONT</a:t>
            </a:r>
            <a:r>
              <a:rPr lang="en-GB" sz="2400" dirty="0">
                <a:solidFill>
                  <a:schemeClr val="accent2"/>
                </a:solidFill>
                <a:latin typeface="Lora" panose="020B0604020202020204" charset="0"/>
              </a:rPr>
              <a:t>’</a:t>
            </a:r>
            <a:endParaRPr sz="2400" dirty="0">
              <a:solidFill>
                <a:schemeClr val="accent2"/>
              </a:solidFill>
              <a:latin typeface="Lora" panose="020B0604020202020204" charset="0"/>
            </a:endParaRPr>
          </a:p>
        </p:txBody>
      </p:sp>
    </p:spTree>
    <p:extLst>
      <p:ext uri="{BB962C8B-B14F-4D97-AF65-F5344CB8AC3E}">
        <p14:creationId xmlns:p14="http://schemas.microsoft.com/office/powerpoint/2010/main" val="1298069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5" name="Google Shape;105;p14"/>
          <p:cNvSpPr txBox="1">
            <a:spLocks noGrp="1"/>
          </p:cNvSpPr>
          <p:nvPr>
            <p:ph type="sldNum" idx="12"/>
          </p:nvPr>
        </p:nvSpPr>
        <p:spPr>
          <a:prstGeom prst="rect">
            <a:avLst/>
          </a:prstGeom>
        </p:spPr>
        <p:txBody>
          <a:bodyPr spcFirstLastPara="1" vert="horz" wrap="square" lIns="91425" tIns="91425" rIns="91425" bIns="91425" rtlCol="0" anchor="t" anchorCtr="0">
            <a:noAutofit/>
          </a:bodyPr>
          <a:lstStyle/>
          <a:p>
            <a:fld id="{00000000-1234-1234-1234-123412341234}" type="slidenum">
              <a:rPr lang="en"/>
              <a:pPr/>
              <a:t>12</a:t>
            </a:fld>
            <a:endParaRPr/>
          </a:p>
        </p:txBody>
      </p:sp>
      <p:sp>
        <p:nvSpPr>
          <p:cNvPr id="100" name="Google Shape;100;p14"/>
          <p:cNvSpPr txBox="1">
            <a:spLocks noGrp="1"/>
          </p:cNvSpPr>
          <p:nvPr>
            <p:ph type="subTitle" idx="4294967295"/>
          </p:nvPr>
        </p:nvSpPr>
        <p:spPr>
          <a:xfrm>
            <a:off x="879094" y="1104898"/>
            <a:ext cx="7439152" cy="4889349"/>
          </a:xfrm>
          <a:prstGeom prst="rect">
            <a:avLst/>
          </a:prstGeom>
        </p:spPr>
        <p:txBody>
          <a:bodyPr spcFirstLastPara="1" vert="horz" wrap="square" lIns="91425" tIns="91425" rIns="91425" bIns="91425" rtlCol="0" anchor="t" anchorCtr="0">
            <a:noAutofit/>
          </a:bodyPr>
          <a:lstStyle/>
          <a:p>
            <a:pPr marL="0" indent="0" algn="just">
              <a:buNone/>
            </a:pPr>
            <a:r>
              <a:rPr lang="en-GB" b="1" dirty="0">
                <a:solidFill>
                  <a:srgbClr val="0070C0"/>
                </a:solidFill>
              </a:rPr>
              <a:t>7. Evaluate and reflect:</a:t>
            </a:r>
          </a:p>
          <a:p>
            <a:pPr algn="just"/>
            <a:r>
              <a:rPr lang="en-GB" dirty="0"/>
              <a:t>Assess the effectiveness of the instruction and the students understanding</a:t>
            </a:r>
          </a:p>
          <a:p>
            <a:pPr algn="just"/>
            <a:r>
              <a:rPr lang="en-GB" dirty="0"/>
              <a:t>This level evaluates the lecturer and the student</a:t>
            </a:r>
          </a:p>
          <a:p>
            <a:pPr algn="just"/>
            <a:r>
              <a:rPr lang="en-GB" dirty="0"/>
              <a:t>The above information is used to make adjustments for future lessons</a:t>
            </a:r>
          </a:p>
          <a:p>
            <a:pPr marL="0" indent="0" algn="just">
              <a:buNone/>
            </a:pPr>
            <a:r>
              <a:rPr lang="en-GB" b="1" dirty="0">
                <a:solidFill>
                  <a:srgbClr val="0070C0"/>
                </a:solidFill>
              </a:rPr>
              <a:t>8. Revise and improve:</a:t>
            </a:r>
          </a:p>
          <a:p>
            <a:pPr algn="just"/>
            <a:r>
              <a:rPr lang="en-GB" dirty="0"/>
              <a:t>Based on the evaluation and reflection information ,make necessary changes and adjustments to improve the instructional plan for next time.</a:t>
            </a:r>
          </a:p>
          <a:p>
            <a:pPr algn="just">
              <a:lnSpc>
                <a:spcPct val="150000"/>
              </a:lnSpc>
            </a:pPr>
            <a:endParaRPr lang="en-GB" sz="1800" dirty="0"/>
          </a:p>
        </p:txBody>
      </p:sp>
      <p:sp>
        <p:nvSpPr>
          <p:cNvPr id="103" name="Google Shape;103;p14"/>
          <p:cNvSpPr txBox="1">
            <a:spLocks noGrp="1"/>
          </p:cNvSpPr>
          <p:nvPr>
            <p:ph type="ctrTitle" idx="4294967295"/>
          </p:nvPr>
        </p:nvSpPr>
        <p:spPr>
          <a:xfrm>
            <a:off x="852424" y="609600"/>
            <a:ext cx="7694613" cy="495300"/>
          </a:xfrm>
          <a:prstGeom prst="rect">
            <a:avLst/>
          </a:prstGeom>
        </p:spPr>
        <p:txBody>
          <a:bodyPr spcFirstLastPara="1" vert="horz" wrap="square" lIns="91425" tIns="91425" rIns="91425" bIns="91425" rtlCol="0" anchor="ctr" anchorCtr="0">
            <a:noAutofit/>
          </a:bodyPr>
          <a:lstStyle/>
          <a:p>
            <a:pPr lvl="0"/>
            <a:r>
              <a:rPr lang="en-GB" sz="2400" dirty="0">
                <a:solidFill>
                  <a:srgbClr val="FF0000"/>
                </a:solidFill>
                <a:latin typeface="Lora" panose="020B0604020202020204" charset="0"/>
              </a:rPr>
              <a:t>STEPS IN INSTRUCTIONAL PLANNING CONT’</a:t>
            </a:r>
            <a:endParaRPr sz="2400" dirty="0">
              <a:solidFill>
                <a:srgbClr val="FF0000"/>
              </a:solidFill>
              <a:latin typeface="Lora" panose="020B0604020202020204" charset="0"/>
            </a:endParaRPr>
          </a:p>
        </p:txBody>
      </p:sp>
      <p:cxnSp>
        <p:nvCxnSpPr>
          <p:cNvPr id="104" name="Google Shape;104;p14"/>
          <p:cNvCxnSpPr>
            <a:cxnSpLocks/>
          </p:cNvCxnSpPr>
          <p:nvPr/>
        </p:nvCxnSpPr>
        <p:spPr>
          <a:xfrm>
            <a:off x="6256422" y="1443781"/>
            <a:ext cx="2887479" cy="0"/>
          </a:xfrm>
          <a:prstGeom prst="straightConnector1">
            <a:avLst/>
          </a:prstGeom>
          <a:noFill/>
          <a:ln w="9525" cap="flat" cmpd="sng">
            <a:solidFill>
              <a:srgbClr val="CCCCCC"/>
            </a:solidFill>
            <a:prstDash val="solid"/>
            <a:round/>
            <a:headEnd type="none" w="med" len="med"/>
            <a:tailEnd type="none" w="med" len="med"/>
          </a:ln>
        </p:spPr>
      </p:cxnSp>
    </p:spTree>
    <p:extLst>
      <p:ext uri="{BB962C8B-B14F-4D97-AF65-F5344CB8AC3E}">
        <p14:creationId xmlns:p14="http://schemas.microsoft.com/office/powerpoint/2010/main" val="1202776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6300" y="817580"/>
            <a:ext cx="7391400" cy="5222840"/>
          </a:xfrm>
          <a:prstGeom prst="rect">
            <a:avLst/>
          </a:prstGeom>
        </p:spPr>
        <p:txBody>
          <a:bodyPr wrap="square">
            <a:spAutoFit/>
          </a:bodyPr>
          <a:lstStyle/>
          <a:p>
            <a:pPr>
              <a:lnSpc>
                <a:spcPct val="107000"/>
              </a:lnSpc>
              <a:spcAft>
                <a:spcPts val="600"/>
              </a:spcAft>
            </a:pPr>
            <a:r>
              <a:rPr lang="en-GB" sz="2800" b="1" u="sng" dirty="0">
                <a:solidFill>
                  <a:srgbClr val="FF0000"/>
                </a:solidFill>
                <a:latin typeface="+mj-lt"/>
                <a:ea typeface="Calibri" panose="020F0502020204030204" pitchFamily="34" charset="0"/>
                <a:cs typeface="Times New Roman" panose="02020603050405020304" pitchFamily="18" charset="0"/>
              </a:rPr>
              <a:t>Content Analysis</a:t>
            </a:r>
          </a:p>
          <a:p>
            <a:pPr>
              <a:lnSpc>
                <a:spcPct val="107000"/>
              </a:lnSpc>
              <a:spcAft>
                <a:spcPts val="600"/>
              </a:spcAft>
            </a:pPr>
            <a:r>
              <a:rPr lang="en-GB" sz="2800" dirty="0">
                <a:latin typeface="+mj-lt"/>
                <a:ea typeface="Calibri" panose="020F0502020204030204" pitchFamily="34" charset="0"/>
                <a:cs typeface="Times New Roman" panose="02020603050405020304" pitchFamily="18" charset="0"/>
              </a:rPr>
              <a:t>Content analysis means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breaking</a:t>
            </a:r>
            <a:r>
              <a:rPr lang="en-GB" sz="2800" dirty="0">
                <a:latin typeface="+mj-lt"/>
                <a:ea typeface="Calibri" panose="020F0502020204030204" pitchFamily="34" charset="0"/>
                <a:cs typeface="Times New Roman" panose="02020603050405020304" pitchFamily="18" charset="0"/>
              </a:rPr>
              <a:t> the content into its constituent parts. </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A scientific and systematic planning of instruction enables the teacher to be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fully in command</a:t>
            </a:r>
            <a:r>
              <a:rPr lang="en-GB" sz="2800" dirty="0">
                <a:latin typeface="+mj-lt"/>
                <a:ea typeface="Calibri" panose="020F0502020204030204" pitchFamily="34" charset="0"/>
                <a:cs typeface="Times New Roman" panose="02020603050405020304" pitchFamily="18" charset="0"/>
              </a:rPr>
              <a:t> of the system rather than be commanded by it.</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The teacher has to utilise his/her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imagination</a:t>
            </a:r>
            <a:r>
              <a:rPr lang="en-GB" sz="2800" dirty="0">
                <a:latin typeface="+mj-lt"/>
                <a:ea typeface="Calibri" panose="020F0502020204030204" pitchFamily="34" charset="0"/>
                <a:cs typeface="Times New Roman" panose="02020603050405020304" pitchFamily="18" charset="0"/>
              </a:rPr>
              <a:t>,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creativity</a:t>
            </a:r>
            <a:r>
              <a:rPr lang="en-GB" sz="2800" dirty="0">
                <a:latin typeface="+mj-lt"/>
                <a:ea typeface="Calibri" panose="020F0502020204030204" pitchFamily="34" charset="0"/>
                <a:cs typeface="Times New Roman" panose="02020603050405020304" pitchFamily="18" charset="0"/>
              </a:rPr>
              <a:t> and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insight</a:t>
            </a:r>
            <a:r>
              <a:rPr lang="en-GB" sz="2800" dirty="0">
                <a:latin typeface="+mj-lt"/>
                <a:ea typeface="Calibri" panose="020F0502020204030204" pitchFamily="34" charset="0"/>
                <a:cs typeface="Times New Roman" panose="02020603050405020304" pitchFamily="18" charset="0"/>
              </a:rPr>
              <a:t> while following the steps of planning instruction. </a:t>
            </a:r>
          </a:p>
          <a:p>
            <a:pPr>
              <a:lnSpc>
                <a:spcPct val="107000"/>
              </a:lnSpc>
              <a:spcAft>
                <a:spcPts val="600"/>
              </a:spcAft>
            </a:pPr>
            <a:endParaRPr lang="en-GB" sz="135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066502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 are Concept Maps? — updated 2024 | IxD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838711"/>
            <a:ext cx="7467600" cy="5028690"/>
          </a:xfrm>
          <a:prstGeom prst="rect">
            <a:avLst/>
          </a:prstGeom>
          <a:noFill/>
          <a:ln>
            <a:noFill/>
          </a:ln>
        </p:spPr>
      </p:pic>
    </p:spTree>
    <p:extLst>
      <p:ext uri="{BB962C8B-B14F-4D97-AF65-F5344CB8AC3E}">
        <p14:creationId xmlns:p14="http://schemas.microsoft.com/office/powerpoint/2010/main" val="31015034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4883" y="1066800"/>
            <a:ext cx="7114233" cy="4611840"/>
          </a:xfrm>
          <a:prstGeom prst="rect">
            <a:avLst/>
          </a:prstGeom>
        </p:spPr>
        <p:txBody>
          <a:bodyPr wrap="square">
            <a:spAutoFit/>
          </a:bodyPr>
          <a:lstStyle/>
          <a:p>
            <a:pPr>
              <a:lnSpc>
                <a:spcPct val="107000"/>
              </a:lnSpc>
              <a:spcAft>
                <a:spcPts val="600"/>
              </a:spcAft>
            </a:pPr>
            <a:r>
              <a:rPr lang="en-GB" sz="2800" b="1" u="sng" dirty="0">
                <a:solidFill>
                  <a:srgbClr val="FF0000"/>
                </a:solidFill>
                <a:ea typeface="Calibri" panose="020F0502020204030204" pitchFamily="34" charset="0"/>
                <a:cs typeface="Times New Roman" panose="02020603050405020304" pitchFamily="18" charset="0"/>
              </a:rPr>
              <a:t>Educational and learning</a:t>
            </a:r>
            <a:endParaRPr lang="en-GB" sz="2800" b="1" u="sng" dirty="0">
              <a:solidFill>
                <a:srgbClr val="FF0000"/>
              </a:solidFill>
              <a:latin typeface="+mj-lt"/>
              <a:ea typeface="Calibri" panose="020F0502020204030204" pitchFamily="34" charset="0"/>
              <a:cs typeface="Times New Roman" panose="02020603050405020304" pitchFamily="18" charset="0"/>
            </a:endParaRPr>
          </a:p>
          <a:p>
            <a:pPr>
              <a:lnSpc>
                <a:spcPct val="107000"/>
              </a:lnSpc>
              <a:spcAft>
                <a:spcPts val="600"/>
              </a:spcAft>
            </a:pPr>
            <a:r>
              <a:rPr lang="en-GB" sz="2800" dirty="0">
                <a:latin typeface="+mj-lt"/>
                <a:ea typeface="Calibri" panose="020F0502020204030204" pitchFamily="34" charset="0"/>
                <a:cs typeface="Times New Roman" panose="02020603050405020304" pitchFamily="18" charset="0"/>
              </a:rPr>
              <a:t>Knowledge does not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respect </a:t>
            </a:r>
            <a:r>
              <a:rPr lang="en-GB" sz="2800" dirty="0">
                <a:latin typeface="+mj-lt"/>
                <a:ea typeface="Calibri" panose="020F0502020204030204" pitchFamily="34" charset="0"/>
                <a:cs typeface="Times New Roman" panose="02020603050405020304" pitchFamily="18" charset="0"/>
              </a:rPr>
              <a:t>any boundaries. </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Any topic can be extended beyond its limits.</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The  teacher has to keep in mind the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educational and learning </a:t>
            </a:r>
            <a:r>
              <a:rPr lang="en-GB" sz="2800" dirty="0">
                <a:latin typeface="+mj-lt"/>
                <a:ea typeface="Calibri" panose="020F0502020204030204" pitchFamily="34" charset="0"/>
                <a:cs typeface="Times New Roman" panose="02020603050405020304" pitchFamily="18" charset="0"/>
              </a:rPr>
              <a:t>needs of students. </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He/she has to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delimit</a:t>
            </a:r>
            <a:r>
              <a:rPr lang="en-GB" sz="2800" dirty="0">
                <a:latin typeface="+mj-lt"/>
                <a:ea typeface="Calibri" panose="020F0502020204030204" pitchFamily="34" charset="0"/>
                <a:cs typeface="Times New Roman" panose="02020603050405020304" pitchFamily="18" charset="0"/>
              </a:rPr>
              <a:t> the contents to be taught. </a:t>
            </a:r>
          </a:p>
          <a:p>
            <a:pPr marL="428625" indent="-428625">
              <a:lnSpc>
                <a:spcPct val="107000"/>
              </a:lnSpc>
              <a:spcAft>
                <a:spcPts val="600"/>
              </a:spcAft>
              <a:buFont typeface="Wingdings" panose="05000000000000000000" pitchFamily="2" charset="2"/>
              <a:buChar char="§"/>
            </a:pPr>
            <a:r>
              <a:rPr lang="en-GB" sz="2800" dirty="0">
                <a:latin typeface="+mj-lt"/>
                <a:ea typeface="Calibri" panose="020F0502020204030204" pitchFamily="34" charset="0"/>
                <a:cs typeface="Times New Roman" panose="02020603050405020304" pitchFamily="18" charset="0"/>
              </a:rPr>
              <a:t>The teacher has to properly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analyses</a:t>
            </a:r>
            <a:r>
              <a:rPr lang="en-GB" sz="2800" dirty="0">
                <a:latin typeface="+mj-lt"/>
                <a:ea typeface="Calibri" panose="020F0502020204030204" pitchFamily="34" charset="0"/>
                <a:cs typeface="Times New Roman" panose="02020603050405020304" pitchFamily="18" charset="0"/>
              </a:rPr>
              <a:t> the content to be taught to the students.</a:t>
            </a:r>
          </a:p>
        </p:txBody>
      </p:sp>
    </p:spTree>
    <p:extLst>
      <p:ext uri="{BB962C8B-B14F-4D97-AF65-F5344CB8AC3E}">
        <p14:creationId xmlns:p14="http://schemas.microsoft.com/office/powerpoint/2010/main" val="25945605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1219200"/>
            <a:ext cx="6963509" cy="3228769"/>
          </a:xfrm>
          <a:prstGeom prst="rect">
            <a:avLst/>
          </a:prstGeom>
        </p:spPr>
        <p:txBody>
          <a:bodyPr wrap="square">
            <a:spAutoFit/>
          </a:bodyPr>
          <a:lstStyle/>
          <a:p>
            <a:pPr>
              <a:lnSpc>
                <a:spcPct val="107000"/>
              </a:lnSpc>
              <a:spcAft>
                <a:spcPts val="600"/>
              </a:spcAft>
            </a:pPr>
            <a:r>
              <a:rPr lang="en-GB" sz="2800" b="1" u="sng" dirty="0">
                <a:solidFill>
                  <a:srgbClr val="FF0000"/>
                </a:solidFill>
                <a:latin typeface="+mj-lt"/>
                <a:ea typeface="Calibri" panose="020F0502020204030204" pitchFamily="34" charset="0"/>
                <a:cs typeface="Times New Roman" panose="02020603050405020304" pitchFamily="18" charset="0"/>
              </a:rPr>
              <a:t>Organizing the Content</a:t>
            </a:r>
            <a:endParaRPr lang="en-GB" sz="2800" u="sng" dirty="0">
              <a:solidFill>
                <a:srgbClr val="FF0000"/>
              </a:solidFill>
              <a:latin typeface="+mj-lt"/>
              <a:ea typeface="Calibri" panose="020F0502020204030204" pitchFamily="34" charset="0"/>
              <a:cs typeface="Times New Roman" panose="02020603050405020304" pitchFamily="18" charset="0"/>
            </a:endParaRPr>
          </a:p>
          <a:p>
            <a:pPr>
              <a:lnSpc>
                <a:spcPct val="107000"/>
              </a:lnSpc>
              <a:spcAft>
                <a:spcPts val="600"/>
              </a:spcAft>
            </a:pPr>
            <a:r>
              <a:rPr lang="en-GB" sz="2800" dirty="0">
                <a:latin typeface="+mj-lt"/>
                <a:ea typeface="Calibri" panose="020F0502020204030204" pitchFamily="34" charset="0"/>
                <a:cs typeface="Times New Roman" panose="02020603050405020304" pitchFamily="18" charset="0"/>
              </a:rPr>
              <a:t>The teacher must:</a:t>
            </a:r>
          </a:p>
          <a:p>
            <a:pPr marL="342900" indent="-342900">
              <a:lnSpc>
                <a:spcPct val="107000"/>
              </a:lnSpc>
              <a:spcAft>
                <a:spcPts val="600"/>
              </a:spcAft>
              <a:buFont typeface="Wingdings" panose="05000000000000000000" pitchFamily="2" charset="2"/>
              <a:buChar char="§"/>
            </a:pP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identifies</a:t>
            </a:r>
            <a:r>
              <a:rPr lang="en-GB" sz="2800" dirty="0">
                <a:latin typeface="+mj-lt"/>
                <a:ea typeface="Calibri" panose="020F0502020204030204" pitchFamily="34" charset="0"/>
                <a:cs typeface="Times New Roman" panose="02020603050405020304" pitchFamily="18" charset="0"/>
              </a:rPr>
              <a:t> topics given in the curriculum,</a:t>
            </a:r>
          </a:p>
          <a:p>
            <a:pPr marL="342900" indent="-342900">
              <a:lnSpc>
                <a:spcPct val="107000"/>
              </a:lnSpc>
              <a:spcAft>
                <a:spcPts val="600"/>
              </a:spcAft>
              <a:buFont typeface="Wingdings" panose="05000000000000000000" pitchFamily="2" charset="2"/>
              <a:buChar char="§"/>
            </a:pP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breaks </a:t>
            </a:r>
            <a:r>
              <a:rPr lang="en-GB" sz="2800" dirty="0">
                <a:latin typeface="+mj-lt"/>
                <a:ea typeface="Calibri" panose="020F0502020204030204" pitchFamily="34" charset="0"/>
                <a:cs typeface="Times New Roman" panose="02020603050405020304" pitchFamily="18" charset="0"/>
              </a:rPr>
              <a:t>these into their constituent parts, </a:t>
            </a:r>
          </a:p>
          <a:p>
            <a:pPr marL="342900" indent="-342900">
              <a:lnSpc>
                <a:spcPct val="107000"/>
              </a:lnSpc>
              <a:spcAft>
                <a:spcPts val="600"/>
              </a:spcAft>
              <a:buFont typeface="Wingdings" panose="05000000000000000000" pitchFamily="2" charset="2"/>
              <a:buChar char="§"/>
            </a:pP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arranges</a:t>
            </a:r>
            <a:r>
              <a:rPr lang="en-GB" sz="2800" dirty="0">
                <a:latin typeface="+mj-lt"/>
                <a:ea typeface="Calibri" panose="020F0502020204030204" pitchFamily="34" charset="0"/>
                <a:cs typeface="Times New Roman" panose="02020603050405020304" pitchFamily="18" charset="0"/>
              </a:rPr>
              <a:t> all these in a hierarchical sequence, </a:t>
            </a:r>
          </a:p>
          <a:p>
            <a:pPr marL="342900" indent="-342900">
              <a:lnSpc>
                <a:spcPct val="107000"/>
              </a:lnSpc>
              <a:spcAft>
                <a:spcPts val="600"/>
              </a:spcAft>
              <a:buFont typeface="Wingdings" panose="05000000000000000000" pitchFamily="2" charset="2"/>
              <a:buChar char="§"/>
            </a:pP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refines</a:t>
            </a:r>
            <a:r>
              <a:rPr lang="en-GB" sz="2800" dirty="0">
                <a:latin typeface="+mj-lt"/>
                <a:ea typeface="Calibri" panose="020F0502020204030204" pitchFamily="34" charset="0"/>
                <a:cs typeface="Times New Roman" panose="02020603050405020304" pitchFamily="18" charset="0"/>
              </a:rPr>
              <a:t> and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limits</a:t>
            </a:r>
            <a:r>
              <a:rPr lang="en-GB" sz="2800" dirty="0">
                <a:latin typeface="+mj-lt"/>
                <a:ea typeface="Calibri" panose="020F0502020204030204" pitchFamily="34" charset="0"/>
                <a:cs typeface="Times New Roman" panose="02020603050405020304" pitchFamily="18" charset="0"/>
              </a:rPr>
              <a:t> the topics.</a:t>
            </a:r>
          </a:p>
        </p:txBody>
      </p:sp>
    </p:spTree>
    <p:extLst>
      <p:ext uri="{BB962C8B-B14F-4D97-AF65-F5344CB8AC3E}">
        <p14:creationId xmlns:p14="http://schemas.microsoft.com/office/powerpoint/2010/main" val="16723759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1295400"/>
            <a:ext cx="6998677" cy="3996928"/>
          </a:xfrm>
          <a:prstGeom prst="rect">
            <a:avLst/>
          </a:prstGeom>
        </p:spPr>
        <p:txBody>
          <a:bodyPr wrap="square">
            <a:spAutoFit/>
          </a:bodyPr>
          <a:lstStyle/>
          <a:p>
            <a:pPr>
              <a:lnSpc>
                <a:spcPct val="107000"/>
              </a:lnSpc>
              <a:spcAft>
                <a:spcPts val="600"/>
              </a:spcAft>
            </a:pPr>
            <a:r>
              <a:rPr lang="en-GB" sz="2800" b="1" u="sng" dirty="0">
                <a:solidFill>
                  <a:srgbClr val="FF0000"/>
                </a:solidFill>
                <a:ea typeface="Calibri" panose="020F0502020204030204" pitchFamily="34" charset="0"/>
                <a:cs typeface="Times New Roman" panose="02020603050405020304" pitchFamily="18" charset="0"/>
              </a:rPr>
              <a:t>Syllabus Does Not Prescribe Content</a:t>
            </a:r>
          </a:p>
          <a:p>
            <a:pPr>
              <a:lnSpc>
                <a:spcPct val="107000"/>
              </a:lnSpc>
              <a:spcAft>
                <a:spcPts val="600"/>
              </a:spcAft>
            </a:pPr>
            <a:r>
              <a:rPr lang="en-GB" sz="2800" dirty="0">
                <a:ea typeface="Calibri" panose="020F0502020204030204" pitchFamily="34" charset="0"/>
                <a:cs typeface="Times New Roman" panose="02020603050405020304" pitchFamily="18" charset="0"/>
              </a:rPr>
              <a:t>A </a:t>
            </a:r>
            <a:r>
              <a:rPr lang="en-GB" sz="2800" b="1" dirty="0">
                <a:ea typeface="Calibri" panose="020F0502020204030204" pitchFamily="34" charset="0"/>
                <a:cs typeface="Times New Roman" panose="02020603050405020304" pitchFamily="18" charset="0"/>
              </a:rPr>
              <a:t>syllabus </a:t>
            </a:r>
            <a:r>
              <a:rPr lang="en-GB" sz="2800" dirty="0">
                <a:ea typeface="Calibri" panose="020F0502020204030204" pitchFamily="34" charset="0"/>
                <a:cs typeface="Times New Roman" panose="02020603050405020304" pitchFamily="18" charset="0"/>
              </a:rPr>
              <a:t>is only an indication of the </a:t>
            </a:r>
            <a:r>
              <a:rPr lang="en-GB" sz="2800" dirty="0">
                <a:solidFill>
                  <a:schemeClr val="accent4">
                    <a:lumMod val="60000"/>
                    <a:lumOff val="40000"/>
                  </a:schemeClr>
                </a:solidFill>
                <a:ea typeface="Calibri" panose="020F0502020204030204" pitchFamily="34" charset="0"/>
                <a:cs typeface="Times New Roman" panose="02020603050405020304" pitchFamily="18" charset="0"/>
              </a:rPr>
              <a:t>prescribed content</a:t>
            </a:r>
            <a:r>
              <a:rPr lang="en-GB" sz="2800" dirty="0">
                <a:ea typeface="Calibri" panose="020F0502020204030204" pitchFamily="34" charset="0"/>
                <a:cs typeface="Times New Roman" panose="02020603050405020304" pitchFamily="18" charset="0"/>
              </a:rPr>
              <a:t> and does not prescribe the </a:t>
            </a:r>
            <a:r>
              <a:rPr lang="en-GB" sz="2800" dirty="0">
                <a:solidFill>
                  <a:schemeClr val="accent4">
                    <a:lumMod val="60000"/>
                    <a:lumOff val="40000"/>
                  </a:schemeClr>
                </a:solidFill>
                <a:ea typeface="Calibri" panose="020F0502020204030204" pitchFamily="34" charset="0"/>
                <a:cs typeface="Times New Roman" panose="02020603050405020304" pitchFamily="18" charset="0"/>
              </a:rPr>
              <a:t>order</a:t>
            </a:r>
            <a:r>
              <a:rPr lang="en-GB" sz="2800" dirty="0">
                <a:ea typeface="Calibri" panose="020F0502020204030204" pitchFamily="34" charset="0"/>
                <a:cs typeface="Times New Roman" panose="02020603050405020304" pitchFamily="18" charset="0"/>
              </a:rPr>
              <a:t> in which topics should be taught. </a:t>
            </a:r>
          </a:p>
          <a:p>
            <a:pPr>
              <a:lnSpc>
                <a:spcPct val="107000"/>
              </a:lnSpc>
              <a:spcAft>
                <a:spcPts val="600"/>
              </a:spcAft>
            </a:pPr>
            <a:endParaRPr lang="en-GB" sz="2800" dirty="0">
              <a:ea typeface="Calibri" panose="020F0502020204030204" pitchFamily="34" charset="0"/>
              <a:cs typeface="Times New Roman" panose="02020603050405020304" pitchFamily="18" charset="0"/>
            </a:endParaRPr>
          </a:p>
          <a:p>
            <a:pPr marL="428625" indent="-428625">
              <a:lnSpc>
                <a:spcPct val="107000"/>
              </a:lnSpc>
              <a:spcAft>
                <a:spcPts val="600"/>
              </a:spcAft>
              <a:buFont typeface="Wingdings" panose="05000000000000000000" pitchFamily="2" charset="2"/>
              <a:buChar char="§"/>
            </a:pPr>
            <a:r>
              <a:rPr lang="en-GB" sz="2800" dirty="0">
                <a:ea typeface="Calibri" panose="020F0502020204030204" pitchFamily="34" charset="0"/>
                <a:cs typeface="Times New Roman" panose="02020603050405020304" pitchFamily="18" charset="0"/>
              </a:rPr>
              <a:t>The teacher therefore, has to </a:t>
            </a:r>
            <a:r>
              <a:rPr lang="en-GB" sz="2800" dirty="0">
                <a:solidFill>
                  <a:schemeClr val="accent4">
                    <a:lumMod val="60000"/>
                    <a:lumOff val="40000"/>
                  </a:schemeClr>
                </a:solidFill>
                <a:ea typeface="Calibri" panose="020F0502020204030204" pitchFamily="34" charset="0"/>
                <a:cs typeface="Times New Roman" panose="02020603050405020304" pitchFamily="18" charset="0"/>
              </a:rPr>
              <a:t>reconcile</a:t>
            </a:r>
            <a:r>
              <a:rPr lang="en-GB" sz="2800" dirty="0">
                <a:ea typeface="Calibri" panose="020F0502020204030204" pitchFamily="34" charset="0"/>
                <a:cs typeface="Times New Roman" panose="02020603050405020304" pitchFamily="18" charset="0"/>
              </a:rPr>
              <a:t> the </a:t>
            </a:r>
            <a:r>
              <a:rPr lang="en-GB" sz="2800" dirty="0">
                <a:solidFill>
                  <a:schemeClr val="accent4">
                    <a:lumMod val="60000"/>
                    <a:lumOff val="40000"/>
                  </a:schemeClr>
                </a:solidFill>
                <a:ea typeface="Calibri" panose="020F0502020204030204" pitchFamily="34" charset="0"/>
                <a:cs typeface="Times New Roman" panose="02020603050405020304" pitchFamily="18" charset="0"/>
              </a:rPr>
              <a:t>dictates</a:t>
            </a:r>
            <a:r>
              <a:rPr lang="en-GB" sz="2800" dirty="0">
                <a:ea typeface="Calibri" panose="020F0502020204030204" pitchFamily="34" charset="0"/>
                <a:cs typeface="Times New Roman" panose="02020603050405020304" pitchFamily="18" charset="0"/>
              </a:rPr>
              <a:t> of the syllabus with the educational and learning </a:t>
            </a:r>
            <a:r>
              <a:rPr lang="en-GB" sz="2800" dirty="0">
                <a:solidFill>
                  <a:schemeClr val="accent4">
                    <a:lumMod val="60000"/>
                    <a:lumOff val="40000"/>
                  </a:schemeClr>
                </a:solidFill>
                <a:ea typeface="Calibri" panose="020F0502020204030204" pitchFamily="34" charset="0"/>
                <a:cs typeface="Times New Roman" panose="02020603050405020304" pitchFamily="18" charset="0"/>
              </a:rPr>
              <a:t>needs</a:t>
            </a:r>
            <a:r>
              <a:rPr lang="en-GB" sz="2800" dirty="0">
                <a:ea typeface="Calibri" panose="020F0502020204030204" pitchFamily="34" charset="0"/>
                <a:cs typeface="Times New Roman" panose="02020603050405020304" pitchFamily="18" charset="0"/>
              </a:rPr>
              <a:t> of the students</a:t>
            </a:r>
          </a:p>
        </p:txBody>
      </p:sp>
    </p:spTree>
    <p:extLst>
      <p:ext uri="{BB962C8B-B14F-4D97-AF65-F5344CB8AC3E}">
        <p14:creationId xmlns:p14="http://schemas.microsoft.com/office/powerpoint/2010/main" val="40410320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864099"/>
            <a:ext cx="7315200" cy="5129802"/>
          </a:xfrm>
          <a:prstGeom prst="rect">
            <a:avLst/>
          </a:prstGeom>
        </p:spPr>
        <p:txBody>
          <a:bodyPr wrap="square">
            <a:spAutoFit/>
          </a:bodyPr>
          <a:lstStyle/>
          <a:p>
            <a:pPr>
              <a:lnSpc>
                <a:spcPct val="107000"/>
              </a:lnSpc>
              <a:spcAft>
                <a:spcPts val="600"/>
              </a:spcAft>
            </a:pPr>
            <a:r>
              <a:rPr lang="en-GB" sz="2400" b="1" u="sng" dirty="0">
                <a:solidFill>
                  <a:srgbClr val="FF0000"/>
                </a:solidFill>
                <a:ea typeface="Calibri" panose="020F0502020204030204" pitchFamily="34" charset="0"/>
                <a:cs typeface="Times New Roman" panose="02020603050405020304" pitchFamily="18" charset="0"/>
              </a:rPr>
              <a:t>Instructional Objectives </a:t>
            </a:r>
          </a:p>
          <a:p>
            <a:pPr>
              <a:lnSpc>
                <a:spcPct val="107000"/>
              </a:lnSpc>
              <a:spcAft>
                <a:spcPts val="600"/>
              </a:spcAft>
            </a:pPr>
            <a:r>
              <a:rPr lang="en-GB" sz="2400" dirty="0">
                <a:ea typeface="Calibri" panose="020F0502020204030204" pitchFamily="34" charset="0"/>
                <a:cs typeface="Times New Roman" panose="02020603050405020304" pitchFamily="18" charset="0"/>
              </a:rPr>
              <a:t>The teacher has to take up the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instructional objectives </a:t>
            </a:r>
            <a:r>
              <a:rPr lang="en-GB" sz="2400" dirty="0">
                <a:ea typeface="Calibri" panose="020F0502020204030204" pitchFamily="34" charset="0"/>
                <a:cs typeface="Times New Roman" panose="02020603050405020304" pitchFamily="18" charset="0"/>
              </a:rPr>
              <a:t>one by one and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analyse</a:t>
            </a:r>
            <a:r>
              <a:rPr lang="en-GB" sz="2400" dirty="0">
                <a:ea typeface="Calibri" panose="020F0502020204030204" pitchFamily="34" charset="0"/>
                <a:cs typeface="Times New Roman" panose="02020603050405020304" pitchFamily="18" charset="0"/>
              </a:rPr>
              <a:t> the related content accordingly. </a:t>
            </a:r>
          </a:p>
          <a:p>
            <a:pPr marL="428625" indent="-428625">
              <a:lnSpc>
                <a:spcPct val="107000"/>
              </a:lnSpc>
              <a:spcAft>
                <a:spcPts val="600"/>
              </a:spcAft>
              <a:buFont typeface="Wingdings" panose="05000000000000000000" pitchFamily="2" charset="2"/>
              <a:buChar char="§"/>
            </a:pPr>
            <a:r>
              <a:rPr lang="en-GB" sz="2400" dirty="0">
                <a:ea typeface="Calibri" panose="020F0502020204030204" pitchFamily="34" charset="0"/>
                <a:cs typeface="Times New Roman" panose="02020603050405020304" pitchFamily="18" charset="0"/>
              </a:rPr>
              <a:t>He/she takes up a topic and lists all the relevant subject material and ensures that it is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technically accurate </a:t>
            </a:r>
            <a:r>
              <a:rPr lang="en-GB" sz="2400" dirty="0">
                <a:ea typeface="Calibri" panose="020F0502020204030204" pitchFamily="34" charset="0"/>
                <a:cs typeface="Times New Roman" panose="02020603050405020304" pitchFamily="18" charset="0"/>
              </a:rPr>
              <a:t>and up-to-date. </a:t>
            </a:r>
          </a:p>
          <a:p>
            <a:pPr marL="428625" indent="-428625">
              <a:lnSpc>
                <a:spcPct val="107000"/>
              </a:lnSpc>
              <a:spcAft>
                <a:spcPts val="600"/>
              </a:spcAft>
              <a:buFont typeface="Wingdings" panose="05000000000000000000" pitchFamily="2" charset="2"/>
              <a:buChar char="§"/>
            </a:pPr>
            <a:r>
              <a:rPr lang="en-GB" sz="2400" dirty="0">
                <a:ea typeface="Calibri" panose="020F0502020204030204" pitchFamily="34" charset="0"/>
                <a:cs typeface="Times New Roman" panose="02020603050405020304" pitchFamily="18" charset="0"/>
              </a:rPr>
              <a:t>He/she later on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breaks </a:t>
            </a:r>
            <a:r>
              <a:rPr lang="en-GB" sz="2400" dirty="0">
                <a:ea typeface="Calibri" panose="020F0502020204030204" pitchFamily="34" charset="0"/>
                <a:cs typeface="Times New Roman" panose="02020603050405020304" pitchFamily="18" charset="0"/>
              </a:rPr>
              <a:t>the topic into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small constituent </a:t>
            </a:r>
            <a:r>
              <a:rPr lang="en-GB" sz="2400" dirty="0">
                <a:ea typeface="Calibri" panose="020F0502020204030204" pitchFamily="34" charset="0"/>
                <a:cs typeface="Times New Roman" panose="02020603050405020304" pitchFamily="18" charset="0"/>
              </a:rPr>
              <a:t>sub-topics and their elements, and ensures that the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elements </a:t>
            </a:r>
            <a:r>
              <a:rPr lang="en-GB" sz="2400" dirty="0">
                <a:ea typeface="Calibri" panose="020F0502020204030204" pitchFamily="34" charset="0"/>
                <a:cs typeface="Times New Roman" panose="02020603050405020304" pitchFamily="18" charset="0"/>
              </a:rPr>
              <a:t>included in the sub-topics are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a part </a:t>
            </a:r>
            <a:r>
              <a:rPr lang="en-GB" sz="2400" dirty="0">
                <a:ea typeface="Calibri" panose="020F0502020204030204" pitchFamily="34" charset="0"/>
                <a:cs typeface="Times New Roman" panose="02020603050405020304" pitchFamily="18" charset="0"/>
              </a:rPr>
              <a:t>of the main theme/topic. </a:t>
            </a:r>
          </a:p>
          <a:p>
            <a:pPr marL="428625" indent="-428625">
              <a:lnSpc>
                <a:spcPct val="107000"/>
              </a:lnSpc>
              <a:spcAft>
                <a:spcPts val="600"/>
              </a:spcAft>
              <a:buFont typeface="Arial" panose="020B0604020202020204" pitchFamily="34" charset="0"/>
              <a:buChar char="•"/>
            </a:pPr>
            <a:r>
              <a:rPr lang="en-GB" sz="2400" dirty="0">
                <a:ea typeface="Calibri" panose="020F0502020204030204" pitchFamily="34" charset="0"/>
                <a:cs typeface="Times New Roman" panose="02020603050405020304" pitchFamily="18" charset="0"/>
              </a:rPr>
              <a:t>He/she must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identifies </a:t>
            </a:r>
            <a:r>
              <a:rPr lang="en-GB" sz="2400" dirty="0">
                <a:ea typeface="Calibri" panose="020F0502020204030204" pitchFamily="34" charset="0"/>
                <a:cs typeface="Times New Roman" panose="02020603050405020304" pitchFamily="18" charset="0"/>
              </a:rPr>
              <a:t>the topics according to the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needs </a:t>
            </a:r>
            <a:r>
              <a:rPr lang="en-GB" sz="2400" dirty="0">
                <a:ea typeface="Calibri" panose="020F0502020204030204" pitchFamily="34" charset="0"/>
                <a:cs typeface="Times New Roman" panose="02020603050405020304" pitchFamily="18" charset="0"/>
              </a:rPr>
              <a:t>and </a:t>
            </a:r>
            <a:r>
              <a:rPr lang="en-GB" sz="2400" dirty="0">
                <a:solidFill>
                  <a:schemeClr val="accent4">
                    <a:lumMod val="60000"/>
                    <a:lumOff val="40000"/>
                  </a:schemeClr>
                </a:solidFill>
                <a:ea typeface="Calibri" panose="020F0502020204030204" pitchFamily="34" charset="0"/>
                <a:cs typeface="Times New Roman" panose="02020603050405020304" pitchFamily="18" charset="0"/>
              </a:rPr>
              <a:t>interests</a:t>
            </a:r>
            <a:r>
              <a:rPr lang="en-GB" sz="2400" dirty="0">
                <a:ea typeface="Calibri" panose="020F0502020204030204" pitchFamily="34" charset="0"/>
                <a:cs typeface="Times New Roman" panose="02020603050405020304" pitchFamily="18" charset="0"/>
              </a:rPr>
              <a:t> of the students.</a:t>
            </a:r>
          </a:p>
        </p:txBody>
      </p:sp>
    </p:spTree>
    <p:extLst>
      <p:ext uri="{BB962C8B-B14F-4D97-AF65-F5344CB8AC3E}">
        <p14:creationId xmlns:p14="http://schemas.microsoft.com/office/powerpoint/2010/main" val="6868261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838200"/>
            <a:ext cx="7551335" cy="4457952"/>
          </a:xfrm>
          <a:prstGeom prst="rect">
            <a:avLst/>
          </a:prstGeom>
        </p:spPr>
        <p:txBody>
          <a:bodyPr wrap="square">
            <a:spAutoFit/>
          </a:bodyPr>
          <a:lstStyle/>
          <a:p>
            <a:pPr>
              <a:lnSpc>
                <a:spcPct val="107000"/>
              </a:lnSpc>
              <a:spcAft>
                <a:spcPts val="600"/>
              </a:spcAft>
            </a:pPr>
            <a:r>
              <a:rPr lang="en-GB" sz="2800" b="1" u="sng" dirty="0">
                <a:solidFill>
                  <a:srgbClr val="FF0000"/>
                </a:solidFill>
                <a:ea typeface="Calibri" panose="020F0502020204030204" pitchFamily="34" charset="0"/>
                <a:cs typeface="Times New Roman" panose="02020603050405020304" pitchFamily="18" charset="0"/>
              </a:rPr>
              <a:t>Elements and Sub-topics </a:t>
            </a:r>
          </a:p>
          <a:p>
            <a:pPr>
              <a:lnSpc>
                <a:spcPct val="107000"/>
              </a:lnSpc>
              <a:spcAft>
                <a:spcPts val="600"/>
              </a:spcAft>
            </a:pPr>
            <a:r>
              <a:rPr lang="en-GB" sz="2800" dirty="0">
                <a:latin typeface="+mj-lt"/>
                <a:ea typeface="Calibri" panose="020F0502020204030204" pitchFamily="34" charset="0"/>
                <a:cs typeface="Times New Roman" panose="02020603050405020304" pitchFamily="18" charset="0"/>
              </a:rPr>
              <a:t>Some of the elements and sub-topics may be dropped because they deal with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everyday knowledge</a:t>
            </a:r>
            <a:r>
              <a:rPr lang="en-GB" sz="2800" dirty="0">
                <a:latin typeface="+mj-lt"/>
                <a:ea typeface="Calibri" panose="020F0502020204030204" pitchFamily="34" charset="0"/>
                <a:cs typeface="Times New Roman" panose="02020603050405020304" pitchFamily="18" charset="0"/>
              </a:rPr>
              <a:t>. </a:t>
            </a:r>
          </a:p>
          <a:p>
            <a:pPr marL="428625" indent="-428625">
              <a:lnSpc>
                <a:spcPct val="107000"/>
              </a:lnSpc>
              <a:spcAft>
                <a:spcPts val="600"/>
              </a:spcAft>
              <a:buFont typeface="Arial" panose="020B0604020202020204" pitchFamily="34" charset="0"/>
              <a:buChar char="•"/>
            </a:pPr>
            <a:r>
              <a:rPr lang="en-GB" sz="2800" dirty="0">
                <a:latin typeface="+mj-lt"/>
                <a:ea typeface="Calibri" panose="020F0502020204030204" pitchFamily="34" charset="0"/>
                <a:cs typeface="Times New Roman" panose="02020603050405020304" pitchFamily="18" charset="0"/>
              </a:rPr>
              <a:t>Such sub-topics need not be taken up for instruction. </a:t>
            </a:r>
          </a:p>
          <a:p>
            <a:pPr marL="428625" indent="-428625">
              <a:lnSpc>
                <a:spcPct val="107000"/>
              </a:lnSpc>
              <a:spcAft>
                <a:spcPts val="600"/>
              </a:spcAft>
              <a:buFont typeface="Arial" panose="020B0604020202020204" pitchFamily="34" charset="0"/>
              <a:buChar char="•"/>
            </a:pPr>
            <a:r>
              <a:rPr lang="en-GB" sz="2800" dirty="0">
                <a:latin typeface="+mj-lt"/>
                <a:ea typeface="Calibri" panose="020F0502020204030204" pitchFamily="34" charset="0"/>
                <a:cs typeface="Times New Roman" panose="02020603050405020304" pitchFamily="18" charset="0"/>
              </a:rPr>
              <a:t>Similarly, a teacher may not like to take up certain elements or sub-topics because these do not match the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mental level </a:t>
            </a:r>
            <a:r>
              <a:rPr lang="en-GB" sz="2800" dirty="0">
                <a:latin typeface="+mj-lt"/>
                <a:ea typeface="Calibri" panose="020F0502020204030204" pitchFamily="34" charset="0"/>
                <a:cs typeface="Times New Roman" panose="02020603050405020304" pitchFamily="18" charset="0"/>
              </a:rPr>
              <a:t>and </a:t>
            </a:r>
            <a:r>
              <a:rPr lang="en-GB" sz="2800" dirty="0">
                <a:solidFill>
                  <a:schemeClr val="accent4">
                    <a:lumMod val="60000"/>
                    <a:lumOff val="40000"/>
                  </a:schemeClr>
                </a:solidFill>
                <a:latin typeface="+mj-lt"/>
                <a:ea typeface="Calibri" panose="020F0502020204030204" pitchFamily="34" charset="0"/>
                <a:cs typeface="Times New Roman" panose="02020603050405020304" pitchFamily="18" charset="0"/>
              </a:rPr>
              <a:t>age</a:t>
            </a:r>
            <a:r>
              <a:rPr lang="en-GB" sz="2800" dirty="0">
                <a:latin typeface="+mj-lt"/>
                <a:ea typeface="Calibri" panose="020F0502020204030204" pitchFamily="34" charset="0"/>
                <a:cs typeface="Times New Roman" panose="02020603050405020304" pitchFamily="18" charset="0"/>
              </a:rPr>
              <a:t> of the students and are therefore, inappropriate.</a:t>
            </a:r>
          </a:p>
        </p:txBody>
      </p:sp>
    </p:spTree>
    <p:extLst>
      <p:ext uri="{BB962C8B-B14F-4D97-AF65-F5344CB8AC3E}">
        <p14:creationId xmlns:p14="http://schemas.microsoft.com/office/powerpoint/2010/main" val="10092608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5028" y="1066800"/>
            <a:ext cx="7053943" cy="4401205"/>
          </a:xfrm>
          <a:prstGeom prst="rect">
            <a:avLst/>
          </a:prstGeom>
        </p:spPr>
        <p:txBody>
          <a:bodyPr wrap="square">
            <a:spAutoFit/>
          </a:bodyPr>
          <a:lstStyle/>
          <a:p>
            <a:r>
              <a:rPr lang="en-GB" sz="2800" b="1" u="sng" dirty="0">
                <a:solidFill>
                  <a:srgbClr val="FF0000"/>
                </a:solidFill>
              </a:rPr>
              <a:t>Limits of the Topics to be Learned</a:t>
            </a:r>
          </a:p>
          <a:p>
            <a:r>
              <a:rPr lang="en-GB" sz="2800" dirty="0"/>
              <a:t> Once the subject matter has been</a:t>
            </a:r>
            <a:r>
              <a:rPr lang="en-GB" sz="2800" dirty="0">
                <a:solidFill>
                  <a:schemeClr val="accent4">
                    <a:lumMod val="60000"/>
                    <a:lumOff val="40000"/>
                  </a:schemeClr>
                </a:solidFill>
              </a:rPr>
              <a:t> identified</a:t>
            </a:r>
            <a:r>
              <a:rPr lang="en-GB" sz="2800" dirty="0"/>
              <a:t>, the next step is to </a:t>
            </a:r>
            <a:r>
              <a:rPr lang="en-GB" sz="2800" dirty="0">
                <a:solidFill>
                  <a:schemeClr val="accent4">
                    <a:lumMod val="60000"/>
                    <a:lumOff val="40000"/>
                  </a:schemeClr>
                </a:solidFill>
              </a:rPr>
              <a:t>refine </a:t>
            </a:r>
            <a:r>
              <a:rPr lang="en-GB" sz="2800" dirty="0"/>
              <a:t>and </a:t>
            </a:r>
            <a:r>
              <a:rPr lang="en-GB" sz="2800" dirty="0">
                <a:solidFill>
                  <a:schemeClr val="accent4">
                    <a:lumMod val="60000"/>
                    <a:lumOff val="40000"/>
                  </a:schemeClr>
                </a:solidFill>
              </a:rPr>
              <a:t>mention</a:t>
            </a:r>
            <a:r>
              <a:rPr lang="en-GB" sz="2800" dirty="0"/>
              <a:t> the limits of the topics that the students are </a:t>
            </a:r>
            <a:r>
              <a:rPr lang="en-GB" sz="2800" dirty="0">
                <a:solidFill>
                  <a:schemeClr val="accent4">
                    <a:lumMod val="60000"/>
                    <a:lumOff val="40000"/>
                  </a:schemeClr>
                </a:solidFill>
              </a:rPr>
              <a:t>required</a:t>
            </a:r>
            <a:r>
              <a:rPr lang="en-GB" sz="2800" dirty="0"/>
              <a:t> to learn and to ensure that the topic as </a:t>
            </a:r>
            <a:r>
              <a:rPr lang="en-GB" sz="2800" dirty="0">
                <a:solidFill>
                  <a:schemeClr val="accent4">
                    <a:lumMod val="60000"/>
                    <a:lumOff val="40000"/>
                  </a:schemeClr>
                </a:solidFill>
              </a:rPr>
              <a:t>self-contained</a:t>
            </a:r>
            <a:r>
              <a:rPr lang="en-GB" sz="2800" dirty="0"/>
              <a:t>, as possible. </a:t>
            </a:r>
          </a:p>
          <a:p>
            <a:pPr marL="428625" indent="-428625">
              <a:buFont typeface="Wingdings" panose="05000000000000000000" pitchFamily="2" charset="2"/>
              <a:buChar char="§"/>
            </a:pPr>
            <a:r>
              <a:rPr lang="en-GB" sz="2800" dirty="0"/>
              <a:t>The </a:t>
            </a:r>
            <a:r>
              <a:rPr lang="en-GB" sz="2800" dirty="0">
                <a:solidFill>
                  <a:schemeClr val="accent4">
                    <a:lumMod val="60000"/>
                    <a:lumOff val="40000"/>
                  </a:schemeClr>
                </a:solidFill>
              </a:rPr>
              <a:t>same </a:t>
            </a:r>
            <a:r>
              <a:rPr lang="en-GB" sz="2800" dirty="0"/>
              <a:t>content may be taught at </a:t>
            </a:r>
            <a:r>
              <a:rPr lang="en-GB" sz="2800" dirty="0">
                <a:solidFill>
                  <a:schemeClr val="accent4">
                    <a:lumMod val="60000"/>
                    <a:lumOff val="40000"/>
                  </a:schemeClr>
                </a:solidFill>
              </a:rPr>
              <a:t>various levels</a:t>
            </a:r>
            <a:r>
              <a:rPr lang="en-GB" sz="2800" dirty="0"/>
              <a:t> but the </a:t>
            </a:r>
            <a:r>
              <a:rPr lang="en-GB" sz="2800" dirty="0">
                <a:solidFill>
                  <a:schemeClr val="accent4">
                    <a:lumMod val="60000"/>
                    <a:lumOff val="40000"/>
                  </a:schemeClr>
                </a:solidFill>
              </a:rPr>
              <a:t>details</a:t>
            </a:r>
            <a:r>
              <a:rPr lang="en-GB" sz="2800" dirty="0"/>
              <a:t> and the t</a:t>
            </a:r>
            <a:r>
              <a:rPr lang="en-GB" sz="2800" dirty="0">
                <a:solidFill>
                  <a:schemeClr val="accent4">
                    <a:lumMod val="60000"/>
                    <a:lumOff val="40000"/>
                  </a:schemeClr>
                </a:solidFill>
              </a:rPr>
              <a:t>reatment</a:t>
            </a:r>
            <a:r>
              <a:rPr lang="en-GB" sz="2800" dirty="0"/>
              <a:t> of the content is determined by the level of teaching a </a:t>
            </a:r>
            <a:r>
              <a:rPr lang="en-GB" sz="2800" dirty="0">
                <a:solidFill>
                  <a:schemeClr val="accent4">
                    <a:lumMod val="60000"/>
                    <a:lumOff val="40000"/>
                  </a:schemeClr>
                </a:solidFill>
              </a:rPr>
              <a:t>particular </a:t>
            </a:r>
            <a:r>
              <a:rPr lang="en-GB" sz="2800" dirty="0"/>
              <a:t>class of students.</a:t>
            </a:r>
          </a:p>
        </p:txBody>
      </p:sp>
    </p:spTree>
    <p:extLst>
      <p:ext uri="{BB962C8B-B14F-4D97-AF65-F5344CB8AC3E}">
        <p14:creationId xmlns:p14="http://schemas.microsoft.com/office/powerpoint/2010/main" val="14181988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1" y="857251"/>
            <a:ext cx="7315200" cy="4834337"/>
          </a:xfrm>
          <a:prstGeom prst="rect">
            <a:avLst/>
          </a:prstGeom>
        </p:spPr>
        <p:txBody>
          <a:bodyPr wrap="square">
            <a:spAutoFit/>
          </a:bodyPr>
          <a:lstStyle/>
          <a:p>
            <a:pPr>
              <a:lnSpc>
                <a:spcPct val="107000"/>
              </a:lnSpc>
              <a:spcAft>
                <a:spcPts val="600"/>
              </a:spcAft>
            </a:pPr>
            <a:r>
              <a:rPr lang="en-GB" sz="2250" b="1" dirty="0">
                <a:solidFill>
                  <a:srgbClr val="FF0000"/>
                </a:solidFill>
                <a:latin typeface="+mj-lt"/>
                <a:ea typeface="Calibri" panose="020F0502020204030204" pitchFamily="34" charset="0"/>
                <a:cs typeface="Times New Roman" panose="02020603050405020304" pitchFamily="18" charset="0"/>
              </a:rPr>
              <a:t>Example:</a:t>
            </a:r>
          </a:p>
          <a:p>
            <a:pPr>
              <a:lnSpc>
                <a:spcPct val="107000"/>
              </a:lnSpc>
              <a:spcAft>
                <a:spcPts val="600"/>
              </a:spcAft>
            </a:pPr>
            <a:r>
              <a:rPr lang="en-GB" sz="2250" dirty="0">
                <a:latin typeface="+mj-lt"/>
                <a:ea typeface="Calibri" panose="020F0502020204030204" pitchFamily="34" charset="0"/>
                <a:cs typeface="Times New Roman" panose="02020603050405020304" pitchFamily="18" charset="0"/>
              </a:rPr>
              <a:t>Under the topic </a:t>
            </a:r>
            <a:r>
              <a:rPr lang="en-GB" sz="2250" b="1" dirty="0">
                <a:latin typeface="+mj-lt"/>
                <a:ea typeface="Calibri" panose="020F0502020204030204" pitchFamily="34" charset="0"/>
                <a:cs typeface="Times New Roman" panose="02020603050405020304" pitchFamily="18" charset="0"/>
              </a:rPr>
              <a:t>'Personality Assessment' </a:t>
            </a:r>
            <a:r>
              <a:rPr lang="en-GB" sz="2250" dirty="0">
                <a:latin typeface="+mj-lt"/>
                <a:ea typeface="Calibri" panose="020F0502020204030204" pitchFamily="34" charset="0"/>
                <a:cs typeface="Times New Roman" panose="02020603050405020304" pitchFamily="18" charset="0"/>
              </a:rPr>
              <a:t>involves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projective </a:t>
            </a:r>
            <a:r>
              <a:rPr lang="en-GB" sz="2250" dirty="0">
                <a:latin typeface="+mj-lt"/>
                <a:ea typeface="Calibri" panose="020F0502020204030204" pitchFamily="34" charset="0"/>
                <a:cs typeface="Times New Roman" panose="02020603050405020304" pitchFamily="18" charset="0"/>
              </a:rPr>
              <a:t>and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non-projective </a:t>
            </a:r>
            <a:r>
              <a:rPr lang="en-GB" sz="2250" dirty="0">
                <a:latin typeface="+mj-lt"/>
                <a:ea typeface="Calibri" panose="020F0502020204030204" pitchFamily="34" charset="0"/>
                <a:cs typeface="Times New Roman" panose="02020603050405020304" pitchFamily="18" charset="0"/>
              </a:rPr>
              <a:t>techniques and under each heading there are a large number of techniques. </a:t>
            </a:r>
          </a:p>
          <a:p>
            <a:pPr marL="342900" indent="-342900">
              <a:lnSpc>
                <a:spcPct val="107000"/>
              </a:lnSpc>
              <a:spcAft>
                <a:spcPts val="600"/>
              </a:spcAft>
              <a:buFont typeface="Wingdings" panose="05000000000000000000" pitchFamily="2" charset="2"/>
              <a:buChar char="§"/>
            </a:pPr>
            <a:r>
              <a:rPr lang="en-GB" sz="2250" dirty="0">
                <a:latin typeface="+mj-lt"/>
                <a:ea typeface="Calibri" panose="020F0502020204030204" pitchFamily="34" charset="0"/>
                <a:cs typeface="Times New Roman" panose="02020603050405020304" pitchFamily="18" charset="0"/>
              </a:rPr>
              <a:t>The teacher will have to specify which techniques should be include, and what particular technique he/she would like to take up with the given class. </a:t>
            </a:r>
          </a:p>
          <a:p>
            <a:pPr marL="342900" indent="-342900">
              <a:lnSpc>
                <a:spcPct val="107000"/>
              </a:lnSpc>
              <a:spcAft>
                <a:spcPts val="600"/>
              </a:spcAft>
              <a:buFont typeface="Wingdings" panose="05000000000000000000" pitchFamily="2" charset="2"/>
              <a:buChar char="§"/>
            </a:pPr>
            <a:r>
              <a:rPr lang="en-GB" sz="2250" dirty="0">
                <a:latin typeface="+mj-lt"/>
                <a:ea typeface="Calibri" panose="020F0502020204030204" pitchFamily="34" charset="0"/>
                <a:cs typeface="Times New Roman" panose="02020603050405020304" pitchFamily="18" charset="0"/>
              </a:rPr>
              <a:t>Again, for each particular technique the teacher will mention the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limits of study </a:t>
            </a:r>
            <a:r>
              <a:rPr lang="en-GB" sz="2250" dirty="0">
                <a:latin typeface="+mj-lt"/>
                <a:ea typeface="Calibri" panose="020F0502020204030204" pitchFamily="34" charset="0"/>
                <a:cs typeface="Times New Roman" panose="02020603050405020304" pitchFamily="18" charset="0"/>
              </a:rPr>
              <a:t>i.e. characteristics of the techniques and utility for psychoanalysis’s </a:t>
            </a:r>
          </a:p>
          <a:p>
            <a:pPr marL="342900" indent="-342900">
              <a:lnSpc>
                <a:spcPct val="107000"/>
              </a:lnSpc>
              <a:spcAft>
                <a:spcPts val="600"/>
              </a:spcAft>
              <a:buFont typeface="Wingdings" panose="05000000000000000000" pitchFamily="2" charset="2"/>
              <a:buChar char="§"/>
            </a:pPr>
            <a:r>
              <a:rPr lang="en-GB" sz="2250" dirty="0">
                <a:latin typeface="+mj-lt"/>
                <a:ea typeface="Calibri" panose="020F0502020204030204" pitchFamily="34" charset="0"/>
                <a:cs typeface="Times New Roman" panose="02020603050405020304" pitchFamily="18" charset="0"/>
              </a:rPr>
              <a:t>All these things help in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refining and limiting </a:t>
            </a:r>
            <a:r>
              <a:rPr lang="en-GB" sz="2250" dirty="0">
                <a:latin typeface="+mj-lt"/>
                <a:ea typeface="Calibri" panose="020F0502020204030204" pitchFamily="34" charset="0"/>
                <a:cs typeface="Times New Roman" panose="02020603050405020304" pitchFamily="18" charset="0"/>
              </a:rPr>
              <a:t>the content according to the needs and interests of students.</a:t>
            </a:r>
          </a:p>
        </p:txBody>
      </p:sp>
    </p:spTree>
    <p:extLst>
      <p:ext uri="{BB962C8B-B14F-4D97-AF65-F5344CB8AC3E}">
        <p14:creationId xmlns:p14="http://schemas.microsoft.com/office/powerpoint/2010/main" val="25691373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1228397"/>
            <a:ext cx="7498583" cy="4401205"/>
          </a:xfrm>
          <a:prstGeom prst="rect">
            <a:avLst/>
          </a:prstGeom>
        </p:spPr>
        <p:txBody>
          <a:bodyPr wrap="square">
            <a:spAutoFit/>
          </a:bodyPr>
          <a:lstStyle/>
          <a:p>
            <a:r>
              <a:rPr lang="en-GB" sz="2800" b="1" u="sng" dirty="0">
                <a:solidFill>
                  <a:srgbClr val="FF0000"/>
                </a:solidFill>
              </a:rPr>
              <a:t>Planning and management of Instruction</a:t>
            </a:r>
          </a:p>
          <a:p>
            <a:r>
              <a:rPr lang="en-GB" sz="2800" b="1" dirty="0"/>
              <a:t>Flow charting the content </a:t>
            </a:r>
          </a:p>
          <a:p>
            <a:r>
              <a:rPr lang="en-GB" sz="2800" dirty="0"/>
              <a:t>After deciding the </a:t>
            </a:r>
            <a:r>
              <a:rPr lang="en-GB" sz="2800" dirty="0">
                <a:solidFill>
                  <a:schemeClr val="accent4">
                    <a:lumMod val="60000"/>
                    <a:lumOff val="40000"/>
                  </a:schemeClr>
                </a:solidFill>
              </a:rPr>
              <a:t>topics</a:t>
            </a:r>
            <a:r>
              <a:rPr lang="en-GB" sz="2800" dirty="0"/>
              <a:t> and limiting the </a:t>
            </a:r>
            <a:r>
              <a:rPr lang="en-GB" sz="2800" dirty="0">
                <a:solidFill>
                  <a:schemeClr val="accent4">
                    <a:lumMod val="60000"/>
                    <a:lumOff val="40000"/>
                  </a:schemeClr>
                </a:solidFill>
              </a:rPr>
              <a:t>scope</a:t>
            </a:r>
            <a:r>
              <a:rPr lang="en-GB" sz="2800" dirty="0"/>
              <a:t> of the topics, the teacher is required to arrange these into some type of </a:t>
            </a:r>
            <a:r>
              <a:rPr lang="en-GB" sz="2800" dirty="0">
                <a:solidFill>
                  <a:schemeClr val="accent4">
                    <a:lumMod val="60000"/>
                    <a:lumOff val="40000"/>
                  </a:schemeClr>
                </a:solidFill>
              </a:rPr>
              <a:t>natural sequence</a:t>
            </a:r>
            <a:r>
              <a:rPr lang="en-GB" sz="2800" dirty="0"/>
              <a:t>. </a:t>
            </a:r>
          </a:p>
          <a:p>
            <a:pPr marL="428625" indent="-428625">
              <a:buFont typeface="Wingdings" panose="05000000000000000000" pitchFamily="2" charset="2"/>
              <a:buChar char="§"/>
            </a:pPr>
            <a:r>
              <a:rPr lang="en-GB" sz="2800" dirty="0"/>
              <a:t>the </a:t>
            </a:r>
            <a:r>
              <a:rPr lang="en-GB" sz="2800" dirty="0">
                <a:solidFill>
                  <a:schemeClr val="accent4">
                    <a:lumMod val="60000"/>
                    <a:lumOff val="40000"/>
                  </a:schemeClr>
                </a:solidFill>
              </a:rPr>
              <a:t>sequence</a:t>
            </a:r>
            <a:r>
              <a:rPr lang="en-GB" sz="2800" dirty="0"/>
              <a:t> should be completely </a:t>
            </a:r>
            <a:r>
              <a:rPr lang="en-GB" sz="2800" dirty="0">
                <a:solidFill>
                  <a:schemeClr val="accent4">
                    <a:lumMod val="60000"/>
                    <a:lumOff val="40000"/>
                  </a:schemeClr>
                </a:solidFill>
              </a:rPr>
              <a:t>logical </a:t>
            </a:r>
            <a:r>
              <a:rPr lang="en-GB" sz="2800" dirty="0"/>
              <a:t>from the </a:t>
            </a:r>
            <a:r>
              <a:rPr lang="en-GB" sz="2800" dirty="0">
                <a:solidFill>
                  <a:schemeClr val="accent4">
                    <a:lumMod val="60000"/>
                    <a:lumOff val="40000"/>
                  </a:schemeClr>
                </a:solidFill>
              </a:rPr>
              <a:t>point of view </a:t>
            </a:r>
            <a:r>
              <a:rPr lang="en-GB" sz="2800" dirty="0"/>
              <a:t>of the subject material. </a:t>
            </a:r>
          </a:p>
          <a:p>
            <a:pPr marL="428625" indent="-428625">
              <a:buFont typeface="Arial" panose="020B0604020202020204" pitchFamily="34" charset="0"/>
              <a:buChar char="•"/>
            </a:pPr>
            <a:r>
              <a:rPr lang="en-GB" sz="2800" dirty="0"/>
              <a:t>Each element should be </a:t>
            </a:r>
            <a:r>
              <a:rPr lang="en-GB" sz="2800" dirty="0">
                <a:solidFill>
                  <a:schemeClr val="accent4">
                    <a:lumMod val="60000"/>
                    <a:lumOff val="40000"/>
                  </a:schemeClr>
                </a:solidFill>
              </a:rPr>
              <a:t>linked</a:t>
            </a:r>
            <a:r>
              <a:rPr lang="en-GB" sz="2800" dirty="0"/>
              <a:t> with the next element and these should form a part of the main topic. </a:t>
            </a:r>
          </a:p>
        </p:txBody>
      </p:sp>
    </p:spTree>
    <p:extLst>
      <p:ext uri="{BB962C8B-B14F-4D97-AF65-F5344CB8AC3E}">
        <p14:creationId xmlns:p14="http://schemas.microsoft.com/office/powerpoint/2010/main" val="37726127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990600"/>
            <a:ext cx="7315200" cy="4832092"/>
          </a:xfrm>
          <a:prstGeom prst="rect">
            <a:avLst/>
          </a:prstGeom>
        </p:spPr>
        <p:txBody>
          <a:bodyPr wrap="square">
            <a:spAutoFit/>
          </a:bodyPr>
          <a:lstStyle/>
          <a:p>
            <a:r>
              <a:rPr lang="en-GB" sz="2800" b="1" u="sng" dirty="0">
                <a:solidFill>
                  <a:srgbClr val="FF0000"/>
                </a:solidFill>
              </a:rPr>
              <a:t>Flow Charting the Content </a:t>
            </a:r>
          </a:p>
          <a:p>
            <a:r>
              <a:rPr lang="en-GB" sz="2800" dirty="0"/>
              <a:t>Sequencing the topics should be </a:t>
            </a:r>
            <a:r>
              <a:rPr lang="en-GB" sz="2800" dirty="0">
                <a:solidFill>
                  <a:schemeClr val="accent4">
                    <a:lumMod val="60000"/>
                    <a:lumOff val="40000"/>
                  </a:schemeClr>
                </a:solidFill>
              </a:rPr>
              <a:t>based</a:t>
            </a:r>
            <a:r>
              <a:rPr lang="en-GB" sz="2800" dirty="0"/>
              <a:t> on maxims of learning like </a:t>
            </a:r>
            <a:r>
              <a:rPr lang="en-GB" sz="2800" i="1" dirty="0">
                <a:solidFill>
                  <a:schemeClr val="accent4">
                    <a:lumMod val="60000"/>
                    <a:lumOff val="40000"/>
                  </a:schemeClr>
                </a:solidFill>
              </a:rPr>
              <a:t>'known to unknown</a:t>
            </a:r>
            <a:r>
              <a:rPr lang="en-GB" sz="2800" dirty="0"/>
              <a:t>‘ or  </a:t>
            </a:r>
            <a:r>
              <a:rPr lang="en-GB" sz="2800" i="1" dirty="0">
                <a:solidFill>
                  <a:schemeClr val="accent4">
                    <a:lumMod val="60000"/>
                    <a:lumOff val="40000"/>
                  </a:schemeClr>
                </a:solidFill>
              </a:rPr>
              <a:t>'simple to complex</a:t>
            </a:r>
            <a:r>
              <a:rPr lang="en-GB" sz="2800" dirty="0"/>
              <a:t>‘. </a:t>
            </a:r>
          </a:p>
          <a:p>
            <a:pPr marL="428625" indent="-428625">
              <a:buFont typeface="Wingdings" panose="05000000000000000000" pitchFamily="2" charset="2"/>
              <a:buChar char="§"/>
            </a:pPr>
            <a:r>
              <a:rPr lang="en-GB" sz="2800" dirty="0"/>
              <a:t>This should be based on a teacher's </a:t>
            </a:r>
            <a:r>
              <a:rPr lang="en-GB" sz="2800" dirty="0">
                <a:solidFill>
                  <a:schemeClr val="accent4">
                    <a:lumMod val="60000"/>
                    <a:lumOff val="40000"/>
                  </a:schemeClr>
                </a:solidFill>
              </a:rPr>
              <a:t>experience, intuition</a:t>
            </a:r>
            <a:r>
              <a:rPr lang="en-GB" sz="2800" dirty="0"/>
              <a:t> and own </a:t>
            </a:r>
            <a:r>
              <a:rPr lang="en-GB" sz="2800" dirty="0">
                <a:solidFill>
                  <a:schemeClr val="accent4">
                    <a:lumMod val="60000"/>
                    <a:lumOff val="40000"/>
                  </a:schemeClr>
                </a:solidFill>
              </a:rPr>
              <a:t>learning experiences</a:t>
            </a:r>
            <a:r>
              <a:rPr lang="en-GB" sz="2800" dirty="0"/>
              <a:t>.</a:t>
            </a:r>
          </a:p>
          <a:p>
            <a:pPr marL="428625" indent="-428625">
              <a:buFont typeface="Arial" panose="020B0604020202020204" pitchFamily="34" charset="0"/>
              <a:buChar char="•"/>
            </a:pPr>
            <a:r>
              <a:rPr lang="en-GB" sz="2800" dirty="0"/>
              <a:t>After this, the teacher may needs to make or develop a </a:t>
            </a:r>
            <a:r>
              <a:rPr lang="en-GB" sz="2800" dirty="0">
                <a:solidFill>
                  <a:schemeClr val="accent4">
                    <a:lumMod val="60000"/>
                    <a:lumOff val="40000"/>
                  </a:schemeClr>
                </a:solidFill>
              </a:rPr>
              <a:t>flow chart </a:t>
            </a:r>
            <a:r>
              <a:rPr lang="en-GB" sz="2800" dirty="0"/>
              <a:t>of the content. </a:t>
            </a:r>
          </a:p>
          <a:p>
            <a:pPr marL="428625" indent="-428625">
              <a:buFont typeface="Arial" panose="020B0604020202020204" pitchFamily="34" charset="0"/>
              <a:buChar char="•"/>
            </a:pPr>
            <a:r>
              <a:rPr lang="en-GB" sz="2800" dirty="0"/>
              <a:t>This helps in </a:t>
            </a:r>
            <a:r>
              <a:rPr lang="en-GB" sz="2800" dirty="0">
                <a:solidFill>
                  <a:schemeClr val="accent4">
                    <a:lumMod val="60000"/>
                    <a:lumOff val="40000"/>
                  </a:schemeClr>
                </a:solidFill>
              </a:rPr>
              <a:t>making </a:t>
            </a:r>
            <a:r>
              <a:rPr lang="en-GB" sz="2800" dirty="0"/>
              <a:t>a global picture of the </a:t>
            </a:r>
            <a:r>
              <a:rPr lang="en-GB" sz="2800" dirty="0">
                <a:solidFill>
                  <a:schemeClr val="accent4">
                    <a:lumMod val="60000"/>
                    <a:lumOff val="40000"/>
                  </a:schemeClr>
                </a:solidFill>
              </a:rPr>
              <a:t>whole</a:t>
            </a:r>
            <a:r>
              <a:rPr lang="en-GB" sz="2800" dirty="0"/>
              <a:t> content in the </a:t>
            </a:r>
            <a:r>
              <a:rPr lang="en-GB" sz="2800" dirty="0">
                <a:solidFill>
                  <a:schemeClr val="accent4">
                    <a:lumMod val="60000"/>
                    <a:lumOff val="40000"/>
                  </a:schemeClr>
                </a:solidFill>
              </a:rPr>
              <a:t>mind</a:t>
            </a:r>
            <a:r>
              <a:rPr lang="en-GB" sz="2800" dirty="0"/>
              <a:t> of the teacher as well as students.</a:t>
            </a:r>
          </a:p>
        </p:txBody>
      </p:sp>
    </p:spTree>
    <p:extLst>
      <p:ext uri="{BB962C8B-B14F-4D97-AF65-F5344CB8AC3E}">
        <p14:creationId xmlns:p14="http://schemas.microsoft.com/office/powerpoint/2010/main" val="40057914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lassification &amp; Division Essay | Outline, Topics &amp; Examples - Lesson |  Study.com"/>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2220" y="710888"/>
            <a:ext cx="8018380" cy="5253143"/>
          </a:xfrm>
          <a:prstGeom prst="rect">
            <a:avLst/>
          </a:prstGeom>
          <a:noFill/>
          <a:ln>
            <a:noFill/>
          </a:ln>
        </p:spPr>
      </p:pic>
      <p:sp>
        <p:nvSpPr>
          <p:cNvPr id="3" name="Rectangle 2"/>
          <p:cNvSpPr/>
          <p:nvPr/>
        </p:nvSpPr>
        <p:spPr>
          <a:xfrm>
            <a:off x="838200" y="710888"/>
            <a:ext cx="4206536" cy="507831"/>
          </a:xfrm>
          <a:prstGeom prst="rect">
            <a:avLst/>
          </a:prstGeom>
        </p:spPr>
        <p:txBody>
          <a:bodyPr wrap="none">
            <a:spAutoFit/>
          </a:bodyPr>
          <a:lstStyle/>
          <a:p>
            <a:r>
              <a:rPr lang="en-GB" sz="2700" b="1" dirty="0">
                <a:solidFill>
                  <a:srgbClr val="002060"/>
                </a:solidFill>
              </a:rPr>
              <a:t>Flow Charting the Content </a:t>
            </a:r>
          </a:p>
        </p:txBody>
      </p:sp>
    </p:spTree>
    <p:extLst>
      <p:ext uri="{BB962C8B-B14F-4D97-AF65-F5344CB8AC3E}">
        <p14:creationId xmlns:p14="http://schemas.microsoft.com/office/powerpoint/2010/main" val="18568186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930" y="1235946"/>
            <a:ext cx="7581481" cy="4041106"/>
          </a:xfrm>
          <a:prstGeom prst="rect">
            <a:avLst/>
          </a:prstGeom>
        </p:spPr>
        <p:txBody>
          <a:bodyPr wrap="square">
            <a:spAutoFit/>
          </a:bodyPr>
          <a:lstStyle/>
          <a:p>
            <a:pPr>
              <a:lnSpc>
                <a:spcPct val="107000"/>
              </a:lnSpc>
              <a:spcAft>
                <a:spcPts val="600"/>
              </a:spcAft>
            </a:pPr>
            <a:r>
              <a:rPr lang="en-GB" sz="2400" b="1" u="sng" dirty="0">
                <a:solidFill>
                  <a:srgbClr val="92D050"/>
                </a:solidFill>
              </a:rPr>
              <a:t>Flow Charting Topics</a:t>
            </a:r>
          </a:p>
          <a:p>
            <a:pPr>
              <a:lnSpc>
                <a:spcPct val="107000"/>
              </a:lnSpc>
              <a:spcAft>
                <a:spcPts val="600"/>
              </a:spcAft>
            </a:pPr>
            <a:r>
              <a:rPr lang="en-GB" sz="2250" dirty="0">
                <a:latin typeface="+mj-lt"/>
              </a:rPr>
              <a:t>Flow Charting topics </a:t>
            </a:r>
            <a:r>
              <a:rPr lang="en-GB" sz="2250" dirty="0">
                <a:latin typeface="+mj-lt"/>
                <a:ea typeface="Calibri" panose="020F0502020204030204" pitchFamily="34" charset="0"/>
                <a:cs typeface="Times New Roman" panose="02020603050405020304" pitchFamily="18" charset="0"/>
              </a:rPr>
              <a:t> increases the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probability</a:t>
            </a:r>
            <a:r>
              <a:rPr lang="en-GB" sz="2250" dirty="0">
                <a:latin typeface="+mj-lt"/>
                <a:ea typeface="Calibri" panose="020F0502020204030204" pitchFamily="34" charset="0"/>
                <a:cs typeface="Times New Roman" panose="02020603050405020304" pitchFamily="18" charset="0"/>
              </a:rPr>
              <a:t> that logical sequence is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psychologically</a:t>
            </a:r>
            <a:r>
              <a:rPr lang="en-GB" sz="2250" dirty="0">
                <a:latin typeface="+mj-lt"/>
                <a:ea typeface="Calibri" panose="020F0502020204030204" pitchFamily="34" charset="0"/>
                <a:cs typeface="Times New Roman" panose="02020603050405020304" pitchFamily="18" charset="0"/>
              </a:rPr>
              <a:t> valid and presents a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graphic view </a:t>
            </a:r>
            <a:r>
              <a:rPr lang="en-GB" sz="2250" dirty="0">
                <a:latin typeface="+mj-lt"/>
                <a:ea typeface="Calibri" panose="020F0502020204030204" pitchFamily="34" charset="0"/>
                <a:cs typeface="Times New Roman" panose="02020603050405020304" pitchFamily="18" charset="0"/>
              </a:rPr>
              <a:t>of the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inter-relationships </a:t>
            </a:r>
            <a:r>
              <a:rPr lang="en-GB" sz="2250" dirty="0">
                <a:latin typeface="+mj-lt"/>
                <a:ea typeface="Calibri" panose="020F0502020204030204" pitchFamily="34" charset="0"/>
                <a:cs typeface="Times New Roman" panose="02020603050405020304" pitchFamily="18" charset="0"/>
              </a:rPr>
              <a:t>among various sub-topics and elements.</a:t>
            </a:r>
          </a:p>
          <a:p>
            <a:pPr marL="214313" indent="-214313">
              <a:lnSpc>
                <a:spcPct val="107000"/>
              </a:lnSpc>
              <a:spcAft>
                <a:spcPts val="600"/>
              </a:spcAft>
              <a:buFont typeface="Wingdings" panose="05000000000000000000" pitchFamily="2" charset="2"/>
              <a:buChar char="§"/>
            </a:pPr>
            <a:r>
              <a:rPr lang="en-GB" sz="2250" dirty="0">
                <a:latin typeface="+mj-lt"/>
                <a:ea typeface="Calibri" panose="020F0502020204030204" pitchFamily="34" charset="0"/>
                <a:cs typeface="Times New Roman" panose="02020603050405020304" pitchFamily="18" charset="0"/>
              </a:rPr>
              <a:t>The construction of a flow chart helps the teacher give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proper focus </a:t>
            </a:r>
            <a:r>
              <a:rPr lang="en-GB" sz="2250" dirty="0">
                <a:latin typeface="+mj-lt"/>
                <a:ea typeface="Calibri" panose="020F0502020204030204" pitchFamily="34" charset="0"/>
                <a:cs typeface="Times New Roman" panose="02020603050405020304" pitchFamily="18" charset="0"/>
              </a:rPr>
              <a:t>to the work to be done in the unit. </a:t>
            </a:r>
          </a:p>
          <a:p>
            <a:pPr marL="214313" indent="-214313">
              <a:lnSpc>
                <a:spcPct val="107000"/>
              </a:lnSpc>
              <a:spcAft>
                <a:spcPts val="600"/>
              </a:spcAft>
              <a:buFont typeface="Wingdings" panose="05000000000000000000" pitchFamily="2" charset="2"/>
              <a:buChar char="§"/>
            </a:pPr>
            <a:r>
              <a:rPr lang="en-GB" sz="2250" dirty="0">
                <a:latin typeface="+mj-lt"/>
                <a:ea typeface="Calibri" panose="020F0502020204030204" pitchFamily="34" charset="0"/>
                <a:cs typeface="Times New Roman" panose="02020603050405020304" pitchFamily="18" charset="0"/>
              </a:rPr>
              <a:t>While organisation of the main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concepts</a:t>
            </a:r>
            <a:r>
              <a:rPr lang="en-GB" sz="2250" dirty="0">
                <a:latin typeface="+mj-lt"/>
                <a:ea typeface="Calibri" panose="020F0502020204030204" pitchFamily="34" charset="0"/>
                <a:cs typeface="Times New Roman" panose="02020603050405020304" pitchFamily="18" charset="0"/>
              </a:rPr>
              <a:t> in the structure of a unit may take many forms, such organisation is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essential </a:t>
            </a:r>
            <a:r>
              <a:rPr lang="en-GB" sz="2250" dirty="0">
                <a:latin typeface="+mj-lt"/>
                <a:ea typeface="Calibri" panose="020F0502020204030204" pitchFamily="34" charset="0"/>
                <a:cs typeface="Times New Roman" panose="02020603050405020304" pitchFamily="18" charset="0"/>
              </a:rPr>
              <a:t>if learners are to understand how </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parts</a:t>
            </a:r>
            <a:r>
              <a:rPr lang="en-GB" sz="2250" dirty="0">
                <a:latin typeface="+mj-lt"/>
                <a:ea typeface="Calibri" panose="020F0502020204030204" pitchFamily="34" charset="0"/>
                <a:cs typeface="Times New Roman" panose="02020603050405020304" pitchFamily="18" charset="0"/>
              </a:rPr>
              <a:t> of a unit relate to each other and also what the</a:t>
            </a:r>
            <a:r>
              <a:rPr lang="en-GB" sz="2250" dirty="0">
                <a:solidFill>
                  <a:schemeClr val="accent4">
                    <a:lumMod val="60000"/>
                    <a:lumOff val="40000"/>
                  </a:schemeClr>
                </a:solidFill>
                <a:latin typeface="+mj-lt"/>
                <a:ea typeface="Calibri" panose="020F0502020204030204" pitchFamily="34" charset="0"/>
                <a:cs typeface="Times New Roman" panose="02020603050405020304" pitchFamily="18" charset="0"/>
              </a:rPr>
              <a:t> focus </a:t>
            </a:r>
            <a:r>
              <a:rPr lang="en-GB" sz="2250" dirty="0">
                <a:latin typeface="+mj-lt"/>
                <a:ea typeface="Calibri" panose="020F0502020204030204" pitchFamily="34" charset="0"/>
                <a:cs typeface="Times New Roman" panose="02020603050405020304" pitchFamily="18" charset="0"/>
              </a:rPr>
              <a:t>of their study is, at any given time.</a:t>
            </a:r>
          </a:p>
        </p:txBody>
      </p:sp>
    </p:spTree>
    <p:extLst>
      <p:ext uri="{BB962C8B-B14F-4D97-AF65-F5344CB8AC3E}">
        <p14:creationId xmlns:p14="http://schemas.microsoft.com/office/powerpoint/2010/main" val="583157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685800"/>
            <a:ext cx="7010400" cy="5262979"/>
          </a:xfrm>
          <a:prstGeom prst="rect">
            <a:avLst/>
          </a:prstGeom>
        </p:spPr>
        <p:txBody>
          <a:bodyPr wrap="square">
            <a:spAutoFit/>
          </a:bodyPr>
          <a:lstStyle/>
          <a:p>
            <a:r>
              <a:rPr lang="en-GB" sz="2800" b="1" u="sng" dirty="0">
                <a:solidFill>
                  <a:srgbClr val="FF0000"/>
                </a:solidFill>
              </a:rPr>
              <a:t>Selecting Suitable Presentation Mode</a:t>
            </a:r>
          </a:p>
          <a:p>
            <a:r>
              <a:rPr lang="en-GB" sz="2800" dirty="0"/>
              <a:t>Before entering the class the teacher may contemplate questions like:</a:t>
            </a:r>
          </a:p>
          <a:p>
            <a:pPr marL="342900" indent="-342900">
              <a:buFont typeface="Wingdings" panose="05000000000000000000" pitchFamily="2" charset="2"/>
              <a:buChar char="§"/>
            </a:pPr>
            <a:r>
              <a:rPr lang="en-GB" sz="2800" dirty="0"/>
              <a:t>What is the </a:t>
            </a:r>
            <a:r>
              <a:rPr lang="en-GB" sz="2800" dirty="0">
                <a:solidFill>
                  <a:srgbClr val="92D050"/>
                </a:solidFill>
              </a:rPr>
              <a:t>best way </a:t>
            </a:r>
            <a:r>
              <a:rPr lang="en-GB" sz="2800" dirty="0"/>
              <a:t>to go about teaching each topic? </a:t>
            </a:r>
          </a:p>
          <a:p>
            <a:pPr marL="342900" indent="-342900">
              <a:buFont typeface="Wingdings" panose="05000000000000000000" pitchFamily="2" charset="2"/>
              <a:buChar char="§"/>
            </a:pPr>
            <a:r>
              <a:rPr lang="en-GB" sz="2800" dirty="0"/>
              <a:t>What </a:t>
            </a:r>
            <a:r>
              <a:rPr lang="en-GB" sz="2800" dirty="0">
                <a:solidFill>
                  <a:srgbClr val="92D050"/>
                </a:solidFill>
              </a:rPr>
              <a:t>methods </a:t>
            </a:r>
            <a:r>
              <a:rPr lang="en-GB" sz="2800" dirty="0"/>
              <a:t>should be used? </a:t>
            </a:r>
          </a:p>
          <a:p>
            <a:pPr marL="342900" indent="-342900">
              <a:buFont typeface="Wingdings" panose="05000000000000000000" pitchFamily="2" charset="2"/>
              <a:buChar char="§"/>
            </a:pPr>
            <a:r>
              <a:rPr lang="en-GB" sz="2800" dirty="0"/>
              <a:t>What teaching </a:t>
            </a:r>
            <a:r>
              <a:rPr lang="en-GB" sz="2800" dirty="0">
                <a:solidFill>
                  <a:srgbClr val="92D050"/>
                </a:solidFill>
              </a:rPr>
              <a:t>strategies</a:t>
            </a:r>
            <a:r>
              <a:rPr lang="en-GB" sz="2800" dirty="0"/>
              <a:t> are possible and more suitable'? </a:t>
            </a:r>
          </a:p>
          <a:p>
            <a:pPr marL="342900" indent="-342900">
              <a:buFont typeface="Wingdings" panose="05000000000000000000" pitchFamily="2" charset="2"/>
              <a:buChar char="§"/>
            </a:pPr>
            <a:r>
              <a:rPr lang="en-GB" sz="2800" dirty="0"/>
              <a:t>Questions like these and many others will arise in the teacher's mind. </a:t>
            </a:r>
          </a:p>
          <a:p>
            <a:pPr marL="342900" indent="-342900">
              <a:buFont typeface="Wingdings" panose="05000000000000000000" pitchFamily="2" charset="2"/>
              <a:buChar char="§"/>
            </a:pPr>
            <a:r>
              <a:rPr lang="en-GB" sz="2800" dirty="0"/>
              <a:t>Answers to such questions are many and depend upon the </a:t>
            </a:r>
            <a:r>
              <a:rPr lang="en-GB" sz="2800" dirty="0">
                <a:solidFill>
                  <a:srgbClr val="92D050"/>
                </a:solidFill>
              </a:rPr>
              <a:t>criteria fixed </a:t>
            </a:r>
            <a:r>
              <a:rPr lang="en-GB" sz="2800" dirty="0"/>
              <a:t>by the teacher.</a:t>
            </a:r>
          </a:p>
        </p:txBody>
      </p:sp>
    </p:spTree>
    <p:extLst>
      <p:ext uri="{BB962C8B-B14F-4D97-AF65-F5344CB8AC3E}">
        <p14:creationId xmlns:p14="http://schemas.microsoft.com/office/powerpoint/2010/main" val="1114759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5400" y="1659285"/>
            <a:ext cx="6269334" cy="3539430"/>
          </a:xfrm>
          <a:prstGeom prst="rect">
            <a:avLst/>
          </a:prstGeom>
        </p:spPr>
        <p:txBody>
          <a:bodyPr wrap="square">
            <a:spAutoFit/>
          </a:bodyPr>
          <a:lstStyle/>
          <a:p>
            <a:r>
              <a:rPr lang="en-GB" sz="2800" b="1" u="sng" dirty="0">
                <a:solidFill>
                  <a:srgbClr val="FF0000"/>
                </a:solidFill>
              </a:rPr>
              <a:t>Criteria for selecting presentation mode </a:t>
            </a:r>
          </a:p>
          <a:p>
            <a:r>
              <a:rPr lang="en-GB" sz="2800" dirty="0"/>
              <a:t>A large number of criteria determine the </a:t>
            </a:r>
            <a:r>
              <a:rPr lang="en-GB" sz="2800" dirty="0">
                <a:solidFill>
                  <a:srgbClr val="92D050"/>
                </a:solidFill>
              </a:rPr>
              <a:t>presentation mode</a:t>
            </a:r>
            <a:r>
              <a:rPr lang="en-GB" sz="2800" dirty="0"/>
              <a:t>, these includes:</a:t>
            </a:r>
          </a:p>
          <a:p>
            <a:pPr marL="342900" indent="-342900">
              <a:buFont typeface="Wingdings" panose="05000000000000000000" pitchFamily="2" charset="2"/>
              <a:buChar char="§"/>
            </a:pPr>
            <a:r>
              <a:rPr lang="en-GB" sz="2800" dirty="0"/>
              <a:t>the nature of instructional objectives, </a:t>
            </a:r>
          </a:p>
          <a:p>
            <a:pPr marL="342900" indent="-342900">
              <a:buFont typeface="Wingdings" panose="05000000000000000000" pitchFamily="2" charset="2"/>
              <a:buChar char="§"/>
            </a:pPr>
            <a:r>
              <a:rPr lang="en-GB" sz="2800" dirty="0"/>
              <a:t>subject matter, </a:t>
            </a:r>
          </a:p>
          <a:p>
            <a:pPr marL="342900" indent="-342900">
              <a:buFont typeface="Wingdings" panose="05000000000000000000" pitchFamily="2" charset="2"/>
              <a:buChar char="§"/>
            </a:pPr>
            <a:r>
              <a:rPr lang="en-GB" sz="2800" dirty="0"/>
              <a:t>background of students, </a:t>
            </a:r>
          </a:p>
          <a:p>
            <a:pPr marL="342900" indent="-342900">
              <a:buFont typeface="Wingdings" panose="05000000000000000000" pitchFamily="2" charset="2"/>
              <a:buChar char="§"/>
            </a:pPr>
            <a:r>
              <a:rPr lang="en-GB" sz="2800" dirty="0"/>
              <a:t>learning strategies adopted by them and </a:t>
            </a:r>
          </a:p>
          <a:p>
            <a:pPr marL="342900" indent="-342900">
              <a:buFont typeface="Wingdings" panose="05000000000000000000" pitchFamily="2" charset="2"/>
              <a:buChar char="§"/>
            </a:pPr>
            <a:r>
              <a:rPr lang="en-GB" sz="2800" dirty="0"/>
              <a:t>style of teaching</a:t>
            </a:r>
          </a:p>
        </p:txBody>
      </p:sp>
    </p:spTree>
    <p:extLst>
      <p:ext uri="{BB962C8B-B14F-4D97-AF65-F5344CB8AC3E}">
        <p14:creationId xmlns:p14="http://schemas.microsoft.com/office/powerpoint/2010/main" val="35090030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1189395"/>
            <a:ext cx="7315200" cy="4247317"/>
          </a:xfrm>
          <a:prstGeom prst="rect">
            <a:avLst/>
          </a:prstGeom>
        </p:spPr>
        <p:txBody>
          <a:bodyPr wrap="square">
            <a:spAutoFit/>
          </a:bodyPr>
          <a:lstStyle/>
          <a:p>
            <a:pPr marL="342900" indent="-342900">
              <a:buFont typeface="Wingdings" panose="05000000000000000000" pitchFamily="2" charset="2"/>
              <a:buChar char="§"/>
            </a:pPr>
            <a:r>
              <a:rPr lang="en-GB" sz="2250" b="1" dirty="0">
                <a:solidFill>
                  <a:srgbClr val="FF0000"/>
                </a:solidFill>
              </a:rPr>
              <a:t>Instructional objectives </a:t>
            </a:r>
          </a:p>
          <a:p>
            <a:r>
              <a:rPr lang="en-GB" sz="2250" dirty="0"/>
              <a:t>To achieve the instructional objectives in the teacher’s mind during the teaching-learning process, the teacher may like to follow a </a:t>
            </a:r>
            <a:r>
              <a:rPr lang="en-GB" sz="2250" b="1" dirty="0">
                <a:solidFill>
                  <a:srgbClr val="92D050"/>
                </a:solidFill>
              </a:rPr>
              <a:t>particular mode </a:t>
            </a:r>
            <a:r>
              <a:rPr lang="en-GB" sz="2250" dirty="0"/>
              <a:t>of presentation.</a:t>
            </a:r>
          </a:p>
          <a:p>
            <a:endParaRPr lang="en-GB" sz="2250" dirty="0"/>
          </a:p>
          <a:p>
            <a:pPr marL="342900" indent="-342900">
              <a:buFont typeface="Wingdings" panose="05000000000000000000" pitchFamily="2" charset="2"/>
              <a:buChar char="§"/>
            </a:pPr>
            <a:r>
              <a:rPr lang="en-GB" sz="2250" b="1" dirty="0">
                <a:solidFill>
                  <a:srgbClr val="92D050"/>
                </a:solidFill>
              </a:rPr>
              <a:t>Subject matter</a:t>
            </a:r>
          </a:p>
          <a:p>
            <a:r>
              <a:rPr lang="en-GB" sz="2250" dirty="0"/>
              <a:t>The </a:t>
            </a:r>
            <a:r>
              <a:rPr lang="en-GB" sz="2250" dirty="0">
                <a:solidFill>
                  <a:srgbClr val="92D050"/>
                </a:solidFill>
              </a:rPr>
              <a:t>nature and structure </a:t>
            </a:r>
            <a:r>
              <a:rPr lang="en-GB" sz="2250" dirty="0"/>
              <a:t>of the subject matter that the teacher intends to handle decides the mode of presentation. </a:t>
            </a:r>
          </a:p>
          <a:p>
            <a:pPr marL="342900" indent="-342900">
              <a:buFont typeface="Wingdings" panose="05000000000000000000" pitchFamily="2" charset="2"/>
              <a:buChar char="§"/>
            </a:pPr>
            <a:r>
              <a:rPr lang="en-GB" sz="2250" b="1" dirty="0">
                <a:solidFill>
                  <a:srgbClr val="92D050"/>
                </a:solidFill>
              </a:rPr>
              <a:t>Student's background </a:t>
            </a:r>
            <a:endParaRPr lang="en-GB" sz="2250" dirty="0"/>
          </a:p>
          <a:p>
            <a:r>
              <a:rPr lang="en-GB" sz="2250" dirty="0"/>
              <a:t>The teacher's </a:t>
            </a:r>
            <a:r>
              <a:rPr lang="en-GB" sz="2250" dirty="0">
                <a:solidFill>
                  <a:srgbClr val="92D050"/>
                </a:solidFill>
              </a:rPr>
              <a:t>own experiences </a:t>
            </a:r>
            <a:r>
              <a:rPr lang="en-GB" sz="2250" dirty="0"/>
              <a:t>guide him about estimating the abilities of the students and </a:t>
            </a:r>
          </a:p>
          <a:p>
            <a:r>
              <a:rPr lang="en-GB" sz="2250" dirty="0"/>
              <a:t>organising instruction accordingly.</a:t>
            </a:r>
          </a:p>
        </p:txBody>
      </p:sp>
    </p:spTree>
    <p:extLst>
      <p:ext uri="{BB962C8B-B14F-4D97-AF65-F5344CB8AC3E}">
        <p14:creationId xmlns:p14="http://schemas.microsoft.com/office/powerpoint/2010/main" val="25413802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1" y="1055273"/>
            <a:ext cx="7315200" cy="4832092"/>
          </a:xfrm>
          <a:prstGeom prst="rect">
            <a:avLst/>
          </a:prstGeom>
        </p:spPr>
        <p:txBody>
          <a:bodyPr wrap="square">
            <a:spAutoFit/>
          </a:bodyPr>
          <a:lstStyle/>
          <a:p>
            <a:pPr marL="342900" indent="-342900">
              <a:buFont typeface="Wingdings" panose="05000000000000000000" pitchFamily="2" charset="2"/>
              <a:buChar char="§"/>
            </a:pPr>
            <a:r>
              <a:rPr lang="en-GB" sz="2800" b="1" dirty="0">
                <a:solidFill>
                  <a:srgbClr val="FF0000"/>
                </a:solidFill>
              </a:rPr>
              <a:t>Students' Aptitudes </a:t>
            </a:r>
          </a:p>
          <a:p>
            <a:r>
              <a:rPr lang="en-GB" sz="2800" dirty="0"/>
              <a:t>Teachers who </a:t>
            </a:r>
            <a:r>
              <a:rPr lang="en-GB" sz="2800" dirty="0">
                <a:solidFill>
                  <a:srgbClr val="92D050"/>
                </a:solidFill>
              </a:rPr>
              <a:t>underestimate</a:t>
            </a:r>
            <a:r>
              <a:rPr lang="en-GB" sz="2800" dirty="0"/>
              <a:t> the abilities of their students, or those who</a:t>
            </a:r>
            <a:r>
              <a:rPr lang="en-GB" sz="2800" dirty="0">
                <a:solidFill>
                  <a:srgbClr val="92D050"/>
                </a:solidFill>
              </a:rPr>
              <a:t> overestimate </a:t>
            </a:r>
            <a:r>
              <a:rPr lang="en-GB" sz="2800" dirty="0"/>
              <a:t>students' aptitudes follow approaches that do not recognise the </a:t>
            </a:r>
            <a:r>
              <a:rPr lang="en-GB" sz="2800" dirty="0">
                <a:solidFill>
                  <a:srgbClr val="92D050"/>
                </a:solidFill>
              </a:rPr>
              <a:t>students' ability </a:t>
            </a:r>
            <a:r>
              <a:rPr lang="en-GB" sz="2800" dirty="0"/>
              <a:t>to learn. </a:t>
            </a:r>
          </a:p>
          <a:p>
            <a:pPr marL="342900" indent="-342900">
              <a:buFont typeface="Wingdings" panose="05000000000000000000" pitchFamily="2" charset="2"/>
              <a:buChar char="§"/>
            </a:pPr>
            <a:r>
              <a:rPr lang="en-GB" sz="2800" dirty="0"/>
              <a:t>The teacher should ensure that the selected mode of instruction </a:t>
            </a:r>
            <a:r>
              <a:rPr lang="en-GB" sz="2800" dirty="0">
                <a:solidFill>
                  <a:srgbClr val="92D050"/>
                </a:solidFill>
              </a:rPr>
              <a:t>enables</a:t>
            </a:r>
            <a:r>
              <a:rPr lang="en-GB" sz="2800" dirty="0"/>
              <a:t> the students to</a:t>
            </a:r>
            <a:r>
              <a:rPr lang="en-GB" sz="2800" dirty="0">
                <a:solidFill>
                  <a:srgbClr val="92D050"/>
                </a:solidFill>
              </a:rPr>
              <a:t> process </a:t>
            </a:r>
            <a:r>
              <a:rPr lang="en-GB" sz="2800" dirty="0"/>
              <a:t>the presented information meaningfully and adequately.</a:t>
            </a:r>
          </a:p>
          <a:p>
            <a:pPr marL="342900" indent="-342900">
              <a:buFont typeface="Wingdings" panose="05000000000000000000" pitchFamily="2" charset="2"/>
              <a:buChar char="§"/>
            </a:pPr>
            <a:r>
              <a:rPr lang="en-GB" sz="2800" dirty="0"/>
              <a:t> The presentation mode selected should not lead to </a:t>
            </a:r>
            <a:r>
              <a:rPr lang="en-GB" sz="2800" dirty="0">
                <a:solidFill>
                  <a:srgbClr val="92D050"/>
                </a:solidFill>
              </a:rPr>
              <a:t>conflicting</a:t>
            </a:r>
            <a:r>
              <a:rPr lang="en-GB" sz="2800" dirty="0"/>
              <a:t> situations for his students.</a:t>
            </a:r>
          </a:p>
        </p:txBody>
      </p:sp>
    </p:spTree>
    <p:extLst>
      <p:ext uri="{BB962C8B-B14F-4D97-AF65-F5344CB8AC3E}">
        <p14:creationId xmlns:p14="http://schemas.microsoft.com/office/powerpoint/2010/main" val="27126585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143000"/>
            <a:ext cx="7086600" cy="4401205"/>
          </a:xfrm>
          <a:prstGeom prst="rect">
            <a:avLst/>
          </a:prstGeom>
        </p:spPr>
        <p:txBody>
          <a:bodyPr wrap="square">
            <a:spAutoFit/>
          </a:bodyPr>
          <a:lstStyle/>
          <a:p>
            <a:pPr marL="342900" indent="-342900">
              <a:buFont typeface="Wingdings" panose="05000000000000000000" pitchFamily="2" charset="2"/>
              <a:buChar char="§"/>
            </a:pPr>
            <a:r>
              <a:rPr lang="en-GB" sz="2800" b="1" dirty="0">
                <a:solidFill>
                  <a:srgbClr val="FF0000"/>
                </a:solidFill>
              </a:rPr>
              <a:t>Teacher's teaching style </a:t>
            </a:r>
          </a:p>
          <a:p>
            <a:r>
              <a:rPr lang="en-GB" sz="2800" dirty="0"/>
              <a:t>Any </a:t>
            </a:r>
            <a:r>
              <a:rPr lang="en-GB" sz="2800" dirty="0">
                <a:solidFill>
                  <a:srgbClr val="92D050"/>
                </a:solidFill>
              </a:rPr>
              <a:t>instructional method </a:t>
            </a:r>
            <a:r>
              <a:rPr lang="en-GB" sz="2800" dirty="0"/>
              <a:t>that a teacher </a:t>
            </a:r>
            <a:r>
              <a:rPr lang="en-GB" sz="2800" dirty="0">
                <a:solidFill>
                  <a:srgbClr val="92D050"/>
                </a:solidFill>
              </a:rPr>
              <a:t>adopts</a:t>
            </a:r>
            <a:r>
              <a:rPr lang="en-GB" sz="2800" dirty="0"/>
              <a:t> in the classrooms must conform to his/her personal style of teaching. </a:t>
            </a:r>
          </a:p>
          <a:p>
            <a:pPr marL="342900" indent="-342900">
              <a:buFont typeface="Wingdings" panose="05000000000000000000" pitchFamily="2" charset="2"/>
              <a:buChar char="§"/>
            </a:pPr>
            <a:r>
              <a:rPr lang="en-GB" sz="2800" dirty="0"/>
              <a:t>Large </a:t>
            </a:r>
            <a:r>
              <a:rPr lang="en-GB" sz="2800" dirty="0">
                <a:solidFill>
                  <a:srgbClr val="92D050"/>
                </a:solidFill>
              </a:rPr>
              <a:t>group-instruction</a:t>
            </a:r>
            <a:r>
              <a:rPr lang="en-GB" sz="2800" dirty="0"/>
              <a:t>, may not </a:t>
            </a:r>
            <a:r>
              <a:rPr lang="en-GB" sz="2800" dirty="0">
                <a:solidFill>
                  <a:srgbClr val="92D050"/>
                </a:solidFill>
              </a:rPr>
              <a:t>appeal </a:t>
            </a:r>
            <a:r>
              <a:rPr lang="en-GB" sz="2800" dirty="0"/>
              <a:t>to those teachers who prefer to work closely with students. </a:t>
            </a:r>
          </a:p>
          <a:p>
            <a:pPr marL="342900" indent="-342900">
              <a:buFont typeface="Wingdings" panose="05000000000000000000" pitchFamily="2" charset="2"/>
              <a:buChar char="§"/>
            </a:pPr>
            <a:r>
              <a:rPr lang="en-GB" sz="2800" dirty="0"/>
              <a:t>A teacher should </a:t>
            </a:r>
            <a:r>
              <a:rPr lang="en-GB" sz="2800" dirty="0">
                <a:solidFill>
                  <a:srgbClr val="92D050"/>
                </a:solidFill>
              </a:rPr>
              <a:t>analyse</a:t>
            </a:r>
            <a:r>
              <a:rPr lang="en-GB" sz="2800" dirty="0"/>
              <a:t> his/her own particular style of teaching for planning instruction</a:t>
            </a:r>
          </a:p>
        </p:txBody>
      </p:sp>
    </p:spTree>
    <p:extLst>
      <p:ext uri="{BB962C8B-B14F-4D97-AF65-F5344CB8AC3E}">
        <p14:creationId xmlns:p14="http://schemas.microsoft.com/office/powerpoint/2010/main" val="28989230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4899" y="797510"/>
            <a:ext cx="6934201" cy="5262979"/>
          </a:xfrm>
          <a:prstGeom prst="rect">
            <a:avLst/>
          </a:prstGeom>
        </p:spPr>
        <p:txBody>
          <a:bodyPr wrap="square">
            <a:spAutoFit/>
          </a:bodyPr>
          <a:lstStyle/>
          <a:p>
            <a:r>
              <a:rPr lang="en-GB" sz="2800" b="1" u="sng" dirty="0">
                <a:solidFill>
                  <a:srgbClr val="FF0000"/>
                </a:solidFill>
              </a:rPr>
              <a:t>Selection of Media</a:t>
            </a:r>
          </a:p>
          <a:p>
            <a:r>
              <a:rPr lang="en-GB" sz="2800" dirty="0"/>
              <a:t>Selected media may </a:t>
            </a:r>
            <a:r>
              <a:rPr lang="en-GB" sz="2800" dirty="0">
                <a:solidFill>
                  <a:srgbClr val="92D050"/>
                </a:solidFill>
              </a:rPr>
              <a:t>motivates</a:t>
            </a:r>
            <a:r>
              <a:rPr lang="en-GB" sz="2800" dirty="0"/>
              <a:t> the learners and make the process of teaching and learning </a:t>
            </a:r>
            <a:r>
              <a:rPr lang="en-GB" sz="2800" dirty="0">
                <a:solidFill>
                  <a:srgbClr val="92D050"/>
                </a:solidFill>
              </a:rPr>
              <a:t>easier and more effective.</a:t>
            </a:r>
          </a:p>
          <a:p>
            <a:r>
              <a:rPr lang="en-GB" sz="2800" dirty="0">
                <a:solidFill>
                  <a:srgbClr val="92D050"/>
                </a:solidFill>
              </a:rPr>
              <a:t> </a:t>
            </a:r>
          </a:p>
          <a:p>
            <a:pPr marL="342900" indent="-342900">
              <a:buFont typeface="Wingdings" panose="05000000000000000000" pitchFamily="2" charset="2"/>
              <a:buChar char="§"/>
            </a:pPr>
            <a:r>
              <a:rPr lang="en-GB" sz="2800" dirty="0"/>
              <a:t>Some media suitable for classroom use are computer, interactive video, Motion pictures and Power point </a:t>
            </a:r>
          </a:p>
          <a:p>
            <a:pPr marL="342900" indent="-342900">
              <a:buFont typeface="Wingdings" panose="05000000000000000000" pitchFamily="2" charset="2"/>
              <a:buChar char="§"/>
            </a:pPr>
            <a:r>
              <a:rPr lang="en-GB" sz="2800" dirty="0"/>
              <a:t>The most important and challenging task before the teacher is to </a:t>
            </a:r>
            <a:r>
              <a:rPr lang="en-GB" sz="2800" dirty="0">
                <a:solidFill>
                  <a:srgbClr val="92D050"/>
                </a:solidFill>
              </a:rPr>
              <a:t>select</a:t>
            </a:r>
            <a:r>
              <a:rPr lang="en-GB" sz="2800" dirty="0"/>
              <a:t> the media or medium that is </a:t>
            </a:r>
            <a:r>
              <a:rPr lang="en-GB" sz="2800" dirty="0">
                <a:solidFill>
                  <a:srgbClr val="92D050"/>
                </a:solidFill>
              </a:rPr>
              <a:t>effective</a:t>
            </a:r>
            <a:r>
              <a:rPr lang="en-GB" sz="2800" dirty="0"/>
              <a:t> for </a:t>
            </a:r>
            <a:r>
              <a:rPr lang="en-GB" sz="2800" dirty="0">
                <a:solidFill>
                  <a:srgbClr val="92D050"/>
                </a:solidFill>
              </a:rPr>
              <a:t>supporting </a:t>
            </a:r>
            <a:r>
              <a:rPr lang="en-GB" sz="2800" dirty="0"/>
              <a:t>the teaching-learning process.</a:t>
            </a:r>
          </a:p>
        </p:txBody>
      </p:sp>
    </p:spTree>
    <p:extLst>
      <p:ext uri="{BB962C8B-B14F-4D97-AF65-F5344CB8AC3E}">
        <p14:creationId xmlns:p14="http://schemas.microsoft.com/office/powerpoint/2010/main" val="5024123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7801" y="1371600"/>
            <a:ext cx="6400800" cy="3785652"/>
          </a:xfrm>
          <a:prstGeom prst="rect">
            <a:avLst/>
          </a:prstGeom>
        </p:spPr>
        <p:txBody>
          <a:bodyPr wrap="square">
            <a:spAutoFit/>
          </a:bodyPr>
          <a:lstStyle/>
          <a:p>
            <a:r>
              <a:rPr lang="en-GB" sz="2400" b="1" u="sng" dirty="0">
                <a:solidFill>
                  <a:srgbClr val="FF0000"/>
                </a:solidFill>
              </a:rPr>
              <a:t>Decision about the media </a:t>
            </a:r>
            <a:endParaRPr lang="en-GB" sz="2400" u="sng" dirty="0">
              <a:solidFill>
                <a:srgbClr val="FF0000"/>
              </a:solidFill>
            </a:endParaRPr>
          </a:p>
          <a:p>
            <a:r>
              <a:rPr lang="en-GB" sz="2400" dirty="0"/>
              <a:t>This decision about the media to be used in the classroom is dependent upon thorough knowledge of:</a:t>
            </a:r>
          </a:p>
          <a:p>
            <a:pPr marL="385763" indent="-385763">
              <a:buFont typeface="+mj-lt"/>
              <a:buAutoNum type="alphaLcParenR"/>
            </a:pPr>
            <a:r>
              <a:rPr lang="en-GB" sz="2400" dirty="0">
                <a:solidFill>
                  <a:srgbClr val="92D050"/>
                </a:solidFill>
              </a:rPr>
              <a:t>what</a:t>
            </a:r>
            <a:r>
              <a:rPr lang="en-GB" sz="2400" dirty="0"/>
              <a:t> is to be taught; </a:t>
            </a:r>
          </a:p>
          <a:p>
            <a:pPr marL="385763" indent="-385763">
              <a:buFont typeface="+mj-lt"/>
              <a:buAutoNum type="alphaLcParenR"/>
            </a:pPr>
            <a:r>
              <a:rPr lang="en-GB" sz="2400" dirty="0">
                <a:solidFill>
                  <a:srgbClr val="92D050"/>
                </a:solidFill>
              </a:rPr>
              <a:t>how</a:t>
            </a:r>
            <a:r>
              <a:rPr lang="en-GB" sz="2400" dirty="0"/>
              <a:t> it is to be taught; </a:t>
            </a:r>
          </a:p>
          <a:p>
            <a:pPr marL="385763" indent="-385763">
              <a:buFont typeface="+mj-lt"/>
              <a:buAutoNum type="alphaLcParenR"/>
            </a:pPr>
            <a:r>
              <a:rPr lang="en-GB" sz="2400" dirty="0">
                <a:solidFill>
                  <a:srgbClr val="92D050"/>
                </a:solidFill>
              </a:rPr>
              <a:t>How </a:t>
            </a:r>
            <a:r>
              <a:rPr lang="en-GB" sz="2400" dirty="0"/>
              <a:t>its effectiveness can be tested; </a:t>
            </a:r>
          </a:p>
          <a:p>
            <a:pPr marL="385763" indent="-385763">
              <a:buFont typeface="+mj-lt"/>
              <a:buAutoNum type="alphaLcParenR"/>
            </a:pPr>
            <a:r>
              <a:rPr lang="en-GB" sz="2400" dirty="0">
                <a:solidFill>
                  <a:srgbClr val="92D050"/>
                </a:solidFill>
              </a:rPr>
              <a:t>who</a:t>
            </a:r>
            <a:r>
              <a:rPr lang="en-GB" sz="2400" dirty="0"/>
              <a:t> the learners are; and </a:t>
            </a:r>
          </a:p>
          <a:p>
            <a:pPr marL="385763" indent="-385763">
              <a:buFont typeface="+mj-lt"/>
              <a:buAutoNum type="alphaLcParenR"/>
            </a:pPr>
            <a:r>
              <a:rPr lang="en-GB" sz="2400" dirty="0">
                <a:solidFill>
                  <a:srgbClr val="92D050"/>
                </a:solidFill>
              </a:rPr>
              <a:t>Ability </a:t>
            </a:r>
            <a:r>
              <a:rPr lang="en-GB" sz="2400" dirty="0"/>
              <a:t>of the teacher to operate the hardware used with the selected media.</a:t>
            </a:r>
          </a:p>
        </p:txBody>
      </p:sp>
    </p:spTree>
    <p:extLst>
      <p:ext uri="{BB962C8B-B14F-4D97-AF65-F5344CB8AC3E}">
        <p14:creationId xmlns:p14="http://schemas.microsoft.com/office/powerpoint/2010/main" val="23644157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219200"/>
            <a:ext cx="7025473" cy="3762568"/>
          </a:xfrm>
          <a:prstGeom prst="rect">
            <a:avLst/>
          </a:prstGeom>
        </p:spPr>
        <p:txBody>
          <a:bodyPr wrap="square">
            <a:spAutoFit/>
          </a:bodyPr>
          <a:lstStyle/>
          <a:p>
            <a:r>
              <a:rPr lang="en-GB" sz="2250" b="1" u="sng" dirty="0">
                <a:solidFill>
                  <a:srgbClr val="FF0000"/>
                </a:solidFill>
              </a:rPr>
              <a:t>Coordinating Media with Teaching Methods</a:t>
            </a:r>
          </a:p>
          <a:p>
            <a:r>
              <a:rPr lang="en-GB" sz="2400" dirty="0"/>
              <a:t>After taking decision about the media, another question that engages the mind of the teacher</a:t>
            </a:r>
          </a:p>
          <a:p>
            <a:r>
              <a:rPr lang="en-GB" sz="2400" dirty="0"/>
              <a:t>is "</a:t>
            </a:r>
            <a:r>
              <a:rPr lang="en-GB" sz="2400" dirty="0">
                <a:solidFill>
                  <a:srgbClr val="92D050"/>
                </a:solidFill>
              </a:rPr>
              <a:t>What type </a:t>
            </a:r>
            <a:r>
              <a:rPr lang="en-GB" sz="2400" dirty="0"/>
              <a:t>of media are to be used and for what type of learning activities?”</a:t>
            </a:r>
          </a:p>
          <a:p>
            <a:endParaRPr lang="en-GB" sz="2400" dirty="0"/>
          </a:p>
          <a:p>
            <a:r>
              <a:rPr lang="en-GB" sz="2400" b="1" dirty="0"/>
              <a:t>For example,</a:t>
            </a:r>
          </a:p>
          <a:p>
            <a:r>
              <a:rPr lang="en-GB" sz="2400" dirty="0"/>
              <a:t>Audio visual aid is more effective for </a:t>
            </a:r>
            <a:r>
              <a:rPr lang="en-GB" sz="2400" dirty="0">
                <a:solidFill>
                  <a:srgbClr val="92D050"/>
                </a:solidFill>
              </a:rPr>
              <a:t>verbal information</a:t>
            </a:r>
            <a:r>
              <a:rPr lang="en-GB" sz="2400" dirty="0"/>
              <a:t>, while live demonstrations are more </a:t>
            </a:r>
            <a:r>
              <a:rPr lang="en-GB" sz="2400" dirty="0">
                <a:solidFill>
                  <a:srgbClr val="92D050"/>
                </a:solidFill>
              </a:rPr>
              <a:t>effective</a:t>
            </a:r>
            <a:r>
              <a:rPr lang="en-GB" sz="2400" dirty="0"/>
              <a:t> for developing </a:t>
            </a:r>
            <a:r>
              <a:rPr lang="en-GB" sz="2400" dirty="0">
                <a:solidFill>
                  <a:srgbClr val="92D050"/>
                </a:solidFill>
              </a:rPr>
              <a:t>psychomotor skills</a:t>
            </a:r>
            <a:r>
              <a:rPr lang="en-GB" sz="2400" dirty="0"/>
              <a:t>.</a:t>
            </a:r>
          </a:p>
        </p:txBody>
      </p:sp>
    </p:spTree>
    <p:extLst>
      <p:ext uri="{BB962C8B-B14F-4D97-AF65-F5344CB8AC3E}">
        <p14:creationId xmlns:p14="http://schemas.microsoft.com/office/powerpoint/2010/main" val="12315631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7491" y="1219200"/>
            <a:ext cx="7223509" cy="3416320"/>
          </a:xfrm>
          <a:prstGeom prst="rect">
            <a:avLst/>
          </a:prstGeom>
        </p:spPr>
        <p:txBody>
          <a:bodyPr wrap="square">
            <a:spAutoFit/>
          </a:bodyPr>
          <a:lstStyle/>
          <a:p>
            <a:r>
              <a:rPr lang="en-GB" sz="2400" b="1" u="sng" dirty="0">
                <a:solidFill>
                  <a:srgbClr val="FF0000"/>
                </a:solidFill>
              </a:rPr>
              <a:t>Linking the Content to the Media</a:t>
            </a:r>
          </a:p>
          <a:p>
            <a:r>
              <a:rPr lang="en-GB" sz="2400" dirty="0"/>
              <a:t>The instruction to be given through the media has to be an </a:t>
            </a:r>
            <a:r>
              <a:rPr lang="en-GB" sz="2400" dirty="0">
                <a:solidFill>
                  <a:srgbClr val="92D050"/>
                </a:solidFill>
              </a:rPr>
              <a:t>integral part </a:t>
            </a:r>
            <a:r>
              <a:rPr lang="en-GB" sz="2400" dirty="0"/>
              <a:t>of the instructional system. </a:t>
            </a:r>
          </a:p>
          <a:p>
            <a:pPr marL="214313" indent="-214313">
              <a:buFont typeface="Wingdings" panose="05000000000000000000" pitchFamily="2" charset="2"/>
              <a:buChar char="§"/>
            </a:pPr>
            <a:r>
              <a:rPr lang="en-GB" sz="2400" dirty="0"/>
              <a:t>The content to be taught through the media must be </a:t>
            </a:r>
            <a:r>
              <a:rPr lang="en-GB" sz="2400" dirty="0">
                <a:solidFill>
                  <a:srgbClr val="92D050"/>
                </a:solidFill>
              </a:rPr>
              <a:t>linked </a:t>
            </a:r>
            <a:r>
              <a:rPr lang="en-GB" sz="2400" dirty="0"/>
              <a:t>with the content taught through other modes of presentation. </a:t>
            </a:r>
          </a:p>
          <a:p>
            <a:pPr marL="214313" indent="-214313">
              <a:buFont typeface="Wingdings" panose="05000000000000000000" pitchFamily="2" charset="2"/>
              <a:buChar char="§"/>
            </a:pPr>
            <a:r>
              <a:rPr lang="en-GB" sz="2400" dirty="0"/>
              <a:t>Otherwise it may </a:t>
            </a:r>
            <a:r>
              <a:rPr lang="en-GB" sz="2400" dirty="0">
                <a:solidFill>
                  <a:srgbClr val="92D050"/>
                </a:solidFill>
              </a:rPr>
              <a:t>confuse</a:t>
            </a:r>
            <a:r>
              <a:rPr lang="en-GB" sz="2400" dirty="0"/>
              <a:t> the students and they may feel that some unfavourable conditions are being created which may </a:t>
            </a:r>
            <a:r>
              <a:rPr lang="en-GB" sz="2400" dirty="0">
                <a:solidFill>
                  <a:srgbClr val="92D050"/>
                </a:solidFill>
              </a:rPr>
              <a:t>prove </a:t>
            </a:r>
            <a:r>
              <a:rPr lang="en-GB" sz="2400" dirty="0"/>
              <a:t>to be a handicap.</a:t>
            </a:r>
          </a:p>
        </p:txBody>
      </p:sp>
    </p:spTree>
    <p:extLst>
      <p:ext uri="{BB962C8B-B14F-4D97-AF65-F5344CB8AC3E}">
        <p14:creationId xmlns:p14="http://schemas.microsoft.com/office/powerpoint/2010/main" val="29998862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533400"/>
            <a:ext cx="7239000" cy="5632311"/>
          </a:xfrm>
          <a:prstGeom prst="rect">
            <a:avLst/>
          </a:prstGeom>
        </p:spPr>
        <p:txBody>
          <a:bodyPr wrap="square">
            <a:spAutoFit/>
          </a:bodyPr>
          <a:lstStyle/>
          <a:p>
            <a:r>
              <a:rPr lang="en-GB" sz="2400" b="1" u="sng" dirty="0">
                <a:solidFill>
                  <a:srgbClr val="FF0000"/>
                </a:solidFill>
              </a:rPr>
              <a:t>Media should be complementary to Instruction Method</a:t>
            </a:r>
          </a:p>
          <a:p>
            <a:r>
              <a:rPr lang="en-GB" sz="2400" dirty="0"/>
              <a:t>The instruction given through the selected media has to be </a:t>
            </a:r>
            <a:r>
              <a:rPr lang="en-GB" sz="2400" dirty="0">
                <a:solidFill>
                  <a:srgbClr val="92D050"/>
                </a:solidFill>
              </a:rPr>
              <a:t>integrated</a:t>
            </a:r>
            <a:r>
              <a:rPr lang="en-GB" sz="2400" dirty="0"/>
              <a:t> with the teaching methods used by the teacher</a:t>
            </a:r>
          </a:p>
          <a:p>
            <a:pPr marL="214313" indent="-214313">
              <a:buFont typeface="Wingdings" panose="05000000000000000000" pitchFamily="2" charset="2"/>
              <a:buChar char="§"/>
            </a:pPr>
            <a:r>
              <a:rPr lang="en-GB" sz="2400" dirty="0"/>
              <a:t>The content being covered through a particular medium has to be </a:t>
            </a:r>
            <a:r>
              <a:rPr lang="en-GB" sz="2400" dirty="0">
                <a:solidFill>
                  <a:srgbClr val="92D050"/>
                </a:solidFill>
              </a:rPr>
              <a:t>so linked </a:t>
            </a:r>
            <a:r>
              <a:rPr lang="en-GB" sz="2400" dirty="0"/>
              <a:t>with the content being taught through a particular method so that both are integrated with each other. </a:t>
            </a:r>
          </a:p>
          <a:p>
            <a:pPr marL="214313" indent="-214313">
              <a:buFont typeface="Wingdings" panose="05000000000000000000" pitchFamily="2" charset="2"/>
              <a:buChar char="§"/>
            </a:pPr>
            <a:r>
              <a:rPr lang="en-GB" sz="2400" b="1" dirty="0"/>
              <a:t>Example:</a:t>
            </a:r>
          </a:p>
          <a:p>
            <a:pPr marL="214313" indent="-214313">
              <a:buFont typeface="Wingdings" panose="05000000000000000000" pitchFamily="2" charset="2"/>
              <a:buChar char="§"/>
            </a:pPr>
            <a:r>
              <a:rPr lang="en-GB" sz="2400" dirty="0"/>
              <a:t>the teacher may be using lecture method in the class to teach some unit or part of the unit and may </a:t>
            </a:r>
            <a:r>
              <a:rPr lang="en-GB" sz="2400" dirty="0">
                <a:solidFill>
                  <a:srgbClr val="92D050"/>
                </a:solidFill>
              </a:rPr>
              <a:t>supplement</a:t>
            </a:r>
            <a:r>
              <a:rPr lang="en-GB" sz="2400" dirty="0"/>
              <a:t> the teaching by using audio visual to teach another part of the unit.</a:t>
            </a:r>
          </a:p>
          <a:p>
            <a:pPr marL="214313" indent="-214313">
              <a:buFont typeface="Wingdings" panose="05000000000000000000" pitchFamily="2" charset="2"/>
              <a:buChar char="§"/>
            </a:pPr>
            <a:r>
              <a:rPr lang="en-GB" sz="2400" dirty="0"/>
              <a:t>Media should be </a:t>
            </a:r>
            <a:r>
              <a:rPr lang="en-GB" sz="2400" dirty="0">
                <a:solidFill>
                  <a:srgbClr val="92D050"/>
                </a:solidFill>
              </a:rPr>
              <a:t>complementary </a:t>
            </a:r>
            <a:r>
              <a:rPr lang="en-GB" sz="2400" dirty="0"/>
              <a:t>to the major instructional method being - used by the teacher.</a:t>
            </a:r>
          </a:p>
        </p:txBody>
      </p:sp>
    </p:spTree>
    <p:extLst>
      <p:ext uri="{BB962C8B-B14F-4D97-AF65-F5344CB8AC3E}">
        <p14:creationId xmlns:p14="http://schemas.microsoft.com/office/powerpoint/2010/main" val="4883073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100" y="914400"/>
            <a:ext cx="7543800" cy="4401205"/>
          </a:xfrm>
          <a:prstGeom prst="rect">
            <a:avLst/>
          </a:prstGeom>
        </p:spPr>
        <p:txBody>
          <a:bodyPr wrap="square">
            <a:spAutoFit/>
          </a:bodyPr>
          <a:lstStyle/>
          <a:p>
            <a:r>
              <a:rPr lang="en-GB" sz="2800" b="1" u="sng" dirty="0">
                <a:solidFill>
                  <a:srgbClr val="FF0000"/>
                </a:solidFill>
              </a:rPr>
              <a:t>Detailing the Task</a:t>
            </a:r>
          </a:p>
          <a:p>
            <a:r>
              <a:rPr lang="en-GB" sz="2800" dirty="0"/>
              <a:t>After </a:t>
            </a:r>
            <a:r>
              <a:rPr lang="en-GB" sz="2800" dirty="0">
                <a:solidFill>
                  <a:srgbClr val="92D050"/>
                </a:solidFill>
              </a:rPr>
              <a:t>analysing</a:t>
            </a:r>
            <a:r>
              <a:rPr lang="en-GB" sz="2800" dirty="0"/>
              <a:t> the content to be taught to the students and selecting the suitable presentation mode and the appropriate media, the teacher must </a:t>
            </a:r>
            <a:r>
              <a:rPr lang="en-GB" sz="2800" dirty="0">
                <a:solidFill>
                  <a:srgbClr val="92D050"/>
                </a:solidFill>
              </a:rPr>
              <a:t>define</a:t>
            </a:r>
            <a:r>
              <a:rPr lang="en-GB" sz="2800" dirty="0"/>
              <a:t> the tasks to be performed by taking up each objective and writes down:</a:t>
            </a:r>
          </a:p>
          <a:p>
            <a:pPr marL="811213" indent="-365125">
              <a:buFont typeface="Wingdings" panose="05000000000000000000" pitchFamily="2" charset="2"/>
              <a:buChar char="§"/>
            </a:pPr>
            <a:r>
              <a:rPr lang="en-GB" sz="2800" dirty="0"/>
              <a:t>the </a:t>
            </a:r>
            <a:r>
              <a:rPr lang="en-GB" sz="2800" dirty="0">
                <a:solidFill>
                  <a:srgbClr val="92D050"/>
                </a:solidFill>
              </a:rPr>
              <a:t>content</a:t>
            </a:r>
            <a:r>
              <a:rPr lang="en-GB" sz="2800" dirty="0"/>
              <a:t> to be covered for achieving it, </a:t>
            </a:r>
          </a:p>
          <a:p>
            <a:pPr marL="811213" indent="-365125">
              <a:buFont typeface="Wingdings" panose="05000000000000000000" pitchFamily="2" charset="2"/>
              <a:buChar char="§"/>
            </a:pPr>
            <a:r>
              <a:rPr lang="en-GB" sz="2800" dirty="0"/>
              <a:t>the </a:t>
            </a:r>
            <a:r>
              <a:rPr lang="en-GB" sz="2800" dirty="0">
                <a:solidFill>
                  <a:srgbClr val="92D050"/>
                </a:solidFill>
              </a:rPr>
              <a:t>method or strategy </a:t>
            </a:r>
            <a:r>
              <a:rPr lang="en-GB" sz="2800" dirty="0"/>
              <a:t>to be used to teach the content and </a:t>
            </a:r>
          </a:p>
          <a:p>
            <a:pPr marL="811213" indent="-365125">
              <a:buFont typeface="Wingdings" panose="05000000000000000000" pitchFamily="2" charset="2"/>
              <a:buChar char="§"/>
            </a:pPr>
            <a:r>
              <a:rPr lang="en-GB" sz="2800" dirty="0"/>
              <a:t>the media that will be </a:t>
            </a:r>
            <a:r>
              <a:rPr lang="en-GB" sz="2800" dirty="0">
                <a:solidFill>
                  <a:srgbClr val="92D050"/>
                </a:solidFill>
              </a:rPr>
              <a:t>utilised</a:t>
            </a:r>
            <a:r>
              <a:rPr lang="en-GB" sz="2800" dirty="0"/>
              <a:t> for teaching</a:t>
            </a:r>
          </a:p>
        </p:txBody>
      </p:sp>
    </p:spTree>
    <p:extLst>
      <p:ext uri="{BB962C8B-B14F-4D97-AF65-F5344CB8AC3E}">
        <p14:creationId xmlns:p14="http://schemas.microsoft.com/office/powerpoint/2010/main" val="1191084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609600"/>
            <a:ext cx="7620000" cy="4893647"/>
          </a:xfrm>
          <a:prstGeom prst="rect">
            <a:avLst/>
          </a:prstGeom>
        </p:spPr>
        <p:txBody>
          <a:bodyPr wrap="square">
            <a:spAutoFit/>
          </a:bodyPr>
          <a:lstStyle/>
          <a:p>
            <a:r>
              <a:rPr lang="en-GB" sz="1950" b="1" u="sng" dirty="0">
                <a:solidFill>
                  <a:srgbClr val="92D050"/>
                </a:solidFill>
              </a:rPr>
              <a:t>Considerations Detailing the Task</a:t>
            </a:r>
          </a:p>
          <a:p>
            <a:r>
              <a:rPr lang="en-GB" sz="1950" dirty="0"/>
              <a:t>Each detail is written out based on the following of Instruction considerations :</a:t>
            </a:r>
          </a:p>
          <a:p>
            <a:pPr marL="214313" indent="-214313">
              <a:buFont typeface="Wingdings" panose="05000000000000000000" pitchFamily="2" charset="2"/>
              <a:buChar char="§"/>
            </a:pPr>
            <a:r>
              <a:rPr lang="en-GB" sz="1950" dirty="0"/>
              <a:t>What does the teacher want the students to do, to </a:t>
            </a:r>
            <a:r>
              <a:rPr lang="en-GB" sz="1950" dirty="0">
                <a:solidFill>
                  <a:srgbClr val="92D050"/>
                </a:solidFill>
              </a:rPr>
              <a:t>demonstrate </a:t>
            </a:r>
            <a:r>
              <a:rPr lang="en-GB" sz="1950" dirty="0"/>
              <a:t>that they have </a:t>
            </a:r>
            <a:r>
              <a:rPr lang="en-GB" sz="1950" dirty="0">
                <a:solidFill>
                  <a:srgbClr val="92D050"/>
                </a:solidFill>
              </a:rPr>
              <a:t>learnt</a:t>
            </a:r>
            <a:r>
              <a:rPr lang="en-GB" sz="1950" dirty="0"/>
              <a:t> the topic?</a:t>
            </a:r>
          </a:p>
          <a:p>
            <a:pPr marL="214313" indent="-214313">
              <a:buFont typeface="Wingdings" panose="05000000000000000000" pitchFamily="2" charset="2"/>
              <a:buChar char="§"/>
            </a:pPr>
            <a:r>
              <a:rPr lang="en-GB" sz="1950" dirty="0"/>
              <a:t>What questions does the teacher expect the students to</a:t>
            </a:r>
            <a:r>
              <a:rPr lang="en-GB" sz="1950" dirty="0">
                <a:solidFill>
                  <a:srgbClr val="92D050"/>
                </a:solidFill>
              </a:rPr>
              <a:t> answer</a:t>
            </a:r>
            <a:r>
              <a:rPr lang="en-GB" sz="1950" dirty="0"/>
              <a:t>?</a:t>
            </a:r>
          </a:p>
          <a:p>
            <a:pPr marL="214313" indent="-214313">
              <a:buFont typeface="Wingdings" panose="05000000000000000000" pitchFamily="2" charset="2"/>
              <a:buChar char="§"/>
            </a:pPr>
            <a:r>
              <a:rPr lang="en-GB" sz="1950" dirty="0"/>
              <a:t>What tasks, procedures and techniques does the teacher expect the students to</a:t>
            </a:r>
            <a:r>
              <a:rPr lang="en-GB" sz="1950" dirty="0">
                <a:solidFill>
                  <a:srgbClr val="92D050"/>
                </a:solidFill>
              </a:rPr>
              <a:t> perform </a:t>
            </a:r>
            <a:r>
              <a:rPr lang="en-GB" sz="1950" dirty="0"/>
              <a:t>and at what level will this be </a:t>
            </a:r>
            <a:r>
              <a:rPr lang="en-GB" sz="1950" dirty="0">
                <a:solidFill>
                  <a:srgbClr val="92D050"/>
                </a:solidFill>
              </a:rPr>
              <a:t>executed</a:t>
            </a:r>
            <a:r>
              <a:rPr lang="en-GB" sz="1950" dirty="0"/>
              <a:t>'?</a:t>
            </a:r>
          </a:p>
          <a:p>
            <a:pPr marL="214313" indent="-214313">
              <a:buFont typeface="Wingdings" panose="05000000000000000000" pitchFamily="2" charset="2"/>
              <a:buChar char="§"/>
            </a:pPr>
            <a:r>
              <a:rPr lang="en-GB" sz="1950" dirty="0"/>
              <a:t>What total changes in the students' </a:t>
            </a:r>
            <a:r>
              <a:rPr lang="en-GB" sz="1950" dirty="0">
                <a:solidFill>
                  <a:srgbClr val="92D050"/>
                </a:solidFill>
              </a:rPr>
              <a:t>behaviour </a:t>
            </a:r>
            <a:r>
              <a:rPr lang="en-GB" sz="1950" dirty="0"/>
              <a:t>is expected and in what form can it be </a:t>
            </a:r>
            <a:r>
              <a:rPr lang="en-GB" sz="1950" dirty="0">
                <a:solidFill>
                  <a:srgbClr val="92D050"/>
                </a:solidFill>
              </a:rPr>
              <a:t>observed </a:t>
            </a:r>
            <a:r>
              <a:rPr lang="en-GB" sz="1950" dirty="0"/>
              <a:t>and </a:t>
            </a:r>
            <a:r>
              <a:rPr lang="en-GB" sz="1950" dirty="0">
                <a:solidFill>
                  <a:srgbClr val="92D050"/>
                </a:solidFill>
              </a:rPr>
              <a:t>measured</a:t>
            </a:r>
            <a:r>
              <a:rPr lang="en-GB" sz="1950" dirty="0"/>
              <a:t>?</a:t>
            </a:r>
          </a:p>
          <a:p>
            <a:pPr marL="214313" indent="-214313">
              <a:buFont typeface="Wingdings" panose="05000000000000000000" pitchFamily="2" charset="2"/>
              <a:buChar char="§"/>
            </a:pPr>
            <a:r>
              <a:rPr lang="en-GB" sz="1950" dirty="0"/>
              <a:t>What role will the teacher </a:t>
            </a:r>
            <a:r>
              <a:rPr lang="en-GB" sz="1950" dirty="0">
                <a:solidFill>
                  <a:srgbClr val="92D050"/>
                </a:solidFill>
              </a:rPr>
              <a:t>perform</a:t>
            </a:r>
            <a:r>
              <a:rPr lang="en-GB" sz="1950" dirty="0"/>
              <a:t> in order to bring about </a:t>
            </a:r>
            <a:r>
              <a:rPr lang="en-GB" sz="1950" dirty="0">
                <a:solidFill>
                  <a:srgbClr val="92D050"/>
                </a:solidFill>
              </a:rPr>
              <a:t>desired changes </a:t>
            </a:r>
            <a:r>
              <a:rPr lang="en-GB" sz="1950" dirty="0"/>
              <a:t>in students‘ behaviour'?</a:t>
            </a:r>
          </a:p>
          <a:p>
            <a:pPr marL="214313" indent="-214313">
              <a:buFont typeface="Wingdings" panose="05000000000000000000" pitchFamily="2" charset="2"/>
              <a:buChar char="§"/>
            </a:pPr>
            <a:r>
              <a:rPr lang="en-GB" sz="1950" dirty="0"/>
              <a:t>What media will be </a:t>
            </a:r>
            <a:r>
              <a:rPr lang="en-GB" sz="1950" dirty="0">
                <a:solidFill>
                  <a:srgbClr val="92D050"/>
                </a:solidFill>
              </a:rPr>
              <a:t>utilised </a:t>
            </a:r>
            <a:r>
              <a:rPr lang="en-GB" sz="1950" dirty="0"/>
              <a:t>and at what particular time so that the desired outcomes are </a:t>
            </a:r>
            <a:r>
              <a:rPr lang="en-GB" sz="1950" dirty="0">
                <a:solidFill>
                  <a:srgbClr val="92D050"/>
                </a:solidFill>
              </a:rPr>
              <a:t>achieved</a:t>
            </a:r>
            <a:r>
              <a:rPr lang="en-GB" sz="1950" dirty="0"/>
              <a:t>?</a:t>
            </a:r>
          </a:p>
          <a:p>
            <a:pPr marL="214313" indent="-214313">
              <a:buFont typeface="Wingdings" panose="05000000000000000000" pitchFamily="2" charset="2"/>
              <a:buChar char="§"/>
            </a:pPr>
            <a:r>
              <a:rPr lang="en-GB" sz="1950" dirty="0"/>
              <a:t>What instructional modes will be </a:t>
            </a:r>
            <a:r>
              <a:rPr lang="en-GB" sz="1950" dirty="0">
                <a:solidFill>
                  <a:srgbClr val="92D050"/>
                </a:solidFill>
              </a:rPr>
              <a:t>used </a:t>
            </a:r>
            <a:r>
              <a:rPr lang="en-GB" sz="1950" dirty="0"/>
              <a:t>to take the best </a:t>
            </a:r>
            <a:r>
              <a:rPr lang="en-GB" sz="1950" dirty="0">
                <a:solidFill>
                  <a:srgbClr val="92D050"/>
                </a:solidFill>
              </a:rPr>
              <a:t>advantage </a:t>
            </a:r>
            <a:r>
              <a:rPr lang="en-GB" sz="1950" dirty="0"/>
              <a:t>of the existing situation'?</a:t>
            </a:r>
          </a:p>
        </p:txBody>
      </p:sp>
    </p:spTree>
    <p:extLst>
      <p:ext uri="{BB962C8B-B14F-4D97-AF65-F5344CB8AC3E}">
        <p14:creationId xmlns:p14="http://schemas.microsoft.com/office/powerpoint/2010/main" val="14197093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6800" y="1371600"/>
            <a:ext cx="7506118" cy="3785652"/>
          </a:xfrm>
          <a:prstGeom prst="rect">
            <a:avLst/>
          </a:prstGeom>
        </p:spPr>
        <p:txBody>
          <a:bodyPr wrap="square">
            <a:spAutoFit/>
          </a:bodyPr>
          <a:lstStyle/>
          <a:p>
            <a:r>
              <a:rPr lang="en-GB" sz="2400" b="1" u="sng" dirty="0">
                <a:solidFill>
                  <a:srgbClr val="FF0000"/>
                </a:solidFill>
              </a:rPr>
              <a:t>Relevance of instructional system</a:t>
            </a:r>
          </a:p>
          <a:p>
            <a:r>
              <a:rPr lang="en-GB" sz="2400" dirty="0"/>
              <a:t> In this way the teacher:</a:t>
            </a:r>
          </a:p>
          <a:p>
            <a:pPr marL="342900" indent="-342900">
              <a:buFont typeface="Wingdings" panose="05000000000000000000" pitchFamily="2" charset="2"/>
              <a:buChar char="§"/>
            </a:pPr>
            <a:r>
              <a:rPr lang="en-GB" sz="2400" dirty="0"/>
              <a:t>describes, </a:t>
            </a:r>
          </a:p>
          <a:p>
            <a:pPr marL="342900" indent="-342900">
              <a:buFont typeface="Wingdings" panose="05000000000000000000" pitchFamily="2" charset="2"/>
              <a:buChar char="§"/>
            </a:pPr>
            <a:r>
              <a:rPr lang="en-GB" sz="2400" dirty="0"/>
              <a:t>analyses and </a:t>
            </a:r>
          </a:p>
          <a:p>
            <a:pPr marL="342900" indent="-342900">
              <a:buFont typeface="Wingdings" panose="05000000000000000000" pitchFamily="2" charset="2"/>
              <a:buChar char="§"/>
            </a:pPr>
            <a:r>
              <a:rPr lang="en-GB" sz="2400" dirty="0"/>
              <a:t>reviews </a:t>
            </a:r>
          </a:p>
          <a:p>
            <a:r>
              <a:rPr lang="en-GB" sz="2400" dirty="0"/>
              <a:t>the relevant instructional system within which the tasks are to be </a:t>
            </a:r>
            <a:r>
              <a:rPr lang="en-GB" sz="2400" dirty="0">
                <a:solidFill>
                  <a:srgbClr val="92D050"/>
                </a:solidFill>
              </a:rPr>
              <a:t>performed</a:t>
            </a:r>
            <a:r>
              <a:rPr lang="en-GB" sz="2400" dirty="0"/>
              <a:t>. </a:t>
            </a:r>
          </a:p>
          <a:p>
            <a:endParaRPr lang="en-GB" sz="2400" dirty="0"/>
          </a:p>
          <a:p>
            <a:r>
              <a:rPr lang="en-GB" sz="2400" dirty="0"/>
              <a:t>The tasks are the </a:t>
            </a:r>
            <a:r>
              <a:rPr lang="en-GB" sz="2400" dirty="0">
                <a:solidFill>
                  <a:srgbClr val="92D050"/>
                </a:solidFill>
              </a:rPr>
              <a:t>action points </a:t>
            </a:r>
            <a:r>
              <a:rPr lang="en-GB" sz="2400" dirty="0"/>
              <a:t>that the teacher will take into </a:t>
            </a:r>
            <a:r>
              <a:rPr lang="en-GB" sz="2400" dirty="0">
                <a:solidFill>
                  <a:srgbClr val="92D050"/>
                </a:solidFill>
              </a:rPr>
              <a:t>account </a:t>
            </a:r>
            <a:r>
              <a:rPr lang="en-GB" sz="2400" dirty="0"/>
              <a:t>while teaching</a:t>
            </a:r>
          </a:p>
        </p:txBody>
      </p:sp>
    </p:spTree>
    <p:extLst>
      <p:ext uri="{BB962C8B-B14F-4D97-AF65-F5344CB8AC3E}">
        <p14:creationId xmlns:p14="http://schemas.microsoft.com/office/powerpoint/2010/main" val="36080394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22F6-4A8E-48C6-9BE4-D4CD54F13393}"/>
              </a:ext>
            </a:extLst>
          </p:cNvPr>
          <p:cNvSpPr>
            <a:spLocks noGrp="1"/>
          </p:cNvSpPr>
          <p:nvPr>
            <p:ph type="ctrTitle"/>
          </p:nvPr>
        </p:nvSpPr>
        <p:spPr>
          <a:xfrm>
            <a:off x="1524000" y="2477452"/>
            <a:ext cx="6096000" cy="962978"/>
          </a:xfrm>
        </p:spPr>
        <p:txBody>
          <a:bodyPr>
            <a:noAutofit/>
          </a:bodyPr>
          <a:lstStyle/>
          <a:p>
            <a:r>
              <a:rPr lang="en-GB" sz="3300" dirty="0">
                <a:solidFill>
                  <a:srgbClr val="FF0000"/>
                </a:solidFill>
              </a:rPr>
              <a:t>Presentation Modes used to transact assigned curricular content</a:t>
            </a:r>
            <a:endParaRPr lang="en-KE" sz="3300" dirty="0">
              <a:solidFill>
                <a:srgbClr val="FF0000"/>
              </a:solidFill>
            </a:endParaRPr>
          </a:p>
        </p:txBody>
      </p:sp>
    </p:spTree>
    <p:extLst>
      <p:ext uri="{BB962C8B-B14F-4D97-AF65-F5344CB8AC3E}">
        <p14:creationId xmlns:p14="http://schemas.microsoft.com/office/powerpoint/2010/main" val="23178535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F13C5DD-80FF-4CB3-D06B-34388E28D25E}"/>
              </a:ext>
            </a:extLst>
          </p:cNvPr>
          <p:cNvSpPr>
            <a:spLocks noGrp="1"/>
          </p:cNvSpPr>
          <p:nvPr>
            <p:ph type="title"/>
          </p:nvPr>
        </p:nvSpPr>
        <p:spPr>
          <a:xfrm>
            <a:off x="494347" y="533400"/>
            <a:ext cx="8155305" cy="465500"/>
          </a:xfrm>
        </p:spPr>
        <p:txBody>
          <a:bodyPr/>
          <a:lstStyle/>
          <a:p>
            <a:r>
              <a:rPr lang="en-US" dirty="0">
                <a:solidFill>
                  <a:srgbClr val="FF0000"/>
                </a:solidFill>
              </a:rPr>
              <a:t>Key Aspects</a:t>
            </a:r>
          </a:p>
        </p:txBody>
      </p:sp>
      <p:sp>
        <p:nvSpPr>
          <p:cNvPr id="3" name="Content Placeholder 2">
            <a:extLst>
              <a:ext uri="{FF2B5EF4-FFF2-40B4-BE49-F238E27FC236}">
                <a16:creationId xmlns:a16="http://schemas.microsoft.com/office/drawing/2014/main" id="{248ABEBD-69C8-D349-F088-6D8F8C7CF642}"/>
              </a:ext>
            </a:extLst>
          </p:cNvPr>
          <p:cNvSpPr>
            <a:spLocks noGrp="1"/>
          </p:cNvSpPr>
          <p:nvPr>
            <p:ph sz="quarter" idx="13"/>
          </p:nvPr>
        </p:nvSpPr>
        <p:spPr>
          <a:xfrm>
            <a:off x="944880" y="842350"/>
            <a:ext cx="7589520" cy="5638800"/>
          </a:xfrm>
        </p:spPr>
        <p:txBody>
          <a:bodyPr>
            <a:noAutofit/>
          </a:bodyPr>
          <a:lstStyle/>
          <a:p>
            <a:pPr algn="just"/>
            <a:r>
              <a:rPr lang="en-GB" sz="2400" dirty="0">
                <a:solidFill>
                  <a:schemeClr val="bg2"/>
                </a:solidFill>
              </a:rPr>
              <a:t>The most important and challenging task before the teacher is to select the media or medium that he/she would like to use in the classroom and use it effectively for supporting the teaching-learning process. </a:t>
            </a:r>
          </a:p>
          <a:p>
            <a:pPr algn="just"/>
            <a:r>
              <a:rPr lang="en-GB" sz="2400" dirty="0">
                <a:solidFill>
                  <a:schemeClr val="bg2"/>
                </a:solidFill>
              </a:rPr>
              <a:t>The choice of the medium/presentation mode is dependent on what is to be taught, how it is taught, how its effectiveness can be assessed, who the learners are and the teacher knowledge and skills on media operation</a:t>
            </a:r>
          </a:p>
          <a:p>
            <a:pPr algn="just"/>
            <a:r>
              <a:rPr lang="en-GB" sz="2400" dirty="0">
                <a:solidFill>
                  <a:schemeClr val="bg2"/>
                </a:solidFill>
              </a:rPr>
              <a:t>The content being covered through a particular medium has to be so linked with the content being taught through a particular method that both are integrated with each other to avoid confusion. Media should be complementary to the major instructional method being </a:t>
            </a:r>
          </a:p>
          <a:p>
            <a:endParaRPr lang="en-KE" sz="1800" dirty="0"/>
          </a:p>
        </p:txBody>
      </p:sp>
    </p:spTree>
    <p:extLst>
      <p:ext uri="{BB962C8B-B14F-4D97-AF65-F5344CB8AC3E}">
        <p14:creationId xmlns:p14="http://schemas.microsoft.com/office/powerpoint/2010/main" val="3440711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81A4D1A-E640-8A35-AC0E-19BA54A39503}"/>
              </a:ext>
            </a:extLst>
          </p:cNvPr>
          <p:cNvGraphicFramePr>
            <a:graphicFrameLocks noGrp="1"/>
          </p:cNvGraphicFramePr>
          <p:nvPr>
            <p:ph idx="1"/>
          </p:nvPr>
        </p:nvGraphicFramePr>
        <p:xfrm>
          <a:off x="581024" y="647701"/>
          <a:ext cx="7981951" cy="5562598"/>
        </p:xfrm>
        <a:graphic>
          <a:graphicData uri="http://schemas.openxmlformats.org/drawingml/2006/table">
            <a:tbl>
              <a:tblPr firstRow="1" bandRow="1">
                <a:tableStyleId>{5C22544A-7EE6-4342-B048-85BDC9FD1C3A}</a:tableStyleId>
              </a:tblPr>
              <a:tblGrid>
                <a:gridCol w="1889285">
                  <a:extLst>
                    <a:ext uri="{9D8B030D-6E8A-4147-A177-3AD203B41FA5}">
                      <a16:colId xmlns:a16="http://schemas.microsoft.com/office/drawing/2014/main" val="470487827"/>
                    </a:ext>
                  </a:extLst>
                </a:gridCol>
                <a:gridCol w="1879773">
                  <a:extLst>
                    <a:ext uri="{9D8B030D-6E8A-4147-A177-3AD203B41FA5}">
                      <a16:colId xmlns:a16="http://schemas.microsoft.com/office/drawing/2014/main" val="514978304"/>
                    </a:ext>
                  </a:extLst>
                </a:gridCol>
                <a:gridCol w="4212893">
                  <a:extLst>
                    <a:ext uri="{9D8B030D-6E8A-4147-A177-3AD203B41FA5}">
                      <a16:colId xmlns:a16="http://schemas.microsoft.com/office/drawing/2014/main" val="2675031372"/>
                    </a:ext>
                  </a:extLst>
                </a:gridCol>
              </a:tblGrid>
              <a:tr h="343267">
                <a:tc>
                  <a:txBody>
                    <a:bodyPr/>
                    <a:lstStyle/>
                    <a:p>
                      <a:r>
                        <a:rPr lang="en-GB" sz="1500" b="1" dirty="0"/>
                        <a:t>Presentation mode</a:t>
                      </a:r>
                      <a:endParaRPr lang="en-KE" sz="1500" b="1" dirty="0"/>
                    </a:p>
                  </a:txBody>
                  <a:tcPr marL="68580" marR="68580" marT="34290" marB="34290"/>
                </a:tc>
                <a:tc>
                  <a:txBody>
                    <a:bodyPr/>
                    <a:lstStyle/>
                    <a:p>
                      <a:r>
                        <a:rPr lang="en-GB" sz="1500" b="1" dirty="0"/>
                        <a:t>Example</a:t>
                      </a:r>
                      <a:endParaRPr lang="en-KE" sz="1500" b="1" dirty="0"/>
                    </a:p>
                  </a:txBody>
                  <a:tcPr marL="68580" marR="68580" marT="34290" marB="34290"/>
                </a:tc>
                <a:tc>
                  <a:txBody>
                    <a:bodyPr/>
                    <a:lstStyle/>
                    <a:p>
                      <a:r>
                        <a:rPr lang="en-GB" sz="1500" b="1" dirty="0"/>
                        <a:t>Applicability</a:t>
                      </a:r>
                      <a:endParaRPr lang="en-KE" sz="1500" b="1" dirty="0"/>
                    </a:p>
                  </a:txBody>
                  <a:tcPr marL="68580" marR="68580" marT="34290" marB="34290"/>
                </a:tc>
                <a:extLst>
                  <a:ext uri="{0D108BD9-81ED-4DB2-BD59-A6C34878D82A}">
                    <a16:rowId xmlns:a16="http://schemas.microsoft.com/office/drawing/2014/main" val="2567842186"/>
                  </a:ext>
                </a:extLst>
              </a:tr>
              <a:tr h="2214261">
                <a:tc>
                  <a:txBody>
                    <a:bodyPr/>
                    <a:lstStyle/>
                    <a:p>
                      <a:r>
                        <a:rPr lang="en-GB" sz="1500" dirty="0"/>
                        <a:t>Visual Aids</a:t>
                      </a:r>
                      <a:endParaRPr lang="en-KE" sz="1500" dirty="0"/>
                    </a:p>
                  </a:txBody>
                  <a:tcPr marL="68580" marR="68580" marT="34290" marB="34290"/>
                </a:tc>
                <a:tc>
                  <a:txBody>
                    <a:bodyPr/>
                    <a:lstStyle/>
                    <a:p>
                      <a:r>
                        <a:rPr lang="en-GB" sz="1500" dirty="0"/>
                        <a:t>Slide shows</a:t>
                      </a:r>
                    </a:p>
                    <a:p>
                      <a:r>
                        <a:rPr lang="en-GB" sz="1500" dirty="0"/>
                        <a:t>Charts and Graphs</a:t>
                      </a:r>
                    </a:p>
                    <a:p>
                      <a:r>
                        <a:rPr lang="en-GB" sz="1500" dirty="0"/>
                        <a:t>Infographics</a:t>
                      </a:r>
                      <a:endParaRPr lang="en-KE" sz="1500" dirty="0"/>
                    </a:p>
                  </a:txBody>
                  <a:tcPr marL="68580" marR="68580" marT="34290" marB="34290"/>
                </a:tc>
                <a:tc>
                  <a:txBody>
                    <a:bodyPr/>
                    <a:lstStyle/>
                    <a:p>
                      <a:r>
                        <a:rPr lang="en-GB" sz="1500" dirty="0"/>
                        <a:t>Using PowerPoint to create slides with key points, images, and diagrams.</a:t>
                      </a:r>
                    </a:p>
                    <a:p>
                      <a:r>
                        <a:rPr lang="en-GB" sz="1500" dirty="0"/>
                        <a:t>Displaying data visually to help students understand statistical information</a:t>
                      </a:r>
                    </a:p>
                    <a:p>
                      <a:r>
                        <a:rPr lang="en-GB" sz="1500" dirty="0"/>
                        <a:t>Combining images, text, and data to present complex information in a simplified</a:t>
                      </a:r>
                      <a:endParaRPr lang="en-KE" sz="1500" dirty="0"/>
                    </a:p>
                  </a:txBody>
                  <a:tcPr marL="68580" marR="68580" marT="34290" marB="34290"/>
                </a:tc>
                <a:extLst>
                  <a:ext uri="{0D108BD9-81ED-4DB2-BD59-A6C34878D82A}">
                    <a16:rowId xmlns:a16="http://schemas.microsoft.com/office/drawing/2014/main" val="1831925346"/>
                  </a:ext>
                </a:extLst>
              </a:tr>
              <a:tr h="1502535">
                <a:tc>
                  <a:txBody>
                    <a:bodyPr/>
                    <a:lstStyle/>
                    <a:p>
                      <a:r>
                        <a:rPr lang="en-GB" sz="1500" dirty="0"/>
                        <a:t>Interactive Technology</a:t>
                      </a:r>
                      <a:endParaRPr lang="en-KE" sz="1500" dirty="0"/>
                    </a:p>
                  </a:txBody>
                  <a:tcPr marL="68580" marR="68580" marT="34290" marB="34290"/>
                </a:tc>
                <a:tc>
                  <a:txBody>
                    <a:bodyPr/>
                    <a:lstStyle/>
                    <a:p>
                      <a:r>
                        <a:rPr lang="en-GB" sz="1500" dirty="0"/>
                        <a:t>Smartboards</a:t>
                      </a:r>
                    </a:p>
                    <a:p>
                      <a:r>
                        <a:rPr lang="en-GB" sz="1500" dirty="0"/>
                        <a:t>Educational Apps and Software</a:t>
                      </a:r>
                      <a:endParaRPr lang="en-KE" sz="1500" dirty="0"/>
                    </a:p>
                  </a:txBody>
                  <a:tcPr marL="68580" marR="68580" marT="34290" marB="34290"/>
                </a:tc>
                <a:tc>
                  <a:txBody>
                    <a:bodyPr/>
                    <a:lstStyle/>
                    <a:p>
                      <a:r>
                        <a:rPr lang="en-GB" sz="1500" dirty="0"/>
                        <a:t>Interactive whiteboards that allow for dynamic presentations and student interaction.</a:t>
                      </a:r>
                    </a:p>
                    <a:p>
                      <a:r>
                        <a:rPr lang="en-GB" sz="1500" dirty="0"/>
                        <a:t>Tools that provide interactive simulations, games, and exercises to reinforce content.</a:t>
                      </a:r>
                      <a:endParaRPr lang="en-KE" sz="1500" dirty="0"/>
                    </a:p>
                  </a:txBody>
                  <a:tcPr marL="68580" marR="68580" marT="34290" marB="34290"/>
                </a:tc>
                <a:extLst>
                  <a:ext uri="{0D108BD9-81ED-4DB2-BD59-A6C34878D82A}">
                    <a16:rowId xmlns:a16="http://schemas.microsoft.com/office/drawing/2014/main" val="3220436402"/>
                  </a:ext>
                </a:extLst>
              </a:tr>
              <a:tr h="1502535">
                <a:tc>
                  <a:txBody>
                    <a:bodyPr/>
                    <a:lstStyle/>
                    <a:p>
                      <a:r>
                        <a:rPr lang="en-GB" sz="1500" dirty="0"/>
                        <a:t>Multimedia Presentations</a:t>
                      </a:r>
                      <a:endParaRPr lang="en-KE" sz="1500" dirty="0"/>
                    </a:p>
                  </a:txBody>
                  <a:tcPr marL="68580" marR="68580" marT="34290" marB="34290"/>
                </a:tc>
                <a:tc>
                  <a:txBody>
                    <a:bodyPr/>
                    <a:lstStyle/>
                    <a:p>
                      <a:r>
                        <a:rPr lang="en-GB" sz="1500" dirty="0"/>
                        <a:t>Videos</a:t>
                      </a:r>
                    </a:p>
                    <a:p>
                      <a:r>
                        <a:rPr lang="en-GB" sz="1500" dirty="0"/>
                        <a:t>Animations</a:t>
                      </a:r>
                      <a:endParaRPr lang="en-KE" sz="1500" dirty="0"/>
                    </a:p>
                  </a:txBody>
                  <a:tcPr marL="68580" marR="68580" marT="34290" marB="34290"/>
                </a:tc>
                <a:tc>
                  <a:txBody>
                    <a:bodyPr/>
                    <a:lstStyle/>
                    <a:p>
                      <a:r>
                        <a:rPr lang="en-GB" sz="1500" dirty="0"/>
                        <a:t>Short educational films or clips that illustrate concepts or provide real-world examples</a:t>
                      </a:r>
                    </a:p>
                    <a:p>
                      <a:r>
                        <a:rPr lang="en-GB" sz="1500" dirty="0"/>
                        <a:t>Animated sequences to explain processes or complex ideas in a visually engaging way.</a:t>
                      </a:r>
                      <a:endParaRPr lang="en-KE" sz="1500" dirty="0"/>
                    </a:p>
                  </a:txBody>
                  <a:tcPr marL="68580" marR="68580" marT="34290" marB="34290"/>
                </a:tc>
                <a:extLst>
                  <a:ext uri="{0D108BD9-81ED-4DB2-BD59-A6C34878D82A}">
                    <a16:rowId xmlns:a16="http://schemas.microsoft.com/office/drawing/2014/main" val="3212992711"/>
                  </a:ext>
                </a:extLst>
              </a:tr>
            </a:tbl>
          </a:graphicData>
        </a:graphic>
      </p:graphicFrame>
    </p:spTree>
    <p:extLst>
      <p:ext uri="{BB962C8B-B14F-4D97-AF65-F5344CB8AC3E}">
        <p14:creationId xmlns:p14="http://schemas.microsoft.com/office/powerpoint/2010/main" val="12757997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972C2-68C5-7953-BED6-E4095A82AED3}"/>
              </a:ext>
            </a:extLst>
          </p:cNvPr>
          <p:cNvSpPr>
            <a:spLocks noGrp="1"/>
          </p:cNvSpPr>
          <p:nvPr>
            <p:ph type="title"/>
          </p:nvPr>
        </p:nvSpPr>
        <p:spPr>
          <a:xfrm>
            <a:off x="494347" y="457200"/>
            <a:ext cx="8155305" cy="651510"/>
          </a:xfrm>
        </p:spPr>
        <p:txBody>
          <a:bodyPr anchor="b">
            <a:normAutofit/>
          </a:bodyPr>
          <a:lstStyle/>
          <a:p>
            <a:r>
              <a:rPr lang="en-GB" dirty="0">
                <a:solidFill>
                  <a:srgbClr val="7030A0"/>
                </a:solidFill>
              </a:rPr>
              <a:t>Examples of Presentation Modes</a:t>
            </a:r>
            <a:endParaRPr lang="en-KE" dirty="0">
              <a:solidFill>
                <a:srgbClr val="7030A0"/>
              </a:solidFill>
            </a:endParaRPr>
          </a:p>
        </p:txBody>
      </p:sp>
      <p:sp>
        <p:nvSpPr>
          <p:cNvPr id="3" name="Content Placeholder 2">
            <a:extLst>
              <a:ext uri="{FF2B5EF4-FFF2-40B4-BE49-F238E27FC236}">
                <a16:creationId xmlns:a16="http://schemas.microsoft.com/office/drawing/2014/main" id="{D7085359-4871-5D40-A2B8-70528DA6EBB7}"/>
              </a:ext>
            </a:extLst>
          </p:cNvPr>
          <p:cNvSpPr>
            <a:spLocks noGrp="1"/>
          </p:cNvSpPr>
          <p:nvPr>
            <p:ph sz="quarter" idx="13"/>
          </p:nvPr>
        </p:nvSpPr>
        <p:spPr>
          <a:xfrm>
            <a:off x="990600" y="1108710"/>
            <a:ext cx="7391400" cy="4987290"/>
          </a:xfrm>
        </p:spPr>
        <p:txBody>
          <a:bodyPr>
            <a:noAutofit/>
          </a:bodyPr>
          <a:lstStyle/>
          <a:p>
            <a:r>
              <a:rPr lang="en-GB" sz="2800" dirty="0">
                <a:solidFill>
                  <a:srgbClr val="FF0000"/>
                </a:solidFill>
              </a:rPr>
              <a:t>Computer</a:t>
            </a:r>
          </a:p>
          <a:p>
            <a:r>
              <a:rPr lang="en-GB" sz="2800" dirty="0">
                <a:solidFill>
                  <a:srgbClr val="FF0000"/>
                </a:solidFill>
              </a:rPr>
              <a:t>programmed text</a:t>
            </a:r>
          </a:p>
          <a:p>
            <a:r>
              <a:rPr lang="en-GB" sz="2800" dirty="0">
                <a:solidFill>
                  <a:srgbClr val="FF0000"/>
                </a:solidFill>
              </a:rPr>
              <a:t>Interactive video, motion pictures, slides, </a:t>
            </a:r>
          </a:p>
          <a:p>
            <a:r>
              <a:rPr lang="en-GB" sz="2800" dirty="0">
                <a:solidFill>
                  <a:srgbClr val="FF0000"/>
                </a:solidFill>
              </a:rPr>
              <a:t>TV cassettes, filmstrips, printed texts,</a:t>
            </a:r>
          </a:p>
          <a:p>
            <a:r>
              <a:rPr lang="en-GB" sz="2800" dirty="0">
                <a:solidFill>
                  <a:srgbClr val="FF0000"/>
                </a:solidFill>
              </a:rPr>
              <a:t> Training aids, </a:t>
            </a:r>
          </a:p>
          <a:p>
            <a:r>
              <a:rPr lang="en-GB" sz="2800" dirty="0">
                <a:solidFill>
                  <a:srgbClr val="FF0000"/>
                </a:solidFill>
              </a:rPr>
              <a:t>Audio-charts. </a:t>
            </a:r>
          </a:p>
          <a:p>
            <a:r>
              <a:rPr lang="en-GB" sz="2800" dirty="0">
                <a:solidFill>
                  <a:srgbClr val="FF0000"/>
                </a:solidFill>
              </a:rPr>
              <a:t>Over-head projection slides</a:t>
            </a:r>
            <a:endParaRPr lang="en-KE" sz="2800" dirty="0">
              <a:solidFill>
                <a:srgbClr val="FF0000"/>
              </a:solidFill>
            </a:endParaRPr>
          </a:p>
        </p:txBody>
      </p:sp>
    </p:spTree>
    <p:extLst>
      <p:ext uri="{BB962C8B-B14F-4D97-AF65-F5344CB8AC3E}">
        <p14:creationId xmlns:p14="http://schemas.microsoft.com/office/powerpoint/2010/main" val="3229864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5592762"/>
          </a:xfrm>
        </p:spPr>
        <p:txBody>
          <a:bodyPr/>
          <a:lstStyle/>
          <a:p>
            <a:r>
              <a:rPr lang="en-US" sz="3600" dirty="0"/>
              <a:t>Role of teacher while selecting methods, instructional media and evaluation mode</a:t>
            </a:r>
            <a:br>
              <a:rPr lang="en-KE" dirty="0"/>
            </a:br>
            <a:r>
              <a:rPr lang="en-US" b="1" dirty="0"/>
              <a:t>   </a:t>
            </a:r>
            <a:endParaRPr lang="en-US" dirty="0"/>
          </a:p>
        </p:txBody>
      </p:sp>
    </p:spTree>
    <p:extLst>
      <p:ext uri="{BB962C8B-B14F-4D97-AF65-F5344CB8AC3E}">
        <p14:creationId xmlns:p14="http://schemas.microsoft.com/office/powerpoint/2010/main" val="92614777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342862"/>
            <a:ext cx="7010400" cy="3600738"/>
          </a:xfrm>
          <a:noFill/>
        </p:spPr>
        <p:style>
          <a:lnRef idx="1">
            <a:schemeClr val="accent6"/>
          </a:lnRef>
          <a:fillRef idx="2">
            <a:schemeClr val="accent6"/>
          </a:fillRef>
          <a:effectRef idx="1">
            <a:schemeClr val="accent6"/>
          </a:effectRef>
          <a:fontRef idx="minor">
            <a:schemeClr val="dk1"/>
          </a:fontRef>
        </p:style>
        <p:txBody>
          <a:bodyPr vert="horz" lIns="91440" tIns="45720" rIns="91440" bIns="45720" rtlCol="0" anchor="b">
            <a:noAutofit/>
          </a:bodyPr>
          <a:lstStyle/>
          <a:p>
            <a:pPr>
              <a:lnSpc>
                <a:spcPct val="90000"/>
              </a:lnSpc>
            </a:pPr>
            <a:br>
              <a:rPr lang="en-US" sz="2400" dirty="0">
                <a:solidFill>
                  <a:schemeClr val="tx1">
                    <a:lumMod val="85000"/>
                    <a:lumOff val="15000"/>
                  </a:schemeClr>
                </a:solidFill>
                <a:latin typeface="+mj-lt"/>
                <a:ea typeface="+mj-ea"/>
                <a:cs typeface="+mj-cs"/>
              </a:rPr>
            </a:br>
            <a:br>
              <a:rPr lang="en-US" sz="2400" dirty="0">
                <a:solidFill>
                  <a:schemeClr val="tx1">
                    <a:lumMod val="85000"/>
                    <a:lumOff val="15000"/>
                  </a:schemeClr>
                </a:solidFill>
                <a:latin typeface="+mj-lt"/>
                <a:ea typeface="+mj-ea"/>
                <a:cs typeface="+mj-cs"/>
              </a:rPr>
            </a:br>
            <a:br>
              <a:rPr lang="en-US" sz="2400" dirty="0">
                <a:solidFill>
                  <a:schemeClr val="tx1">
                    <a:lumMod val="85000"/>
                    <a:lumOff val="15000"/>
                  </a:schemeClr>
                </a:solidFill>
                <a:latin typeface="+mj-lt"/>
                <a:ea typeface="+mj-ea"/>
                <a:cs typeface="+mj-cs"/>
              </a:rPr>
            </a:br>
            <a:br>
              <a:rPr lang="en-US" sz="2400" dirty="0">
                <a:solidFill>
                  <a:schemeClr val="tx1">
                    <a:lumMod val="85000"/>
                    <a:lumOff val="15000"/>
                  </a:schemeClr>
                </a:solidFill>
                <a:latin typeface="+mj-lt"/>
                <a:ea typeface="+mj-ea"/>
                <a:cs typeface="+mj-cs"/>
              </a:rPr>
            </a:br>
            <a:br>
              <a:rPr lang="en-US" sz="2400" dirty="0">
                <a:solidFill>
                  <a:schemeClr val="tx1">
                    <a:lumMod val="85000"/>
                    <a:lumOff val="15000"/>
                  </a:schemeClr>
                </a:solidFill>
                <a:latin typeface="+mj-lt"/>
                <a:ea typeface="+mj-ea"/>
                <a:cs typeface="+mj-cs"/>
              </a:rPr>
            </a:br>
            <a:br>
              <a:rPr lang="en-US" sz="2400" dirty="0">
                <a:solidFill>
                  <a:schemeClr val="tx1">
                    <a:lumMod val="85000"/>
                    <a:lumOff val="15000"/>
                  </a:schemeClr>
                </a:solidFill>
                <a:latin typeface="+mj-lt"/>
                <a:ea typeface="+mj-ea"/>
                <a:cs typeface="+mj-cs"/>
              </a:rPr>
            </a:br>
            <a:r>
              <a:rPr lang="en-US" sz="3200" b="1" dirty="0">
                <a:solidFill>
                  <a:schemeClr val="tx1">
                    <a:lumMod val="85000"/>
                    <a:lumOff val="15000"/>
                  </a:schemeClr>
                </a:solidFill>
                <a:latin typeface="+mj-lt"/>
                <a:ea typeface="+mj-ea"/>
                <a:cs typeface="+mj-cs"/>
              </a:rPr>
              <a:t>Teacher as planner</a:t>
            </a:r>
            <a:br>
              <a:rPr lang="en-US" sz="3200" dirty="0">
                <a:solidFill>
                  <a:schemeClr val="tx1">
                    <a:lumMod val="85000"/>
                    <a:lumOff val="15000"/>
                  </a:schemeClr>
                </a:solidFill>
                <a:latin typeface="+mj-lt"/>
                <a:ea typeface="+mj-ea"/>
                <a:cs typeface="+mj-cs"/>
              </a:rPr>
            </a:b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Transacts curriculum in classroom</a:t>
            </a:r>
            <a:br>
              <a:rPr lang="en-US" sz="3200" i="1" dirty="0">
                <a:solidFill>
                  <a:schemeClr val="tx1">
                    <a:lumMod val="85000"/>
                    <a:lumOff val="15000"/>
                  </a:schemeClr>
                </a:solidFill>
                <a:latin typeface="+mj-lt"/>
                <a:ea typeface="+mj-ea"/>
                <a:cs typeface="+mj-cs"/>
              </a:rPr>
            </a:br>
            <a:r>
              <a:rPr lang="en-US" sz="3200" i="1" dirty="0">
                <a:solidFill>
                  <a:schemeClr val="tx1">
                    <a:lumMod val="85000"/>
                    <a:lumOff val="15000"/>
                  </a:schemeClr>
                </a:solidFill>
                <a:latin typeface="+mj-lt"/>
                <a:ea typeface="+mj-ea"/>
                <a:cs typeface="+mj-cs"/>
              </a:rPr>
              <a:t>- </a:t>
            </a:r>
            <a:r>
              <a:rPr lang="en-US" sz="3200" dirty="0">
                <a:solidFill>
                  <a:schemeClr val="tx1">
                    <a:lumMod val="85000"/>
                    <a:lumOff val="15000"/>
                  </a:schemeClr>
                </a:solidFill>
                <a:latin typeface="+mj-lt"/>
                <a:ea typeface="+mj-ea"/>
                <a:cs typeface="+mj-cs"/>
              </a:rPr>
              <a:t>Planner of instruction with close interaction with students</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In the transaction, teacher decides method, instructional design and media </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Emphasizes certain parts of curriculum, students handle the rest</a:t>
            </a:r>
            <a:br>
              <a:rPr lang="en-US" sz="3200" dirty="0">
                <a:solidFill>
                  <a:schemeClr val="tx1">
                    <a:lumMod val="85000"/>
                    <a:lumOff val="15000"/>
                  </a:schemeClr>
                </a:solidFill>
                <a:latin typeface="+mj-lt"/>
                <a:ea typeface="+mj-ea"/>
                <a:cs typeface="+mj-cs"/>
              </a:rPr>
            </a:br>
            <a:br>
              <a:rPr lang="en-US" sz="3200" dirty="0">
                <a:solidFill>
                  <a:schemeClr val="tx1">
                    <a:lumMod val="85000"/>
                    <a:lumOff val="15000"/>
                  </a:schemeClr>
                </a:solidFill>
                <a:latin typeface="+mj-lt"/>
                <a:ea typeface="+mj-ea"/>
                <a:cs typeface="+mj-cs"/>
              </a:rPr>
            </a:br>
            <a:endParaRPr lang="en-US" sz="3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30580634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676400"/>
            <a:ext cx="6934200" cy="4114800"/>
          </a:xfrm>
          <a:noFill/>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b">
            <a:noAutofit/>
          </a:bodyPr>
          <a:lstStyle/>
          <a:p>
            <a:pPr>
              <a:lnSpc>
                <a:spcPct val="90000"/>
              </a:lnSpc>
            </a:pPr>
            <a:r>
              <a:rPr lang="en-US" sz="3200" b="1" dirty="0">
                <a:solidFill>
                  <a:schemeClr val="tx1">
                    <a:lumMod val="85000"/>
                    <a:lumOff val="15000"/>
                  </a:schemeClr>
                </a:solidFill>
                <a:latin typeface="+mj-lt"/>
                <a:ea typeface="+mj-ea"/>
                <a:cs typeface="+mj-cs"/>
              </a:rPr>
              <a:t>Choice of teaching method</a:t>
            </a:r>
            <a:br>
              <a:rPr lang="en-US" sz="3200" dirty="0">
                <a:solidFill>
                  <a:schemeClr val="tx1">
                    <a:lumMod val="85000"/>
                    <a:lumOff val="15000"/>
                  </a:schemeClr>
                </a:solidFill>
                <a:latin typeface="+mj-lt"/>
                <a:ea typeface="+mj-ea"/>
                <a:cs typeface="+mj-cs"/>
              </a:rPr>
            </a:b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Teaching methods - means</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Variables based method selection </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Variables include: selection of materials, grouping patterns, grading, classroom organization and student behavior</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The variables trigger variations in daily learning experiences</a:t>
            </a:r>
            <a:br>
              <a:rPr lang="en-US" sz="3200" dirty="0">
                <a:solidFill>
                  <a:schemeClr val="tx1">
                    <a:lumMod val="85000"/>
                    <a:lumOff val="15000"/>
                  </a:schemeClr>
                </a:solidFill>
                <a:latin typeface="+mj-lt"/>
                <a:ea typeface="+mj-ea"/>
                <a:cs typeface="+mj-cs"/>
              </a:rPr>
            </a:br>
            <a:r>
              <a:rPr lang="en-US" sz="3200" dirty="0">
                <a:solidFill>
                  <a:schemeClr val="tx1">
                    <a:lumMod val="85000"/>
                    <a:lumOff val="15000"/>
                  </a:schemeClr>
                </a:solidFill>
                <a:latin typeface="+mj-lt"/>
                <a:ea typeface="+mj-ea"/>
                <a:cs typeface="+mj-cs"/>
              </a:rPr>
              <a:t>	- Diverse teaching methods enables teacher to handle a diversity of students</a:t>
            </a:r>
          </a:p>
        </p:txBody>
      </p:sp>
    </p:spTree>
    <p:extLst>
      <p:ext uri="{BB962C8B-B14F-4D97-AF65-F5344CB8AC3E}">
        <p14:creationId xmlns:p14="http://schemas.microsoft.com/office/powerpoint/2010/main" val="552970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295400"/>
            <a:ext cx="6934199" cy="4572000"/>
          </a:xfrm>
          <a:noFill/>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b">
            <a:noAutofit/>
          </a:bodyPr>
          <a:lstStyle/>
          <a:p>
            <a:pPr>
              <a:lnSpc>
                <a:spcPct val="90000"/>
              </a:lnSpc>
            </a:pPr>
            <a:r>
              <a:rPr lang="en-US" sz="3200" b="1" dirty="0">
                <a:solidFill>
                  <a:schemeClr val="tx1">
                    <a:lumMod val="85000"/>
                    <a:lumOff val="15000"/>
                  </a:schemeClr>
                </a:solidFill>
              </a:rPr>
              <a:t>Choice of teaching method continued</a:t>
            </a:r>
            <a:br>
              <a:rPr lang="en-US" sz="3200" dirty="0">
                <a:solidFill>
                  <a:schemeClr val="tx1">
                    <a:lumMod val="85000"/>
                    <a:lumOff val="15000"/>
                  </a:schemeClr>
                </a:solidFill>
              </a:rPr>
            </a:br>
            <a:br>
              <a:rPr lang="en-US" sz="3200" dirty="0">
                <a:solidFill>
                  <a:schemeClr val="tx1">
                    <a:lumMod val="85000"/>
                    <a:lumOff val="15000"/>
                  </a:schemeClr>
                </a:solidFill>
              </a:rPr>
            </a:br>
            <a:r>
              <a:rPr lang="en-US" sz="3200" dirty="0">
                <a:solidFill>
                  <a:schemeClr val="tx1">
                    <a:lumMod val="85000"/>
                    <a:lumOff val="15000"/>
                  </a:schemeClr>
                </a:solidFill>
              </a:rPr>
              <a:t>	Learning environment based method selection </a:t>
            </a:r>
            <a:br>
              <a:rPr lang="en-US" sz="3200" dirty="0">
                <a:solidFill>
                  <a:schemeClr val="tx1">
                    <a:lumMod val="85000"/>
                    <a:lumOff val="15000"/>
                  </a:schemeClr>
                </a:solidFill>
              </a:rPr>
            </a:br>
            <a:r>
              <a:rPr lang="en-US" sz="3200" dirty="0">
                <a:solidFill>
                  <a:schemeClr val="tx1">
                    <a:lumMod val="85000"/>
                    <a:lumOff val="15000"/>
                  </a:schemeClr>
                </a:solidFill>
              </a:rPr>
              <a:t>- Methods classified as: structured, interactive, self directed and computer assisted.</a:t>
            </a:r>
            <a:br>
              <a:rPr lang="en-US" sz="3200" dirty="0">
                <a:solidFill>
                  <a:schemeClr val="tx1">
                    <a:lumMod val="85000"/>
                    <a:lumOff val="15000"/>
                  </a:schemeClr>
                </a:solidFill>
              </a:rPr>
            </a:br>
            <a:r>
              <a:rPr lang="en-US" sz="3200" dirty="0">
                <a:solidFill>
                  <a:schemeClr val="tx1">
                    <a:lumMod val="85000"/>
                    <a:lumOff val="15000"/>
                  </a:schemeClr>
                </a:solidFill>
              </a:rPr>
              <a:t>	-Most conventional methods (lecture, didactic questioning, assigned textbook reading) – structured </a:t>
            </a:r>
            <a:endParaRPr lang="en-US" sz="3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29502364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990600"/>
            <a:ext cx="7162799" cy="4724400"/>
          </a:xfrm>
          <a:noFill/>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b">
            <a:noAutofit/>
          </a:bodyPr>
          <a:lstStyle/>
          <a:p>
            <a:pPr>
              <a:lnSpc>
                <a:spcPct val="90000"/>
              </a:lnSpc>
            </a:pPr>
            <a:r>
              <a:rPr lang="en-US" sz="3200" b="1" dirty="0">
                <a:solidFill>
                  <a:schemeClr val="tx1">
                    <a:lumMod val="85000"/>
                    <a:lumOff val="15000"/>
                  </a:schemeClr>
                </a:solidFill>
              </a:rPr>
              <a:t>Choice of teaching method continued</a:t>
            </a:r>
            <a:br>
              <a:rPr lang="en-US" sz="3200" b="1" dirty="0">
                <a:solidFill>
                  <a:schemeClr val="tx1">
                    <a:lumMod val="85000"/>
                    <a:lumOff val="15000"/>
                  </a:schemeClr>
                </a:solidFill>
              </a:rPr>
            </a:br>
            <a:br>
              <a:rPr lang="en-US" sz="3200" b="1" dirty="0">
                <a:solidFill>
                  <a:schemeClr val="tx1">
                    <a:lumMod val="85000"/>
                    <a:lumOff val="15000"/>
                  </a:schemeClr>
                </a:solidFill>
              </a:rPr>
            </a:br>
            <a:r>
              <a:rPr lang="en-US" sz="3200" dirty="0">
                <a:solidFill>
                  <a:schemeClr val="tx1">
                    <a:lumMod val="85000"/>
                    <a:lumOff val="15000"/>
                  </a:schemeClr>
                </a:solidFill>
              </a:rPr>
              <a:t>	- Interactive method – Student involvement in designing and implementing learning.</a:t>
            </a:r>
            <a:br>
              <a:rPr lang="en-US" sz="3200" dirty="0">
                <a:solidFill>
                  <a:schemeClr val="tx1">
                    <a:lumMod val="85000"/>
                    <a:lumOff val="15000"/>
                  </a:schemeClr>
                </a:solidFill>
              </a:rPr>
            </a:br>
            <a:r>
              <a:rPr lang="en-US" sz="3200" dirty="0">
                <a:solidFill>
                  <a:schemeClr val="tx1">
                    <a:lumMod val="85000"/>
                    <a:lumOff val="15000"/>
                  </a:schemeClr>
                </a:solidFill>
              </a:rPr>
              <a:t>- There is some form of discussion between teacher and students.</a:t>
            </a:r>
            <a:br>
              <a:rPr lang="en-US" sz="3200" dirty="0">
                <a:solidFill>
                  <a:schemeClr val="tx1">
                    <a:lumMod val="85000"/>
                    <a:lumOff val="15000"/>
                  </a:schemeClr>
                </a:solidFill>
              </a:rPr>
            </a:br>
            <a:r>
              <a:rPr lang="en-US" sz="3200" dirty="0">
                <a:solidFill>
                  <a:schemeClr val="tx1">
                    <a:lumMod val="85000"/>
                    <a:lumOff val="15000"/>
                  </a:schemeClr>
                </a:solidFill>
              </a:rPr>
              <a:t>- Interactive methods promote freedom, trust and responsibility among students</a:t>
            </a:r>
            <a:endParaRPr lang="en-US" sz="3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189741660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838200"/>
            <a:ext cx="7238999" cy="5029200"/>
          </a:xfrm>
          <a:noFill/>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b">
            <a:noAutofit/>
          </a:bodyPr>
          <a:lstStyle/>
          <a:p>
            <a:pPr>
              <a:lnSpc>
                <a:spcPct val="90000"/>
              </a:lnSpc>
            </a:pPr>
            <a:r>
              <a:rPr lang="en-US" sz="3200" b="1" dirty="0">
                <a:solidFill>
                  <a:schemeClr val="tx1">
                    <a:lumMod val="85000"/>
                    <a:lumOff val="15000"/>
                  </a:schemeClr>
                </a:solidFill>
              </a:rPr>
              <a:t>Choice of teaching method continued</a:t>
            </a:r>
            <a:br>
              <a:rPr lang="en-US" sz="3200" dirty="0">
                <a:solidFill>
                  <a:schemeClr val="tx1">
                    <a:lumMod val="85000"/>
                    <a:lumOff val="15000"/>
                  </a:schemeClr>
                </a:solidFill>
              </a:rPr>
            </a:br>
            <a:br>
              <a:rPr lang="en-US" sz="3200" dirty="0">
                <a:solidFill>
                  <a:schemeClr val="tx1">
                    <a:lumMod val="85000"/>
                    <a:lumOff val="15000"/>
                  </a:schemeClr>
                </a:solidFill>
              </a:rPr>
            </a:br>
            <a:r>
              <a:rPr lang="en-US" sz="3200" dirty="0">
                <a:solidFill>
                  <a:schemeClr val="tx1">
                    <a:lumMod val="85000"/>
                    <a:lumOff val="15000"/>
                  </a:schemeClr>
                </a:solidFill>
              </a:rPr>
              <a:t>	- Self-directed method (include project, independent study, computer-based instructions etc.)</a:t>
            </a:r>
            <a:br>
              <a:rPr lang="en-US" sz="3200" dirty="0">
                <a:solidFill>
                  <a:schemeClr val="tx1">
                    <a:lumMod val="85000"/>
                    <a:lumOff val="15000"/>
                  </a:schemeClr>
                </a:solidFill>
              </a:rPr>
            </a:br>
            <a:r>
              <a:rPr lang="en-US" sz="3200" dirty="0">
                <a:solidFill>
                  <a:schemeClr val="tx1">
                    <a:lumMod val="85000"/>
                    <a:lumOff val="15000"/>
                  </a:schemeClr>
                </a:solidFill>
              </a:rPr>
              <a:t>- Students take up learning with minimum teacher direction and control</a:t>
            </a:r>
            <a:br>
              <a:rPr lang="en-US" sz="3200" dirty="0">
                <a:solidFill>
                  <a:schemeClr val="tx1">
                    <a:lumMod val="85000"/>
                    <a:lumOff val="15000"/>
                  </a:schemeClr>
                </a:solidFill>
              </a:rPr>
            </a:br>
            <a:r>
              <a:rPr lang="en-US" sz="3200" dirty="0">
                <a:solidFill>
                  <a:schemeClr val="tx1">
                    <a:lumMod val="85000"/>
                    <a:lumOff val="15000"/>
                  </a:schemeClr>
                </a:solidFill>
              </a:rPr>
              <a:t>- Students learn ‘how to learn’</a:t>
            </a:r>
            <a:br>
              <a:rPr lang="en-US" sz="3200" dirty="0">
                <a:solidFill>
                  <a:schemeClr val="tx1">
                    <a:lumMod val="85000"/>
                    <a:lumOff val="15000"/>
                  </a:schemeClr>
                </a:solidFill>
              </a:rPr>
            </a:br>
            <a:r>
              <a:rPr lang="en-US" sz="3200" dirty="0">
                <a:solidFill>
                  <a:schemeClr val="tx1">
                    <a:lumMod val="85000"/>
                    <a:lumOff val="15000"/>
                  </a:schemeClr>
                </a:solidFill>
              </a:rPr>
              <a:t>- Technological advances have brought the world to the classroom.</a:t>
            </a:r>
            <a:endParaRPr lang="en-US" sz="3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33228812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0" y="1524000"/>
            <a:ext cx="6934200" cy="4343400"/>
          </a:xfrm>
        </p:spPr>
        <p:txBody>
          <a:bodyPr vert="horz" lIns="91440" tIns="45720" rIns="91440" bIns="45720" rtlCol="0" anchor="b">
            <a:noAutofit/>
          </a:bodyPr>
          <a:lstStyle/>
          <a:p>
            <a:pPr>
              <a:lnSpc>
                <a:spcPct val="90000"/>
              </a:lnSpc>
            </a:pPr>
            <a:br>
              <a:rPr lang="en-US" sz="2800" b="1" dirty="0"/>
            </a:br>
            <a:r>
              <a:rPr lang="en-US" sz="3200" b="1" dirty="0">
                <a:solidFill>
                  <a:srgbClr val="FF0000"/>
                </a:solidFill>
              </a:rPr>
              <a:t>Choice of instructional media</a:t>
            </a:r>
            <a:br>
              <a:rPr lang="en-US" sz="3200" b="1" dirty="0">
                <a:solidFill>
                  <a:srgbClr val="FF0000"/>
                </a:solidFill>
              </a:rPr>
            </a:br>
            <a:br>
              <a:rPr lang="en-US" sz="3200" dirty="0"/>
            </a:br>
            <a:r>
              <a:rPr lang="en-US" sz="3200" dirty="0"/>
              <a:t>- Done after drawing out prior knowledge, experience, level of sophistication etc.. Of students.</a:t>
            </a:r>
            <a:br>
              <a:rPr lang="en-US" sz="3200" dirty="0"/>
            </a:br>
            <a:r>
              <a:rPr lang="en-US" sz="3200" dirty="0"/>
              <a:t>- Oldest media is chalkboard</a:t>
            </a:r>
            <a:br>
              <a:rPr lang="en-US" sz="3200" dirty="0"/>
            </a:br>
            <a:r>
              <a:rPr lang="en-US" sz="3200" dirty="0"/>
              <a:t>- Technological advancements have brought new media</a:t>
            </a:r>
            <a:br>
              <a:rPr lang="en-US" sz="3200" dirty="0"/>
            </a:br>
            <a:r>
              <a:rPr lang="en-US" sz="3200" dirty="0"/>
              <a:t>- Categorization of media – non-projected, projected, visual, audio and electronic.</a:t>
            </a:r>
          </a:p>
        </p:txBody>
      </p:sp>
    </p:spTree>
    <p:extLst>
      <p:ext uri="{BB962C8B-B14F-4D97-AF65-F5344CB8AC3E}">
        <p14:creationId xmlns:p14="http://schemas.microsoft.com/office/powerpoint/2010/main" val="26142192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066800"/>
            <a:ext cx="7620000" cy="4724400"/>
          </a:xfrm>
        </p:spPr>
        <p:txBody>
          <a:bodyPr vert="horz" lIns="91440" tIns="45720" rIns="91440" bIns="45720" rtlCol="0" anchor="b">
            <a:noAutofit/>
          </a:bodyPr>
          <a:lstStyle/>
          <a:p>
            <a:pPr>
              <a:lnSpc>
                <a:spcPct val="90000"/>
              </a:lnSpc>
            </a:pPr>
            <a:r>
              <a:rPr lang="en-US" sz="3200" b="1" dirty="0">
                <a:solidFill>
                  <a:srgbClr val="FF0000"/>
                </a:solidFill>
              </a:rPr>
              <a:t>Choice of instructional media continued</a:t>
            </a:r>
            <a:br>
              <a:rPr lang="en-US" sz="3200" dirty="0"/>
            </a:br>
            <a:r>
              <a:rPr lang="en-US" sz="3200" dirty="0"/>
              <a:t>- Non- projected – allow teacher to stimulate students.</a:t>
            </a:r>
            <a:br>
              <a:rPr lang="en-US" sz="3200" dirty="0"/>
            </a:br>
            <a:r>
              <a:rPr lang="en-US" sz="3200" dirty="0"/>
              <a:t>- Projected visuals – gives universal perception to students and free teacher from being the direct medium of delivery.</a:t>
            </a:r>
            <a:br>
              <a:rPr lang="en-US" sz="3200" dirty="0"/>
            </a:br>
            <a:r>
              <a:rPr lang="en-US" sz="3200" dirty="0"/>
              <a:t>- Audio media – use of listening to support teaching-learning process. Act of listening is more controlled than that of audio-visual.</a:t>
            </a:r>
          </a:p>
        </p:txBody>
      </p:sp>
    </p:spTree>
    <p:extLst>
      <p:ext uri="{BB962C8B-B14F-4D97-AF65-F5344CB8AC3E}">
        <p14:creationId xmlns:p14="http://schemas.microsoft.com/office/powerpoint/2010/main" val="30801398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219200"/>
            <a:ext cx="6781800" cy="4724400"/>
          </a:xfrm>
        </p:spPr>
        <p:txBody>
          <a:bodyPr vert="horz" lIns="91440" tIns="45720" rIns="91440" bIns="45720" rtlCol="0" anchor="b">
            <a:noAutofit/>
          </a:bodyPr>
          <a:lstStyle/>
          <a:p>
            <a:pPr>
              <a:lnSpc>
                <a:spcPct val="90000"/>
              </a:lnSpc>
            </a:pPr>
            <a:r>
              <a:rPr lang="en-US" sz="3600" b="1" dirty="0">
                <a:solidFill>
                  <a:srgbClr val="FF0000"/>
                </a:solidFill>
              </a:rPr>
              <a:t>Choice of Evaluation Mode</a:t>
            </a:r>
            <a:br>
              <a:rPr lang="en-US" sz="3600" dirty="0"/>
            </a:br>
            <a:br>
              <a:rPr lang="en-US" sz="3600" dirty="0"/>
            </a:br>
            <a:r>
              <a:rPr lang="en-US" sz="3600" dirty="0"/>
              <a:t>- Evaluation –  Done using tests</a:t>
            </a:r>
            <a:br>
              <a:rPr lang="en-US" sz="3600" dirty="0"/>
            </a:br>
            <a:r>
              <a:rPr lang="en-US" sz="3600" dirty="0"/>
              <a:t>- Testing – to individualize instruction, place to higher grade and monitor progress.</a:t>
            </a:r>
            <a:br>
              <a:rPr lang="en-US" sz="3600" dirty="0"/>
            </a:br>
            <a:r>
              <a:rPr lang="en-US" sz="3600" dirty="0"/>
              <a:t>- Testing – grouped as norm-referenced tests, criterion-referenced tests and informal evaluation measures.</a:t>
            </a:r>
            <a:br>
              <a:rPr lang="en-US" sz="2400" dirty="0"/>
            </a:br>
            <a:endParaRPr lang="en-US" sz="2400" dirty="0"/>
          </a:p>
        </p:txBody>
      </p:sp>
    </p:spTree>
    <p:extLst>
      <p:ext uri="{BB962C8B-B14F-4D97-AF65-F5344CB8AC3E}">
        <p14:creationId xmlns:p14="http://schemas.microsoft.com/office/powerpoint/2010/main" val="23483979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09800"/>
            <a:ext cx="7162800" cy="3657600"/>
          </a:xfrm>
        </p:spPr>
        <p:txBody>
          <a:bodyPr vert="horz" lIns="91440" tIns="45720" rIns="91440" bIns="45720" rtlCol="0" anchor="b">
            <a:noAutofit/>
          </a:bodyPr>
          <a:lstStyle/>
          <a:p>
            <a:pPr>
              <a:lnSpc>
                <a:spcPct val="90000"/>
              </a:lnSpc>
            </a:pPr>
            <a:br>
              <a:rPr lang="en-US" sz="3200" b="1" dirty="0"/>
            </a:br>
            <a:r>
              <a:rPr lang="en-US" sz="3200" b="1" dirty="0">
                <a:solidFill>
                  <a:srgbClr val="FF0000"/>
                </a:solidFill>
              </a:rPr>
              <a:t>Choice of Evaluation Mode continued</a:t>
            </a:r>
            <a:br>
              <a:rPr lang="en-US" sz="3200" dirty="0"/>
            </a:br>
            <a:br>
              <a:rPr lang="en-US" sz="3200" dirty="0"/>
            </a:br>
            <a:r>
              <a:rPr lang="en-US" sz="3200" dirty="0"/>
              <a:t>- Norm-referenced tests – differentiate individuals or schools along a continuum. - Rank order of achievement from high to low.</a:t>
            </a:r>
            <a:br>
              <a:rPr lang="en-US" sz="3200" dirty="0"/>
            </a:br>
            <a:r>
              <a:rPr lang="en-US" sz="3200" dirty="0"/>
              <a:t>- Teacher-made tests – help teachers in making routine classroom decision.</a:t>
            </a:r>
            <a:br>
              <a:rPr lang="en-US" sz="3200" dirty="0"/>
            </a:br>
            <a:r>
              <a:rPr lang="en-US" sz="3200" dirty="0"/>
              <a:t>- Criterion-referenced tests – designed to check if students can perform a particular task(s), e.g. drawing maps</a:t>
            </a:r>
          </a:p>
        </p:txBody>
      </p:sp>
    </p:spTree>
    <p:extLst>
      <p:ext uri="{BB962C8B-B14F-4D97-AF65-F5344CB8AC3E}">
        <p14:creationId xmlns:p14="http://schemas.microsoft.com/office/powerpoint/2010/main" val="254555699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43000"/>
            <a:ext cx="7315200" cy="4876800"/>
          </a:xfrm>
        </p:spPr>
        <p:txBody>
          <a:bodyPr vert="horz" lIns="91440" tIns="45720" rIns="91440" bIns="45720" rtlCol="0" anchor="b">
            <a:noAutofit/>
          </a:bodyPr>
          <a:lstStyle/>
          <a:p>
            <a:pPr>
              <a:lnSpc>
                <a:spcPct val="90000"/>
              </a:lnSpc>
            </a:pPr>
            <a:r>
              <a:rPr lang="en-US" sz="3200" b="1" dirty="0"/>
              <a:t>Choice of Evaluation Mode continued</a:t>
            </a:r>
            <a:br>
              <a:rPr lang="en-US" sz="3200" b="1" dirty="0"/>
            </a:br>
            <a:br>
              <a:rPr lang="en-US" sz="3200" dirty="0"/>
            </a:br>
            <a:r>
              <a:rPr lang="en-US" sz="3200" dirty="0"/>
              <a:t>- Other modes of evaluation include:</a:t>
            </a:r>
            <a:br>
              <a:rPr lang="en-US" sz="3200" dirty="0"/>
            </a:br>
            <a:r>
              <a:rPr lang="en-US" sz="3200" dirty="0"/>
              <a:t> - Observation of student’s interaction and behavior – assess students’ progress, information level, interests, attitudes etc.</a:t>
            </a:r>
            <a:br>
              <a:rPr lang="en-US" sz="3200" dirty="0"/>
            </a:br>
            <a:r>
              <a:rPr lang="en-US" sz="3200" dirty="0"/>
              <a:t>- Analysis of students’ work samples e.g. writing, painting, drawings etc.</a:t>
            </a:r>
            <a:br>
              <a:rPr lang="en-US" sz="3200" dirty="0"/>
            </a:br>
            <a:r>
              <a:rPr lang="en-US" sz="3200" dirty="0"/>
              <a:t>- Self-reporting – students discuss or write their problems, progress etc.</a:t>
            </a:r>
          </a:p>
        </p:txBody>
      </p:sp>
    </p:spTree>
    <p:extLst>
      <p:ext uri="{BB962C8B-B14F-4D97-AF65-F5344CB8AC3E}">
        <p14:creationId xmlns:p14="http://schemas.microsoft.com/office/powerpoint/2010/main" val="5883269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1066800"/>
            <a:ext cx="7543800" cy="4800600"/>
          </a:xfrm>
        </p:spPr>
        <p:txBody>
          <a:bodyPr vert="horz" lIns="91440" tIns="45720" rIns="91440" bIns="45720" rtlCol="0" anchor="b">
            <a:noAutofit/>
          </a:bodyPr>
          <a:lstStyle/>
          <a:p>
            <a:pPr>
              <a:lnSpc>
                <a:spcPct val="90000"/>
              </a:lnSpc>
            </a:pPr>
            <a:r>
              <a:rPr lang="en-US" sz="3600" b="1" dirty="0"/>
              <a:t>Choice of Evaluation Mode continued</a:t>
            </a:r>
            <a:br>
              <a:rPr lang="en-US" sz="3600" dirty="0"/>
            </a:br>
            <a:r>
              <a:rPr lang="en-US" sz="3600" dirty="0"/>
              <a:t>- Most suitable mode is selected according to the teachers’ objective.</a:t>
            </a:r>
            <a:br>
              <a:rPr lang="en-US" sz="3600" dirty="0"/>
            </a:br>
            <a:r>
              <a:rPr lang="en-US" sz="3600" dirty="0"/>
              <a:t> - All the modes help teacher to make decisions regarding placement, diagnosis and plan for further learning environment.</a:t>
            </a:r>
          </a:p>
        </p:txBody>
      </p:sp>
    </p:spTree>
    <p:extLst>
      <p:ext uri="{BB962C8B-B14F-4D97-AF65-F5344CB8AC3E}">
        <p14:creationId xmlns:p14="http://schemas.microsoft.com/office/powerpoint/2010/main" val="28138056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9298" y="1871131"/>
            <a:ext cx="5111752" cy="1515533"/>
          </a:xfrm>
        </p:spPr>
        <p:txBody>
          <a:bodyPr vert="horz" lIns="91440" tIns="45720" rIns="91440" bIns="45720" rtlCol="0" anchor="b">
            <a:normAutofit/>
          </a:bodyPr>
          <a:lstStyle/>
          <a:p>
            <a:r>
              <a:rPr lang="en-US" sz="5400" b="1"/>
              <a:t>THE END…</a:t>
            </a:r>
          </a:p>
        </p:txBody>
      </p:sp>
    </p:spTree>
    <p:extLst>
      <p:ext uri="{BB962C8B-B14F-4D97-AF65-F5344CB8AC3E}">
        <p14:creationId xmlns:p14="http://schemas.microsoft.com/office/powerpoint/2010/main" val="22906290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1010</TotalTime>
  <Words>3219</Words>
  <Application>Microsoft Office PowerPoint</Application>
  <PresentationFormat>On-screen Show (4:3)</PresentationFormat>
  <Paragraphs>261</Paragraphs>
  <Slides>55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Aptos</vt:lpstr>
      <vt:lpstr>Arial</vt:lpstr>
      <vt:lpstr>Calibri</vt:lpstr>
      <vt:lpstr>Garamond</vt:lpstr>
      <vt:lpstr>Lora</vt:lpstr>
      <vt:lpstr>Wingdings</vt:lpstr>
      <vt:lpstr>Organic</vt:lpstr>
      <vt:lpstr>LESSON 7: PLANNING FOR INSTRUCTION </vt:lpstr>
      <vt:lpstr>PowerPoint Presentation</vt:lpstr>
      <vt:lpstr>Why Instructional Planning? </vt:lpstr>
      <vt:lpstr>Key Components of Instructional Planning </vt:lpstr>
      <vt:lpstr>PowerPoint Presentation</vt:lpstr>
      <vt:lpstr> </vt:lpstr>
      <vt:lpstr>PowerPoint Presentation</vt:lpstr>
      <vt:lpstr>KEY STEPS IN INSTRUCTIONAL PLANNING</vt:lpstr>
      <vt:lpstr>KEY STEPS IN INSTRUCTIONAL PLANNING CONT’</vt:lpstr>
      <vt:lpstr>STEPS IN INSTRUCTIONAL PLANNING CONT’</vt:lpstr>
      <vt:lpstr>STEPS IN INSTRUCTIONAL PLANNING CONT’</vt:lpstr>
      <vt:lpstr>STEPS IN INSTRUCTIONAL PLANNING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Presentation Modes used to transact assigned curricular content</vt:lpstr>
      <vt:lpstr>Key Aspects</vt:lpstr>
      <vt:lpstr>PowerPoint Presentation</vt:lpstr>
      <vt:lpstr>Examples of Presentation Modes</vt:lpstr>
      <vt:lpstr>Role of teacher while selecting methods, instructional media and evaluation mode    </vt:lpstr>
      <vt:lpstr>      Teacher as planner  - Transacts curriculum in classroom - Planner of instruction with close interaction with students - In the transaction, teacher decides method, instructional design and media  - Emphasizes certain parts of curriculum, students handle the rest  </vt:lpstr>
      <vt:lpstr>Choice of teaching method   Teaching methods - means  Variables based method selection  - Variables include: selection of materials, grouping patterns, grading, classroom organization and student behavior - The variables trigger variations in daily learning experiences  - Diverse teaching methods enables teacher to handle a diversity of students</vt:lpstr>
      <vt:lpstr>Choice of teaching method continued   Learning environment based method selection  - Methods classified as: structured, interactive, self directed and computer assisted.  -Most conventional methods (lecture, didactic questioning, assigned textbook reading) – structured </vt:lpstr>
      <vt:lpstr>Choice of teaching method continued   - Interactive method – Student involvement in designing and implementing learning. - There is some form of discussion between teacher and students. - Interactive methods promote freedom, trust and responsibility among students</vt:lpstr>
      <vt:lpstr>Choice of teaching method continued   - Self-directed method (include project, independent study, computer-based instructions etc.) - Students take up learning with minimum teacher direction and control - Students learn ‘how to learn’ - Technological advances have brought the world to the classroom.</vt:lpstr>
      <vt:lpstr> Choice of instructional media  - Done after drawing out prior knowledge, experience, level of sophistication etc.. Of students. - Oldest media is chalkboard - Technological advancements have brought new media - Categorization of media – non-projected, projected, visual, audio and electronic.</vt:lpstr>
      <vt:lpstr>Choice of instructional media continued - Non- projected – allow teacher to stimulate students. - Projected visuals – gives universal perception to students and free teacher from being the direct medium of delivery. - Audio media – use of listening to support teaching-learning process. Act of listening is more controlled than that of audio-visual.</vt:lpstr>
      <vt:lpstr>Choice of Evaluation Mode  - Evaluation –  Done using tests - Testing – to individualize instruction, place to higher grade and monitor progress. - Testing – grouped as norm-referenced tests, criterion-referenced tests and informal evaluation measures. </vt:lpstr>
      <vt:lpstr> Choice of Evaluation Mode continued  - Norm-referenced tests – differentiate individuals or schools along a continuum. - Rank order of achievement from high to low. - Teacher-made tests – help teachers in making routine classroom decision. - Criterion-referenced tests – designed to check if students can perform a particular task(s), e.g. drawing maps</vt:lpstr>
      <vt:lpstr>Choice of Evaluation Mode continued  - Other modes of evaluation include:  - Observation of student’s interaction and behavior – assess students’ progress, information level, interests, attitudes etc. - Analysis of students’ work samples e.g. writing, painting, drawings etc. - Self-reporting – students discuss or write their problems, progress etc.</vt:lpstr>
      <vt:lpstr>Choice of Evaluation Mode continued - Most suitable mode is selected according to the teachers’ objective.  - All the modes help teacher to make decisions regarding placement, diagnosis and plan for further learning environment.</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Philosophical Perspectives in Education</dc:title>
  <dc:creator>User</dc:creator>
  <cp:lastModifiedBy>DMungai</cp:lastModifiedBy>
  <cp:revision>74</cp:revision>
  <dcterms:created xsi:type="dcterms:W3CDTF">2015-02-14T01:47:57Z</dcterms:created>
  <dcterms:modified xsi:type="dcterms:W3CDTF">2024-11-29T13:53:53Z</dcterms:modified>
</cp:coreProperties>
</file>