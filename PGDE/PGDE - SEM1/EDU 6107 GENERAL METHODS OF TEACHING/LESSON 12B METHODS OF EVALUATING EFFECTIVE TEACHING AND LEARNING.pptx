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5" r:id="rId1"/>
  </p:sldMasterIdLst>
  <p:notesMasterIdLst>
    <p:notesMasterId r:id="rId14"/>
  </p:notesMasterIdLst>
  <p:sldIdLst>
    <p:sldId id="405" r:id="rId2"/>
    <p:sldId id="348" r:id="rId3"/>
    <p:sldId id="397" r:id="rId4"/>
    <p:sldId id="385" r:id="rId5"/>
    <p:sldId id="399" r:id="rId6"/>
    <p:sldId id="400" r:id="rId7"/>
    <p:sldId id="401" r:id="rId8"/>
    <p:sldId id="402" r:id="rId9"/>
    <p:sldId id="403" r:id="rId10"/>
    <p:sldId id="404" r:id="rId11"/>
    <p:sldId id="392" r:id="rId12"/>
    <p:sldId id="398" r:id="rId13"/>
  </p:sldIdLst>
  <p:sldSz cx="12188825" cy="6858000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291" autoAdjust="0"/>
  </p:normalViewPr>
  <p:slideViewPr>
    <p:cSldViewPr>
      <p:cViewPr varScale="1">
        <p:scale>
          <a:sx n="66" d="100"/>
          <a:sy n="66" d="100"/>
        </p:scale>
        <p:origin x="648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17D04E-830F-4B45-AFC9-2DD0770101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276AB1-E91B-4F4F-AA74-9B615C4CD0C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65E9DDE-87D3-49FA-9637-573A2D707575}" type="datetimeFigureOut">
              <a:rPr lang="en-US"/>
              <a:pPr>
                <a:defRPr/>
              </a:pPr>
              <a:t>8/29/2024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C079E46-D573-4DB8-9471-8A4F4A8A27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8FFBFA7-06AA-41C8-B5C4-96CF0FC9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7EECC-C0AF-4CA3-AA18-EE678C0827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F5B61-1904-4687-8F21-D1901ABD8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itchFamily="34" charset="0"/>
                <a:ea typeface="+mn-ea"/>
                <a:cs typeface="Arial" panose="02080604020202020204" pitchFamily="34" charset="0"/>
              </a:defRPr>
            </a:lvl1pPr>
          </a:lstStyle>
          <a:p>
            <a:pPr>
              <a:defRPr/>
            </a:pPr>
            <a:fld id="{3BE18022-55AB-4AFB-A40A-A7266150D9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74664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B5A59CB-6E21-40A2-886B-1C592FBF8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62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294" y="1196975"/>
            <a:ext cx="10941013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410" y="2422525"/>
            <a:ext cx="10947362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AB552D-CCA7-46F2-8188-1FBECD1121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1D9B6E-3D21-44FB-BB24-92EF196483A7}" type="datetime1">
              <a:rPr lang="en-US"/>
              <a:pPr>
                <a:defRPr/>
              </a:pPr>
              <a:t>8/29/2024</a:t>
            </a:fld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36A6F0-B5E3-4CB4-9201-47961954E9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CE30496-1B4D-44B5-B550-FBCE578E2C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06DD2-C174-4B53-9B13-ABDE80C4B8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4397542"/>
      </p:ext>
    </p:extLst>
  </p:cSld>
  <p:clrMapOvr>
    <a:masterClrMapping/>
  </p:clrMapOvr>
  <p:transition spd="med">
    <p:fade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CF77F-7C4C-42C4-9CF4-8AB809FF2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EB75E-09CA-4DA2-8A58-8F1F9721F844}" type="datetime1">
              <a:rPr lang="en-US"/>
              <a:pPr>
                <a:defRPr/>
              </a:pPr>
              <a:t>8/29/2024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95EEF-E5CC-4D3A-B91B-95D8FBE6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02CCC-BB7A-44DF-BBE1-B2C9977CE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5FDFF-1E11-43E0-8690-478E08767E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0721632"/>
      </p:ext>
    </p:extLst>
  </p:cSld>
  <p:clrMapOvr>
    <a:masterClrMapping/>
  </p:clrMapOvr>
  <p:transition spd="med">
    <p:fade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87" y="1709738"/>
            <a:ext cx="1051353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87" y="4589463"/>
            <a:ext cx="1051353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5D883-F7CA-4FF1-A4DD-352B7D84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noProof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9B877-C43C-4AAE-980A-339E28B4B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noProof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943F-F79A-4DD6-913F-5B40FA0E8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noProof="1">
                <a:cs typeface="+mn-cs"/>
              </a:defRPr>
            </a:lvl1pPr>
          </a:lstStyle>
          <a:p>
            <a:pPr>
              <a:defRPr/>
            </a:pPr>
            <a:fld id="{DE796DC9-1A8F-47F8-9672-21FB07B12D35}" type="slidenum">
              <a:rPr lang="en-US"/>
              <a:pPr>
                <a:defRPr/>
              </a:pPr>
              <a:t>‹#›</a:t>
            </a:fld>
            <a:endParaRPr lang="en-US">
              <a:cs typeface="Arial" panose="0208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922553"/>
      </p:ext>
    </p:extLst>
  </p:cSld>
  <p:clrMapOvr>
    <a:masterClrMapping/>
  </p:clrMapOvr>
  <p:transition spd="med"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8138" y="1174750"/>
            <a:ext cx="5655082" cy="49530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79" y="1174750"/>
            <a:ext cx="5654307" cy="49530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1153E-1B2D-4620-8534-7213116F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12C5FC-C602-4E54-B863-7ED3981DF096}" type="datetime1">
              <a:rPr lang="en-US"/>
              <a:pPr>
                <a:defRPr/>
              </a:pPr>
              <a:t>8/29/2024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3ACC-0723-48DA-A919-2BF2A006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6460A-3DE2-4711-BE78-F3CBCA35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E14AB-F5B6-4C5C-942A-FAABE09B24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5215790"/>
      </p:ext>
    </p:extLst>
  </p:cSld>
  <p:clrMapOvr>
    <a:masterClrMapping/>
  </p:clrMapOvr>
  <p:transition spd="med">
    <p:fade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152" y="365125"/>
            <a:ext cx="1051353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152" y="1681163"/>
            <a:ext cx="515730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152" y="2505075"/>
            <a:ext cx="5157301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985" y="1681163"/>
            <a:ext cx="518269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985" y="2505075"/>
            <a:ext cx="5182697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B550D7-DBC6-4686-9CB3-56CA711E7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EE10CA-04D4-4CFB-AD84-E0E3536E001E}" type="datetime1">
              <a:rPr lang="en-US"/>
              <a:pPr>
                <a:defRPr/>
              </a:pPr>
              <a:t>8/29/2024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574250-2857-42E5-BE6C-DF14636D7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AAC96C-2DCC-4F87-B42B-C9D84582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004BA3-51E3-43F6-8491-68A5DF3006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3647730"/>
      </p:ext>
    </p:extLst>
  </p:cSld>
  <p:clrMapOvr>
    <a:masterClrMapping/>
  </p:clrMapOvr>
  <p:transition spd="med">
    <p:fade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4D064F-F6BF-4BF6-8A7C-FF26B7966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18904F-6664-4AB8-B1A4-FCAD64AAD890}" type="datetime1">
              <a:rPr lang="en-US"/>
              <a:pPr>
                <a:defRPr/>
              </a:pPr>
              <a:t>8/29/2024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19490-5611-4F67-B003-C81153BEB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C0932-7E75-4F0C-B63B-38E0C9DA8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27766E-61B1-4151-A08C-78914FF256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4018636"/>
      </p:ext>
    </p:extLst>
  </p:cSld>
  <p:clrMapOvr>
    <a:masterClrMapping/>
  </p:clrMapOvr>
  <p:transition spd="med">
    <p:fade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DB4923-77E2-4790-ADB3-1AD1E6921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3B7F9-A50D-4996-B7F7-C7A9A5183B7F}" type="datetime1">
              <a:rPr lang="en-US"/>
              <a:pPr>
                <a:defRPr/>
              </a:pPr>
              <a:t>8/29/2024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FEC4AC-6E37-44F5-A1E9-80F34EFB1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B1D59-F131-4151-945C-AC1E6452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42693-6BB4-4547-AEA8-CC0AB218F7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2035624"/>
      </p:ext>
    </p:extLst>
  </p:cSld>
  <p:clrMapOvr>
    <a:masterClrMapping/>
  </p:clrMapOvr>
  <p:transition spd="med"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152" y="457200"/>
            <a:ext cx="393199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2697" y="987425"/>
            <a:ext cx="617098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152" y="2057400"/>
            <a:ext cx="393199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F4A3B-1366-4701-9281-659056F19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1CFD0-07B7-43AA-B70A-A743F9107322}" type="datetime1">
              <a:rPr lang="en-US"/>
              <a:pPr>
                <a:defRPr/>
              </a:pPr>
              <a:t>8/29/2024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DC83-DE1E-4DC9-863F-445C847FB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0039C-2524-4043-90D4-DB83BC89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85BCF-61B4-451D-B49A-360A477CCB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1451143"/>
      </p:ext>
    </p:extLst>
  </p:cSld>
  <p:clrMapOvr>
    <a:masterClrMapping/>
  </p:clrMapOvr>
  <p:transition spd="med"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152" y="457200"/>
            <a:ext cx="393199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2697" y="987425"/>
            <a:ext cx="617098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152" y="2057400"/>
            <a:ext cx="393199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395DF-174F-44C8-B49D-1693B1F7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32080A-1E1F-41EA-9809-7933D73958BE}" type="datetime1">
              <a:rPr lang="en-US"/>
              <a:pPr>
                <a:defRPr/>
              </a:pPr>
              <a:t>8/29/2024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5C3AF-65CB-4A9A-95D5-3484F7B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6DFD6-98D7-4A26-AE08-F0A9183C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5BDD35-200C-485A-BD44-9F1DE80485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6985932"/>
      </p:ext>
    </p:extLst>
  </p:cSld>
  <p:clrMapOvr>
    <a:masterClrMapping/>
  </p:clrMapOvr>
  <p:transition spd="med"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30EA3-6C77-41F1-A2EF-63351190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284F95-61F7-4779-B461-1422BA2EB6DA}" type="datetime1">
              <a:rPr lang="en-US"/>
              <a:pPr>
                <a:defRPr/>
              </a:pPr>
              <a:t>8/29/2024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3333D-C7C9-41EB-9E24-426C4AB6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6C74B-CF25-423F-9512-6C60D386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7EF48-6A6B-46B2-A5F3-B62197BE05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9352965"/>
      </p:ext>
    </p:extLst>
  </p:cSld>
  <p:clrMapOvr>
    <a:masterClrMapping/>
  </p:clrMapOvr>
  <p:transition spd="med"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7460" y="190500"/>
            <a:ext cx="2742660" cy="5937250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80" y="190500"/>
            <a:ext cx="8024820" cy="5937250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BF1A4-273C-419B-94DC-1974D50F5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B5EF0D-B506-4C5C-8C6F-5F8DCE5EF478}" type="datetime1">
              <a:rPr lang="en-US"/>
              <a:pPr>
                <a:defRPr/>
              </a:pPr>
              <a:t>8/29/2024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2037D-7501-46DC-8C7C-DF03E41D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E81E7-A6D5-4038-888F-B7F20A5F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A198C-309E-461C-BF81-87D8D3A038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2610805"/>
      </p:ext>
    </p:extLst>
  </p:cSld>
  <p:clrMapOvr>
    <a:masterClrMapping/>
  </p:clrMapOvr>
  <p:transition spd="med">
    <p:fade/>
  </p:transition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>
            <a:extLst>
              <a:ext uri="{FF2B5EF4-FFF2-40B4-BE49-F238E27FC236}">
                <a16:creationId xmlns:a16="http://schemas.microsoft.com/office/drawing/2014/main" id="{1D6B3277-5F49-4D90-A19B-D52151F78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62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A47C2314-A968-459A-815F-A805DD6801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8138" y="190500"/>
            <a:ext cx="11242675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F5C4ED8-EA63-4287-87C2-49E30FA33B4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38138" y="1177925"/>
            <a:ext cx="11471124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71B12EC-D615-4970-89C9-87587B51ADF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80604020202020204" pitchFamily="34" charset="0"/>
                <a:ea typeface="+mn-ea"/>
                <a:cs typeface="Arial" panose="02080604020202020204" pitchFamily="34" charset="0"/>
              </a:defRPr>
            </a:lvl1pPr>
          </a:lstStyle>
          <a:p>
            <a:pPr>
              <a:defRPr/>
            </a:pPr>
            <a:fld id="{09FB960C-BE40-4428-B104-F3D05025838D}" type="datetime1">
              <a:rPr lang="en-US"/>
              <a:pPr>
                <a:defRPr/>
              </a:pPr>
              <a:t>8/29/2024</a:t>
            </a:fld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E0B0D73-69A7-4F7A-9038-BFB2ABEE56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4013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80604020202020204" pitchFamily="34" charset="0"/>
                <a:ea typeface="+mn-ea"/>
                <a:cs typeface="Arial" panose="0208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Wechuli Thaddeus</a:t>
            </a:r>
          </a:p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A028C5FC-FF3C-4E01-A47B-A1575E5114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6013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Arial" panose="02080604020202020204" pitchFamily="34" charset="0"/>
                <a:ea typeface="+mn-ea"/>
                <a:cs typeface="Arial" panose="02080604020202020204" pitchFamily="34" charset="0"/>
              </a:defRPr>
            </a:lvl1pPr>
          </a:lstStyle>
          <a:p>
            <a:pPr>
              <a:defRPr/>
            </a:pPr>
            <a:fld id="{58A23A3B-494A-434F-8BF8-46E94562E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F7CB646-517C-4C9A-8DAB-F06C7CB90941}"/>
              </a:ext>
            </a:extLst>
          </p:cNvPr>
          <p:cNvCxnSpPr/>
          <p:nvPr userDrawn="1"/>
        </p:nvCxnSpPr>
        <p:spPr bwMode="auto">
          <a:xfrm>
            <a:off x="0" y="1066862"/>
            <a:ext cx="12188825" cy="0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4050" r:id="rId2"/>
    <p:sldLayoutId id="2147484051" r:id="rId3"/>
    <p:sldLayoutId id="2147484052" r:id="rId4"/>
    <p:sldLayoutId id="2147484053" r:id="rId5"/>
    <p:sldLayoutId id="2147484054" r:id="rId6"/>
    <p:sldLayoutId id="2147484055" r:id="rId7"/>
    <p:sldLayoutId id="2147484056" r:id="rId8"/>
    <p:sldLayoutId id="2147484057" r:id="rId9"/>
    <p:sldLayoutId id="2147484058" r:id="rId10"/>
    <p:sldLayoutId id="2147484059" r:id="rId11"/>
  </p:sldLayoutIdLst>
  <p:transition spd="med">
    <p:fade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044AFA-C66F-49F4-AFC6-DF31C1421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0500"/>
            <a:ext cx="12188825" cy="796925"/>
          </a:xfrm>
        </p:spPr>
        <p:txBody>
          <a:bodyPr/>
          <a:lstStyle/>
          <a:p>
            <a:pPr algn="ctr"/>
            <a:endParaRPr lang="en-KE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F661A03-9CBB-4299-8981-C21522F9FD06}"/>
              </a:ext>
            </a:extLst>
          </p:cNvPr>
          <p:cNvSpPr txBox="1">
            <a:spLocks/>
          </p:cNvSpPr>
          <p:nvPr/>
        </p:nvSpPr>
        <p:spPr>
          <a:xfrm>
            <a:off x="455760" y="2590822"/>
            <a:ext cx="11582096" cy="251453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000" dirty="0">
                <a:latin typeface="Arial Black" panose="020B0A04020102020204" pitchFamily="34" charset="0"/>
              </a:rPr>
              <a:t>Lesson 12: Methods of evaluating effective</a:t>
            </a:r>
          </a:p>
          <a:p>
            <a:pPr marL="0" indent="0" algn="ctr">
              <a:buNone/>
            </a:pPr>
            <a:r>
              <a:rPr lang="en-GB" sz="4000" dirty="0">
                <a:latin typeface="Arial Black" panose="020B0A04020102020204" pitchFamily="34" charset="0"/>
              </a:rPr>
              <a:t>teaching and learning.</a:t>
            </a:r>
            <a:endParaRPr lang="en-KE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48238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1BC45-9030-4902-A111-5C023447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940AC-9755-40F6-97E7-ABBA00044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Technical and vocational education and training (TVET) institutions play a vital role in preparing students for the workforce by providing practical skills and knowledge.</a:t>
            </a:r>
          </a:p>
          <a:p>
            <a:pPr algn="just"/>
            <a:r>
              <a:rPr lang="en-US" dirty="0"/>
              <a:t>To ensure that students receive a quality education, it is crucial to evaluate the effectiveness of teaching and learning in these institutions. </a:t>
            </a:r>
          </a:p>
          <a:p>
            <a:pPr algn="just"/>
            <a:r>
              <a:rPr lang="en-GB" dirty="0"/>
              <a:t>Evaluation means measuring or observing the process to judge it or to determine it for its value by comparing it to others or some kind of a standard</a:t>
            </a:r>
          </a:p>
          <a:p>
            <a:br>
              <a:rPr lang="en-GB" dirty="0"/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aa-E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604490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553B7-023D-4C04-8A02-8CC7B8FE2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Principles of evaluation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4D0B5-34BC-47FC-85C3-B42CAD516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Effective evaluation is a continuous, on-going process.</a:t>
            </a:r>
          </a:p>
          <a:p>
            <a:r>
              <a:rPr lang="en-GB" dirty="0"/>
              <a:t> A variety of evaluative tools is necessary to provide the most accurate assessment of students' learning and progress. </a:t>
            </a:r>
          </a:p>
          <a:p>
            <a:r>
              <a:rPr lang="en-GB" dirty="0"/>
              <a:t>Evaluation must be a collaborative activity between teachers and students. </a:t>
            </a:r>
          </a:p>
          <a:p>
            <a:r>
              <a:rPr lang="en-GB" dirty="0"/>
              <a:t>Evaluation needs to be authentic. </a:t>
            </a:r>
          </a:p>
          <a:p>
            <a:pPr lvl="1"/>
            <a:r>
              <a:rPr lang="en-GB" dirty="0"/>
              <a:t>based on the natural activities and processes students do both in the classroom and in their everyday lives. 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905974444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E71B8-5345-4591-B99F-2C452E1F6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for evaluating teaching and learning </a:t>
            </a:r>
            <a:endParaRPr lang="aa-E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B6546-4150-4535-8D42-ADC92C405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Observation</a:t>
            </a:r>
            <a:endParaRPr lang="en-KE" dirty="0"/>
          </a:p>
          <a:p>
            <a:pPr algn="just"/>
            <a:r>
              <a:rPr lang="en-US" dirty="0"/>
              <a:t>Student Assessment</a:t>
            </a:r>
            <a:endParaRPr lang="en-KE" dirty="0"/>
          </a:p>
          <a:p>
            <a:pPr algn="just"/>
            <a:r>
              <a:rPr lang="en-US" dirty="0"/>
              <a:t>Peer Review</a:t>
            </a:r>
            <a:endParaRPr lang="en-KE" dirty="0"/>
          </a:p>
          <a:p>
            <a:pPr algn="just"/>
            <a:r>
              <a:rPr lang="en-US" dirty="0"/>
              <a:t>Student Feedback</a:t>
            </a:r>
            <a:endParaRPr lang="en-KE" dirty="0"/>
          </a:p>
          <a:p>
            <a:pPr algn="just"/>
            <a:r>
              <a:rPr lang="en-US" dirty="0"/>
              <a:t>Program Review</a:t>
            </a:r>
            <a:endParaRPr lang="en-KE" dirty="0"/>
          </a:p>
          <a:p>
            <a:pPr algn="just"/>
            <a:r>
              <a:rPr lang="en-US" dirty="0"/>
              <a:t>Industry Feedback</a:t>
            </a:r>
            <a:endParaRPr lang="en-KE" dirty="0"/>
          </a:p>
          <a:p>
            <a:pPr algn="just"/>
            <a:r>
              <a:rPr lang="en-US" dirty="0"/>
              <a:t>Learning Analytics</a:t>
            </a:r>
            <a:endParaRPr lang="en-KE" dirty="0"/>
          </a:p>
          <a:p>
            <a:pPr algn="just"/>
            <a:r>
              <a:rPr lang="en-US" dirty="0"/>
              <a:t>Classroom Assessment Techniques (CATs)</a:t>
            </a:r>
            <a:endParaRPr lang="en-KE" dirty="0"/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aa-E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552699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2D37-C1B9-4FAD-BAF0-FEF02B0E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Evaluation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E0A27-044C-489C-980D-12EA0569B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two main types of evaluation – (formative and summative) at various stages. </a:t>
            </a:r>
          </a:p>
          <a:p>
            <a:r>
              <a:rPr lang="en-GB" dirty="0"/>
              <a:t>Formative evaluation:</a:t>
            </a:r>
          </a:p>
          <a:p>
            <a:pPr lvl="1"/>
            <a:r>
              <a:rPr lang="en-GB" dirty="0"/>
              <a:t>find out whether after a learning experience, students are able to do what they were previously unable to do. </a:t>
            </a:r>
          </a:p>
          <a:p>
            <a:r>
              <a:rPr lang="en-GB" dirty="0"/>
              <a:t>Summative evaluation:</a:t>
            </a:r>
          </a:p>
          <a:p>
            <a:pPr lvl="1"/>
            <a:r>
              <a:rPr lang="en-GB" dirty="0"/>
              <a:t>to determine the extent the broad objectives of a programme have been achieved. </a:t>
            </a:r>
          </a:p>
          <a:p>
            <a:pPr lvl="1"/>
            <a:r>
              <a:rPr lang="en-GB" dirty="0"/>
              <a:t>It is concerned with purposes, progress and outcomes of the teaching learning process. 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401404369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927A-DFBC-4790-9E2A-07081ED50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/>
              <a:t>Formative evaluation attempts to: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0ADA2-935E-4E2F-89E7-9B6EDE86A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Identify the content (i.e. knowledge or skill) </a:t>
            </a:r>
          </a:p>
          <a:p>
            <a:pPr algn="just"/>
            <a:r>
              <a:rPr lang="en-GB" dirty="0"/>
              <a:t>Appraise the level of cognitive abilities such as memorization, classification, comparison, analysis, explanation, quantification, application and so on.</a:t>
            </a:r>
          </a:p>
          <a:p>
            <a:pPr algn="just"/>
            <a:r>
              <a:rPr lang="en-GB" dirty="0"/>
              <a:t>Specify the relationships between content and levels of cognitive abilities. </a:t>
            </a:r>
          </a:p>
          <a:p>
            <a:pPr marL="0" indent="0">
              <a:buNone/>
            </a:pPr>
            <a:br>
              <a:rPr lang="en-GB" dirty="0"/>
            </a:br>
            <a:br>
              <a:rPr lang="en-GB" dirty="0"/>
            </a:b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479479245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3234A-948D-4340-B62F-0348EAC93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Summative evaluation attempts to: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D090C-9F23-404B-A97A-9E7792F45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evaluate student learning </a:t>
            </a:r>
            <a:r>
              <a:rPr lang="en-GB" dirty="0"/>
              <a:t>at the end of an instructional unit by comparing it against some standard or benchmark.</a:t>
            </a:r>
          </a:p>
          <a:p>
            <a:r>
              <a:rPr lang="en-GB" dirty="0"/>
              <a:t>concerned with purposes, progress and outcomes of the teaching-learning process. </a:t>
            </a:r>
          </a:p>
          <a:p>
            <a:r>
              <a:rPr lang="en-GB" dirty="0"/>
              <a:t>Examples of summative evaluations include:</a:t>
            </a:r>
          </a:p>
          <a:p>
            <a:pPr lvl="1"/>
            <a:r>
              <a:rPr lang="en-GB" dirty="0"/>
              <a:t>a midterm exam</a:t>
            </a:r>
          </a:p>
          <a:p>
            <a:pPr lvl="1"/>
            <a:r>
              <a:rPr lang="en-GB" dirty="0"/>
              <a:t>a final project </a:t>
            </a:r>
            <a:br>
              <a:rPr lang="en-GB" dirty="0"/>
            </a:br>
            <a:br>
              <a:rPr lang="en-GB" dirty="0"/>
            </a:b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281941214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306E-7A00-46F5-A8A3-D2457FBC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Evaluation Models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A1863-5F3F-45A8-A6B9-8194A1BD9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Systematic frameworks for investigating and analyzing the effectiveness of training or learning outcomes. Example:</a:t>
            </a:r>
          </a:p>
          <a:p>
            <a:pPr marL="0" indent="0" algn="just">
              <a:buNone/>
            </a:pPr>
            <a:r>
              <a:rPr lang="en-GB" b="1" dirty="0"/>
              <a:t>1. The Kirkpatrick Model</a:t>
            </a:r>
            <a:endParaRPr lang="en-GB" dirty="0"/>
          </a:p>
          <a:p>
            <a:r>
              <a:rPr lang="en-GB" dirty="0"/>
              <a:t>The four levels of the Kirkpatrick model are:</a:t>
            </a:r>
          </a:p>
          <a:p>
            <a:pPr lvl="1"/>
            <a:r>
              <a:rPr lang="en-GB" b="1" dirty="0"/>
              <a:t>Level 1: Reaction</a:t>
            </a:r>
          </a:p>
          <a:p>
            <a:pPr lvl="1"/>
            <a:r>
              <a:rPr lang="en-GB" b="1" dirty="0"/>
              <a:t>Level 2: Learning</a:t>
            </a:r>
          </a:p>
          <a:p>
            <a:pPr lvl="1"/>
            <a:r>
              <a:rPr lang="en-GB" b="1" dirty="0"/>
              <a:t>Level 3: Behavior</a:t>
            </a:r>
          </a:p>
          <a:p>
            <a:pPr lvl="1"/>
            <a:r>
              <a:rPr lang="en-GB" b="1" dirty="0"/>
              <a:t>Level 4: Results</a:t>
            </a:r>
            <a:endParaRPr lang="en-GB" dirty="0"/>
          </a:p>
          <a:p>
            <a:pPr algn="just"/>
            <a:endParaRPr lang="en-GB" dirty="0"/>
          </a:p>
          <a:p>
            <a:pPr algn="just"/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044219480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0CE0-5DB7-4D8F-A9BD-E18A8C96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Conti…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8A600-3155-4A01-9DCA-EEC6DDC86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b="1" dirty="0"/>
              <a:t>Level 1: Reaction</a:t>
            </a:r>
          </a:p>
          <a:p>
            <a:pPr lvl="1"/>
            <a:r>
              <a:rPr lang="en-GB" dirty="0"/>
              <a:t>how the participants responded to the training (Conditions of the learning environment)</a:t>
            </a:r>
            <a:endParaRPr lang="en-GB" b="1" dirty="0"/>
          </a:p>
          <a:p>
            <a:r>
              <a:rPr lang="en-GB" sz="2800" b="1" dirty="0"/>
              <a:t>Level 2: Learning</a:t>
            </a:r>
          </a:p>
          <a:p>
            <a:pPr lvl="1"/>
            <a:r>
              <a:rPr lang="en-GB" dirty="0"/>
              <a:t>determine what, if anything, the participants learned from the training.</a:t>
            </a:r>
            <a:endParaRPr lang="en-GB" b="1" dirty="0"/>
          </a:p>
          <a:p>
            <a:r>
              <a:rPr lang="en-GB" sz="2800" b="1" dirty="0"/>
              <a:t>Level 3: Behavior</a:t>
            </a:r>
          </a:p>
          <a:p>
            <a:pPr lvl="1"/>
            <a:r>
              <a:rPr lang="en-GB" dirty="0"/>
              <a:t> after training (assess whether the course participants put what they learned into practice on the job).</a:t>
            </a:r>
            <a:endParaRPr lang="en-GB" b="1" dirty="0"/>
          </a:p>
          <a:p>
            <a:r>
              <a:rPr lang="en-GB" sz="2800" b="1" dirty="0"/>
              <a:t>Level 4: Results</a:t>
            </a:r>
          </a:p>
          <a:p>
            <a:pPr lvl="1"/>
            <a:r>
              <a:rPr lang="en-GB" dirty="0"/>
              <a:t>model measures results against expectations.</a:t>
            </a:r>
            <a:endParaRPr lang="en-GB" b="1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954569748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C9C7-9E61-4496-803F-BFA11C50A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Evaluation Models (Conti….)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795AE-0B4A-42AB-AF82-7C2C6DE1B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2. Tyler’s Objective Model</a:t>
            </a:r>
          </a:p>
          <a:p>
            <a:r>
              <a:rPr lang="en-GB" dirty="0"/>
              <a:t>Its basic principles involve matching the pre-behavioural objectives with the actual outcome. </a:t>
            </a:r>
          </a:p>
          <a:p>
            <a:r>
              <a:rPr lang="en-GB" dirty="0"/>
              <a:t>Based on the objective-oriented theory</a:t>
            </a:r>
          </a:p>
          <a:p>
            <a:r>
              <a:rPr lang="en-GB" dirty="0"/>
              <a:t>Considers curriculum as a means of aiming towards an educational objective.</a:t>
            </a:r>
          </a:p>
          <a:p>
            <a:r>
              <a:rPr lang="en-GB" dirty="0"/>
              <a:t>The goal is to evaluate the degree to which an instructional program’s goals or objectives were achieved. </a:t>
            </a:r>
          </a:p>
          <a:p>
            <a:r>
              <a:rPr lang="en-GB" dirty="0"/>
              <a:t>Evaluator can determine the level to which the objectives of the program are achieved 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20251341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DBF9A-63FF-7710-C183-5A08D320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22FF4-5E42-3899-1733-0BDC4F426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1177925"/>
            <a:ext cx="11471124" cy="5680075"/>
          </a:xfrm>
        </p:spPr>
        <p:txBody>
          <a:bodyPr/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/>
              <a:t>Through observation, student assessment, peer review, student feedback, program review, and industry feedback, among others, TVET institutions can identify areas for improvement and implement changes to enhance the learning experience.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/>
              <a:t>By using a combination of these methods, TVET institutions can ensure that they are providing the best possible education to their students and a unique perspective on the teaching and learning process.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033267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0C19A-5E3B-4005-816E-DAD32F100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Conti…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91464-F3EE-4212-B63E-97BEF0DAC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It is essential for a good evaluation system to be comprehensive and capable of accurate measurement of behaviour modification.</a:t>
            </a:r>
          </a:p>
          <a:p>
            <a:pPr algn="just"/>
            <a:r>
              <a:rPr lang="en-GB" dirty="0"/>
              <a:t>Educational evaluation outcome is useful for the curriculum development of the new programs. </a:t>
            </a:r>
          </a:p>
          <a:p>
            <a:r>
              <a:rPr lang="en-GB" dirty="0"/>
              <a:t> Evaluation model provides chances for evaluators to assess not only programs’ implementation but also Institutions and universities as the system. 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pPr marL="0" indent="0">
              <a:buNone/>
            </a:pPr>
            <a:br>
              <a:rPr lang="en-GB" dirty="0"/>
            </a:b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08394315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1 Introduction to Corporate Management</Template>
  <TotalTime>1817</TotalTime>
  <Words>703</Words>
  <Application>Microsoft Office PowerPoint</Application>
  <PresentationFormat>Custom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Times New Roman</vt:lpstr>
      <vt:lpstr>Blue Waves</vt:lpstr>
      <vt:lpstr>PowerPoint Presentation</vt:lpstr>
      <vt:lpstr>Introduction</vt:lpstr>
      <vt:lpstr>Principles of evaluation</vt:lpstr>
      <vt:lpstr>Methods for evaluating teaching and learning </vt:lpstr>
      <vt:lpstr>Types of Evaluation</vt:lpstr>
      <vt:lpstr>Formative evaluation attempts to:</vt:lpstr>
      <vt:lpstr>Summative evaluation attempts to:</vt:lpstr>
      <vt:lpstr>Learning Evaluation Models</vt:lpstr>
      <vt:lpstr>Conti…</vt:lpstr>
      <vt:lpstr>Learning Evaluation Models (Conti….)</vt:lpstr>
      <vt:lpstr>Conclusion</vt:lpstr>
      <vt:lpstr>Conti…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JKUAT</dc:creator>
  <cp:lastModifiedBy>DMungai</cp:lastModifiedBy>
  <cp:revision>286</cp:revision>
  <dcterms:created xsi:type="dcterms:W3CDTF">2013-04-06T13:39:34Z</dcterms:created>
  <dcterms:modified xsi:type="dcterms:W3CDTF">2024-08-29T07:49:35Z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1033-11.1.0.9604</vt:lpwstr>
  </property>
</Properties>
</file>