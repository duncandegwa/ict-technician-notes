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6" r:id="rId3"/>
    <p:sldId id="272" r:id="rId4"/>
    <p:sldId id="27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5" r:id="rId13"/>
    <p:sldId id="276" r:id="rId14"/>
    <p:sldId id="277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79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7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90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0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0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3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6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9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2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7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3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F6B520A-1FCA-4037-949E-D77156967E4F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E7F254-85B1-4DAC-A555-7E9BDA56046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smtClean="0"/>
              <a:t>PGDE </a:t>
            </a:r>
            <a:r>
              <a:rPr lang="en-US" b="1" dirty="0"/>
              <a:t>COHORT TEN </a:t>
            </a:r>
            <a:endParaRPr lang="en-US" b="1" dirty="0" smtClean="0"/>
          </a:p>
          <a:p>
            <a:pPr algn="ctr"/>
            <a:r>
              <a:rPr lang="en-US" b="1" dirty="0"/>
              <a:t>EDU 6203 </a:t>
            </a:r>
            <a:endParaRPr lang="en-US" b="1" dirty="0" smtClean="0"/>
          </a:p>
          <a:p>
            <a:pPr algn="ctr"/>
            <a:r>
              <a:rPr lang="en-US" b="1" dirty="0" smtClean="0"/>
              <a:t>EDUCATIONAL </a:t>
            </a:r>
            <a:r>
              <a:rPr lang="en-US" b="1" dirty="0"/>
              <a:t>MANAGEMENT, PLANNING AND </a:t>
            </a:r>
            <a:r>
              <a:rPr lang="en-US" b="1" dirty="0" smtClean="0"/>
              <a:t>ECONOMICS</a:t>
            </a:r>
          </a:p>
          <a:p>
            <a:pPr algn="ctr"/>
            <a:endParaRPr lang="en-US" b="1" dirty="0"/>
          </a:p>
          <a:p>
            <a:pPr algn="ctr"/>
            <a:r>
              <a:rPr lang="en-US" b="1" i="1" dirty="0">
                <a:solidFill>
                  <a:srgbClr val="FF0000"/>
                </a:solidFill>
              </a:rPr>
              <a:t>LESSON 8 METHODOLOGIES/APPROACHES AND MODELS OF EDUCATIONAL PLANNING </a:t>
            </a:r>
            <a:endParaRPr lang="en-US" b="1" i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045435" y="535205"/>
            <a:ext cx="3317358" cy="122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00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0754" y="-993820"/>
            <a:ext cx="9144000" cy="2387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GROUP 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3188" y="1789613"/>
            <a:ext cx="9144000" cy="3043644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Martha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Okaru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		- </a:t>
            </a: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E228-01-2963/2025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Priscilla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Kipng'ok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	- E228-01-2958/2025</a:t>
            </a:r>
          </a:p>
          <a:p>
            <a:pPr marL="457200" indent="-457200" algn="just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Duncan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Ndegwa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		-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E228-01-2866/2024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4"/>
            </a:pP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Veronicah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Jebet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Tambutwa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- E228-01-3015/2025 </a:t>
            </a:r>
          </a:p>
          <a:p>
            <a:pPr marL="457200" indent="-457200" algn="just">
              <a:buAutoNum type="arabicPeriod" startAt="4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Brian D.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Imoh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			- E228-01-2965/2025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203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Educational </a:t>
            </a:r>
            <a:r>
              <a:rPr lang="en-US" sz="3200" dirty="0"/>
              <a:t>planning is the process of: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3600" dirty="0"/>
              <a:t>Setting educational goals and objectives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3600" dirty="0"/>
              <a:t>Deciding how to achieve them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3600" dirty="0"/>
              <a:t>Using available resources effectively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3600" dirty="0"/>
              <a:t>Planning for the future of education 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Meaning of Educational Planning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70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Approaches to Educational Planning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93809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1. </a:t>
            </a:r>
            <a:r>
              <a:rPr lang="en-US" sz="3200" b="1" dirty="0"/>
              <a:t>Social Demand Approach</a:t>
            </a:r>
            <a:endParaRPr lang="en-US" sz="3200" dirty="0"/>
          </a:p>
          <a:p>
            <a:r>
              <a:rPr lang="en-US" sz="3200" dirty="0" smtClean="0"/>
              <a:t>This </a:t>
            </a:r>
            <a:r>
              <a:rPr lang="en-US" sz="3200" dirty="0"/>
              <a:t>approach focuses on </a:t>
            </a:r>
            <a:r>
              <a:rPr lang="en-US" sz="3200" b="1" dirty="0"/>
              <a:t>people's demand for education</a:t>
            </a:r>
            <a:r>
              <a:rPr lang="en-US" sz="3200" dirty="0"/>
              <a:t>.</a:t>
            </a:r>
          </a:p>
          <a:p>
            <a:r>
              <a:rPr lang="en-US" sz="3200" dirty="0"/>
              <a:t>It plans education based on: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Population growth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Number of learners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National goals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Social needs like literacy and primary education </a:t>
            </a:r>
          </a:p>
          <a:p>
            <a:r>
              <a:rPr lang="en-US" sz="3200" dirty="0" smtClean="0"/>
              <a:t>Education </a:t>
            </a:r>
            <a:r>
              <a:rPr lang="en-US" sz="3200" dirty="0"/>
              <a:t>is planned based on </a:t>
            </a:r>
            <a:r>
              <a:rPr lang="en-US" sz="3200" b="1" dirty="0"/>
              <a:t>what society wants</a:t>
            </a:r>
            <a:r>
              <a:rPr lang="en-US" sz="3200" dirty="0"/>
              <a:t>.</a:t>
            </a:r>
          </a:p>
          <a:p>
            <a:pPr marL="0" lv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3389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2. Manpower Requirement </a:t>
            </a:r>
            <a:r>
              <a:rPr lang="en-US" b="1" dirty="0" smtClean="0">
                <a:solidFill>
                  <a:srgbClr val="FF0000"/>
                </a:solidFill>
              </a:rPr>
              <a:t>Approach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562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This </a:t>
            </a:r>
            <a:r>
              <a:rPr lang="en-US" sz="3600" dirty="0"/>
              <a:t>approach focuses on </a:t>
            </a:r>
            <a:r>
              <a:rPr lang="en-US" sz="3600" b="1" dirty="0"/>
              <a:t>skills needed in the job </a:t>
            </a:r>
            <a:r>
              <a:rPr lang="en-US" sz="3600" b="1" dirty="0" smtClean="0"/>
              <a:t>market</a:t>
            </a:r>
            <a:r>
              <a:rPr lang="en-US" sz="3600" dirty="0" smtClean="0"/>
              <a:t>.</a:t>
            </a:r>
          </a:p>
          <a:p>
            <a:r>
              <a:rPr lang="en-US" sz="2400" dirty="0" smtClean="0"/>
              <a:t>Education </a:t>
            </a:r>
            <a:r>
              <a:rPr lang="en-US" sz="2400" dirty="0"/>
              <a:t>is planned based on: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/>
              <a:t>Labor market needs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/>
              <a:t>Economic development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400" dirty="0"/>
              <a:t>Required skills and professionals </a:t>
            </a:r>
          </a:p>
          <a:p>
            <a:r>
              <a:rPr lang="en-US" sz="3600" dirty="0" smtClean="0"/>
              <a:t>Education </a:t>
            </a:r>
            <a:r>
              <a:rPr lang="en-US" sz="3600" dirty="0"/>
              <a:t>should produce </a:t>
            </a:r>
            <a:r>
              <a:rPr lang="en-US" sz="3600" b="1" dirty="0"/>
              <a:t>workers needed by the economy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32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3. Education-Output Ratio Approach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0768" y="1786436"/>
            <a:ext cx="9690463" cy="435133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This </a:t>
            </a:r>
            <a:r>
              <a:rPr lang="en-US" sz="2800" dirty="0"/>
              <a:t>approach connects </a:t>
            </a:r>
            <a:r>
              <a:rPr lang="en-US" sz="2800" b="1" dirty="0"/>
              <a:t>education to national production</a:t>
            </a:r>
            <a:r>
              <a:rPr lang="en-US" sz="2800" dirty="0"/>
              <a:t>.</a:t>
            </a:r>
          </a:p>
          <a:p>
            <a:r>
              <a:rPr lang="en-US" sz="2800" dirty="0"/>
              <a:t>It looks at: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/>
              <a:t>Number of educated people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/>
              <a:t>Economic output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/>
              <a:t>Production of goods and services </a:t>
            </a:r>
          </a:p>
          <a:p>
            <a:r>
              <a:rPr lang="en-US" sz="2800" dirty="0" smtClean="0"/>
              <a:t>More </a:t>
            </a:r>
            <a:r>
              <a:rPr lang="en-US" sz="2800" dirty="0"/>
              <a:t>education should lead to </a:t>
            </a:r>
            <a:r>
              <a:rPr lang="en-US" sz="2800" b="1" dirty="0"/>
              <a:t>more national production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94239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834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4. Rate of Return Approach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834" y="1895883"/>
            <a:ext cx="10515600" cy="4962117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Education </a:t>
            </a:r>
            <a:r>
              <a:rPr lang="en-US" sz="3600" dirty="0"/>
              <a:t>is treated like an </a:t>
            </a:r>
            <a:r>
              <a:rPr lang="en-US" sz="3600" b="1" dirty="0"/>
              <a:t>investment</a:t>
            </a:r>
            <a:r>
              <a:rPr lang="en-US" sz="3600" dirty="0"/>
              <a:t>.</a:t>
            </a:r>
          </a:p>
          <a:p>
            <a:r>
              <a:rPr lang="en-US" sz="3600" dirty="0"/>
              <a:t>Resources are allocated based on </a:t>
            </a:r>
            <a:r>
              <a:rPr lang="en-US" sz="3600" b="1" dirty="0"/>
              <a:t>profit or benefits from education</a:t>
            </a:r>
            <a:r>
              <a:rPr lang="en-US" sz="3600" dirty="0"/>
              <a:t>.</a:t>
            </a:r>
          </a:p>
          <a:p>
            <a:r>
              <a:rPr lang="en-US" sz="3600" dirty="0" smtClean="0"/>
              <a:t>Invest </a:t>
            </a:r>
            <a:r>
              <a:rPr lang="en-US" sz="3600" dirty="0"/>
              <a:t>in education that gives the highest returns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7710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83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</a:t>
            </a:r>
            <a:r>
              <a:rPr lang="en-US" b="1" dirty="0">
                <a:solidFill>
                  <a:srgbClr val="FF0000"/>
                </a:solidFill>
              </a:rPr>
              <a:t> Aggregate Method </a:t>
            </a:r>
            <a:r>
              <a:rPr lang="en-US" b="1" dirty="0" smtClean="0">
                <a:solidFill>
                  <a:srgbClr val="FF0000"/>
                </a:solidFill>
              </a:rPr>
              <a:t>Approach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7206" y="1980475"/>
            <a:ext cx="10515600" cy="496211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This </a:t>
            </a:r>
            <a:r>
              <a:rPr lang="en-US" sz="3200" dirty="0"/>
              <a:t>approach looks at </a:t>
            </a:r>
            <a:r>
              <a:rPr lang="en-US" sz="3200" b="1" dirty="0"/>
              <a:t>overall education needs of society</a:t>
            </a:r>
            <a:r>
              <a:rPr lang="en-US" sz="3200" dirty="0"/>
              <a:t>.</a:t>
            </a:r>
          </a:p>
          <a:p>
            <a:r>
              <a:rPr lang="en-US" sz="3200" dirty="0"/>
              <a:t>It considers: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GNP(Gross National Product) spent on education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Public expenditure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School enrollment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Population </a:t>
            </a:r>
          </a:p>
          <a:p>
            <a:r>
              <a:rPr lang="en-US" sz="3200" dirty="0" smtClean="0"/>
              <a:t>Education </a:t>
            </a:r>
            <a:r>
              <a:rPr lang="en-US" sz="3200" dirty="0"/>
              <a:t>is planned based on </a:t>
            </a:r>
            <a:r>
              <a:rPr lang="en-US" sz="3200" b="1" dirty="0"/>
              <a:t>national development patterns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1792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5936"/>
            <a:ext cx="10922726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6. Comprehensive Approach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This </a:t>
            </a:r>
            <a:r>
              <a:rPr lang="en-US" sz="2800" dirty="0"/>
              <a:t>approach combines </a:t>
            </a:r>
            <a:r>
              <a:rPr lang="en-US" sz="2800" b="1" dirty="0"/>
              <a:t>education with economic and social development</a:t>
            </a:r>
            <a:r>
              <a:rPr lang="en-US" sz="2800" dirty="0"/>
              <a:t>.</a:t>
            </a:r>
          </a:p>
          <a:p>
            <a:r>
              <a:rPr lang="en-US" sz="2800" dirty="0"/>
              <a:t>It considers: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/>
              <a:t>Employment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/>
              <a:t>Health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/>
              <a:t>Training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/>
              <a:t>Economic growth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dirty="0"/>
              <a:t>Social goals </a:t>
            </a:r>
          </a:p>
          <a:p>
            <a:r>
              <a:rPr lang="en-US" sz="2800" dirty="0" smtClean="0"/>
              <a:t>Education </a:t>
            </a:r>
            <a:r>
              <a:rPr lang="en-US" sz="2800" dirty="0"/>
              <a:t>planning should work with </a:t>
            </a:r>
            <a:r>
              <a:rPr lang="en-US" sz="2800" b="1" dirty="0"/>
              <a:t>all development sectors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13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Models of Educational Planning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Meaning </a:t>
            </a:r>
            <a:r>
              <a:rPr lang="en-US" sz="2800" b="1" dirty="0"/>
              <a:t>of Educational Planning Models</a:t>
            </a:r>
            <a:endParaRPr lang="en-US" sz="2800" dirty="0"/>
          </a:p>
          <a:p>
            <a:r>
              <a:rPr lang="en-US" sz="2800" dirty="0"/>
              <a:t>Models are </a:t>
            </a:r>
            <a:r>
              <a:rPr lang="en-US" sz="2800" b="1" dirty="0"/>
              <a:t>systems used to organize and guide educational planning</a:t>
            </a:r>
            <a:r>
              <a:rPr lang="en-US" sz="2800" dirty="0"/>
              <a:t>.</a:t>
            </a:r>
          </a:p>
          <a:p>
            <a:r>
              <a:rPr lang="en-US" sz="2800" dirty="0"/>
              <a:t>They help to: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/>
              <a:t>Describe education systems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/>
              <a:t>Explain relationships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/>
              <a:t>Predict future results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Guide decision making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9720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343" y="-457200"/>
            <a:ext cx="10058400" cy="145075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Educational Planning Models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1297093"/>
            <a:ext cx="10058400" cy="4023360"/>
          </a:xfrm>
        </p:spPr>
        <p:txBody>
          <a:bodyPr>
            <a:noAutofit/>
          </a:bodyPr>
          <a:lstStyle/>
          <a:p>
            <a:r>
              <a:rPr lang="en-US" sz="2400" b="1" dirty="0"/>
              <a:t>1. Comprehensive Planning Model (CPM)</a:t>
            </a:r>
            <a:endParaRPr lang="en-US" sz="2400" dirty="0"/>
          </a:p>
          <a:p>
            <a:r>
              <a:rPr lang="en-US" sz="2400" dirty="0" smtClean="0"/>
              <a:t>This </a:t>
            </a:r>
            <a:r>
              <a:rPr lang="en-US" sz="2400" dirty="0"/>
              <a:t>model looks at the </a:t>
            </a:r>
            <a:r>
              <a:rPr lang="en-US" sz="2400" b="1" dirty="0"/>
              <a:t>whole education system</a:t>
            </a:r>
            <a:r>
              <a:rPr lang="en-US" sz="2400" dirty="0"/>
              <a:t>.</a:t>
            </a:r>
          </a:p>
          <a:p>
            <a:r>
              <a:rPr lang="en-US" sz="2400" dirty="0"/>
              <a:t>It focuses on: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Goals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Economic development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Social development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/>
              <a:t>Long-term planning </a:t>
            </a:r>
          </a:p>
          <a:p>
            <a:r>
              <a:rPr lang="en-US" sz="2400" dirty="0" smtClean="0"/>
              <a:t>Plan </a:t>
            </a:r>
            <a:r>
              <a:rPr lang="en-US" sz="2400" dirty="0"/>
              <a:t>the entire education system together.</a:t>
            </a:r>
          </a:p>
          <a:p>
            <a:r>
              <a:rPr lang="en-US" sz="2400" b="1" dirty="0"/>
              <a:t>Use</a:t>
            </a:r>
            <a:endParaRPr lang="en-US" sz="2400" dirty="0"/>
          </a:p>
          <a:p>
            <a:pPr lvl="0"/>
            <a:r>
              <a:rPr lang="en-US" sz="2400" dirty="0"/>
              <a:t>National education planning </a:t>
            </a:r>
          </a:p>
          <a:p>
            <a:pPr lvl="0"/>
            <a:r>
              <a:rPr lang="en-US" sz="2400" dirty="0"/>
              <a:t>Long-term development </a:t>
            </a:r>
          </a:p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503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343" y="-457200"/>
            <a:ext cx="10058400" cy="145075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Educational Planning Models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3" y="1101150"/>
            <a:ext cx="10058400" cy="4023360"/>
          </a:xfrm>
        </p:spPr>
        <p:txBody>
          <a:bodyPr>
            <a:noAutofit/>
          </a:bodyPr>
          <a:lstStyle/>
          <a:p>
            <a:r>
              <a:rPr lang="en-US" sz="3200" b="1" dirty="0"/>
              <a:t>2. Target Setting Model</a:t>
            </a:r>
            <a:endParaRPr lang="en-US" sz="3200" dirty="0"/>
          </a:p>
          <a:p>
            <a:r>
              <a:rPr lang="en-US" sz="3200" dirty="0" smtClean="0"/>
              <a:t>This </a:t>
            </a:r>
            <a:r>
              <a:rPr lang="en-US" sz="3200" dirty="0"/>
              <a:t>model focuses on </a:t>
            </a:r>
            <a:r>
              <a:rPr lang="en-US" sz="3200" b="1" dirty="0"/>
              <a:t>setting future targets</a:t>
            </a:r>
            <a:r>
              <a:rPr lang="en-US" sz="3200" dirty="0"/>
              <a:t>.</a:t>
            </a:r>
          </a:p>
          <a:p>
            <a:r>
              <a:rPr lang="en-US" sz="3200" dirty="0"/>
              <a:t>It uses: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Population data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Enrollment projections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Labor needs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000" dirty="0"/>
              <a:t>Economic goals </a:t>
            </a:r>
          </a:p>
          <a:p>
            <a:r>
              <a:rPr lang="en-US" sz="3200" dirty="0"/>
              <a:t>Set clear targets for education growth.</a:t>
            </a:r>
          </a:p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10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343" y="-457200"/>
            <a:ext cx="10058400" cy="145075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Educational Planning Models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3" y="1101150"/>
            <a:ext cx="10058400" cy="4751010"/>
          </a:xfrm>
        </p:spPr>
        <p:txBody>
          <a:bodyPr>
            <a:noAutofit/>
          </a:bodyPr>
          <a:lstStyle/>
          <a:p>
            <a:r>
              <a:rPr lang="en-US" sz="3200" b="1" dirty="0"/>
              <a:t>3. Costing and Cost-Effectiveness Model</a:t>
            </a:r>
            <a:endParaRPr lang="en-US" sz="3200" dirty="0"/>
          </a:p>
          <a:p>
            <a:r>
              <a:rPr lang="en-US" sz="3200" dirty="0" smtClean="0"/>
              <a:t>This </a:t>
            </a:r>
            <a:r>
              <a:rPr lang="en-US" sz="3200" dirty="0"/>
              <a:t>model focuses on </a:t>
            </a:r>
            <a:r>
              <a:rPr lang="en-US" sz="3200" b="1" dirty="0"/>
              <a:t>cost and benefits of education projects</a:t>
            </a:r>
            <a:r>
              <a:rPr lang="en-US" sz="3200" dirty="0"/>
              <a:t>.</a:t>
            </a:r>
          </a:p>
          <a:p>
            <a:r>
              <a:rPr lang="en-US" sz="3200" dirty="0"/>
              <a:t>It helps to: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2800" dirty="0"/>
              <a:t>Compare projects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2800" dirty="0"/>
              <a:t>Choose the best project 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2800" dirty="0"/>
              <a:t>Use resources wisely </a:t>
            </a:r>
          </a:p>
          <a:p>
            <a:r>
              <a:rPr lang="en-US" sz="3200" dirty="0" smtClean="0"/>
              <a:t>Choose </a:t>
            </a:r>
            <a:r>
              <a:rPr lang="en-US" sz="3200" dirty="0"/>
              <a:t>projects where </a:t>
            </a:r>
            <a:r>
              <a:rPr lang="en-US" sz="3200" b="1" dirty="0"/>
              <a:t>benefits are greater than costs</a:t>
            </a:r>
            <a:r>
              <a:rPr lang="en-US" sz="3200" dirty="0"/>
              <a:t>.</a:t>
            </a:r>
          </a:p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06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343" y="-457200"/>
            <a:ext cx="10058400" cy="145075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Types of Educational Planning Models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3" y="1269032"/>
            <a:ext cx="10058400" cy="4751010"/>
          </a:xfrm>
        </p:spPr>
        <p:txBody>
          <a:bodyPr>
            <a:noAutofit/>
          </a:bodyPr>
          <a:lstStyle/>
          <a:p>
            <a:r>
              <a:rPr lang="en-US" sz="2400" b="1" dirty="0"/>
              <a:t>4. Black Box Model</a:t>
            </a:r>
            <a:endParaRPr lang="en-US" sz="2400" dirty="0"/>
          </a:p>
          <a:p>
            <a:r>
              <a:rPr lang="en-US" sz="2400" dirty="0" smtClean="0"/>
              <a:t>This </a:t>
            </a:r>
            <a:r>
              <a:rPr lang="en-US" sz="2400" dirty="0"/>
              <a:t>model focuses on:</a:t>
            </a:r>
          </a:p>
          <a:p>
            <a:r>
              <a:rPr lang="en-US" sz="2400" dirty="0"/>
              <a:t>Input → Process → </a:t>
            </a:r>
            <a:r>
              <a:rPr lang="en-US" sz="2400" dirty="0" smtClean="0"/>
              <a:t>Output</a:t>
            </a:r>
            <a:endParaRPr lang="en-US" sz="2400" dirty="0"/>
          </a:p>
          <a:p>
            <a:r>
              <a:rPr lang="en-US" sz="2400" b="1" dirty="0" smtClean="0"/>
              <a:t>Structure</a:t>
            </a:r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dirty="0"/>
          </a:p>
          <a:p>
            <a:r>
              <a:rPr lang="en-US" sz="2400" dirty="0" smtClean="0"/>
              <a:t>Education </a:t>
            </a:r>
            <a:r>
              <a:rPr lang="en-US" sz="2400" dirty="0"/>
              <a:t>transforms learners into skilled graduates.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201784" y="3592287"/>
            <a:ext cx="2220685" cy="16197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2060"/>
                </a:solidFill>
              </a:rPr>
              <a:t>Input: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Students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Teachers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Resources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Time </a:t>
            </a:r>
          </a:p>
          <a:p>
            <a:pPr algn="ctr"/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794069" y="3592287"/>
            <a:ext cx="2220685" cy="16197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002060"/>
                </a:solidFill>
              </a:rPr>
              <a:t>Process: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Teaching and learning </a:t>
            </a:r>
          </a:p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523516" y="3592287"/>
            <a:ext cx="2220685" cy="16197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2060"/>
                </a:solidFill>
              </a:rPr>
              <a:t>Process: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dirty="0"/>
              <a:t>Teaching and learning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09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132" y="2611936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THE END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3129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</TotalTime>
  <Words>523</Words>
  <Application>Microsoft Office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GROUP 1</vt:lpstr>
      <vt:lpstr>Meaning of Educational Planning</vt:lpstr>
      <vt:lpstr>Approaches to Educational Planning</vt:lpstr>
      <vt:lpstr>2. Manpower Requirement Approach</vt:lpstr>
      <vt:lpstr>3. Education-Output Ratio Approach</vt:lpstr>
      <vt:lpstr>4. Rate of Return Approach</vt:lpstr>
      <vt:lpstr>5. Aggregate Method Approach</vt:lpstr>
      <vt:lpstr>6. Comprehensive Approach</vt:lpstr>
      <vt:lpstr>Models of Educational Planning</vt:lpstr>
      <vt:lpstr>Types of Educational Planning Models</vt:lpstr>
      <vt:lpstr>Types of Educational Planning Models</vt:lpstr>
      <vt:lpstr>Types of Educational Planning Models</vt:lpstr>
      <vt:lpstr>Types of Educational Planning Models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DUNCAN</dc:creator>
  <cp:lastModifiedBy>DUNCAN</cp:lastModifiedBy>
  <cp:revision>12</cp:revision>
  <dcterms:created xsi:type="dcterms:W3CDTF">2025-12-04T11:45:41Z</dcterms:created>
  <dcterms:modified xsi:type="dcterms:W3CDTF">2026-04-09T06:53:22Z</dcterms:modified>
</cp:coreProperties>
</file>