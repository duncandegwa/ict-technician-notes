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4" r:id="rId2"/>
    <p:sldId id="256" r:id="rId3"/>
    <p:sldId id="272" r:id="rId4"/>
    <p:sldId id="273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71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B520A-1FCA-4037-949E-D77156967E4F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7F254-85B1-4DAC-A555-7E9BDA56046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5795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B520A-1FCA-4037-949E-D77156967E4F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7F254-85B1-4DAC-A555-7E9BDA5604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379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B520A-1FCA-4037-949E-D77156967E4F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7F254-85B1-4DAC-A555-7E9BDA56046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5901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B520A-1FCA-4037-949E-D77156967E4F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7F254-85B1-4DAC-A555-7E9BDA5604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809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B520A-1FCA-4037-949E-D77156967E4F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7F254-85B1-4DAC-A555-7E9BDA5604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309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B520A-1FCA-4037-949E-D77156967E4F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7F254-85B1-4DAC-A555-7E9BDA5604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231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B520A-1FCA-4037-949E-D77156967E4F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7F254-85B1-4DAC-A555-7E9BDA5604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764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F6B520A-1FCA-4037-949E-D77156967E4F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E7F254-85B1-4DAC-A555-7E9BDA5604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699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B520A-1FCA-4037-949E-D77156967E4F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7F254-85B1-4DAC-A555-7E9BDA5604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228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B520A-1FCA-4037-949E-D77156967E4F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7F254-85B1-4DAC-A555-7E9BDA5604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776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B520A-1FCA-4037-949E-D77156967E4F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7F254-85B1-4DAC-A555-7E9BDA5604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939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F6B520A-1FCA-4037-949E-D77156967E4F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AE7F254-85B1-4DAC-A555-7E9BDA560469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66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b="1" dirty="0" smtClean="0"/>
          </a:p>
          <a:p>
            <a:pPr marL="0" indent="0" algn="ctr">
              <a:buNone/>
            </a:pPr>
            <a:r>
              <a:rPr lang="en-US" b="1" dirty="0" smtClean="0"/>
              <a:t>PGDE </a:t>
            </a:r>
            <a:r>
              <a:rPr lang="en-US" b="1" dirty="0"/>
              <a:t>COHORT TEN </a:t>
            </a:r>
            <a:endParaRPr lang="en-US" b="1" dirty="0" smtClean="0"/>
          </a:p>
          <a:p>
            <a:pPr algn="ctr"/>
            <a:r>
              <a:rPr lang="en-US" b="1" dirty="0"/>
              <a:t>EDU 6203 </a:t>
            </a:r>
            <a:endParaRPr lang="en-US" b="1" dirty="0" smtClean="0"/>
          </a:p>
          <a:p>
            <a:pPr algn="ctr"/>
            <a:r>
              <a:rPr lang="en-US" b="1" dirty="0" smtClean="0"/>
              <a:t>EDUCATIONAL </a:t>
            </a:r>
            <a:r>
              <a:rPr lang="en-US" b="1" dirty="0"/>
              <a:t>MANAGEMENT, PLANNING AND </a:t>
            </a:r>
            <a:r>
              <a:rPr lang="en-US" b="1" dirty="0" smtClean="0"/>
              <a:t>ECONOMICS</a:t>
            </a:r>
          </a:p>
          <a:p>
            <a:pPr algn="ctr"/>
            <a:endParaRPr lang="en-US" b="1" dirty="0" smtClean="0"/>
          </a:p>
          <a:p>
            <a:pPr algn="ctr"/>
            <a:endParaRPr lang="en-US" b="1" dirty="0"/>
          </a:p>
          <a:p>
            <a:pPr algn="ctr"/>
            <a:r>
              <a:rPr lang="en-US" b="1" i="1" dirty="0" smtClean="0">
                <a:solidFill>
                  <a:srgbClr val="FF0000"/>
                </a:solidFill>
              </a:rPr>
              <a:t>LESSON 12: LEADING ECONOMIC ISSUES OF BASIC CONCERN</a:t>
            </a:r>
            <a:endParaRPr lang="en-US" i="1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4045435" y="535205"/>
            <a:ext cx="3317358" cy="1222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7003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80754" y="-993820"/>
            <a:ext cx="9144000" cy="23876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GROUP 1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3188" y="1789613"/>
            <a:ext cx="9144000" cy="3043644"/>
          </a:xfrm>
        </p:spPr>
        <p:txBody>
          <a:bodyPr>
            <a:normAutofit/>
          </a:bodyPr>
          <a:lstStyle/>
          <a:p>
            <a:pPr marL="457200" indent="-457200" algn="just">
              <a:buAutoNum type="arabicPeriod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Martha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Okaru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			- </a:t>
            </a:r>
            <a:r>
              <a:rPr lang="en-GB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E228-01-2963/2025</a:t>
            </a:r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AutoNum type="arabicPeriod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Priscilla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Kipng'ok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		- E228-01-2958/2025</a:t>
            </a:r>
          </a:p>
          <a:p>
            <a:pPr marL="457200" indent="-457200" algn="just">
              <a:buAutoNum type="arabicPeriod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Duncan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Ndegwa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			- E228-01-2866/2024</a:t>
            </a:r>
          </a:p>
          <a:p>
            <a:pPr marL="457200" indent="-457200" algn="just">
              <a:buAutoNum type="arabicPeriod" startAt="4"/>
            </a:pP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Veronicah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Jebet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Tambutwa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	- E228-01-3015/2025 </a:t>
            </a:r>
          </a:p>
          <a:p>
            <a:pPr marL="457200" indent="-457200" algn="just">
              <a:buAutoNum type="arabicPeriod" startAt="4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Brian D.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Imoh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			- E228-01-2965/2025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203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/>
            <a:r>
              <a:rPr lang="en-US" sz="2800" dirty="0" smtClean="0"/>
              <a:t>The </a:t>
            </a:r>
            <a:r>
              <a:rPr lang="en-US" sz="2800" dirty="0"/>
              <a:t>economic status of a country directly affects its education system. </a:t>
            </a:r>
            <a:endParaRPr lang="en-US" sz="2400" dirty="0"/>
          </a:p>
          <a:p>
            <a:pPr lvl="0"/>
            <a:r>
              <a:rPr lang="en-US" sz="2800" dirty="0"/>
              <a:t>A strong economy leads to: </a:t>
            </a:r>
            <a:endParaRPr lang="en-US" sz="2400" dirty="0"/>
          </a:p>
          <a:p>
            <a:pPr lvl="1"/>
            <a:r>
              <a:rPr lang="en-US" sz="2400" dirty="0"/>
              <a:t>Better school infrastructure </a:t>
            </a:r>
            <a:endParaRPr lang="en-US" sz="2000" dirty="0"/>
          </a:p>
          <a:p>
            <a:pPr lvl="1"/>
            <a:r>
              <a:rPr lang="en-US" sz="2400" dirty="0"/>
              <a:t>Availability of learning materials </a:t>
            </a:r>
            <a:endParaRPr lang="en-US" sz="2000" dirty="0"/>
          </a:p>
          <a:p>
            <a:pPr lvl="1"/>
            <a:r>
              <a:rPr lang="en-US" sz="2400" dirty="0"/>
              <a:t>Improved teacher salaries </a:t>
            </a:r>
            <a:endParaRPr lang="en-US" sz="2000" dirty="0"/>
          </a:p>
          <a:p>
            <a:pPr lvl="0"/>
            <a:r>
              <a:rPr lang="en-US" sz="2800" dirty="0"/>
              <a:t>A weak economy results in: </a:t>
            </a:r>
            <a:endParaRPr lang="en-US" sz="2400" dirty="0"/>
          </a:p>
          <a:p>
            <a:pPr lvl="1"/>
            <a:r>
              <a:rPr lang="en-US" sz="2400" dirty="0"/>
              <a:t>Budget cuts </a:t>
            </a:r>
            <a:endParaRPr lang="en-US" sz="2000" dirty="0"/>
          </a:p>
          <a:p>
            <a:pPr lvl="1"/>
            <a:r>
              <a:rPr lang="en-US" sz="2400" dirty="0"/>
              <a:t>Limited resources </a:t>
            </a:r>
            <a:endParaRPr lang="en-US" sz="2000" dirty="0"/>
          </a:p>
          <a:p>
            <a:pPr lvl="1"/>
            <a:r>
              <a:rPr lang="en-US" sz="2400" dirty="0"/>
              <a:t>Reduced quality of education </a:t>
            </a:r>
            <a:endParaRPr lang="en-US" sz="2000" dirty="0"/>
          </a:p>
          <a:p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927463" y="260477"/>
            <a:ext cx="10816046" cy="1450757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FF0000"/>
                </a:solidFill>
              </a:rPr>
              <a:t>Relationship Between Economy and Education</a:t>
            </a:r>
            <a:endParaRPr 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5702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Leading Economic Issues in </a:t>
            </a:r>
            <a:r>
              <a:rPr lang="en-US" b="1" dirty="0" smtClean="0">
                <a:solidFill>
                  <a:srgbClr val="FF0000"/>
                </a:solidFill>
              </a:rPr>
              <a:t>Education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293809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a</a:t>
            </a:r>
            <a:r>
              <a:rPr lang="en-US" sz="3200" b="1" dirty="0"/>
              <a:t>) Insufficient Funding</a:t>
            </a:r>
            <a:endParaRPr lang="en-US" sz="2400" dirty="0"/>
          </a:p>
          <a:p>
            <a:pPr lvl="0"/>
            <a:r>
              <a:rPr lang="en-US" sz="3200" dirty="0"/>
              <a:t>Government funding is often inadequate </a:t>
            </a:r>
            <a:endParaRPr lang="en-US" sz="2800" dirty="0"/>
          </a:p>
          <a:p>
            <a:pPr lvl="0"/>
            <a:r>
              <a:rPr lang="en-US" sz="3200" dirty="0"/>
              <a:t>Leads to: </a:t>
            </a:r>
            <a:endParaRPr lang="en-US" sz="2800" dirty="0"/>
          </a:p>
          <a:p>
            <a:pPr lvl="1"/>
            <a:r>
              <a:rPr lang="en-US" sz="2800" dirty="0"/>
              <a:t>Overcrowded classrooms </a:t>
            </a:r>
            <a:endParaRPr lang="en-US" sz="2400" dirty="0"/>
          </a:p>
          <a:p>
            <a:pPr lvl="1"/>
            <a:r>
              <a:rPr lang="en-US" sz="2800" dirty="0"/>
              <a:t>Poor infrastructure </a:t>
            </a:r>
            <a:endParaRPr lang="en-US" sz="2400" dirty="0"/>
          </a:p>
          <a:p>
            <a:pPr lvl="1"/>
            <a:r>
              <a:rPr lang="en-US" sz="2800" dirty="0"/>
              <a:t>Lack of teaching materials </a:t>
            </a:r>
            <a:endParaRPr lang="en-US" sz="2400" dirty="0"/>
          </a:p>
          <a:p>
            <a:r>
              <a:rPr lang="en-US" sz="3200" dirty="0"/>
              <a:t>Affects overall quality of education 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2333899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Leading Economic Issues in </a:t>
            </a:r>
            <a:r>
              <a:rPr lang="en-US" b="1" dirty="0" smtClean="0">
                <a:solidFill>
                  <a:srgbClr val="FF0000"/>
                </a:solidFill>
              </a:rPr>
              <a:t>Education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293809"/>
          </a:xfrm>
        </p:spPr>
        <p:txBody>
          <a:bodyPr>
            <a:noAutofit/>
          </a:bodyPr>
          <a:lstStyle/>
          <a:p>
            <a:r>
              <a:rPr lang="en-US" sz="3200" b="1" dirty="0"/>
              <a:t>b) High Cost of Education</a:t>
            </a:r>
            <a:endParaRPr lang="en-US" sz="2400" dirty="0"/>
          </a:p>
          <a:p>
            <a:pPr lvl="0"/>
            <a:r>
              <a:rPr lang="en-US" sz="3200" dirty="0"/>
              <a:t>Expenses include: </a:t>
            </a:r>
            <a:endParaRPr lang="en-US" sz="2800" dirty="0"/>
          </a:p>
          <a:p>
            <a:pPr lvl="1"/>
            <a:r>
              <a:rPr lang="en-US" sz="2800" dirty="0"/>
              <a:t>School fees </a:t>
            </a:r>
            <a:endParaRPr lang="en-US" sz="2400" dirty="0"/>
          </a:p>
          <a:p>
            <a:pPr lvl="1"/>
            <a:r>
              <a:rPr lang="en-US" sz="2800" dirty="0"/>
              <a:t>Uniforms </a:t>
            </a:r>
            <a:endParaRPr lang="en-US" sz="2400" dirty="0"/>
          </a:p>
          <a:p>
            <a:pPr lvl="1"/>
            <a:r>
              <a:rPr lang="en-US" sz="2800" dirty="0"/>
              <a:t>Textbooks </a:t>
            </a:r>
            <a:endParaRPr lang="en-US" sz="2400" dirty="0"/>
          </a:p>
          <a:p>
            <a:pPr lvl="0"/>
            <a:r>
              <a:rPr lang="en-US" sz="3200" dirty="0"/>
              <a:t>Effects: </a:t>
            </a:r>
            <a:endParaRPr lang="en-US" sz="2800" dirty="0"/>
          </a:p>
          <a:p>
            <a:pPr lvl="1"/>
            <a:r>
              <a:rPr lang="en-US" sz="2800" dirty="0"/>
              <a:t>Financial burden on families </a:t>
            </a:r>
            <a:endParaRPr lang="en-US" sz="2400" dirty="0"/>
          </a:p>
          <a:p>
            <a:pPr lvl="1"/>
            <a:r>
              <a:rPr lang="en-US" sz="2800" dirty="0"/>
              <a:t>Increased dropout rates </a:t>
            </a:r>
            <a:endParaRPr lang="en-US" sz="2400" dirty="0"/>
          </a:p>
          <a:p>
            <a:pPr lvl="1"/>
            <a:r>
              <a:rPr lang="en-US" sz="2800" dirty="0"/>
              <a:t>Limited access to education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39387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Leading Economic Issues in </a:t>
            </a:r>
            <a:r>
              <a:rPr lang="en-US" b="1" dirty="0" smtClean="0">
                <a:solidFill>
                  <a:srgbClr val="FF0000"/>
                </a:solidFill>
              </a:rPr>
              <a:t>Education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293809"/>
          </a:xfrm>
        </p:spPr>
        <p:txBody>
          <a:bodyPr>
            <a:noAutofit/>
          </a:bodyPr>
          <a:lstStyle/>
          <a:p>
            <a:r>
              <a:rPr lang="en-US" sz="4000" b="1" dirty="0"/>
              <a:t>c) Regional Disparities</a:t>
            </a:r>
            <a:endParaRPr lang="en-US" sz="3200" dirty="0"/>
          </a:p>
          <a:p>
            <a:pPr lvl="0"/>
            <a:r>
              <a:rPr lang="en-US" sz="4000" dirty="0"/>
              <a:t>Unequal distribution of resources: </a:t>
            </a:r>
            <a:endParaRPr lang="en-US" sz="3600" dirty="0"/>
          </a:p>
          <a:p>
            <a:pPr lvl="1"/>
            <a:r>
              <a:rPr lang="en-US" sz="3600" b="1" dirty="0"/>
              <a:t>Urban schools</a:t>
            </a:r>
            <a:r>
              <a:rPr lang="en-US" sz="3600" dirty="0"/>
              <a:t> → better facilities and teachers </a:t>
            </a:r>
            <a:endParaRPr lang="en-US" sz="3200" dirty="0"/>
          </a:p>
          <a:p>
            <a:pPr lvl="1"/>
            <a:r>
              <a:rPr lang="en-US" sz="3600" b="1" dirty="0"/>
              <a:t>Rural areas</a:t>
            </a:r>
            <a:r>
              <a:rPr lang="en-US" sz="3600" dirty="0"/>
              <a:t> → limited resources and poor infrastructure </a:t>
            </a:r>
            <a:endParaRPr lang="en-US" sz="3200" dirty="0"/>
          </a:p>
          <a:p>
            <a:pPr lvl="0"/>
            <a:r>
              <a:rPr lang="en-US" sz="4000" dirty="0"/>
              <a:t>Leads to inequality in education quality 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1279474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Leading Economic Issues in </a:t>
            </a:r>
            <a:r>
              <a:rPr lang="en-US" b="1" dirty="0" smtClean="0">
                <a:solidFill>
                  <a:srgbClr val="FF0000"/>
                </a:solidFill>
              </a:rPr>
              <a:t>Education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293809"/>
          </a:xfrm>
        </p:spPr>
        <p:txBody>
          <a:bodyPr>
            <a:noAutofit/>
          </a:bodyPr>
          <a:lstStyle/>
          <a:p>
            <a:r>
              <a:rPr lang="en-US" sz="3200" b="1" dirty="0"/>
              <a:t>d) Teacher Shortage and Quality</a:t>
            </a:r>
            <a:endParaRPr lang="en-US" sz="2400" dirty="0"/>
          </a:p>
          <a:p>
            <a:pPr lvl="0"/>
            <a:r>
              <a:rPr lang="en-US" sz="3200" dirty="0"/>
              <a:t>Shortage of qualified teachers, especially in rural areas </a:t>
            </a:r>
            <a:endParaRPr lang="en-US" sz="2800" dirty="0"/>
          </a:p>
          <a:p>
            <a:pPr lvl="0"/>
            <a:r>
              <a:rPr lang="en-US" sz="3200" dirty="0"/>
              <a:t>Causes: </a:t>
            </a:r>
            <a:endParaRPr lang="en-US" sz="2800" dirty="0"/>
          </a:p>
          <a:p>
            <a:pPr lvl="1"/>
            <a:r>
              <a:rPr lang="en-US" sz="2800" dirty="0"/>
              <a:t>Low salaries </a:t>
            </a:r>
            <a:endParaRPr lang="en-US" sz="2400" dirty="0"/>
          </a:p>
          <a:p>
            <a:pPr lvl="1"/>
            <a:r>
              <a:rPr lang="en-US" sz="2800" dirty="0"/>
              <a:t>Poor motivation </a:t>
            </a:r>
            <a:endParaRPr lang="en-US" sz="2400" dirty="0"/>
          </a:p>
          <a:p>
            <a:pPr lvl="0"/>
            <a:r>
              <a:rPr lang="en-US" sz="3200" dirty="0"/>
              <a:t>Issues: </a:t>
            </a:r>
            <a:endParaRPr lang="en-US" sz="2800" dirty="0"/>
          </a:p>
          <a:p>
            <a:pPr lvl="1"/>
            <a:r>
              <a:rPr lang="en-US" sz="2800" dirty="0"/>
              <a:t>Poor teaching quality </a:t>
            </a:r>
            <a:endParaRPr lang="en-US" sz="2400" dirty="0"/>
          </a:p>
          <a:p>
            <a:pPr lvl="1"/>
            <a:r>
              <a:rPr lang="en-US" sz="2800" dirty="0"/>
              <a:t>Ineffective learning outcomes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51869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Leading Economic Issues in </a:t>
            </a:r>
            <a:r>
              <a:rPr lang="en-US" b="1" dirty="0" smtClean="0">
                <a:solidFill>
                  <a:srgbClr val="FF0000"/>
                </a:solidFill>
              </a:rPr>
              <a:t>Education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293809"/>
          </a:xfrm>
        </p:spPr>
        <p:txBody>
          <a:bodyPr>
            <a:noAutofit/>
          </a:bodyPr>
          <a:lstStyle/>
          <a:p>
            <a:r>
              <a:rPr lang="en-US" sz="3200" b="1" dirty="0"/>
              <a:t>e) Poor Infrastructure and Facilities</a:t>
            </a:r>
            <a:endParaRPr lang="en-US" sz="2400" dirty="0"/>
          </a:p>
          <a:p>
            <a:pPr lvl="0"/>
            <a:r>
              <a:rPr lang="en-US" sz="3200" dirty="0"/>
              <a:t>Lack of: </a:t>
            </a:r>
            <a:endParaRPr lang="en-US" sz="2800" dirty="0"/>
          </a:p>
          <a:p>
            <a:pPr lvl="1"/>
            <a:r>
              <a:rPr lang="en-US" sz="2800" dirty="0"/>
              <a:t>Classrooms </a:t>
            </a:r>
            <a:endParaRPr lang="en-US" sz="2400" dirty="0"/>
          </a:p>
          <a:p>
            <a:pPr lvl="1"/>
            <a:r>
              <a:rPr lang="en-US" sz="2800" dirty="0"/>
              <a:t>Laboratories </a:t>
            </a:r>
            <a:endParaRPr lang="en-US" sz="2400" dirty="0"/>
          </a:p>
          <a:p>
            <a:pPr lvl="1"/>
            <a:r>
              <a:rPr lang="en-US" sz="2800" dirty="0"/>
              <a:t>Libraries </a:t>
            </a:r>
            <a:endParaRPr lang="en-US" sz="2400" dirty="0"/>
          </a:p>
          <a:p>
            <a:pPr lvl="0"/>
            <a:r>
              <a:rPr lang="en-US" sz="3200" dirty="0"/>
              <a:t>Results in: </a:t>
            </a:r>
            <a:endParaRPr lang="en-US" sz="2800" dirty="0"/>
          </a:p>
          <a:p>
            <a:pPr lvl="1"/>
            <a:r>
              <a:rPr lang="en-US" sz="2800" dirty="0"/>
              <a:t>Unconducive learning environment </a:t>
            </a:r>
            <a:endParaRPr lang="en-US" sz="2400" dirty="0"/>
          </a:p>
          <a:p>
            <a:pPr lvl="1"/>
            <a:r>
              <a:rPr lang="en-US" sz="2800" dirty="0"/>
              <a:t>Difficulty in delivering quality education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752455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Leading Economic Issues in </a:t>
            </a:r>
            <a:r>
              <a:rPr lang="en-US" b="1" dirty="0" smtClean="0">
                <a:solidFill>
                  <a:srgbClr val="FF0000"/>
                </a:solidFill>
              </a:rPr>
              <a:t>Education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293809"/>
          </a:xfrm>
        </p:spPr>
        <p:txBody>
          <a:bodyPr>
            <a:noAutofit/>
          </a:bodyPr>
          <a:lstStyle/>
          <a:p>
            <a:r>
              <a:rPr lang="en-US" sz="4000" b="1" dirty="0"/>
              <a:t>f) Limited Access to Technology</a:t>
            </a:r>
            <a:endParaRPr lang="en-US" sz="3200" dirty="0"/>
          </a:p>
          <a:p>
            <a:pPr lvl="0"/>
            <a:r>
              <a:rPr lang="en-US" sz="4000" dirty="0"/>
              <a:t>Many schools lack: </a:t>
            </a:r>
            <a:endParaRPr lang="en-US" sz="3600" dirty="0"/>
          </a:p>
          <a:p>
            <a:pPr lvl="1"/>
            <a:r>
              <a:rPr lang="en-US" sz="3600" dirty="0"/>
              <a:t>Computers </a:t>
            </a:r>
            <a:endParaRPr lang="en-US" sz="3200" dirty="0"/>
          </a:p>
          <a:p>
            <a:pPr lvl="1"/>
            <a:r>
              <a:rPr lang="en-US" sz="3600" dirty="0"/>
              <a:t>Internet access </a:t>
            </a:r>
            <a:endParaRPr lang="en-US" sz="3200" dirty="0"/>
          </a:p>
          <a:p>
            <a:pPr lvl="0"/>
            <a:r>
              <a:rPr lang="en-US" sz="4000" dirty="0"/>
              <a:t>Leads to: </a:t>
            </a:r>
            <a:endParaRPr lang="en-US" sz="3600" dirty="0"/>
          </a:p>
          <a:p>
            <a:pPr lvl="1"/>
            <a:r>
              <a:rPr lang="en-US" sz="3600" dirty="0"/>
              <a:t>Digital divide </a:t>
            </a:r>
            <a:endParaRPr lang="en-US" sz="3200" dirty="0"/>
          </a:p>
          <a:p>
            <a:pPr lvl="1"/>
            <a:r>
              <a:rPr lang="en-US" sz="3600" dirty="0"/>
              <a:t>Limited exposure to ICT skills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3110853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Leading Economic Issues in </a:t>
            </a:r>
            <a:r>
              <a:rPr lang="en-US" b="1" dirty="0" smtClean="0">
                <a:solidFill>
                  <a:srgbClr val="FF0000"/>
                </a:solidFill>
              </a:rPr>
              <a:t>Education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293809"/>
          </a:xfrm>
        </p:spPr>
        <p:txBody>
          <a:bodyPr>
            <a:noAutofit/>
          </a:bodyPr>
          <a:lstStyle/>
          <a:p>
            <a:r>
              <a:rPr lang="en-US" sz="4000" b="1" dirty="0"/>
              <a:t>g) Underinvestment in Research and Development</a:t>
            </a:r>
            <a:endParaRPr lang="en-US" sz="3200" dirty="0"/>
          </a:p>
          <a:p>
            <a:pPr lvl="0"/>
            <a:r>
              <a:rPr lang="en-US" sz="4000" dirty="0"/>
              <a:t>Low funding for educational research </a:t>
            </a:r>
            <a:endParaRPr lang="en-US" sz="3600" dirty="0"/>
          </a:p>
          <a:p>
            <a:pPr lvl="0"/>
            <a:r>
              <a:rPr lang="en-US" sz="4000" dirty="0"/>
              <a:t>Effects: </a:t>
            </a:r>
            <a:endParaRPr lang="en-US" sz="3600" dirty="0"/>
          </a:p>
          <a:p>
            <a:pPr lvl="1"/>
            <a:r>
              <a:rPr lang="en-US" sz="3600" dirty="0"/>
              <a:t>Poor policy decisions </a:t>
            </a:r>
            <a:endParaRPr lang="en-US" sz="3200" dirty="0"/>
          </a:p>
          <a:p>
            <a:pPr lvl="1"/>
            <a:r>
              <a:rPr lang="en-US" sz="3600" dirty="0"/>
              <a:t>Lack of innovation in education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2784066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Leading Economic Issues in </a:t>
            </a:r>
            <a:r>
              <a:rPr lang="en-US" b="1" dirty="0" smtClean="0">
                <a:solidFill>
                  <a:srgbClr val="FF0000"/>
                </a:solidFill>
              </a:rPr>
              <a:t>Education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293809"/>
          </a:xfrm>
        </p:spPr>
        <p:txBody>
          <a:bodyPr>
            <a:noAutofit/>
          </a:bodyPr>
          <a:lstStyle/>
          <a:p>
            <a:r>
              <a:rPr lang="en-US" sz="3600" b="1" dirty="0"/>
              <a:t>h) Poverty and Income Inequality</a:t>
            </a:r>
            <a:endParaRPr lang="en-US" sz="2800" dirty="0"/>
          </a:p>
          <a:p>
            <a:pPr lvl="0"/>
            <a:r>
              <a:rPr lang="en-US" sz="3600" dirty="0"/>
              <a:t>Many families cannot afford education </a:t>
            </a:r>
            <a:endParaRPr lang="en-US" sz="3200" dirty="0"/>
          </a:p>
          <a:p>
            <a:pPr lvl="0"/>
            <a:r>
              <a:rPr lang="en-US" sz="3600" dirty="0"/>
              <a:t>Wide gap between rich and poor </a:t>
            </a:r>
            <a:endParaRPr lang="en-US" sz="3200" dirty="0"/>
          </a:p>
          <a:p>
            <a:pPr lvl="0"/>
            <a:r>
              <a:rPr lang="en-US" sz="3600" dirty="0"/>
              <a:t>Effects: </a:t>
            </a:r>
            <a:endParaRPr lang="en-US" sz="3200" dirty="0"/>
          </a:p>
          <a:p>
            <a:pPr lvl="1"/>
            <a:r>
              <a:rPr lang="en-US" sz="3200" dirty="0"/>
              <a:t>Unequal access to quality education </a:t>
            </a:r>
            <a:endParaRPr lang="en-US" sz="3200" dirty="0"/>
          </a:p>
          <a:p>
            <a:pPr lvl="1"/>
            <a:r>
              <a:rPr lang="en-US" sz="3200" dirty="0" smtClean="0"/>
              <a:t>Increased </a:t>
            </a:r>
            <a:r>
              <a:rPr lang="en-US" sz="3200" dirty="0"/>
              <a:t>dropout rates 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40728434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6132" y="2611936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THE END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131294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94</TotalTime>
  <Words>352</Words>
  <Application>Microsoft Office PowerPoint</Application>
  <PresentationFormat>Widescreen</PresentationFormat>
  <Paragraphs>87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Calibri</vt:lpstr>
      <vt:lpstr>Calibri Light</vt:lpstr>
      <vt:lpstr>Times New Roman</vt:lpstr>
      <vt:lpstr>Retrospect</vt:lpstr>
      <vt:lpstr>PowerPoint Presentation</vt:lpstr>
      <vt:lpstr>GROUP 1</vt:lpstr>
      <vt:lpstr>Relationship Between Economy and Education</vt:lpstr>
      <vt:lpstr>Leading Economic Issues in Education</vt:lpstr>
      <vt:lpstr>Leading Economic Issues in Education</vt:lpstr>
      <vt:lpstr>Leading Economic Issues in Education</vt:lpstr>
      <vt:lpstr>Leading Economic Issues in Education</vt:lpstr>
      <vt:lpstr>Leading Economic Issues in Education</vt:lpstr>
      <vt:lpstr>Leading Economic Issues in Education</vt:lpstr>
      <vt:lpstr>Leading Economic Issues in Education</vt:lpstr>
      <vt:lpstr>Leading Economic Issues in Education</vt:lpstr>
      <vt:lpstr>THE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DUNCAN</dc:creator>
  <cp:lastModifiedBy>DUNCAN</cp:lastModifiedBy>
  <cp:revision>14</cp:revision>
  <dcterms:created xsi:type="dcterms:W3CDTF">2025-12-04T11:45:41Z</dcterms:created>
  <dcterms:modified xsi:type="dcterms:W3CDTF">2026-04-30T11:58:13Z</dcterms:modified>
</cp:coreProperties>
</file>