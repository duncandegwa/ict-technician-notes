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405" r:id="rId2"/>
    <p:sldId id="416" r:id="rId3"/>
    <p:sldId id="421" r:id="rId4"/>
    <p:sldId id="413" r:id="rId5"/>
    <p:sldId id="414" r:id="rId6"/>
    <p:sldId id="415" r:id="rId7"/>
    <p:sldId id="418" r:id="rId8"/>
    <p:sldId id="419" r:id="rId9"/>
    <p:sldId id="420" r:id="rId10"/>
    <p:sldId id="417" r:id="rId11"/>
    <p:sldId id="424" r:id="rId12"/>
    <p:sldId id="422" r:id="rId13"/>
    <p:sldId id="423" r:id="rId14"/>
    <p:sldId id="425" r:id="rId15"/>
    <p:sldId id="334" r:id="rId16"/>
    <p:sldId id="335" r:id="rId17"/>
    <p:sldId id="336" r:id="rId18"/>
    <p:sldId id="386" r:id="rId19"/>
    <p:sldId id="272" r:id="rId20"/>
    <p:sldId id="273" r:id="rId21"/>
    <p:sldId id="337" r:id="rId22"/>
    <p:sldId id="412" r:id="rId23"/>
    <p:sldId id="411" r:id="rId24"/>
    <p:sldId id="338" r:id="rId25"/>
    <p:sldId id="339" r:id="rId26"/>
    <p:sldId id="382" r:id="rId27"/>
    <p:sldId id="383" r:id="rId28"/>
    <p:sldId id="384" r:id="rId29"/>
    <p:sldId id="385" r:id="rId30"/>
    <p:sldId id="340" r:id="rId31"/>
    <p:sldId id="387" r:id="rId32"/>
    <p:sldId id="388" r:id="rId33"/>
    <p:sldId id="389" r:id="rId34"/>
    <p:sldId id="394" r:id="rId35"/>
    <p:sldId id="393" r:id="rId36"/>
    <p:sldId id="390" r:id="rId37"/>
    <p:sldId id="392" r:id="rId38"/>
    <p:sldId id="391" r:id="rId39"/>
    <p:sldId id="276" r:id="rId40"/>
    <p:sldId id="260" r:id="rId41"/>
    <p:sldId id="261" r:id="rId42"/>
    <p:sldId id="263" r:id="rId43"/>
    <p:sldId id="262" r:id="rId44"/>
    <p:sldId id="265" r:id="rId45"/>
    <p:sldId id="266" r:id="rId46"/>
    <p:sldId id="267" r:id="rId47"/>
    <p:sldId id="268" r:id="rId48"/>
    <p:sldId id="274" r:id="rId49"/>
    <p:sldId id="258" r:id="rId50"/>
    <p:sldId id="270" r:id="rId51"/>
    <p:sldId id="259" r:id="rId52"/>
    <p:sldId id="294" r:id="rId53"/>
    <p:sldId id="295" r:id="rId54"/>
    <p:sldId id="297" r:id="rId55"/>
    <p:sldId id="298" r:id="rId56"/>
    <p:sldId id="277" r:id="rId57"/>
    <p:sldId id="278" r:id="rId58"/>
    <p:sldId id="406" r:id="rId59"/>
    <p:sldId id="279" r:id="rId60"/>
    <p:sldId id="280" r:id="rId61"/>
    <p:sldId id="281" r:id="rId62"/>
    <p:sldId id="282" r:id="rId63"/>
    <p:sldId id="285" r:id="rId64"/>
    <p:sldId id="286" r:id="rId65"/>
    <p:sldId id="283" r:id="rId66"/>
    <p:sldId id="284" r:id="rId67"/>
    <p:sldId id="288" r:id="rId68"/>
    <p:sldId id="289" r:id="rId69"/>
    <p:sldId id="290" r:id="rId70"/>
    <p:sldId id="407" r:id="rId71"/>
    <p:sldId id="291" r:id="rId72"/>
    <p:sldId id="292" r:id="rId73"/>
    <p:sldId id="408" r:id="rId74"/>
    <p:sldId id="395" r:id="rId75"/>
    <p:sldId id="287" r:id="rId76"/>
    <p:sldId id="396" r:id="rId77"/>
    <p:sldId id="397" r:id="rId78"/>
    <p:sldId id="398" r:id="rId79"/>
    <p:sldId id="399" r:id="rId80"/>
    <p:sldId id="400" r:id="rId81"/>
    <p:sldId id="401" r:id="rId82"/>
    <p:sldId id="409" r:id="rId83"/>
    <p:sldId id="402" r:id="rId84"/>
    <p:sldId id="403" r:id="rId85"/>
    <p:sldId id="404" r:id="rId86"/>
    <p:sldId id="410"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45" autoAdjust="0"/>
    <p:restoredTop sz="94660"/>
  </p:normalViewPr>
  <p:slideViewPr>
    <p:cSldViewPr snapToGrid="0">
      <p:cViewPr varScale="1">
        <p:scale>
          <a:sx n="72" d="100"/>
          <a:sy n="72" d="100"/>
        </p:scale>
        <p:origin x="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A592B4D-2237-49A9-B014-3979C3AF1CEB}"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2859DE-148B-4449-8E56-D7A8A96DF42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A592B4D-2237-49A9-B014-3979C3AF1CEB}"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2859DE-148B-4449-8E56-D7A8A96DF42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A592B4D-2237-49A9-B014-3979C3AF1CEB}"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2859DE-148B-4449-8E56-D7A8A96DF42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A592B4D-2237-49A9-B014-3979C3AF1CEB}"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2859DE-148B-4449-8E56-D7A8A96DF42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A592B4D-2237-49A9-B014-3979C3AF1CEB}"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42859DE-148B-4449-8E56-D7A8A96DF42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A592B4D-2237-49A9-B014-3979C3AF1CEB}"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42859DE-148B-4449-8E56-D7A8A96DF42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592B4D-2237-49A9-B014-3979C3AF1CEB}"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42859DE-148B-4449-8E56-D7A8A96DF42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A592B4D-2237-49A9-B014-3979C3AF1CEB}"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2859DE-148B-4449-8E56-D7A8A96DF42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A592B4D-2237-49A9-B014-3979C3AF1CEB}"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2859DE-148B-4449-8E56-D7A8A96DF42E}"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A592B4D-2237-49A9-B014-3979C3AF1CEB}"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2859DE-148B-4449-8E56-D7A8A96DF42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A592B4D-2237-49A9-B014-3979C3AF1CEB}"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2859DE-148B-4449-8E56-D7A8A96DF42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592B4D-2237-49A9-B014-3979C3AF1CEB}" type="datetimeFigureOut">
              <a:rPr lang="en-US" smtClean="0"/>
              <a:t>3/17/2026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2859DE-148B-4449-8E56-D7A8A96DF42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youtube.be/vizSn5-uZng" TargetMode="External"/><Relationship Id="rId2" Type="http://schemas.openxmlformats.org/officeDocument/2006/relationships/hyperlink" Target="https://youtu.be/NmoNjmWt2Ws?t=16" TargetMode="External"/><Relationship Id="rId1" Type="http://schemas.openxmlformats.org/officeDocument/2006/relationships/slideLayout" Target="../slideLayouts/slideLayout2.xml"/><Relationship Id="rId4" Type="http://schemas.openxmlformats.org/officeDocument/2006/relationships/hyperlink" Target="https://youtu.be/FV5Y1LOt6O8?t=6"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youtu.be/Q0CsZM8MXec?t=28" TargetMode="External"/><Relationship Id="rId2" Type="http://schemas.openxmlformats.org/officeDocument/2006/relationships/hyperlink" Target="https://youtu.be/FMLFXG5J3K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youtu.be/NmoNjmWt2Ws"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     </a:t>
            </a:r>
            <a:r>
              <a:rPr lang="en-US" sz="4000" b="1" dirty="0">
                <a:solidFill>
                  <a:srgbClr val="FF0000"/>
                </a:solidFill>
              </a:rPr>
              <a:t>DEPARTMENT OF TECHNOLOGY EDUCATION</a:t>
            </a:r>
          </a:p>
        </p:txBody>
      </p:sp>
      <p:sp>
        <p:nvSpPr>
          <p:cNvPr id="3" name="Content Placeholder 2"/>
          <p:cNvSpPr>
            <a:spLocks noGrp="1"/>
          </p:cNvSpPr>
          <p:nvPr>
            <p:ph idx="1"/>
          </p:nvPr>
        </p:nvSpPr>
        <p:spPr/>
        <p:txBody>
          <a:bodyPr/>
          <a:lstStyle/>
          <a:p>
            <a:pPr marL="0" indent="0">
              <a:buNone/>
            </a:pPr>
            <a:r>
              <a:rPr lang="en-US" dirty="0"/>
              <a:t> </a:t>
            </a:r>
          </a:p>
          <a:p>
            <a:pPr marL="0" indent="0">
              <a:buNone/>
            </a:pPr>
            <a:r>
              <a:rPr lang="en-US" b="1" dirty="0"/>
              <a:t>          </a:t>
            </a:r>
            <a:r>
              <a:rPr lang="en-US" b="1" dirty="0" smtClean="0">
                <a:solidFill>
                  <a:srgbClr val="FF0000"/>
                </a:solidFill>
              </a:rPr>
              <a:t>SOCIOLOGY </a:t>
            </a:r>
            <a:r>
              <a:rPr lang="en-US" b="1" dirty="0">
                <a:solidFill>
                  <a:srgbClr val="FF0000"/>
                </a:solidFill>
              </a:rPr>
              <a:t>OF EDUCATION AND COMPARATIVE EDUCATION</a:t>
            </a:r>
          </a:p>
          <a:p>
            <a:pPr marL="0" indent="0">
              <a:buNone/>
            </a:pPr>
            <a:r>
              <a:rPr lang="en-US" b="1" dirty="0" smtClean="0"/>
              <a:t> </a:t>
            </a:r>
            <a:r>
              <a:rPr lang="en-US" b="1" dirty="0" smtClean="0"/>
              <a:t>                        </a:t>
            </a:r>
            <a:r>
              <a:rPr lang="en-US" b="1" dirty="0" smtClean="0">
                <a:solidFill>
                  <a:schemeClr val="accent1"/>
                </a:solidFill>
              </a:rPr>
              <a:t>COHORT </a:t>
            </a:r>
            <a:r>
              <a:rPr lang="en-US" b="1" dirty="0" smtClean="0">
                <a:solidFill>
                  <a:schemeClr val="accent1"/>
                </a:solidFill>
              </a:rPr>
              <a:t>TEN      FEB 2026 - MAY 2026</a:t>
            </a:r>
            <a:endParaRPr lang="en-US" b="1" dirty="0">
              <a:solidFill>
                <a:schemeClr val="accent1"/>
              </a:solidFill>
            </a:endParaRPr>
          </a:p>
          <a:p>
            <a:pPr marL="0" indent="0">
              <a:buNone/>
            </a:pPr>
            <a:r>
              <a:rPr lang="en-US" b="1" dirty="0">
                <a:solidFill>
                  <a:srgbClr val="00B050"/>
                </a:solidFill>
              </a:rPr>
              <a:t>                      SOCIOLOGY OF EDUCATION </a:t>
            </a:r>
            <a:r>
              <a:rPr lang="en-US" b="1" dirty="0" smtClean="0">
                <a:solidFill>
                  <a:srgbClr val="00B050"/>
                </a:solidFill>
              </a:rPr>
              <a:t>SECTION</a:t>
            </a:r>
          </a:p>
          <a:p>
            <a:pPr marL="0" indent="0">
              <a:buNone/>
            </a:pPr>
            <a:r>
              <a:rPr lang="en-US" b="1" dirty="0">
                <a:solidFill>
                  <a:srgbClr val="00B050"/>
                </a:solidFill>
              </a:rPr>
              <a:t> </a:t>
            </a:r>
            <a:r>
              <a:rPr lang="en-US" b="1" dirty="0" smtClean="0">
                <a:solidFill>
                  <a:srgbClr val="00B050"/>
                </a:solidFill>
              </a:rPr>
              <a:t>                            LECTURER Dr. </a:t>
            </a:r>
            <a:r>
              <a:rPr lang="en-US" b="1" dirty="0" err="1" smtClean="0">
                <a:solidFill>
                  <a:srgbClr val="00B050"/>
                </a:solidFill>
              </a:rPr>
              <a:t>Gatembu</a:t>
            </a:r>
            <a:r>
              <a:rPr lang="en-US" b="1" dirty="0" smtClean="0">
                <a:solidFill>
                  <a:srgbClr val="00B050"/>
                </a:solidFill>
              </a:rPr>
              <a:t> R. M.</a:t>
            </a:r>
            <a:endParaRPr lang="en-US" b="1" dirty="0">
              <a:solidFill>
                <a:srgbClr val="00B050"/>
              </a:solidFill>
            </a:endParaRPr>
          </a:p>
          <a:p>
            <a:pPr marL="0" indent="0">
              <a:buNone/>
            </a:pPr>
            <a:r>
              <a:rPr lang="en-US" b="1" dirty="0"/>
              <a:t>                          </a:t>
            </a:r>
          </a:p>
          <a:p>
            <a:pPr marL="0" indent="0">
              <a:buNone/>
            </a:pPr>
            <a:r>
              <a:rPr lang="en-US" b="1" dirty="0"/>
              <a:t>                         </a:t>
            </a:r>
            <a:r>
              <a:rPr lang="en-US" b="1" dirty="0">
                <a:solidFill>
                  <a:srgbClr val="002060"/>
                </a:solidFill>
              </a:rPr>
              <a:t>LESSON ONE AND 2 TEACHING SLIDES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err="1" smtClean="0">
                <a:solidFill>
                  <a:schemeClr val="accent2"/>
                </a:solidFill>
              </a:rPr>
              <a:t>Resourses</a:t>
            </a:r>
            <a:endParaRPr lang="en-US" sz="6000" b="1" dirty="0">
              <a:solidFill>
                <a:schemeClr val="accent2"/>
              </a:solidFill>
            </a:endParaRPr>
          </a:p>
        </p:txBody>
      </p:sp>
      <p:sp>
        <p:nvSpPr>
          <p:cNvPr id="3" name="Content Placeholder 2"/>
          <p:cNvSpPr>
            <a:spLocks noGrp="1"/>
          </p:cNvSpPr>
          <p:nvPr>
            <p:ph idx="1"/>
          </p:nvPr>
        </p:nvSpPr>
        <p:spPr/>
        <p:txBody>
          <a:bodyPr>
            <a:normAutofit/>
          </a:bodyPr>
          <a:lstStyle/>
          <a:p>
            <a:r>
              <a:rPr lang="en-US" dirty="0" smtClean="0"/>
              <a:t>Course </a:t>
            </a:r>
            <a:r>
              <a:rPr lang="en-US" dirty="0" err="1" smtClean="0"/>
              <a:t>Outline,Internet</a:t>
            </a:r>
            <a:r>
              <a:rPr lang="en-US" dirty="0" smtClean="0"/>
              <a:t>-based </a:t>
            </a:r>
            <a:r>
              <a:rPr lang="en-US" dirty="0"/>
              <a:t>readings, Open Educational Resources (OER), articles, eBooks, YouTube videos, recorded lectures, interactive quizzes, slide presentations, case studies. Computer, Smartphone</a:t>
            </a:r>
            <a:r>
              <a:rPr lang="en-US" dirty="0" smtClean="0"/>
              <a:t>.</a:t>
            </a:r>
          </a:p>
          <a:p>
            <a:r>
              <a:rPr lang="en-US" dirty="0" err="1" smtClean="0"/>
              <a:t>Boronski</a:t>
            </a:r>
            <a:r>
              <a:rPr lang="en-US" dirty="0"/>
              <a:t>, T., &amp; Hassan </a:t>
            </a:r>
            <a:r>
              <a:rPr lang="en-US" dirty="0" err="1"/>
              <a:t>Nasima</a:t>
            </a:r>
            <a:r>
              <a:rPr lang="en-US" dirty="0"/>
              <a:t>. (2018). Sociology of Education. London: Sage</a:t>
            </a:r>
          </a:p>
          <a:p>
            <a:r>
              <a:rPr lang="en-US" dirty="0" err="1"/>
              <a:t>Kibera</a:t>
            </a:r>
            <a:r>
              <a:rPr lang="en-US" dirty="0"/>
              <a:t>, L., &amp; </a:t>
            </a:r>
            <a:r>
              <a:rPr lang="en-US" dirty="0" err="1"/>
              <a:t>Kimokoti</a:t>
            </a:r>
            <a:r>
              <a:rPr lang="en-US" dirty="0"/>
              <a:t>. (2014). Fundamentals of Sociology with Reference to Africa. Nairobi: University of Nairobi Press.</a:t>
            </a:r>
          </a:p>
          <a:p>
            <a:r>
              <a:rPr lang="en-US" dirty="0"/>
              <a:t>Kombo, K. (2005). Sociology of Education. Nairobi: Ad print.</a:t>
            </a:r>
          </a:p>
          <a:p>
            <a:endParaRPr lang="en-US" dirty="0"/>
          </a:p>
          <a:p>
            <a:endParaRPr lang="en-US" dirty="0"/>
          </a:p>
        </p:txBody>
      </p:sp>
    </p:spTree>
    <p:extLst>
      <p:ext uri="{BB962C8B-B14F-4D97-AF65-F5344CB8AC3E}">
        <p14:creationId xmlns:p14="http://schemas.microsoft.com/office/powerpoint/2010/main" val="1879575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2"/>
                </a:solidFill>
              </a:rPr>
              <a:t>What is in the course outline for Sociology of Education</a:t>
            </a:r>
            <a:endParaRPr lang="en-US" dirty="0">
              <a:solidFill>
                <a:schemeClr val="accent2"/>
              </a:solidFill>
            </a:endParaRPr>
          </a:p>
        </p:txBody>
      </p:sp>
      <p:sp>
        <p:nvSpPr>
          <p:cNvPr id="3" name="Content Placeholder 2"/>
          <p:cNvSpPr>
            <a:spLocks noGrp="1"/>
          </p:cNvSpPr>
          <p:nvPr>
            <p:ph idx="1"/>
          </p:nvPr>
        </p:nvSpPr>
        <p:spPr/>
        <p:txBody>
          <a:bodyPr/>
          <a:lstStyle/>
          <a:p>
            <a:r>
              <a:rPr lang="en-US" dirty="0" smtClean="0"/>
              <a:t>Lets see from the word Sociology-Sociology of Education</a:t>
            </a:r>
          </a:p>
          <a:p>
            <a:r>
              <a:rPr lang="en-US" dirty="0" smtClean="0"/>
              <a:t>Find attached course outline</a:t>
            </a:r>
            <a:endParaRPr lang="en-US" dirty="0"/>
          </a:p>
        </p:txBody>
      </p:sp>
    </p:spTree>
    <p:extLst>
      <p:ext uri="{BB962C8B-B14F-4D97-AF65-F5344CB8AC3E}">
        <p14:creationId xmlns:p14="http://schemas.microsoft.com/office/powerpoint/2010/main" val="3297839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We want to find out  -;</a:t>
            </a:r>
            <a:endParaRPr lang="en-US" dirty="0">
              <a:solidFill>
                <a:srgbClr val="FF0000"/>
              </a:solidFill>
            </a:endParaRPr>
          </a:p>
        </p:txBody>
      </p:sp>
      <p:sp>
        <p:nvSpPr>
          <p:cNvPr id="3" name="Content Placeholder 2"/>
          <p:cNvSpPr>
            <a:spLocks noGrp="1"/>
          </p:cNvSpPr>
          <p:nvPr>
            <p:ph idx="1"/>
          </p:nvPr>
        </p:nvSpPr>
        <p:spPr/>
        <p:txBody>
          <a:bodyPr/>
          <a:lstStyle/>
          <a:p>
            <a:pPr marL="0" indent="0">
              <a:buNone/>
            </a:pPr>
            <a:r>
              <a:rPr lang="en-US" dirty="0" smtClean="0">
                <a:solidFill>
                  <a:srgbClr val="FF0000"/>
                </a:solidFill>
              </a:rPr>
              <a:t>About;;;;;;;;;;;;;;;</a:t>
            </a:r>
          </a:p>
          <a:p>
            <a:pPr marL="0" indent="0">
              <a:buNone/>
            </a:pPr>
            <a:r>
              <a:rPr lang="en-US" dirty="0" smtClean="0">
                <a:solidFill>
                  <a:schemeClr val="accent1"/>
                </a:solidFill>
              </a:rPr>
              <a:t>a)The </a:t>
            </a:r>
            <a:r>
              <a:rPr lang="en-US" dirty="0">
                <a:solidFill>
                  <a:schemeClr val="accent1"/>
                </a:solidFill>
              </a:rPr>
              <a:t>origins of Sociology </a:t>
            </a:r>
          </a:p>
          <a:p>
            <a:pPr marL="0" indent="0">
              <a:buNone/>
            </a:pPr>
            <a:r>
              <a:rPr lang="en-US" dirty="0" smtClean="0">
                <a:solidFill>
                  <a:srgbClr val="FF0000"/>
                </a:solidFill>
              </a:rPr>
              <a:t>b)How sociology developed as a discipline of study</a:t>
            </a:r>
          </a:p>
          <a:p>
            <a:pPr marL="0" indent="0">
              <a:buNone/>
            </a:pPr>
            <a:r>
              <a:rPr lang="en-US" dirty="0" smtClean="0">
                <a:solidFill>
                  <a:schemeClr val="accent1"/>
                </a:solidFill>
              </a:rPr>
              <a:t>c)The reasons leading to the  </a:t>
            </a:r>
            <a:r>
              <a:rPr lang="en-US" dirty="0">
                <a:solidFill>
                  <a:schemeClr val="accent1"/>
                </a:solidFill>
              </a:rPr>
              <a:t>emergence of Sociology as a discipline </a:t>
            </a:r>
          </a:p>
          <a:p>
            <a:pPr marL="0" indent="0">
              <a:buNone/>
            </a:pPr>
            <a:r>
              <a:rPr lang="en-US" dirty="0" smtClean="0">
                <a:solidFill>
                  <a:srgbClr val="FF0000"/>
                </a:solidFill>
              </a:rPr>
              <a:t>d)The </a:t>
            </a:r>
            <a:r>
              <a:rPr lang="en-US" dirty="0">
                <a:solidFill>
                  <a:srgbClr val="FF0000"/>
                </a:solidFill>
              </a:rPr>
              <a:t>issues of concern in sociology</a:t>
            </a:r>
          </a:p>
        </p:txBody>
      </p:sp>
    </p:spTree>
    <p:extLst>
      <p:ext uri="{BB962C8B-B14F-4D97-AF65-F5344CB8AC3E}">
        <p14:creationId xmlns:p14="http://schemas.microsoft.com/office/powerpoint/2010/main" val="3206512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learner should be able to;-</a:t>
            </a:r>
            <a:endParaRPr lang="en-US" dirty="0"/>
          </a:p>
        </p:txBody>
      </p:sp>
      <p:sp>
        <p:nvSpPr>
          <p:cNvPr id="3" name="Content Placeholder 2"/>
          <p:cNvSpPr>
            <a:spLocks noGrp="1"/>
          </p:cNvSpPr>
          <p:nvPr>
            <p:ph idx="1"/>
          </p:nvPr>
        </p:nvSpPr>
        <p:spPr/>
        <p:txBody>
          <a:bodyPr/>
          <a:lstStyle/>
          <a:p>
            <a:pPr marL="514350" indent="-514350">
              <a:buFont typeface="+mj-lt"/>
              <a:buAutoNum type="alphaLcParenR"/>
            </a:pPr>
            <a:r>
              <a:rPr lang="en-US" dirty="0" smtClean="0"/>
              <a:t>Discuss </a:t>
            </a:r>
            <a:r>
              <a:rPr lang="en-US" dirty="0"/>
              <a:t>the origins of Sociology </a:t>
            </a:r>
          </a:p>
          <a:p>
            <a:pPr marL="514350" indent="-514350">
              <a:buFont typeface="+mj-lt"/>
              <a:buAutoNum type="alphaLcParenR"/>
            </a:pPr>
            <a:r>
              <a:rPr lang="en-US" dirty="0" smtClean="0"/>
              <a:t>Describe </a:t>
            </a:r>
            <a:r>
              <a:rPr lang="en-US" dirty="0"/>
              <a:t>the development of Sociology as a discipline</a:t>
            </a:r>
          </a:p>
          <a:p>
            <a:pPr marL="514350" indent="-514350">
              <a:buFont typeface="+mj-lt"/>
              <a:buAutoNum type="alphaLcParenR"/>
            </a:pPr>
            <a:r>
              <a:rPr lang="en-US" dirty="0" smtClean="0"/>
              <a:t>Explain </a:t>
            </a:r>
            <a:r>
              <a:rPr lang="en-US" dirty="0"/>
              <a:t>why sociology became prominent in the 19</a:t>
            </a:r>
            <a:r>
              <a:rPr lang="en-US" baseline="30000" dirty="0"/>
              <a:t>th</a:t>
            </a:r>
            <a:r>
              <a:rPr lang="en-US" dirty="0"/>
              <a:t> Century </a:t>
            </a:r>
          </a:p>
          <a:p>
            <a:pPr marL="514350" indent="-514350">
              <a:buFont typeface="+mj-lt"/>
              <a:buAutoNum type="alphaLcParenR"/>
            </a:pPr>
            <a:r>
              <a:rPr lang="en-US" dirty="0" smtClean="0"/>
              <a:t>Examine </a:t>
            </a:r>
            <a:r>
              <a:rPr lang="en-US" dirty="0"/>
              <a:t>the issues of concern in sociology</a:t>
            </a:r>
          </a:p>
          <a:p>
            <a:endParaRPr lang="en-US" dirty="0"/>
          </a:p>
        </p:txBody>
      </p:sp>
    </p:spTree>
    <p:extLst>
      <p:ext uri="{BB962C8B-B14F-4D97-AF65-F5344CB8AC3E}">
        <p14:creationId xmlns:p14="http://schemas.microsoft.com/office/powerpoint/2010/main" val="2265129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Lets listen to the following video;</a:t>
            </a:r>
          </a:p>
          <a:p>
            <a:r>
              <a:rPr lang="en-US" dirty="0" smtClean="0">
                <a:hlinkClick r:id="rId2"/>
              </a:rPr>
              <a:t>https</a:t>
            </a:r>
            <a:r>
              <a:rPr lang="en-US" dirty="0">
                <a:hlinkClick r:id="rId2"/>
              </a:rPr>
              <a:t>://</a:t>
            </a:r>
            <a:r>
              <a:rPr lang="en-US" dirty="0" smtClean="0">
                <a:hlinkClick r:id="rId2"/>
              </a:rPr>
              <a:t>youtu.be/NmoNjmWt2Ws?t=16</a:t>
            </a:r>
            <a:endParaRPr lang="en-US" dirty="0" smtClean="0"/>
          </a:p>
          <a:p>
            <a:endParaRPr lang="en-US" dirty="0"/>
          </a:p>
          <a:p>
            <a:r>
              <a:rPr lang="en-US" dirty="0" smtClean="0"/>
              <a:t>How was the world by then</a:t>
            </a:r>
          </a:p>
          <a:p>
            <a:r>
              <a:rPr lang="en-US" dirty="0" smtClean="0"/>
              <a:t>You remember the industrial </a:t>
            </a:r>
            <a:r>
              <a:rPr lang="en-US" dirty="0"/>
              <a:t>Revolution?  History in a Nutshell </a:t>
            </a:r>
            <a:r>
              <a:rPr lang="en-US" u="sng" dirty="0">
                <a:hlinkClick r:id="rId3"/>
              </a:rPr>
              <a:t>Https://youtube.be/vizSn5-uZng</a:t>
            </a:r>
            <a:r>
              <a:rPr lang="en-US" dirty="0" smtClean="0"/>
              <a:t>…………………</a:t>
            </a:r>
          </a:p>
          <a:p>
            <a:r>
              <a:rPr lang="en-US" u="sng" dirty="0" smtClean="0">
                <a:hlinkClick r:id="rId3"/>
              </a:rPr>
              <a:t>Lets listen to this;;;;;;;;;;;;;;;;;;;;;;;;;;;</a:t>
            </a:r>
          </a:p>
          <a:p>
            <a:r>
              <a:rPr lang="en-US" u="sng" dirty="0" smtClean="0">
                <a:hlinkClick r:id="rId3"/>
              </a:rPr>
              <a:t>Https</a:t>
            </a:r>
            <a:r>
              <a:rPr lang="en-US" u="sng" dirty="0">
                <a:hlinkClick r:id="rId3"/>
              </a:rPr>
              <a:t>://</a:t>
            </a:r>
            <a:r>
              <a:rPr lang="en-US" u="sng" dirty="0" smtClean="0">
                <a:hlinkClick r:id="rId3"/>
              </a:rPr>
              <a:t>youtube.be/vizSn5-uZng</a:t>
            </a:r>
            <a:endParaRPr lang="en-US" u="sng" dirty="0" smtClean="0"/>
          </a:p>
          <a:p>
            <a:r>
              <a:rPr lang="en-US" dirty="0">
                <a:hlinkClick r:id="rId4"/>
              </a:rPr>
              <a:t>https://</a:t>
            </a:r>
            <a:r>
              <a:rPr lang="en-US" dirty="0" smtClean="0">
                <a:hlinkClick r:id="rId4"/>
              </a:rPr>
              <a:t>youtu.be/FV5Y1LOt6O8?t=6</a:t>
            </a:r>
            <a:endParaRPr lang="en-US" dirty="0" smtClean="0"/>
          </a:p>
          <a:p>
            <a:r>
              <a:rPr lang="en-US" dirty="0"/>
              <a:t>https://youtu.be/vizSn5_uZNg?t=103</a:t>
            </a:r>
          </a:p>
        </p:txBody>
      </p:sp>
    </p:spTree>
    <p:extLst>
      <p:ext uri="{BB962C8B-B14F-4D97-AF65-F5344CB8AC3E}">
        <p14:creationId xmlns:p14="http://schemas.microsoft.com/office/powerpoint/2010/main" val="2612824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Life during the Industrial Revolution was a period of intense transformation, marked by a rapid shift from rural, agrarian life to crowded, industrial cities. While fostering technological innovation and creating a new middle class, it initially brought severe hardships for laborers, including long working hours (14–16 hours/day), dangerous conditions, widespread child labor, and unsanitary tenement housing. </a:t>
            </a:r>
          </a:p>
        </p:txBody>
      </p:sp>
    </p:spTree>
    <p:extLst>
      <p:ext uri="{BB962C8B-B14F-4D97-AF65-F5344CB8AC3E}">
        <p14:creationId xmlns:p14="http://schemas.microsoft.com/office/powerpoint/2010/main" val="3036156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a:t>Urbanization and Living Conditions:</a:t>
            </a:r>
            <a:r>
              <a:rPr lang="en-US" dirty="0"/>
              <a:t> People migrated from the countryside to rapidly growing cities, which were characterized by overcrowding, pollution, and high death rates. Living conditions were often unsanitary, with cramped housing.</a:t>
            </a:r>
          </a:p>
          <a:p>
            <a:r>
              <a:rPr lang="en-US" b="1" dirty="0"/>
              <a:t>Working Conditions:</a:t>
            </a:r>
            <a:r>
              <a:rPr lang="en-US" dirty="0"/>
              <a:t> Factory work replaced farming and artisan crafts. Laborers faced long hours, dangerous machinery, low wages, and strict regulations.</a:t>
            </a:r>
          </a:p>
          <a:p>
            <a:r>
              <a:rPr lang="en-US" b="1" dirty="0"/>
              <a:t>Family Structure:</a:t>
            </a:r>
            <a:r>
              <a:rPr lang="en-US" dirty="0"/>
              <a:t> Families were separated, as work moved away from the home, and all members, including women and young children, often had to work to survive.</a:t>
            </a:r>
          </a:p>
          <a:p>
            <a:endParaRPr lang="en-US" dirty="0"/>
          </a:p>
        </p:txBody>
      </p:sp>
    </p:spTree>
    <p:extLst>
      <p:ext uri="{BB962C8B-B14F-4D97-AF65-F5344CB8AC3E}">
        <p14:creationId xmlns:p14="http://schemas.microsoft.com/office/powerpoint/2010/main" val="2533354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Advancements and Changes:</a:t>
            </a:r>
            <a:r>
              <a:rPr lang="en-US" dirty="0"/>
              <a:t> Despite the hardships, the era saw the rise of modern comforts, improved transport (railways), and increased accessibility to goods due to mass production.</a:t>
            </a:r>
          </a:p>
          <a:p>
            <a:r>
              <a:rPr lang="en-US" b="1" dirty="0"/>
              <a:t>Social Change:</a:t>
            </a:r>
            <a:r>
              <a:rPr lang="en-US" dirty="0"/>
              <a:t> The hardships of workers led to the development of labor unions and labor movements, which eventually pushed for improved conditions and worker protections</a:t>
            </a:r>
            <a:r>
              <a:rPr lang="en-US" dirty="0" smtClean="0"/>
              <a:t>.</a:t>
            </a:r>
          </a:p>
          <a:p>
            <a:r>
              <a:rPr lang="en-US" b="1" dirty="0"/>
              <a:t>Daily life for workers</a:t>
            </a:r>
            <a:r>
              <a:rPr lang="en-US" dirty="0"/>
              <a:t> was often miserable, with poor nutrition and crowded housing, but for others, the era offered new forms of entertainment, such as theater and increased social interaction in cities</a:t>
            </a:r>
          </a:p>
        </p:txBody>
      </p:sp>
    </p:spTree>
    <p:extLst>
      <p:ext uri="{BB962C8B-B14F-4D97-AF65-F5344CB8AC3E}">
        <p14:creationId xmlns:p14="http://schemas.microsoft.com/office/powerpoint/2010/main" val="3741020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solidFill>
                  <a:schemeClr val="accent2"/>
                </a:solidFill>
              </a:rPr>
              <a:t>What </a:t>
            </a:r>
            <a:r>
              <a:rPr lang="en-US" dirty="0" smtClean="0">
                <a:solidFill>
                  <a:schemeClr val="accent2"/>
                </a:solidFill>
              </a:rPr>
              <a:t>about </a:t>
            </a:r>
            <a:r>
              <a:rPr lang="en-US" dirty="0">
                <a:solidFill>
                  <a:schemeClr val="accent2"/>
                </a:solidFill>
              </a:rPr>
              <a:t>the French </a:t>
            </a:r>
            <a:r>
              <a:rPr lang="en-US" dirty="0" smtClean="0">
                <a:solidFill>
                  <a:schemeClr val="accent2"/>
                </a:solidFill>
              </a:rPr>
              <a:t>Revolution?</a:t>
            </a:r>
          </a:p>
          <a:p>
            <a:r>
              <a:rPr lang="en-US" dirty="0" smtClean="0"/>
              <a:t> </a:t>
            </a:r>
            <a:r>
              <a:rPr lang="en-US" dirty="0"/>
              <a:t>H</a:t>
            </a:r>
            <a:r>
              <a:rPr lang="en-US" dirty="0" smtClean="0"/>
              <a:t>ow </a:t>
            </a:r>
            <a:r>
              <a:rPr lang="en-US" dirty="0"/>
              <a:t> </a:t>
            </a:r>
            <a:r>
              <a:rPr lang="en-US" dirty="0" smtClean="0"/>
              <a:t>did the Industrial and  </a:t>
            </a:r>
            <a:r>
              <a:rPr lang="en-US" dirty="0"/>
              <a:t>French revolution </a:t>
            </a:r>
            <a:r>
              <a:rPr lang="en-US" dirty="0" smtClean="0"/>
              <a:t>contribute </a:t>
            </a:r>
            <a:r>
              <a:rPr lang="en-US" dirty="0"/>
              <a:t>to development of Sociology as a discipline </a:t>
            </a:r>
            <a:endParaRPr lang="en-US" dirty="0" smtClean="0"/>
          </a:p>
          <a:p>
            <a:r>
              <a:rPr lang="en-US" dirty="0"/>
              <a:t>W</a:t>
            </a:r>
            <a:r>
              <a:rPr lang="en-US" dirty="0" smtClean="0"/>
              <a:t>hy </a:t>
            </a:r>
            <a:r>
              <a:rPr lang="en-US" dirty="0"/>
              <a:t>sociology became prominent in the 19</a:t>
            </a:r>
            <a:r>
              <a:rPr lang="en-US" baseline="30000" dirty="0"/>
              <a:t>th</a:t>
            </a:r>
            <a:r>
              <a:rPr lang="en-US" dirty="0"/>
              <a:t> </a:t>
            </a:r>
            <a:r>
              <a:rPr lang="en-US" dirty="0" smtClean="0"/>
              <a:t>century</a:t>
            </a:r>
          </a:p>
          <a:p>
            <a:r>
              <a:rPr lang="en-US" dirty="0" smtClean="0"/>
              <a:t>Can you </a:t>
            </a:r>
            <a:r>
              <a:rPr lang="en-US" dirty="0"/>
              <a:t>identify 5 problems facing your society and propose solutions using the knowledge gained from this </a:t>
            </a:r>
            <a:r>
              <a:rPr lang="en-US" dirty="0" smtClean="0"/>
              <a:t>discussion.</a:t>
            </a:r>
            <a:endParaRPr lang="en-US" dirty="0"/>
          </a:p>
          <a:p>
            <a:endParaRPr lang="en-US" dirty="0"/>
          </a:p>
        </p:txBody>
      </p:sp>
    </p:spTree>
    <p:extLst>
      <p:ext uri="{BB962C8B-B14F-4D97-AF65-F5344CB8AC3E}">
        <p14:creationId xmlns:p14="http://schemas.microsoft.com/office/powerpoint/2010/main" val="2514750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about Sociology of Education</a:t>
            </a:r>
            <a:endParaRPr lang="en-US" dirty="0"/>
          </a:p>
        </p:txBody>
      </p:sp>
      <p:sp>
        <p:nvSpPr>
          <p:cNvPr id="3" name="Content Placeholder 2"/>
          <p:cNvSpPr>
            <a:spLocks noGrp="1"/>
          </p:cNvSpPr>
          <p:nvPr>
            <p:ph idx="1"/>
          </p:nvPr>
        </p:nvSpPr>
        <p:spPr/>
        <p:txBody>
          <a:bodyPr/>
          <a:lstStyle/>
          <a:p>
            <a:pPr lvl="0"/>
            <a:r>
              <a:rPr lang="en-US" dirty="0"/>
              <a:t>Concept of Sociology of Education</a:t>
            </a:r>
          </a:p>
          <a:p>
            <a:pPr lvl="0"/>
            <a:r>
              <a:rPr lang="en-US" dirty="0"/>
              <a:t>Development of sociology of education as a discipline </a:t>
            </a:r>
          </a:p>
          <a:p>
            <a:pPr lvl="0"/>
            <a:r>
              <a:rPr lang="en-US" dirty="0"/>
              <a:t>The concerns of Sociology of Education</a:t>
            </a:r>
          </a:p>
          <a:p>
            <a:pPr lvl="0"/>
            <a:r>
              <a:rPr lang="en-US" dirty="0"/>
              <a:t>The essence of sociology of Education in teacher Education</a:t>
            </a:r>
          </a:p>
          <a:p>
            <a:endParaRPr lang="en-US" dirty="0"/>
          </a:p>
        </p:txBody>
      </p:sp>
    </p:spTree>
    <p:extLst>
      <p:ext uri="{BB962C8B-B14F-4D97-AF65-F5344CB8AC3E}">
        <p14:creationId xmlns:p14="http://schemas.microsoft.com/office/powerpoint/2010/main" val="4260427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By the end this discussion we expect you to be able to:</a:t>
            </a:r>
            <a:endParaRPr lang="en-US" dirty="0"/>
          </a:p>
        </p:txBody>
      </p:sp>
      <p:sp>
        <p:nvSpPr>
          <p:cNvPr id="3" name="Content Placeholder 2"/>
          <p:cNvSpPr>
            <a:spLocks noGrp="1"/>
          </p:cNvSpPr>
          <p:nvPr>
            <p:ph idx="1"/>
          </p:nvPr>
        </p:nvSpPr>
        <p:spPr/>
        <p:txBody>
          <a:bodyPr/>
          <a:lstStyle/>
          <a:p>
            <a:pPr lvl="0"/>
            <a:r>
              <a:rPr lang="en-US" dirty="0" smtClean="0"/>
              <a:t>Define </a:t>
            </a:r>
            <a:r>
              <a:rPr lang="en-US" dirty="0"/>
              <a:t>Sociology of Education</a:t>
            </a:r>
          </a:p>
          <a:p>
            <a:pPr lvl="0"/>
            <a:r>
              <a:rPr lang="en-US" dirty="0"/>
              <a:t>Trace the development of Sociology of Education</a:t>
            </a:r>
          </a:p>
          <a:p>
            <a:pPr lvl="0"/>
            <a:r>
              <a:rPr lang="en-US" dirty="0"/>
              <a:t>Examine the key issues of Concern in sociology of Education</a:t>
            </a:r>
          </a:p>
          <a:p>
            <a:r>
              <a:rPr lang="en-US" dirty="0"/>
              <a:t>Justify the place of Sociology of Education in Teacher </a:t>
            </a:r>
            <a:r>
              <a:rPr lang="en-US" dirty="0" smtClean="0"/>
              <a:t>Education</a:t>
            </a:r>
          </a:p>
          <a:p>
            <a:r>
              <a:rPr lang="en-US" dirty="0"/>
              <a:t>Discuss with your peers reasons why teachers should study sociology of </a:t>
            </a:r>
            <a:r>
              <a:rPr lang="en-US" dirty="0" smtClean="0"/>
              <a:t>Education</a:t>
            </a:r>
            <a:endParaRPr lang="en-US" dirty="0"/>
          </a:p>
        </p:txBody>
      </p:sp>
    </p:spTree>
    <p:extLst>
      <p:ext uri="{BB962C8B-B14F-4D97-AF65-F5344CB8AC3E}">
        <p14:creationId xmlns:p14="http://schemas.microsoft.com/office/powerpoint/2010/main" val="2575199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Watch the </a:t>
            </a:r>
            <a:r>
              <a:rPr lang="en-US" dirty="0" err="1" smtClean="0"/>
              <a:t>bvideo</a:t>
            </a:r>
            <a:r>
              <a:rPr lang="en-US" dirty="0" smtClean="0"/>
              <a:t> suggested below [</a:t>
            </a:r>
          </a:p>
          <a:p>
            <a:r>
              <a:rPr lang="en-US" u="sng" dirty="0">
                <a:hlinkClick r:id="rId2"/>
              </a:rPr>
              <a:t>https://</a:t>
            </a:r>
            <a:r>
              <a:rPr lang="en-US" u="sng" dirty="0" smtClean="0">
                <a:hlinkClick r:id="rId2"/>
              </a:rPr>
              <a:t>youtu.be/FMLFXG5J3KE</a:t>
            </a:r>
            <a:endParaRPr lang="en-US" u="sng" dirty="0" smtClean="0"/>
          </a:p>
          <a:p>
            <a:endParaRPr lang="en-US" u="sng" dirty="0"/>
          </a:p>
          <a:p>
            <a:r>
              <a:rPr lang="en-US" dirty="0">
                <a:hlinkClick r:id="rId3"/>
              </a:rPr>
              <a:t>https://</a:t>
            </a:r>
            <a:r>
              <a:rPr lang="en-US" dirty="0" smtClean="0">
                <a:hlinkClick r:id="rId3"/>
              </a:rPr>
              <a:t>youtu.be/Q0CsZM8MXec?t=28</a:t>
            </a:r>
            <a:endParaRPr lang="en-US" dirty="0" smtClean="0"/>
          </a:p>
          <a:p>
            <a:r>
              <a:rPr lang="en-US" dirty="0"/>
              <a:t>https://youtu.be/ouSL3qcGKYk?t=10</a:t>
            </a:r>
            <a:endParaRPr lang="en-US" dirty="0"/>
          </a:p>
          <a:p>
            <a:endParaRPr lang="en-US" dirty="0"/>
          </a:p>
        </p:txBody>
      </p:sp>
    </p:spTree>
    <p:extLst>
      <p:ext uri="{BB962C8B-B14F-4D97-AF65-F5344CB8AC3E}">
        <p14:creationId xmlns:p14="http://schemas.microsoft.com/office/powerpoint/2010/main" val="5673946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smtClean="0"/>
              <a:t>The </a:t>
            </a:r>
            <a:r>
              <a:rPr lang="en-US" dirty="0"/>
              <a:t>sociology of education is a vital field for educators that examines the relationship between educational institutions and society, tracing its roots to the early 20th century, primarily through the work of </a:t>
            </a:r>
            <a:r>
              <a:rPr lang="en-US" b="1" dirty="0" err="1"/>
              <a:t>Émile</a:t>
            </a:r>
            <a:r>
              <a:rPr lang="en-US" b="1" dirty="0"/>
              <a:t> Durkheim</a:t>
            </a:r>
            <a:r>
              <a:rPr lang="en-US" dirty="0"/>
              <a:t>. </a:t>
            </a:r>
            <a:endParaRPr lang="en-US" dirty="0" smtClean="0"/>
          </a:p>
          <a:p>
            <a:r>
              <a:rPr lang="en-US" dirty="0" smtClean="0"/>
              <a:t>It </a:t>
            </a:r>
            <a:r>
              <a:rPr lang="en-US" dirty="0"/>
              <a:t>is essential for teachers as it enables them to understand the social forces—such as family, social class, and culture—that influence student behavior and academic achievement</a:t>
            </a:r>
            <a:r>
              <a:rPr lang="en-US" dirty="0" smtClean="0"/>
              <a:t>.</a:t>
            </a:r>
            <a:r>
              <a:rPr lang="en-US" b="1" dirty="0"/>
              <a:t> </a:t>
            </a:r>
            <a:endParaRPr lang="en-US" b="1" dirty="0" smtClean="0"/>
          </a:p>
          <a:p>
            <a:r>
              <a:rPr lang="en-US" b="1" dirty="0" err="1" smtClean="0"/>
              <a:t>Émile</a:t>
            </a:r>
            <a:r>
              <a:rPr lang="en-US" b="1" dirty="0" smtClean="0"/>
              <a:t> </a:t>
            </a:r>
            <a:r>
              <a:rPr lang="en-US" b="1" dirty="0"/>
              <a:t>Durkheim (The "Father"):</a:t>
            </a:r>
            <a:r>
              <a:rPr lang="en-US" dirty="0"/>
              <a:t> Often cited as the primary architect, Durkheim viewed education as a "social thing" essential for promoting social solidarity and morality. He viewed schools as "small societies" (miniature society) that socialize children into societal norms.</a:t>
            </a:r>
          </a:p>
          <a:p>
            <a:endParaRPr lang="en-US" dirty="0"/>
          </a:p>
        </p:txBody>
      </p:sp>
    </p:spTree>
    <p:extLst>
      <p:ext uri="{BB962C8B-B14F-4D97-AF65-F5344CB8AC3E}">
        <p14:creationId xmlns:p14="http://schemas.microsoft.com/office/powerpoint/2010/main" val="1633166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720" y="0"/>
            <a:ext cx="10546080" cy="1284605"/>
          </a:xfrm>
        </p:spPr>
        <p:txBody>
          <a:bodyPr>
            <a:normAutofit fontScale="90000"/>
          </a:bodyPr>
          <a:lstStyle/>
          <a:p>
            <a:r>
              <a:rPr lang="en-US" b="1"/>
              <a:t>Sociology of Education;Overview of Main Content</a:t>
            </a:r>
          </a:p>
        </p:txBody>
      </p:sp>
      <p:sp>
        <p:nvSpPr>
          <p:cNvPr id="3" name="Content Placeholder 2"/>
          <p:cNvSpPr>
            <a:spLocks noGrp="1"/>
          </p:cNvSpPr>
          <p:nvPr>
            <p:ph idx="1"/>
          </p:nvPr>
        </p:nvSpPr>
        <p:spPr>
          <a:xfrm>
            <a:off x="687070" y="786765"/>
            <a:ext cx="11375390" cy="6492240"/>
          </a:xfrm>
        </p:spPr>
        <p:txBody>
          <a:bodyPr>
            <a:noAutofit/>
          </a:bodyPr>
          <a:lstStyle/>
          <a:p>
            <a:pPr marL="0" indent="0">
              <a:lnSpc>
                <a:spcPct val="150000"/>
              </a:lnSpc>
              <a:buNone/>
            </a:pPr>
            <a:r>
              <a:rPr lang="en-US" sz="2700">
                <a:latin typeface="Times New Roman" panose="02020603050405020304" charset="0"/>
                <a:cs typeface="Times New Roman" panose="02020603050405020304" charset="0"/>
              </a:rPr>
              <a:t>1. Meaning of Sociology, its development and classification. </a:t>
            </a:r>
          </a:p>
          <a:p>
            <a:pPr marL="0" indent="0">
              <a:lnSpc>
                <a:spcPct val="150000"/>
              </a:lnSpc>
              <a:buNone/>
            </a:pPr>
            <a:r>
              <a:rPr lang="en-US" sz="2700">
                <a:latin typeface="Times New Roman" panose="02020603050405020304" charset="0"/>
                <a:cs typeface="Times New Roman" panose="02020603050405020304" charset="0"/>
              </a:rPr>
              <a:t>2. Sociology of education – origin and development. Its relevance to the society and to teachers in schools.</a:t>
            </a:r>
          </a:p>
          <a:p>
            <a:pPr marL="0" indent="0">
              <a:lnSpc>
                <a:spcPct val="150000"/>
              </a:lnSpc>
              <a:buNone/>
            </a:pPr>
            <a:r>
              <a:rPr lang="en-US" sz="2700">
                <a:latin typeface="Times New Roman" panose="02020603050405020304" charset="0"/>
                <a:cs typeface="Times New Roman" panose="02020603050405020304" charset="0"/>
              </a:rPr>
              <a:t>3. Sociological theories and their relevance to education. Structural-functional/consensus, </a:t>
            </a:r>
          </a:p>
          <a:p>
            <a:pPr marL="0" indent="0">
              <a:lnSpc>
                <a:spcPct val="150000"/>
              </a:lnSpc>
              <a:buNone/>
            </a:pPr>
            <a:r>
              <a:rPr lang="en-US" sz="2700">
                <a:latin typeface="Times New Roman" panose="02020603050405020304" charset="0"/>
                <a:cs typeface="Times New Roman" panose="02020603050405020304" charset="0"/>
              </a:rPr>
              <a:t>conflict/Marxist, Symbolic interactionists. </a:t>
            </a:r>
          </a:p>
          <a:p>
            <a:pPr marL="0" indent="0">
              <a:lnSpc>
                <a:spcPct val="150000"/>
              </a:lnSpc>
              <a:buNone/>
            </a:pPr>
            <a:r>
              <a:rPr lang="en-US" sz="2700">
                <a:latin typeface="Times New Roman" panose="02020603050405020304" charset="0"/>
                <a:cs typeface="Times New Roman" panose="02020603050405020304" charset="0"/>
              </a:rPr>
              <a:t>4. Education and the socialization process.</a:t>
            </a:r>
          </a:p>
          <a:p>
            <a:pPr marL="0" indent="0">
              <a:lnSpc>
                <a:spcPct val="150000"/>
              </a:lnSpc>
              <a:buNone/>
            </a:pPr>
            <a:r>
              <a:rPr lang="en-US" sz="2700">
                <a:latin typeface="Times New Roman" panose="02020603050405020304" charset="0"/>
                <a:cs typeface="Times New Roman" panose="02020603050405020304" charset="0"/>
              </a:rPr>
              <a:t>5. Culture and education </a:t>
            </a:r>
          </a:p>
          <a:p>
            <a:pPr marL="0" indent="0">
              <a:lnSpc>
                <a:spcPct val="150000"/>
              </a:lnSpc>
              <a:buNone/>
            </a:pPr>
            <a:endParaRPr lang="en-US" sz="2700">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11175"/>
          </a:xfrm>
        </p:spPr>
        <p:txBody>
          <a:bodyPr>
            <a:normAutofit fontScale="90000"/>
          </a:bodyPr>
          <a:lstStyle/>
          <a:p>
            <a:r>
              <a:rPr lang="en-US"/>
              <a:t>cont,</a:t>
            </a:r>
          </a:p>
        </p:txBody>
      </p:sp>
      <p:sp>
        <p:nvSpPr>
          <p:cNvPr id="3" name="Content Placeholder 2"/>
          <p:cNvSpPr>
            <a:spLocks noGrp="1"/>
          </p:cNvSpPr>
          <p:nvPr>
            <p:ph idx="1"/>
          </p:nvPr>
        </p:nvSpPr>
        <p:spPr>
          <a:xfrm>
            <a:off x="-635" y="876300"/>
            <a:ext cx="11354435" cy="5300980"/>
          </a:xfrm>
        </p:spPr>
        <p:txBody>
          <a:bodyPr>
            <a:normAutofit/>
          </a:bodyPr>
          <a:lstStyle/>
          <a:p>
            <a:pPr marL="3657600" lvl="8" indent="0" fontAlgn="ctr">
              <a:buNone/>
            </a:pPr>
            <a:r>
              <a:rPr lang="en-US" sz="3600">
                <a:latin typeface="Times New Roman" panose="02020603050405020304" charset="0"/>
                <a:cs typeface="Times New Roman" panose="02020603050405020304" charset="0"/>
                <a:sym typeface="+mn-ea"/>
              </a:rPr>
              <a:t>6. Education and social Stratification</a:t>
            </a:r>
            <a:endParaRPr lang="en-US" sz="3600">
              <a:latin typeface="Times New Roman" panose="02020603050405020304" charset="0"/>
              <a:cs typeface="Times New Roman" panose="02020603050405020304" charset="0"/>
            </a:endParaRPr>
          </a:p>
          <a:p>
            <a:pPr marL="3657600" lvl="8" indent="0" fontAlgn="ctr">
              <a:buNone/>
            </a:pPr>
            <a:endParaRPr lang="en-US" sz="3600">
              <a:latin typeface="Times New Roman" panose="02020603050405020304" charset="0"/>
              <a:cs typeface="Times New Roman" panose="02020603050405020304" charset="0"/>
            </a:endParaRPr>
          </a:p>
          <a:p>
            <a:pPr marL="3657600" lvl="8" indent="0" fontAlgn="ctr">
              <a:buNone/>
            </a:pPr>
            <a:r>
              <a:rPr lang="en-US" sz="3600">
                <a:latin typeface="Times New Roman" panose="02020603050405020304" charset="0"/>
                <a:cs typeface="Times New Roman" panose="02020603050405020304" charset="0"/>
              </a:rPr>
              <a:t>7. Education and Gender.</a:t>
            </a:r>
          </a:p>
          <a:p>
            <a:pPr marL="3657600" lvl="8" indent="0" fontAlgn="ctr">
              <a:buNone/>
            </a:pPr>
            <a:endParaRPr lang="en-US" sz="3600">
              <a:latin typeface="Times New Roman" panose="02020603050405020304" charset="0"/>
              <a:cs typeface="Times New Roman" panose="02020603050405020304" charset="0"/>
            </a:endParaRPr>
          </a:p>
          <a:p>
            <a:pPr marL="3657600" lvl="8" indent="0" fontAlgn="ctr">
              <a:buNone/>
            </a:pPr>
            <a:r>
              <a:rPr lang="en-US" sz="3600">
                <a:latin typeface="Times New Roman" panose="02020603050405020304" charset="0"/>
                <a:cs typeface="Times New Roman" panose="02020603050405020304" charset="0"/>
              </a:rPr>
              <a:t>8. The sociology of the classroom </a:t>
            </a:r>
          </a:p>
          <a:p>
            <a:pPr marL="3657600" lvl="8" indent="0" fontAlgn="ctr">
              <a:buNone/>
            </a:pPr>
            <a:endParaRPr lang="en-US" sz="3600">
              <a:latin typeface="Times New Roman" panose="02020603050405020304" charset="0"/>
              <a:cs typeface="Times New Roman" panose="02020603050405020304" charset="0"/>
            </a:endParaRPr>
          </a:p>
          <a:p>
            <a:pPr marL="3657600" lvl="8" indent="0" fontAlgn="ctr">
              <a:buNone/>
            </a:pPr>
            <a:r>
              <a:rPr lang="en-US" sz="3600">
                <a:latin typeface="Times New Roman" panose="02020603050405020304" charset="0"/>
                <a:cs typeface="Times New Roman" panose="02020603050405020304" charset="0"/>
              </a:rPr>
              <a:t>9. Education and social change</a:t>
            </a:r>
          </a:p>
          <a:p>
            <a:pPr marL="3657600" lvl="8" indent="0" fontAlgn="ctr">
              <a:buNone/>
            </a:pPr>
            <a:endParaRPr lang="en-US" sz="3600">
              <a:latin typeface="Times New Roman" panose="02020603050405020304" charset="0"/>
              <a:cs typeface="Times New Roman" panose="02020603050405020304" charset="0"/>
            </a:endParaRPr>
          </a:p>
          <a:p>
            <a:pPr marL="3657600" lvl="8" indent="0" fontAlgn="ctr">
              <a:buNone/>
            </a:pPr>
            <a:r>
              <a:rPr lang="en-US" sz="3600">
                <a:latin typeface="Times New Roman" panose="02020603050405020304" charset="0"/>
                <a:cs typeface="Times New Roman" panose="02020603050405020304" charset="0"/>
              </a:rPr>
              <a:t>10. Teaching as a profession.</a:t>
            </a:r>
          </a:p>
          <a:p>
            <a:pPr marL="3657600" lvl="8" indent="0" fontAlgn="ctr">
              <a:buNone/>
            </a:pPr>
            <a:endParaRPr lang="en-US" sz="2800"/>
          </a:p>
          <a:p>
            <a:pPr marL="3657600" lvl="8" indent="0" fontAlgn="ctr">
              <a:buNone/>
            </a:pPr>
            <a:endParaRPr lang="en-US" sz="2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785"/>
            <a:ext cx="10515600" cy="948055"/>
          </a:xfrm>
        </p:spPr>
        <p:txBody>
          <a:bodyPr>
            <a:normAutofit fontScale="90000"/>
          </a:bodyPr>
          <a:lstStyle/>
          <a:p>
            <a:r>
              <a:rPr lang="en-US">
                <a:sym typeface="+mn-ea"/>
              </a:rPr>
              <a:t/>
            </a:r>
            <a:br>
              <a:rPr lang="en-US">
                <a:sym typeface="+mn-ea"/>
              </a:rPr>
            </a:br>
            <a:r>
              <a:rPr lang="en-US">
                <a:sym typeface="+mn-ea"/>
              </a:rPr>
              <a:t>              Assessment methods</a:t>
            </a:r>
            <a:r>
              <a:rPr lang="en-US"/>
              <a:t/>
            </a:r>
            <a:br>
              <a:rPr lang="en-US"/>
            </a:br>
            <a:endParaRPr lang="en-US"/>
          </a:p>
        </p:txBody>
      </p:sp>
      <p:sp>
        <p:nvSpPr>
          <p:cNvPr id="3" name="Content Placeholder 2"/>
          <p:cNvSpPr>
            <a:spLocks noGrp="1"/>
          </p:cNvSpPr>
          <p:nvPr>
            <p:ph idx="1"/>
          </p:nvPr>
        </p:nvSpPr>
        <p:spPr/>
        <p:txBody>
          <a:bodyPr/>
          <a:lstStyle/>
          <a:p>
            <a:pPr marL="0" indent="0">
              <a:buNone/>
            </a:pPr>
            <a:endParaRPr lang="en-US" dirty="0"/>
          </a:p>
          <a:p>
            <a:pPr marL="0" indent="0">
              <a:buNone/>
            </a:pPr>
            <a:r>
              <a:rPr lang="en-US" dirty="0"/>
              <a:t>O</a:t>
            </a:r>
            <a:r>
              <a:rPr lang="en-US" dirty="0" smtClean="0"/>
              <a:t>ral/written </a:t>
            </a:r>
            <a:r>
              <a:rPr lang="en-US" dirty="0"/>
              <a:t>questions during the lesson, </a:t>
            </a:r>
            <a:r>
              <a:rPr lang="en-US" dirty="0" smtClean="0"/>
              <a:t>On-line quizzes during /after lessons </a:t>
            </a:r>
            <a:r>
              <a:rPr lang="en-US" dirty="0"/>
              <a:t>quizzes and tests, take- homes for presentation </a:t>
            </a:r>
          </a:p>
          <a:p>
            <a:pPr marL="0" indent="0">
              <a:buNone/>
            </a:pPr>
            <a:r>
              <a:rPr lang="en-US" dirty="0" smtClean="0"/>
              <a:t>a)Take </a:t>
            </a:r>
            <a:r>
              <a:rPr lang="en-US" dirty="0"/>
              <a:t>home Assignments </a:t>
            </a:r>
            <a:r>
              <a:rPr lang="en-US" dirty="0" smtClean="0"/>
              <a:t>,group work, online quizzes---10%</a:t>
            </a:r>
          </a:p>
          <a:p>
            <a:pPr marL="0" indent="0">
              <a:buNone/>
            </a:pPr>
            <a:r>
              <a:rPr lang="en-US" dirty="0" smtClean="0"/>
              <a:t>b)Online CATs---30%   </a:t>
            </a:r>
            <a:endParaRPr lang="en-US" dirty="0"/>
          </a:p>
          <a:p>
            <a:pPr marL="0" indent="0">
              <a:buNone/>
            </a:pPr>
            <a:r>
              <a:rPr lang="en-US" dirty="0" smtClean="0"/>
              <a:t>C)Final </a:t>
            </a:r>
            <a:r>
              <a:rPr lang="en-US" dirty="0"/>
              <a:t>examination(Inclusive of Comparative  Education </a:t>
            </a:r>
            <a:r>
              <a:rPr lang="en-US" dirty="0" smtClean="0"/>
              <a:t>Section)60%</a:t>
            </a:r>
          </a:p>
          <a:p>
            <a:pPr marL="0" indent="0">
              <a:buNone/>
            </a:pPr>
            <a:r>
              <a:rPr lang="en-US" dirty="0" smtClean="0"/>
              <a:t>d)Sociology of education section and comparative education section  carry an equal weight of 50% each.</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875" y="229235"/>
            <a:ext cx="10575925" cy="1065530"/>
          </a:xfrm>
        </p:spPr>
        <p:txBody>
          <a:bodyPr>
            <a:normAutofit fontScale="90000"/>
          </a:bodyPr>
          <a:lstStyle/>
          <a:p>
            <a:r>
              <a:rPr lang="en-US" b="1" dirty="0">
                <a:latin typeface="Times New Roman" panose="02020603050405020304" pitchFamily="18" charset="0"/>
                <a:cs typeface="Times New Roman" panose="02020603050405020304" pitchFamily="18" charset="0"/>
              </a:rPr>
              <a:t>ASSUMPTIONS MADE IN SOCIOLOGY OF EDUCATION</a:t>
            </a:r>
          </a:p>
        </p:txBody>
      </p:sp>
      <p:sp>
        <p:nvSpPr>
          <p:cNvPr id="3" name="Content Placeholder 2"/>
          <p:cNvSpPr>
            <a:spLocks noGrp="1"/>
          </p:cNvSpPr>
          <p:nvPr>
            <p:ph idx="1"/>
          </p:nvPr>
        </p:nvSpPr>
        <p:spPr>
          <a:xfrm>
            <a:off x="424070" y="1192530"/>
            <a:ext cx="10929730" cy="5665470"/>
          </a:xfrm>
        </p:spPr>
        <p:txBody>
          <a:bodyPr>
            <a:normAutofit fontScale="25000" lnSpcReduction="20000"/>
          </a:bodyPr>
          <a:lstStyle/>
          <a:p>
            <a:pPr marL="0" indent="0">
              <a:buNone/>
            </a:pPr>
            <a:endParaRPr lang="en-US" dirty="0"/>
          </a:p>
          <a:p>
            <a:pPr>
              <a:buFont typeface="Wingdings" panose="05000000000000000000" pitchFamily="2" charset="2"/>
              <a:buChar char="v"/>
            </a:pPr>
            <a:r>
              <a:rPr lang="en-US" sz="11200" dirty="0" smtClean="0">
                <a:solidFill>
                  <a:srgbClr val="FF0000"/>
                </a:solidFill>
                <a:latin typeface="Times New Roman" panose="02020603050405020304" pitchFamily="18" charset="0"/>
                <a:cs typeface="Times New Roman" panose="02020603050405020304" pitchFamily="18" charset="0"/>
              </a:rPr>
              <a:t>Human </a:t>
            </a:r>
            <a:r>
              <a:rPr lang="en-US" sz="11200" dirty="0">
                <a:solidFill>
                  <a:srgbClr val="FF0000"/>
                </a:solidFill>
                <a:latin typeface="Times New Roman" panose="02020603050405020304" pitchFamily="18" charset="0"/>
                <a:cs typeface="Times New Roman" panose="02020603050405020304" pitchFamily="18" charset="0"/>
              </a:rPr>
              <a:t>beings need Education, they are capable of educating and human beings Educate </a:t>
            </a:r>
            <a:r>
              <a:rPr lang="en-US" sz="11200" dirty="0" smtClean="0">
                <a:solidFill>
                  <a:srgbClr val="FF0000"/>
                </a:solidFill>
                <a:latin typeface="Times New Roman" panose="02020603050405020304" pitchFamily="18" charset="0"/>
                <a:cs typeface="Times New Roman" panose="02020603050405020304" pitchFamily="18" charset="0"/>
              </a:rPr>
              <a:t>their young </a:t>
            </a:r>
            <a:r>
              <a:rPr lang="en-US" sz="11200" dirty="0">
                <a:solidFill>
                  <a:srgbClr val="FF0000"/>
                </a:solidFill>
                <a:latin typeface="Times New Roman" panose="02020603050405020304" pitchFamily="18" charset="0"/>
                <a:cs typeface="Times New Roman" panose="02020603050405020304" pitchFamily="18" charset="0"/>
              </a:rPr>
              <a:t>ones</a:t>
            </a:r>
          </a:p>
          <a:p>
            <a:pPr>
              <a:buFont typeface="Wingdings" panose="05000000000000000000" pitchFamily="2" charset="2"/>
              <a:buChar char="v"/>
            </a:pPr>
            <a:r>
              <a:rPr lang="en-US" sz="11200" dirty="0" smtClean="0">
                <a:solidFill>
                  <a:schemeClr val="accent5"/>
                </a:solidFill>
                <a:latin typeface="Times New Roman" panose="02020603050405020304" pitchFamily="18" charset="0"/>
                <a:cs typeface="Times New Roman" panose="02020603050405020304" pitchFamily="18" charset="0"/>
              </a:rPr>
              <a:t> </a:t>
            </a:r>
            <a:r>
              <a:rPr lang="en-US" sz="11200" dirty="0">
                <a:solidFill>
                  <a:schemeClr val="accent5"/>
                </a:solidFill>
                <a:latin typeface="Times New Roman" panose="02020603050405020304" pitchFamily="18" charset="0"/>
                <a:cs typeface="Times New Roman" panose="02020603050405020304" pitchFamily="18" charset="0"/>
              </a:rPr>
              <a:t>Human beings are social and can only have a meaningful existence through their interaction </a:t>
            </a:r>
            <a:r>
              <a:rPr lang="en-US" sz="11200" dirty="0" smtClean="0">
                <a:solidFill>
                  <a:schemeClr val="accent5"/>
                </a:solidFill>
                <a:latin typeface="Times New Roman" panose="02020603050405020304" pitchFamily="18" charset="0"/>
                <a:cs typeface="Times New Roman" panose="02020603050405020304" pitchFamily="18" charset="0"/>
              </a:rPr>
              <a:t>or relationships </a:t>
            </a:r>
            <a:r>
              <a:rPr lang="en-US" sz="11200" dirty="0">
                <a:solidFill>
                  <a:schemeClr val="accent5"/>
                </a:solidFill>
                <a:latin typeface="Times New Roman" panose="02020603050405020304" pitchFamily="18" charset="0"/>
                <a:cs typeface="Times New Roman" panose="02020603050405020304" pitchFamily="18" charset="0"/>
              </a:rPr>
              <a:t>with others in society.</a:t>
            </a:r>
          </a:p>
          <a:p>
            <a:pPr>
              <a:buFont typeface="Wingdings" panose="05000000000000000000" pitchFamily="2" charset="2"/>
              <a:buChar char="v"/>
            </a:pPr>
            <a:r>
              <a:rPr lang="en-US" sz="11200" dirty="0" smtClean="0">
                <a:latin typeface="Times New Roman" panose="02020603050405020304" pitchFamily="18" charset="0"/>
                <a:cs typeface="Times New Roman" panose="02020603050405020304" pitchFamily="18" charset="0"/>
              </a:rPr>
              <a:t>Education </a:t>
            </a:r>
            <a:r>
              <a:rPr lang="en-US" sz="11200" dirty="0">
                <a:latin typeface="Times New Roman" panose="02020603050405020304" pitchFamily="18" charset="0"/>
                <a:cs typeface="Times New Roman" panose="02020603050405020304" pitchFamily="18" charset="0"/>
              </a:rPr>
              <a:t>or socialization cannot be studied without considering its social context.</a:t>
            </a:r>
          </a:p>
          <a:p>
            <a:pPr>
              <a:buFont typeface="Wingdings" panose="05000000000000000000" pitchFamily="2" charset="2"/>
              <a:buChar char="v"/>
            </a:pPr>
            <a:r>
              <a:rPr lang="en-US" sz="11200" dirty="0" smtClean="0">
                <a:latin typeface="Times New Roman" panose="02020603050405020304" pitchFamily="18" charset="0"/>
                <a:cs typeface="Times New Roman" panose="02020603050405020304" pitchFamily="18" charset="0"/>
              </a:rPr>
              <a:t> </a:t>
            </a:r>
            <a:r>
              <a:rPr lang="en-US" sz="11200" dirty="0">
                <a:latin typeface="Times New Roman" panose="02020603050405020304" pitchFamily="18" charset="0"/>
                <a:cs typeface="Times New Roman" panose="02020603050405020304" pitchFamily="18" charset="0"/>
              </a:rPr>
              <a:t>Education is an interactive process between the learner and the teacher </a:t>
            </a:r>
            <a:r>
              <a:rPr lang="en-US" sz="11200">
                <a:latin typeface="Times New Roman" panose="02020603050405020304" pitchFamily="18" charset="0"/>
                <a:cs typeface="Times New Roman" panose="02020603050405020304" pitchFamily="18" charset="0"/>
              </a:rPr>
              <a:t>and </a:t>
            </a:r>
            <a:r>
              <a:rPr lang="en-US" sz="11200" smtClean="0">
                <a:latin typeface="Times New Roman" panose="02020603050405020304" pitchFamily="18" charset="0"/>
                <a:cs typeface="Times New Roman" panose="02020603050405020304" pitchFamily="18" charset="0"/>
              </a:rPr>
              <a:t>between </a:t>
            </a:r>
            <a:r>
              <a:rPr lang="en-US" sz="11200" dirty="0" smtClean="0">
                <a:latin typeface="Times New Roman" panose="02020603050405020304" pitchFamily="18" charset="0"/>
                <a:cs typeface="Times New Roman" panose="02020603050405020304" pitchFamily="18" charset="0"/>
              </a:rPr>
              <a:t>the learner </a:t>
            </a:r>
            <a:r>
              <a:rPr lang="en-US" sz="11200" dirty="0">
                <a:latin typeface="Times New Roman" panose="02020603050405020304" pitchFamily="18" charset="0"/>
                <a:cs typeface="Times New Roman" panose="02020603050405020304" pitchFamily="18" charset="0"/>
              </a:rPr>
              <a:t>and his environment</a:t>
            </a:r>
          </a:p>
          <a:p>
            <a:pPr>
              <a:buFont typeface="Wingdings" panose="05000000000000000000" pitchFamily="2" charset="2"/>
              <a:buChar char="v"/>
            </a:pPr>
            <a:r>
              <a:rPr lang="en-US" sz="11200" dirty="0" smtClean="0">
                <a:solidFill>
                  <a:srgbClr val="FF0000"/>
                </a:solidFill>
                <a:latin typeface="Times New Roman" panose="02020603050405020304" pitchFamily="18" charset="0"/>
                <a:cs typeface="Times New Roman" panose="02020603050405020304" pitchFamily="18" charset="0"/>
              </a:rPr>
              <a:t> </a:t>
            </a:r>
            <a:r>
              <a:rPr lang="en-US" sz="11200" dirty="0">
                <a:solidFill>
                  <a:srgbClr val="FF0000"/>
                </a:solidFill>
                <a:latin typeface="Times New Roman" panose="02020603050405020304" pitchFamily="18" charset="0"/>
                <a:cs typeface="Times New Roman" panose="02020603050405020304" pitchFamily="18" charset="0"/>
              </a:rPr>
              <a:t>Education is a process through which the learner becomes an active participant in social life</a:t>
            </a:r>
          </a:p>
          <a:p>
            <a:pPr>
              <a:buFont typeface="Wingdings" panose="05000000000000000000" pitchFamily="2" charset="2"/>
              <a:buChar char="v"/>
            </a:pPr>
            <a:r>
              <a:rPr lang="en-US" sz="11200" dirty="0" smtClean="0">
                <a:solidFill>
                  <a:srgbClr val="002060"/>
                </a:solidFill>
                <a:latin typeface="Times New Roman" panose="02020603050405020304" pitchFamily="18" charset="0"/>
                <a:cs typeface="Times New Roman" panose="02020603050405020304" pitchFamily="18" charset="0"/>
              </a:rPr>
              <a:t>Aims </a:t>
            </a:r>
            <a:r>
              <a:rPr lang="en-US" sz="11200" dirty="0">
                <a:solidFill>
                  <a:srgbClr val="002060"/>
                </a:solidFill>
                <a:latin typeface="Times New Roman" panose="02020603050405020304" pitchFamily="18" charset="0"/>
                <a:cs typeface="Times New Roman" panose="02020603050405020304" pitchFamily="18" charset="0"/>
              </a:rPr>
              <a:t>of education reflect the needs of society – The learner is Educated to serve the society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339" y="1"/>
            <a:ext cx="10810461" cy="1690688"/>
          </a:xfrm>
        </p:spPr>
        <p:txBody>
          <a:bodyPr/>
          <a:lstStyle/>
          <a:p>
            <a:r>
              <a:rPr lang="en-US" b="1" dirty="0" smtClean="0">
                <a:latin typeface="Times New Roman" panose="02020603050405020304" pitchFamily="18" charset="0"/>
                <a:cs typeface="Times New Roman" panose="02020603050405020304" pitchFamily="18" charset="0"/>
              </a:rPr>
              <a:t>Reasons for studying sociology of  education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Font typeface="Wingdings" panose="05000000000000000000" pitchFamily="2" charset="2"/>
              <a:buNone/>
            </a:pPr>
            <a:r>
              <a:rPr lang="en-US" dirty="0" smtClean="0">
                <a:solidFill>
                  <a:srgbClr val="FF0000"/>
                </a:solidFill>
                <a:latin typeface="Times New Roman" panose="02020603050405020304" pitchFamily="18" charset="0"/>
                <a:cs typeface="Times New Roman" panose="02020603050405020304" pitchFamily="18" charset="0"/>
              </a:rPr>
              <a:t>To help us understand the following </a:t>
            </a:r>
            <a:r>
              <a:rPr lang="en-US" dirty="0" smtClean="0">
                <a:latin typeface="Times New Roman" panose="02020603050405020304" pitchFamily="18" charset="0"/>
                <a:cs typeface="Times New Roman" panose="02020603050405020304" pitchFamily="18" charset="0"/>
              </a:rPr>
              <a:t>;</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a:t>
            </a:r>
            <a:r>
              <a:rPr lang="en-US" dirty="0" smtClean="0">
                <a:latin typeface="Times New Roman" panose="02020603050405020304" pitchFamily="18" charset="0"/>
                <a:cs typeface="Times New Roman" panose="02020603050405020304" pitchFamily="18" charset="0"/>
              </a:rPr>
              <a:t>he work </a:t>
            </a:r>
            <a:r>
              <a:rPr lang="en-US" dirty="0">
                <a:latin typeface="Times New Roman" panose="02020603050405020304" pitchFamily="18" charset="0"/>
                <a:cs typeface="Times New Roman" panose="02020603050405020304" pitchFamily="18" charset="0"/>
              </a:rPr>
              <a:t>of School and Teachers and its relation to society, </a:t>
            </a:r>
            <a:r>
              <a:rPr lang="en-US" dirty="0" smtClean="0">
                <a:latin typeface="Times New Roman" panose="02020603050405020304" pitchFamily="18" charset="0"/>
                <a:cs typeface="Times New Roman" panose="02020603050405020304" pitchFamily="18" charset="0"/>
              </a:rPr>
              <a:t>social progress </a:t>
            </a:r>
            <a:r>
              <a:rPr lang="en-US" dirty="0">
                <a:latin typeface="Times New Roman" panose="02020603050405020304" pitchFamily="18" charset="0"/>
                <a:cs typeface="Times New Roman" panose="02020603050405020304" pitchFamily="18" charset="0"/>
              </a:rPr>
              <a:t>and </a:t>
            </a:r>
            <a:r>
              <a:rPr lang="en-US" dirty="0" smtClean="0">
                <a:latin typeface="Times New Roman" panose="02020603050405020304" pitchFamily="18" charset="0"/>
                <a:cs typeface="Times New Roman" panose="02020603050405020304" pitchFamily="18" charset="0"/>
              </a:rPr>
              <a:t>development.</a:t>
            </a: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a:t>
            </a:r>
            <a:r>
              <a:rPr lang="en-US" dirty="0" smtClean="0">
                <a:latin typeface="Times New Roman" panose="02020603050405020304" pitchFamily="18" charset="0"/>
                <a:cs typeface="Times New Roman" panose="02020603050405020304" pitchFamily="18" charset="0"/>
              </a:rPr>
              <a:t>he  e</a:t>
            </a:r>
            <a:r>
              <a:rPr lang="en-US" dirty="0">
                <a:latin typeface="Times New Roman" panose="02020603050405020304" pitchFamily="18" charset="0"/>
                <a:cs typeface="Times New Roman" panose="02020603050405020304" pitchFamily="18" charset="0"/>
              </a:rPr>
              <a:t>ffect of Social Elements on the working of school and society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a:t>
            </a:r>
            <a:r>
              <a:rPr lang="en-US" dirty="0" smtClean="0">
                <a:latin typeface="Times New Roman" panose="02020603050405020304" pitchFamily="18" charset="0"/>
                <a:cs typeface="Times New Roman" panose="02020603050405020304" pitchFamily="18" charset="0"/>
              </a:rPr>
              <a:t>he  e</a:t>
            </a:r>
            <a:r>
              <a:rPr lang="en-US" dirty="0">
                <a:latin typeface="Times New Roman" panose="02020603050405020304" pitchFamily="18" charset="0"/>
                <a:cs typeface="Times New Roman" panose="02020603050405020304" pitchFamily="18" charset="0"/>
              </a:rPr>
              <a:t>ffect of Social Elements on the life of individuals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a:t>
            </a:r>
            <a:r>
              <a:rPr lang="en-US" dirty="0" smtClean="0">
                <a:latin typeface="Times New Roman" panose="02020603050405020304" pitchFamily="18" charset="0"/>
                <a:cs typeface="Times New Roman" panose="02020603050405020304" pitchFamily="18" charset="0"/>
              </a:rPr>
              <a:t>he </a:t>
            </a:r>
            <a:r>
              <a:rPr lang="en-US" dirty="0">
                <a:latin typeface="Times New Roman" panose="02020603050405020304" pitchFamily="18" charset="0"/>
                <a:cs typeface="Times New Roman" panose="02020603050405020304" pitchFamily="18" charset="0"/>
              </a:rPr>
              <a:t>Construction of Curriculum in relation to the cultural </a:t>
            </a:r>
            <a:r>
              <a:rPr lang="en-US" dirty="0" smtClean="0">
                <a:latin typeface="Times New Roman" panose="02020603050405020304" pitchFamily="18" charset="0"/>
                <a:cs typeface="Times New Roman" panose="02020603050405020304" pitchFamily="18" charset="0"/>
              </a:rPr>
              <a:t>and economic </a:t>
            </a:r>
            <a:r>
              <a:rPr lang="en-US" dirty="0">
                <a:latin typeface="Times New Roman" panose="02020603050405020304" pitchFamily="18" charset="0"/>
                <a:cs typeface="Times New Roman" panose="02020603050405020304" pitchFamily="18" charset="0"/>
              </a:rPr>
              <a:t>needs of the society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5) The democratic </a:t>
            </a:r>
            <a:r>
              <a:rPr lang="en-US" dirty="0">
                <a:latin typeface="Times New Roman" panose="02020603050405020304" pitchFamily="18" charset="0"/>
                <a:cs typeface="Times New Roman" panose="02020603050405020304" pitchFamily="18" charset="0"/>
              </a:rPr>
              <a:t>ideologies present in different </a:t>
            </a:r>
            <a:r>
              <a:rPr lang="en-US" dirty="0" smtClean="0">
                <a:latin typeface="Times New Roman" panose="02020603050405020304" pitchFamily="18" charset="0"/>
                <a:cs typeface="Times New Roman" panose="02020603050405020304" pitchFamily="18" charset="0"/>
              </a:rPr>
              <a:t>countries need </a:t>
            </a:r>
            <a:r>
              <a:rPr lang="en-US" dirty="0">
                <a:latin typeface="Times New Roman" panose="02020603050405020304" pitchFamily="18" charset="0"/>
                <a:cs typeface="Times New Roman" panose="02020603050405020304" pitchFamily="18" charset="0"/>
              </a:rPr>
              <a:t>for understanding and promoting international </a:t>
            </a:r>
            <a:r>
              <a:rPr lang="en-US" dirty="0" smtClean="0">
                <a:latin typeface="Times New Roman" panose="02020603050405020304" pitchFamily="18" charset="0"/>
                <a:cs typeface="Times New Roman" panose="02020603050405020304" pitchFamily="18" charset="0"/>
              </a:rPr>
              <a:t>culture</a:t>
            </a:r>
          </a:p>
          <a:p>
            <a:pPr marL="0" indent="0">
              <a:buNone/>
            </a:pPr>
            <a:r>
              <a:rPr lang="en-US" dirty="0" smtClean="0">
                <a:latin typeface="Times New Roman" panose="02020603050405020304" pitchFamily="18" charset="0"/>
                <a:cs typeface="Times New Roman" panose="02020603050405020304" pitchFamily="18" charset="0"/>
              </a:rPr>
              <a:t>6)The development </a:t>
            </a:r>
            <a:r>
              <a:rPr lang="en-US" dirty="0">
                <a:latin typeface="Times New Roman" panose="02020603050405020304" pitchFamily="18" charset="0"/>
                <a:cs typeface="Times New Roman" panose="02020603050405020304" pitchFamily="18" charset="0"/>
              </a:rPr>
              <a:t>of Society through the formulation of various </a:t>
            </a:r>
            <a:r>
              <a:rPr lang="en-US" dirty="0" smtClean="0">
                <a:latin typeface="Times New Roman" panose="02020603050405020304" pitchFamily="18" charset="0"/>
                <a:cs typeface="Times New Roman" panose="02020603050405020304" pitchFamily="18" charset="0"/>
              </a:rPr>
              <a:t>rules and </a:t>
            </a:r>
            <a:r>
              <a:rPr lang="en-US" dirty="0">
                <a:latin typeface="Times New Roman" panose="02020603050405020304" pitchFamily="18" charset="0"/>
                <a:cs typeface="Times New Roman" panose="02020603050405020304" pitchFamily="18" charset="0"/>
              </a:rPr>
              <a:t>regulations and understanding of culture and traditions</a:t>
            </a:r>
          </a:p>
          <a:p>
            <a:pPr marL="0" indent="0">
              <a:buNone/>
            </a:pPr>
            <a:r>
              <a:rPr lang="en-US" dirty="0" smtClean="0">
                <a:latin typeface="Times New Roman" panose="02020603050405020304" pitchFamily="18" charset="0"/>
                <a:cs typeface="Times New Roman" panose="02020603050405020304" pitchFamily="18" charset="0"/>
              </a:rPr>
              <a:t>7)The </a:t>
            </a:r>
            <a:r>
              <a:rPr lang="en-US" dirty="0">
                <a:latin typeface="Times New Roman" panose="02020603050405020304" pitchFamily="18" charset="0"/>
                <a:cs typeface="Times New Roman" panose="02020603050405020304" pitchFamily="18" charset="0"/>
              </a:rPr>
              <a:t>effect of social groups, their interrelation and dynamics </a:t>
            </a:r>
            <a:r>
              <a:rPr lang="en-US" dirty="0" smtClean="0">
                <a:latin typeface="Times New Roman" panose="02020603050405020304" pitchFamily="18" charset="0"/>
                <a:cs typeface="Times New Roman" panose="02020603050405020304" pitchFamily="18" charset="0"/>
              </a:rPr>
              <a:t>on individuals.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sym typeface="+mn-ea"/>
              </a:rPr>
              <a:t>Meaning of the term </a:t>
            </a:r>
            <a:r>
              <a:rPr lang="en-US" b="1" dirty="0">
                <a:latin typeface="Times New Roman" panose="02020603050405020304" pitchFamily="18" charset="0"/>
                <a:cs typeface="Times New Roman" panose="02020603050405020304" pitchFamily="18" charset="0"/>
                <a:sym typeface="+mn-ea"/>
              </a:rPr>
              <a:t>Sociology</a:t>
            </a:r>
            <a:r>
              <a:rPr lang="en-US" dirty="0">
                <a:latin typeface="Times New Roman" panose="02020603050405020304" pitchFamily="18" charset="0"/>
                <a:cs typeface="Times New Roman" panose="02020603050405020304" pitchFamily="18" charset="0"/>
                <a:sym typeface="+mn-ea"/>
              </a:rPr>
              <a:t> in General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38250"/>
            <a:ext cx="11353800" cy="5619750"/>
          </a:xfrm>
        </p:spPr>
        <p:txBody>
          <a:bodyPr>
            <a:normAutofit/>
          </a:bodyPr>
          <a:lstStyle/>
          <a:p>
            <a:pPr marL="0" indent="0">
              <a:buNone/>
            </a:pPr>
            <a:endParaRPr lang="en-US" dirty="0"/>
          </a:p>
          <a:p>
            <a:pPr marL="0" indent="0">
              <a:lnSpc>
                <a:spcPct val="150000"/>
              </a:lnSpc>
              <a:buNone/>
            </a:pPr>
            <a:r>
              <a:rPr lang="en-US" dirty="0">
                <a:latin typeface="Times New Roman" panose="02020603050405020304" pitchFamily="18" charset="0"/>
                <a:cs typeface="Times New Roman" panose="02020603050405020304" pitchFamily="18" charset="0"/>
              </a:rPr>
              <a:t>The term </a:t>
            </a:r>
            <a:r>
              <a:rPr lang="en-US" b="1" dirty="0">
                <a:latin typeface="Times New Roman" panose="02020603050405020304" pitchFamily="18" charset="0"/>
                <a:cs typeface="Times New Roman" panose="02020603050405020304" pitchFamily="18" charset="0"/>
              </a:rPr>
              <a:t>Sociology</a:t>
            </a:r>
            <a:r>
              <a:rPr lang="en-US" dirty="0">
                <a:latin typeface="Times New Roman" panose="02020603050405020304" pitchFamily="18" charset="0"/>
                <a:cs typeface="Times New Roman" panose="02020603050405020304" pitchFamily="18" charset="0"/>
              </a:rPr>
              <a:t> is defined differently by various authors as: </a:t>
            </a:r>
          </a:p>
          <a:p>
            <a:pPr marL="0" indent="0">
              <a:lnSpc>
                <a:spcPct val="150000"/>
              </a:lnSpc>
              <a:buNone/>
            </a:pPr>
            <a:r>
              <a:rPr lang="en-US" dirty="0">
                <a:latin typeface="Times New Roman" panose="02020603050405020304" pitchFamily="18" charset="0"/>
                <a:cs typeface="Times New Roman" panose="02020603050405020304" pitchFamily="18" charset="0"/>
              </a:rPr>
              <a:t>The scientific study of </a:t>
            </a:r>
            <a:r>
              <a:rPr lang="en-US" b="1" dirty="0">
                <a:solidFill>
                  <a:srgbClr val="FF0000"/>
                </a:solidFill>
                <a:latin typeface="Times New Roman" panose="02020603050405020304" pitchFamily="18" charset="0"/>
                <a:cs typeface="Times New Roman" panose="02020603050405020304" pitchFamily="18" charset="0"/>
              </a:rPr>
              <a:t>social</a:t>
            </a:r>
            <a:r>
              <a:rPr lang="en-US" dirty="0">
                <a:solidFill>
                  <a:srgbClr val="FF0000"/>
                </a:solidFill>
                <a:latin typeface="Times New Roman" panose="02020603050405020304" pitchFamily="18" charset="0"/>
                <a:cs typeface="Times New Roman" panose="02020603050405020304" pitchFamily="18" charset="0"/>
              </a:rPr>
              <a:t> interactions</a:t>
            </a:r>
            <a:r>
              <a:rPr lang="en-US" dirty="0">
                <a:latin typeface="Times New Roman" panose="02020603050405020304" pitchFamily="18" charset="0"/>
                <a:cs typeface="Times New Roman" panose="02020603050405020304" pitchFamily="18" charset="0"/>
              </a:rPr>
              <a:t>, </a:t>
            </a:r>
            <a:r>
              <a:rPr lang="en-US" dirty="0">
                <a:solidFill>
                  <a:schemeClr val="accent1"/>
                </a:solidFill>
                <a:latin typeface="Times New Roman" panose="02020603050405020304" pitchFamily="18" charset="0"/>
                <a:cs typeface="Times New Roman" panose="02020603050405020304" pitchFamily="18" charset="0"/>
              </a:rPr>
              <a:t>relationships </a:t>
            </a:r>
            <a:r>
              <a:rPr lang="en-US" dirty="0">
                <a:latin typeface="Times New Roman" panose="02020603050405020304" pitchFamily="18" charset="0"/>
                <a:cs typeface="Times New Roman" panose="02020603050405020304" pitchFamily="18" charset="0"/>
              </a:rPr>
              <a:t>and </a:t>
            </a:r>
            <a:r>
              <a:rPr lang="en-US" dirty="0">
                <a:solidFill>
                  <a:srgbClr val="00B050"/>
                </a:solidFill>
                <a:latin typeface="Times New Roman" panose="02020603050405020304" pitchFamily="18" charset="0"/>
                <a:cs typeface="Times New Roman" panose="02020603050405020304" pitchFamily="18" charset="0"/>
              </a:rPr>
              <a:t>institutions</a:t>
            </a:r>
            <a:r>
              <a:rPr lang="en-US" dirty="0">
                <a:latin typeface="Times New Roman" panose="02020603050405020304" pitchFamily="18" charset="0"/>
                <a:cs typeface="Times New Roman" panose="02020603050405020304" pitchFamily="18" charset="0"/>
              </a:rPr>
              <a:t> with a focus on social processes and behavior patterns of people in groups. As a result, sociology delves into various social activities, interactions; </a:t>
            </a:r>
          </a:p>
          <a:p>
            <a:pPr marL="0" indent="0">
              <a:lnSpc>
                <a:spcPct val="150000"/>
              </a:lnSpc>
              <a:buNone/>
            </a:pPr>
            <a:r>
              <a:rPr lang="en-US" dirty="0">
                <a:latin typeface="Times New Roman" panose="02020603050405020304" pitchFamily="18" charset="0"/>
                <a:cs typeface="Times New Roman" panose="02020603050405020304" pitchFamily="18" charset="0"/>
              </a:rPr>
              <a:t>it further concentrates on various social groups such as religious groups, political, sporting, business, professional, youth, women, gangs and schools among others.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Watch the video on </a:t>
            </a:r>
            <a:r>
              <a:rPr lang="en-US" dirty="0" err="1"/>
              <a:t>Auguste</a:t>
            </a:r>
            <a:r>
              <a:rPr lang="en-US" dirty="0"/>
              <a:t> Comte and Sociology. </a:t>
            </a:r>
            <a:r>
              <a:rPr lang="en-US" u="sng" dirty="0">
                <a:hlinkClick r:id="rId2"/>
              </a:rPr>
              <a:t>Https://youtu.be/NmoNjmWt2Ws</a:t>
            </a:r>
            <a:r>
              <a:rPr lang="en-US" dirty="0"/>
              <a:t>. </a:t>
            </a:r>
            <a:r>
              <a:rPr lang="en-US" dirty="0" err="1"/>
              <a:t>Summarise</a:t>
            </a:r>
            <a:r>
              <a:rPr lang="en-US" dirty="0"/>
              <a:t> the key messages contained in this Video</a:t>
            </a:r>
          </a:p>
          <a:p>
            <a:endParaRPr lang="en-US" dirty="0"/>
          </a:p>
        </p:txBody>
      </p:sp>
    </p:spTree>
    <p:extLst>
      <p:ext uri="{BB962C8B-B14F-4D97-AF65-F5344CB8AC3E}">
        <p14:creationId xmlns:p14="http://schemas.microsoft.com/office/powerpoint/2010/main" val="3513721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QUIZ</a:t>
            </a:r>
            <a:endParaRPr lang="en-US" dirty="0"/>
          </a:p>
        </p:txBody>
      </p:sp>
      <p:sp>
        <p:nvSpPr>
          <p:cNvPr id="3" name="Content Placeholder 2"/>
          <p:cNvSpPr>
            <a:spLocks noGrp="1"/>
          </p:cNvSpPr>
          <p:nvPr>
            <p:ph idx="1"/>
          </p:nvPr>
        </p:nvSpPr>
        <p:spPr/>
        <p:txBody>
          <a:bodyPr/>
          <a:lstStyle/>
          <a:p>
            <a:r>
              <a:rPr lang="en-US" dirty="0"/>
              <a:t>Answer the following questions </a:t>
            </a:r>
          </a:p>
          <a:p>
            <a:pPr lvl="0"/>
            <a:r>
              <a:rPr lang="en-US" dirty="0"/>
              <a:t>Define the Term Sociology?</a:t>
            </a:r>
          </a:p>
          <a:p>
            <a:r>
              <a:rPr lang="en-US" dirty="0"/>
              <a:t>Analyze the contribution of </a:t>
            </a:r>
            <a:r>
              <a:rPr lang="en-US" dirty="0" err="1"/>
              <a:t>Auguste</a:t>
            </a:r>
            <a:r>
              <a:rPr lang="en-US" dirty="0"/>
              <a:t> Comte to the development of Sociology</a:t>
            </a:r>
          </a:p>
        </p:txBody>
      </p:sp>
    </p:spTree>
    <p:extLst>
      <p:ext uri="{BB962C8B-B14F-4D97-AF65-F5344CB8AC3E}">
        <p14:creationId xmlns:p14="http://schemas.microsoft.com/office/powerpoint/2010/main" val="32039227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3690"/>
            <a:ext cx="10515600" cy="1325563"/>
          </a:xfrm>
        </p:spPr>
        <p:txBody>
          <a:bodyPr/>
          <a:lstStyle/>
          <a:p>
            <a:endParaRPr lang="en-US"/>
          </a:p>
        </p:txBody>
      </p:sp>
      <p:sp>
        <p:nvSpPr>
          <p:cNvPr id="3" name="Content Placeholder 2"/>
          <p:cNvSpPr>
            <a:spLocks noGrp="1"/>
          </p:cNvSpPr>
          <p:nvPr>
            <p:ph idx="1"/>
          </p:nvPr>
        </p:nvSpPr>
        <p:spPr>
          <a:xfrm>
            <a:off x="635" y="1237615"/>
            <a:ext cx="11353165" cy="5436870"/>
          </a:xfrm>
        </p:spPr>
        <p:txBody>
          <a:bodyPr>
            <a:normAutofit/>
          </a:bodyPr>
          <a:lstStyle/>
          <a:p>
            <a:pPr marL="0" indent="0">
              <a:buNone/>
            </a:pPr>
            <a:r>
              <a:rPr lang="en-US"/>
              <a:t>Within these groups sociology specifically focuses on: </a:t>
            </a:r>
          </a:p>
          <a:p>
            <a:pPr marL="0" indent="0">
              <a:buNone/>
            </a:pPr>
            <a:r>
              <a:rPr lang="en-US"/>
              <a:t>1. The Socialization Processes, </a:t>
            </a:r>
          </a:p>
          <a:p>
            <a:pPr marL="0" indent="0">
              <a:buNone/>
            </a:pPr>
            <a:endParaRPr lang="en-US"/>
          </a:p>
          <a:p>
            <a:pPr marL="0" indent="0">
              <a:buNone/>
            </a:pPr>
            <a:r>
              <a:rPr lang="en-US"/>
              <a:t>2. Formation and Transformation of Groups</a:t>
            </a:r>
          </a:p>
          <a:p>
            <a:pPr marL="0" indent="0">
              <a:buNone/>
            </a:pPr>
            <a:endParaRPr lang="en-US"/>
          </a:p>
          <a:p>
            <a:pPr marL="0" indent="0">
              <a:buNone/>
            </a:pPr>
            <a:r>
              <a:rPr lang="en-US"/>
              <a:t>3. Social Structures of the Groups, </a:t>
            </a:r>
          </a:p>
          <a:p>
            <a:pPr marL="0" indent="0">
              <a:buNone/>
            </a:pPr>
            <a:endParaRPr lang="en-US"/>
          </a:p>
          <a:p>
            <a:pPr marL="0" indent="0">
              <a:buNone/>
            </a:pPr>
            <a:r>
              <a:rPr lang="en-US"/>
              <a:t>4. The Culture of the Groups,</a:t>
            </a:r>
          </a:p>
          <a:p>
            <a:pPr marL="0" indent="0">
              <a:buNone/>
            </a:pPr>
            <a:endParaRPr lang="en-US"/>
          </a:p>
          <a:p>
            <a:pPr marL="0" indent="0">
              <a:buNone/>
            </a:pPr>
            <a:r>
              <a:rPr lang="en-US"/>
              <a:t>5. The Social Stratification Within the Groups</a:t>
            </a:r>
          </a:p>
          <a:p>
            <a:pPr marL="0" indent="0">
              <a:buNone/>
            </a:pP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9670" y="365125"/>
            <a:ext cx="10184130" cy="224790"/>
          </a:xfrm>
        </p:spPr>
        <p:txBody>
          <a:bodyPr>
            <a:normAutofit fontScale="90000"/>
          </a:bodyPr>
          <a:lstStyle/>
          <a:p>
            <a:endParaRPr lang="en-US"/>
          </a:p>
        </p:txBody>
      </p:sp>
      <p:sp>
        <p:nvSpPr>
          <p:cNvPr id="3" name="Content Placeholder 2"/>
          <p:cNvSpPr>
            <a:spLocks noGrp="1"/>
          </p:cNvSpPr>
          <p:nvPr>
            <p:ph idx="1"/>
          </p:nvPr>
        </p:nvSpPr>
        <p:spPr>
          <a:xfrm>
            <a:off x="582930" y="906145"/>
            <a:ext cx="11608435" cy="5951855"/>
          </a:xfrm>
        </p:spPr>
        <p:txBody>
          <a:bodyPr/>
          <a:lstStyle/>
          <a:p>
            <a:pPr marL="0" indent="0">
              <a:buNone/>
            </a:pPr>
            <a:endParaRPr lang="en-US">
              <a:sym typeface="+mn-ea"/>
            </a:endParaRPr>
          </a:p>
          <a:p>
            <a:pPr marL="0" indent="0">
              <a:buNone/>
            </a:pPr>
            <a:r>
              <a:rPr lang="en-US">
                <a:sym typeface="+mn-ea"/>
              </a:rPr>
              <a:t>6. The Gender Issues, </a:t>
            </a:r>
            <a:endParaRPr lang="en-US"/>
          </a:p>
          <a:p>
            <a:pPr marL="0" indent="0">
              <a:buNone/>
            </a:pPr>
            <a:endParaRPr lang="en-US">
              <a:sym typeface="+mn-ea"/>
            </a:endParaRPr>
          </a:p>
          <a:p>
            <a:pPr marL="0" indent="0">
              <a:buNone/>
            </a:pPr>
            <a:r>
              <a:rPr lang="en-US">
                <a:sym typeface="+mn-ea"/>
              </a:rPr>
              <a:t>7. The Relationship of Groups and Group Members with one Another. </a:t>
            </a:r>
            <a:endParaRPr lang="en-US"/>
          </a:p>
          <a:p>
            <a:pPr marL="0" indent="0">
              <a:buNone/>
            </a:pPr>
            <a:endParaRPr lang="en-US">
              <a:sym typeface="+mn-ea"/>
            </a:endParaRPr>
          </a:p>
          <a:p>
            <a:pPr marL="0" indent="0">
              <a:buNone/>
            </a:pPr>
            <a:r>
              <a:rPr lang="en-US">
                <a:sym typeface="+mn-ea"/>
              </a:rPr>
              <a:t>8. The Participation and Cohesion, and Dissociations in Terms of Conflict.</a:t>
            </a:r>
            <a:endParaRPr lang="en-US"/>
          </a:p>
          <a:p>
            <a:pPr marL="0" indent="0">
              <a:buNone/>
            </a:pPr>
            <a:endParaRPr lang="en-US">
              <a:sym typeface="+mn-ea"/>
            </a:endParaRPr>
          </a:p>
          <a:p>
            <a:pPr marL="0" indent="0">
              <a:buNone/>
            </a:pPr>
            <a:r>
              <a:rPr lang="en-US">
                <a:sym typeface="+mn-ea"/>
              </a:rPr>
              <a:t>9. Social deviance in the groups.</a:t>
            </a:r>
            <a:endParaRPr lang="en-US"/>
          </a:p>
          <a:p>
            <a:pPr marL="0" indent="0">
              <a:buNone/>
            </a:pPr>
            <a:endParaRPr lang="en-US">
              <a:sym typeface="+mn-ea"/>
            </a:endParaRPr>
          </a:p>
          <a:p>
            <a:pPr marL="0" indent="0">
              <a:buNone/>
            </a:pPr>
            <a:r>
              <a:rPr lang="en-US">
                <a:sym typeface="+mn-ea"/>
              </a:rPr>
              <a:t>10. Technology and social interactions in group</a:t>
            </a:r>
            <a:endParaRPr lang="en-US"/>
          </a:p>
          <a:p>
            <a:pPr marL="0" indent="0">
              <a:buNone/>
            </a:pP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r>
              <a:rPr lang="en-US" b="1"/>
              <a:t>    BRANCHES OF SOCIOLOGY</a:t>
            </a:r>
          </a:p>
        </p:txBody>
      </p:sp>
      <p:sp>
        <p:nvSpPr>
          <p:cNvPr id="3" name="Content Placeholder 2"/>
          <p:cNvSpPr>
            <a:spLocks noGrp="1"/>
          </p:cNvSpPr>
          <p:nvPr>
            <p:ph idx="1"/>
          </p:nvPr>
        </p:nvSpPr>
        <p:spPr/>
        <p:txBody>
          <a:bodyPr>
            <a:normAutofit/>
          </a:bodyPr>
          <a:lstStyle/>
          <a:p>
            <a:pPr marL="0" indent="0">
              <a:buNone/>
            </a:pPr>
            <a:r>
              <a:rPr lang="en-US"/>
              <a:t>1.</a:t>
            </a:r>
            <a:r>
              <a:rPr lang="en-US" b="1"/>
              <a:t> Sociological theory</a:t>
            </a:r>
            <a:r>
              <a:rPr lang="en-US"/>
              <a:t>--The theory a world view; the way in which we organize our thought to try and explain the world in which we live. Theoretical perspectives (paradigms)</a:t>
            </a:r>
          </a:p>
          <a:p>
            <a:pPr marL="0" indent="0">
              <a:buNone/>
            </a:pPr>
            <a:r>
              <a:rPr lang="en-US"/>
              <a:t>2. </a:t>
            </a:r>
            <a:r>
              <a:rPr lang="en-US" b="1"/>
              <a:t>Rural sociology </a:t>
            </a:r>
            <a:r>
              <a:rPr lang="en-US"/>
              <a:t>-Concept of rural environment,Issues in rural development,Role of religion and family in the rural development, Role of NGOs and co-operatives in rural developmentEconomic activities in the rural environment e.g. subsistence farming, Pastoralism</a:t>
            </a:r>
          </a:p>
          <a:p>
            <a:pPr marL="0" indent="0">
              <a:buNone/>
            </a:pPr>
            <a:r>
              <a:rPr lang="en-US"/>
              <a:t>3.</a:t>
            </a:r>
            <a:r>
              <a:rPr lang="en-US" b="1"/>
              <a:t> Political sociology-</a:t>
            </a:r>
            <a:r>
              <a:rPr lang="en-US"/>
              <a:t>Deals with issues of power, &amp; how to acquire and exercise power,Looks at types of government, voting patterns, democracy, and human rights</a:t>
            </a:r>
          </a:p>
          <a:p>
            <a:pPr marL="0" indent="0">
              <a:buNone/>
            </a:pP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b="1"/>
              <a:t>4. Medical sociology</a:t>
            </a:r>
            <a:r>
              <a:rPr lang="en-US"/>
              <a:t>- Deals with meaning of disease sociologically – Effects of diseases socially,Occurrence and migration of diseases,Availability and distribution of health resources and facilities.</a:t>
            </a:r>
          </a:p>
          <a:p>
            <a:pPr marL="0" indent="0">
              <a:buNone/>
            </a:pPr>
            <a:r>
              <a:rPr lang="en-US" b="1"/>
              <a:t>5. Sociology of poverty-</a:t>
            </a:r>
            <a:r>
              <a:rPr lang="en-US"/>
              <a:t> Difference of wealth and income,Income differentials,Indicators of wealth and poverty,Consequences of poverty on society.</a:t>
            </a:r>
          </a:p>
          <a:p>
            <a:pPr marL="0" indent="0">
              <a:buNone/>
            </a:pPr>
            <a:r>
              <a:rPr lang="en-US" b="1"/>
              <a:t>6. Sociology of Family,</a:t>
            </a:r>
            <a:r>
              <a:rPr lang="en-US"/>
              <a:t>Deals with family as a basic social unit,Types of Families, functions, role, etc</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b="1"/>
              <a:t>7. Urban Sociology-</a:t>
            </a:r>
            <a:r>
              <a:rPr lang="en-US"/>
              <a:t>Focuses on issues of, or concept of urbanization,Urban centers; characteristics,History of urbanization,Social issues in urban centers: Moral decadence, unemployment, poverty, housing, crime,sanitation, overcrowding.</a:t>
            </a:r>
          </a:p>
          <a:p>
            <a:pPr marL="0" indent="0">
              <a:buNone/>
            </a:pPr>
            <a:r>
              <a:rPr lang="en-US" b="1"/>
              <a:t>8. Sociology of knowledge-</a:t>
            </a:r>
            <a:r>
              <a:rPr lang="en-US"/>
              <a:t>Social processes in the production of knowledge and how it is used in society</a:t>
            </a:r>
          </a:p>
          <a:p>
            <a:pPr marL="0" indent="0">
              <a:buNone/>
            </a:pPr>
            <a:r>
              <a:rPr lang="en-US" b="1"/>
              <a:t>9. Sociology of Law-</a:t>
            </a:r>
            <a:r>
              <a:rPr lang="en-US"/>
              <a:t>Social contexts and development of law</a:t>
            </a:r>
          </a:p>
          <a:p>
            <a:pPr marL="0" indent="0">
              <a:buNone/>
            </a:pPr>
            <a:r>
              <a:rPr lang="en-US"/>
              <a:t>Functions of law in society</a:t>
            </a:r>
          </a:p>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b="1"/>
              <a:t>10. Sociology of Religion-</a:t>
            </a:r>
            <a:r>
              <a:rPr lang="en-US"/>
              <a:t> Meaning and origin of religion, belief systems, characteristics, theories of religion, functions of,religion in society.</a:t>
            </a:r>
          </a:p>
          <a:p>
            <a:pPr marL="0" indent="0">
              <a:buNone/>
            </a:pPr>
            <a:r>
              <a:rPr lang="en-US" b="1"/>
              <a:t>11. Sociology of Education--</a:t>
            </a:r>
            <a:r>
              <a:rPr lang="en-US"/>
              <a:t>Deals with systematic analysis of social aspects and processes in Education,It sees Education as a system as well as a structure within society,Sees interactions between Education as a social institution and other social institutions,Studies the interaction patterns within Education as a system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1797"/>
          </a:xfrm>
        </p:spPr>
        <p:txBody>
          <a:bodyPr>
            <a:normAutofit fontScale="90000"/>
          </a:bodyPr>
          <a:lstStyle/>
          <a:p>
            <a:r>
              <a:rPr lang="en-US" b="1" dirty="0" smtClean="0">
                <a:sym typeface="+mn-ea"/>
              </a:rPr>
              <a:t/>
            </a:r>
            <a:br>
              <a:rPr lang="en-US" b="1" dirty="0" smtClean="0">
                <a:sym typeface="+mn-ea"/>
              </a:rPr>
            </a:br>
            <a:r>
              <a:rPr lang="en-US" b="1" dirty="0" smtClean="0">
                <a:sym typeface="+mn-ea"/>
              </a:rPr>
              <a:t>DEVELOPMENT </a:t>
            </a:r>
            <a:r>
              <a:rPr lang="en-US" b="1" dirty="0">
                <a:sym typeface="+mn-ea"/>
              </a:rPr>
              <a:t>OF SOCIOLOGY</a:t>
            </a:r>
            <a:r>
              <a:rPr lang="en-US" dirty="0"/>
              <a:t/>
            </a:r>
            <a:br>
              <a:rPr lang="en-US" dirty="0"/>
            </a:br>
            <a:endParaRPr lang="en-US" dirty="0"/>
          </a:p>
        </p:txBody>
      </p:sp>
      <p:sp>
        <p:nvSpPr>
          <p:cNvPr id="3" name="Content Placeholder 2"/>
          <p:cNvSpPr>
            <a:spLocks noGrp="1"/>
          </p:cNvSpPr>
          <p:nvPr>
            <p:ph idx="1"/>
          </p:nvPr>
        </p:nvSpPr>
        <p:spPr>
          <a:xfrm>
            <a:off x="145774" y="1179442"/>
            <a:ext cx="12046226" cy="6321287"/>
          </a:xfrm>
        </p:spPr>
        <p:txBody>
          <a:bodyPr>
            <a:noAutofit/>
          </a:bodyPr>
          <a:lstStyle/>
          <a:p>
            <a:pPr marL="0" indent="0">
              <a:buNone/>
            </a:pPr>
            <a:r>
              <a:rPr lang="en-US" sz="3200" dirty="0">
                <a:latin typeface="Times New Roman" panose="02020603050405020304" pitchFamily="18" charset="0"/>
                <a:cs typeface="Times New Roman" panose="02020603050405020304" pitchFamily="18" charset="0"/>
              </a:rPr>
              <a:t>The factors that contributed to the development of sociology include;</a:t>
            </a:r>
          </a:p>
          <a:p>
            <a:pPr marL="0" indent="0">
              <a:buNone/>
            </a:pPr>
            <a:r>
              <a:rPr lang="en-US" sz="3200" dirty="0">
                <a:latin typeface="Times New Roman" panose="02020603050405020304" pitchFamily="18" charset="0"/>
                <a:cs typeface="Times New Roman" panose="02020603050405020304" pitchFamily="18" charset="0"/>
              </a:rPr>
              <a:t>a) The emergence of </a:t>
            </a:r>
            <a:r>
              <a:rPr lang="en-US" sz="3200" b="1" dirty="0">
                <a:latin typeface="Times New Roman" panose="02020603050405020304" pitchFamily="18" charset="0"/>
                <a:cs typeface="Times New Roman" panose="02020603050405020304" pitchFamily="18" charset="0"/>
              </a:rPr>
              <a:t>new social issues</a:t>
            </a:r>
            <a:r>
              <a:rPr lang="en-US" sz="3200" dirty="0">
                <a:latin typeface="Times New Roman" panose="02020603050405020304" pitchFamily="18" charset="0"/>
                <a:cs typeface="Times New Roman" panose="02020603050405020304" pitchFamily="18" charset="0"/>
              </a:rPr>
              <a:t>-----The New problems that were not adequately addressed by philosophy/ science of that </a:t>
            </a:r>
            <a:r>
              <a:rPr lang="en-US" sz="3200" dirty="0" smtClean="0">
                <a:latin typeface="Times New Roman" panose="02020603050405020304" pitchFamily="18" charset="0"/>
                <a:cs typeface="Times New Roman" panose="02020603050405020304" pitchFamily="18" charset="0"/>
              </a:rPr>
              <a:t>time</a:t>
            </a:r>
            <a:r>
              <a:rPr lang="en-US" sz="3200" dirty="0">
                <a:latin typeface="Times New Roman" panose="02020603050405020304" pitchFamily="18" charset="0"/>
                <a:cs typeface="Times New Roman" panose="02020603050405020304" pitchFamily="18" charset="0"/>
              </a:rPr>
              <a:t>.</a:t>
            </a:r>
          </a:p>
          <a:p>
            <a:pPr marL="0" indent="0">
              <a:buNone/>
            </a:pPr>
            <a:r>
              <a:rPr lang="en-US" sz="3200" dirty="0">
                <a:latin typeface="Times New Roman" panose="02020603050405020304" pitchFamily="18" charset="0"/>
                <a:cs typeface="Times New Roman" panose="02020603050405020304" pitchFamily="18" charset="0"/>
              </a:rPr>
              <a:t>(b)</a:t>
            </a:r>
            <a:r>
              <a:rPr lang="en-US" sz="3200" b="1" dirty="0">
                <a:latin typeface="Times New Roman" panose="02020603050405020304" pitchFamily="18" charset="0"/>
                <a:cs typeface="Times New Roman" panose="02020603050405020304" pitchFamily="18" charset="0"/>
              </a:rPr>
              <a:t>Industrial revolution</a:t>
            </a:r>
            <a:r>
              <a:rPr lang="en-US" sz="3200" dirty="0">
                <a:latin typeface="Times New Roman" panose="02020603050405020304" pitchFamily="18" charset="0"/>
                <a:cs typeface="Times New Roman" panose="02020603050405020304" pitchFamily="18" charset="0"/>
              </a:rPr>
              <a:t> ----Rapid development of society gave rise to new problems e.g. Issues of poverty, pollution, </a:t>
            </a:r>
            <a:r>
              <a:rPr lang="en-US" sz="3200" dirty="0" err="1">
                <a:latin typeface="Times New Roman" panose="02020603050405020304" pitchFamily="18" charset="0"/>
                <a:cs typeface="Times New Roman" panose="02020603050405020304" pitchFamily="18" charset="0"/>
              </a:rPr>
              <a:t>crime,urbanization</a:t>
            </a:r>
            <a:r>
              <a:rPr lang="en-US" sz="3200" dirty="0">
                <a:latin typeface="Times New Roman" panose="02020603050405020304" pitchFamily="18" charset="0"/>
                <a:cs typeface="Times New Roman" panose="02020603050405020304" pitchFamily="18" charset="0"/>
              </a:rPr>
              <a:t> and related urban problem (housing, sanitation, overcrowding </a:t>
            </a:r>
            <a:r>
              <a:rPr lang="en-US" sz="3200" dirty="0" err="1">
                <a:latin typeface="Times New Roman" panose="02020603050405020304" pitchFamily="18" charset="0"/>
                <a:cs typeface="Times New Roman" panose="02020603050405020304" pitchFamily="18" charset="0"/>
              </a:rPr>
              <a:t>etc</a:t>
            </a:r>
            <a:endParaRPr lang="en-US" sz="3200" dirty="0">
              <a:latin typeface="Times New Roman" panose="02020603050405020304" pitchFamily="18" charset="0"/>
              <a:cs typeface="Times New Roman" panose="02020603050405020304" pitchFamily="18" charset="0"/>
            </a:endParaRPr>
          </a:p>
          <a:p>
            <a:pPr marL="0" indent="0">
              <a:buNone/>
            </a:pPr>
            <a:endParaRPr lang="en-US" sz="3200" dirty="0" smtClean="0">
              <a:latin typeface="Times New Roman" panose="02020603050405020304" pitchFamily="18" charset="0"/>
              <a:cs typeface="Times New Roman" panose="02020603050405020304" pitchFamily="18" charset="0"/>
            </a:endParaRPr>
          </a:p>
          <a:p>
            <a:pPr marL="0" indent="0">
              <a:buNone/>
            </a:pPr>
            <a:r>
              <a:rPr lang="en-US" sz="3200" dirty="0" smtClean="0">
                <a:latin typeface="Times New Roman" panose="02020603050405020304" pitchFamily="18" charset="0"/>
                <a:cs typeface="Times New Roman" panose="02020603050405020304" pitchFamily="18" charset="0"/>
              </a:rPr>
              <a:t>This </a:t>
            </a:r>
            <a:r>
              <a:rPr lang="en-US" sz="3200" dirty="0">
                <a:latin typeface="Times New Roman" panose="02020603050405020304" pitchFamily="18" charset="0"/>
                <a:cs typeface="Times New Roman" panose="02020603050405020304" pitchFamily="18" charset="0"/>
              </a:rPr>
              <a:t>was coupled by the rallying call of </a:t>
            </a:r>
            <a:r>
              <a:rPr lang="en-US" sz="3200" b="1" dirty="0">
                <a:latin typeface="Times New Roman" panose="02020603050405020304" pitchFamily="18" charset="0"/>
                <a:cs typeface="Times New Roman" panose="02020603050405020304" pitchFamily="18" charset="0"/>
              </a:rPr>
              <a:t>French Revolution</a:t>
            </a:r>
            <a:r>
              <a:rPr lang="en-US" sz="3200" dirty="0">
                <a:latin typeface="Times New Roman" panose="02020603050405020304" pitchFamily="18" charset="0"/>
                <a:cs typeface="Times New Roman" panose="02020603050405020304" pitchFamily="18" charset="0"/>
              </a:rPr>
              <a:t> of Liberty, Equality and Fraternity. (</a:t>
            </a:r>
            <a:r>
              <a:rPr lang="en-US" sz="3200" dirty="0" err="1">
                <a:latin typeface="Times New Roman" panose="02020603050405020304" pitchFamily="18" charset="0"/>
                <a:cs typeface="Times New Roman" panose="02020603050405020304" pitchFamily="18" charset="0"/>
              </a:rPr>
              <a:t>Liberte</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Egalite</a:t>
            </a:r>
            <a:endParaRPr lang="en-US" sz="3200"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Fraternity)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Philosophical Roots of Sociology of Education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0087" y="1825624"/>
            <a:ext cx="10823713" cy="5032375"/>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Sociology of Education has its roots in Sociology, Also has its origin in other Philosophies of Education namely:-</a:t>
            </a:r>
          </a:p>
          <a:p>
            <a:pPr marL="0" indent="0">
              <a:buNone/>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Philosophy of Individualistic Pedagogy </a:t>
            </a:r>
            <a:r>
              <a:rPr lang="en-US" dirty="0">
                <a:latin typeface="Times New Roman" panose="02020603050405020304" pitchFamily="18" charset="0"/>
                <a:cs typeface="Times New Roman" panose="02020603050405020304" pitchFamily="18" charset="0"/>
              </a:rPr>
              <a:t>– Child centered approach. Major proponents of this approach </a:t>
            </a:r>
            <a:r>
              <a:rPr lang="en-US" dirty="0" smtClean="0">
                <a:latin typeface="Times New Roman" panose="02020603050405020304" pitchFamily="18" charset="0"/>
                <a:cs typeface="Times New Roman" panose="02020603050405020304" pitchFamily="18" charset="0"/>
              </a:rPr>
              <a:t>include;</a:t>
            </a:r>
            <a:endParaRPr lang="en-US" dirty="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Jean </a:t>
            </a:r>
            <a:r>
              <a:rPr lang="en-US" dirty="0">
                <a:latin typeface="Times New Roman" panose="02020603050405020304" pitchFamily="18" charset="0"/>
                <a:cs typeface="Times New Roman" panose="02020603050405020304" pitchFamily="18" charset="0"/>
              </a:rPr>
              <a:t>Jacque Rousseau, Immanuel </a:t>
            </a:r>
            <a:r>
              <a:rPr lang="en-US" dirty="0" err="1">
                <a:latin typeface="Times New Roman" panose="02020603050405020304" pitchFamily="18" charset="0"/>
                <a:cs typeface="Times New Roman" panose="02020603050405020304" pitchFamily="18" charset="0"/>
              </a:rPr>
              <a:t>Kant,Ivan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Illich,Fredrick</a:t>
            </a:r>
            <a:r>
              <a:rPr lang="en-US" dirty="0">
                <a:latin typeface="Times New Roman" panose="02020603050405020304" pitchFamily="18" charset="0"/>
                <a:cs typeface="Times New Roman" panose="02020603050405020304" pitchFamily="18" charset="0"/>
              </a:rPr>
              <a:t> Froebel</a:t>
            </a:r>
          </a:p>
          <a:p>
            <a:pPr marL="0" indent="0">
              <a:buNone/>
            </a:pPr>
            <a:r>
              <a:rPr lang="en-US" dirty="0">
                <a:latin typeface="Times New Roman" panose="02020603050405020304" pitchFamily="18" charset="0"/>
                <a:cs typeface="Times New Roman" panose="02020603050405020304" pitchFamily="18" charset="0"/>
              </a:rPr>
              <a:t>This school of thought emphasizes that education should produce free individual</a:t>
            </a: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aims and content of Education should reflect individual rather than social interests i.e. the primary aim of Education should be to achieve personal happiness and well-being of the learner.</a:t>
            </a:r>
          </a:p>
          <a:p>
            <a:r>
              <a:rPr lang="en-US" dirty="0">
                <a:latin typeface="Times New Roman" panose="02020603050405020304" pitchFamily="18" charset="0"/>
                <a:cs typeface="Times New Roman" panose="02020603050405020304" pitchFamily="18" charset="0"/>
              </a:rPr>
              <a:t>State </a:t>
            </a:r>
            <a:r>
              <a:rPr lang="en-US" dirty="0" smtClean="0">
                <a:latin typeface="Times New Roman" panose="02020603050405020304" pitchFamily="18" charset="0"/>
                <a:cs typeface="Times New Roman" panose="02020603050405020304" pitchFamily="18" charset="0"/>
              </a:rPr>
              <a:t>interference </a:t>
            </a:r>
            <a:r>
              <a:rPr lang="en-US" dirty="0">
                <a:latin typeface="Times New Roman" panose="02020603050405020304" pitchFamily="18" charset="0"/>
                <a:cs typeface="Times New Roman" panose="02020603050405020304" pitchFamily="18" charset="0"/>
              </a:rPr>
              <a:t>should be limited.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449"/>
          </a:xfrm>
        </p:spPr>
        <p:txBody>
          <a:bodyPr>
            <a:normAutofit fontScale="90000"/>
          </a:bodyPr>
          <a:lstStyle/>
          <a:p>
            <a:endParaRPr lang="en-US" dirty="0"/>
          </a:p>
        </p:txBody>
      </p:sp>
      <p:sp>
        <p:nvSpPr>
          <p:cNvPr id="3" name="Content Placeholder 2"/>
          <p:cNvSpPr>
            <a:spLocks noGrp="1"/>
          </p:cNvSpPr>
          <p:nvPr>
            <p:ph idx="1"/>
          </p:nvPr>
        </p:nvSpPr>
        <p:spPr>
          <a:xfrm>
            <a:off x="838200" y="702364"/>
            <a:ext cx="10515600" cy="6155635"/>
          </a:xfrm>
        </p:spPr>
        <p:txBody>
          <a:bodyPr>
            <a:normAutofit fontScale="97500"/>
          </a:bodyPr>
          <a:lstStyle/>
          <a:p>
            <a:pPr marL="0" indent="0">
              <a:buNone/>
            </a:pPr>
            <a:r>
              <a:rPr lang="en-US" b="1" dirty="0">
                <a:latin typeface="Times New Roman" panose="02020603050405020304" pitchFamily="18" charset="0"/>
                <a:cs typeface="Times New Roman" panose="02020603050405020304" pitchFamily="18" charset="0"/>
              </a:rPr>
              <a:t>Jean Jacque Rousseau (1712-1778)</a:t>
            </a:r>
            <a:r>
              <a:rPr lang="en-US" dirty="0">
                <a:latin typeface="Times New Roman" panose="02020603050405020304" pitchFamily="18" charset="0"/>
                <a:cs typeface="Times New Roman" panose="02020603050405020304" pitchFamily="18" charset="0"/>
              </a:rPr>
              <a:t>-He argues that Educators should not begin Education by focusing on syllabus or the content</a:t>
            </a:r>
            <a:r>
              <a:rPr lang="en-US" dirty="0" smtClean="0">
                <a:latin typeface="Times New Roman" panose="02020603050405020304" pitchFamily="18" charset="0"/>
                <a:cs typeface="Times New Roman" panose="02020603050405020304" pitchFamily="18" charset="0"/>
              </a:rPr>
              <a:t>. Instead, consider </a:t>
            </a:r>
            <a:r>
              <a:rPr lang="en-US" dirty="0">
                <a:latin typeface="Times New Roman" panose="02020603050405020304" pitchFamily="18" charset="0"/>
                <a:cs typeface="Times New Roman" panose="02020603050405020304" pitchFamily="18" charset="0"/>
              </a:rPr>
              <a:t>the interest of the child. </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Education </a:t>
            </a:r>
            <a:r>
              <a:rPr lang="en-US" dirty="0">
                <a:latin typeface="Times New Roman" panose="02020603050405020304" pitchFamily="18" charset="0"/>
                <a:cs typeface="Times New Roman" panose="02020603050405020304" pitchFamily="18" charset="0"/>
              </a:rPr>
              <a:t>should ensure the development of a human being who enjoys learning and who is keen to continue learning.</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Fredrick Froebel (1782-1852) </a:t>
            </a:r>
            <a:r>
              <a:rPr lang="en-US" dirty="0">
                <a:latin typeface="Times New Roman" panose="02020603050405020304" pitchFamily="18" charset="0"/>
                <a:cs typeface="Times New Roman" panose="02020603050405020304" pitchFamily="18" charset="0"/>
              </a:rPr>
              <a:t>Proposed that children should be nurtured very carefully</a:t>
            </a:r>
          </a:p>
          <a:p>
            <a:pPr marL="0" indent="0">
              <a:buNone/>
            </a:pPr>
            <a:r>
              <a:rPr lang="en-US" dirty="0" smtClean="0">
                <a:latin typeface="Times New Roman" panose="02020603050405020304" pitchFamily="18" charset="0"/>
                <a:cs typeface="Times New Roman" panose="02020603050405020304" pitchFamily="18" charset="0"/>
              </a:rPr>
              <a:t>He </a:t>
            </a:r>
            <a:r>
              <a:rPr lang="en-US" dirty="0">
                <a:latin typeface="Times New Roman" panose="02020603050405020304" pitchFamily="18" charset="0"/>
                <a:cs typeface="Times New Roman" panose="02020603050405020304" pitchFamily="18" charset="0"/>
              </a:rPr>
              <a:t>suggested idea  of “Kindergarten”-A garden of children. Like a gardener, a teacher should take great care of his/her children/learners. </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learning environment should be pleasant. </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school should have enough play toys and playthings for the child</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0416" y="365126"/>
            <a:ext cx="10310193" cy="1132370"/>
          </a:xfrm>
        </p:spPr>
        <p:txBody>
          <a:bodyPr>
            <a:normAutofit fontScale="90000"/>
          </a:bodyPr>
          <a:lstStyle/>
          <a:p>
            <a:pPr marL="0" indent="0"/>
            <a:r>
              <a:rPr lang="en-US" b="1" dirty="0">
                <a:latin typeface="Times New Roman" panose="02020603050405020304" pitchFamily="18" charset="0"/>
                <a:cs typeface="Times New Roman" panose="02020603050405020304" pitchFamily="18" charset="0"/>
              </a:rPr>
              <a:t>Ivan </a:t>
            </a:r>
            <a:r>
              <a:rPr lang="en-US" b="1" dirty="0" err="1">
                <a:latin typeface="Times New Roman" panose="02020603050405020304" pitchFamily="18" charset="0"/>
                <a:cs typeface="Times New Roman" panose="02020603050405020304" pitchFamily="18" charset="0"/>
              </a:rPr>
              <a:t>Illich</a:t>
            </a:r>
            <a:r>
              <a:rPr lang="en-US" b="1" dirty="0">
                <a:latin typeface="Times New Roman" panose="02020603050405020304" pitchFamily="18" charset="0"/>
                <a:cs typeface="Times New Roman" panose="02020603050405020304" pitchFamily="18" charset="0"/>
              </a:rPr>
              <a:t> (1926-2002</a:t>
            </a: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and Everett Reimer (1910-1998)</a:t>
            </a:r>
          </a:p>
        </p:txBody>
      </p:sp>
      <p:sp>
        <p:nvSpPr>
          <p:cNvPr id="3" name="Content Placeholder 2"/>
          <p:cNvSpPr>
            <a:spLocks noGrp="1"/>
          </p:cNvSpPr>
          <p:nvPr>
            <p:ph idx="1"/>
          </p:nvPr>
        </p:nvSpPr>
        <p:spPr>
          <a:xfrm>
            <a:off x="1020416" y="1603513"/>
            <a:ext cx="10707759" cy="5254487"/>
          </a:xfrm>
        </p:spPr>
        <p:txBody>
          <a:bodyPr>
            <a:normAutofit/>
          </a:bodyPr>
          <a:lstStyle/>
          <a:p>
            <a:r>
              <a:rPr lang="en-US" dirty="0" smtClean="0">
                <a:latin typeface="Times New Roman" panose="02020603050405020304" pitchFamily="18" charset="0"/>
                <a:cs typeface="Times New Roman" panose="02020603050405020304" pitchFamily="18" charset="0"/>
              </a:rPr>
              <a:t>This 2</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De </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schoolers</a:t>
            </a:r>
            <a:r>
              <a:rPr lang="en-US" dirty="0">
                <a:latin typeface="Times New Roman" panose="02020603050405020304" pitchFamily="18" charset="0"/>
                <a:cs typeface="Times New Roman" panose="02020603050405020304" pitchFamily="18" charset="0"/>
              </a:rPr>
              <a:t>," met at the Catholic University of Puerto Rico. Reimer was a student of </a:t>
            </a:r>
            <a:r>
              <a:rPr lang="en-US" dirty="0" err="1">
                <a:latin typeface="Times New Roman" panose="02020603050405020304" pitchFamily="18" charset="0"/>
                <a:cs typeface="Times New Roman" panose="02020603050405020304" pitchFamily="18" charset="0"/>
              </a:rPr>
              <a:t>Illich</a:t>
            </a:r>
            <a:r>
              <a:rPr lang="en-US" dirty="0">
                <a:latin typeface="Times New Roman" panose="02020603050405020304" pitchFamily="18" charset="0"/>
                <a:cs typeface="Times New Roman" panose="02020603050405020304" pitchFamily="18" charset="0"/>
              </a:rPr>
              <a:t>. </a:t>
            </a:r>
          </a:p>
          <a:p>
            <a:r>
              <a:rPr lang="en-US" dirty="0" err="1">
                <a:latin typeface="Times New Roman" panose="02020603050405020304" pitchFamily="18" charset="0"/>
                <a:cs typeface="Times New Roman" panose="02020603050405020304" pitchFamily="18" charset="0"/>
              </a:rPr>
              <a:t>Illich</a:t>
            </a:r>
            <a:r>
              <a:rPr lang="en-US" dirty="0">
                <a:latin typeface="Times New Roman" panose="02020603050405020304" pitchFamily="18" charset="0"/>
                <a:cs typeface="Times New Roman" panose="02020603050405020304" pitchFamily="18" charset="0"/>
              </a:rPr>
              <a:t> wrote “</a:t>
            </a:r>
            <a:r>
              <a:rPr lang="en-US" dirty="0" err="1">
                <a:latin typeface="Times New Roman" panose="02020603050405020304" pitchFamily="18" charset="0"/>
                <a:cs typeface="Times New Roman" panose="02020603050405020304" pitchFamily="18" charset="0"/>
              </a:rPr>
              <a:t>Deschooling</a:t>
            </a:r>
            <a:r>
              <a:rPr lang="en-US" dirty="0">
                <a:latin typeface="Times New Roman" panose="02020603050405020304" pitchFamily="18" charset="0"/>
                <a:cs typeface="Times New Roman" panose="02020603050405020304" pitchFamily="18" charset="0"/>
              </a:rPr>
              <a:t> Society.” (1970) </a:t>
            </a:r>
            <a:r>
              <a:rPr lang="en-US" dirty="0" smtClean="0">
                <a:latin typeface="Times New Roman" panose="02020603050405020304" pitchFamily="18" charset="0"/>
                <a:cs typeface="Times New Roman" panose="02020603050405020304" pitchFamily="18" charset="0"/>
              </a:rPr>
              <a:t>and ;</a:t>
            </a:r>
          </a:p>
          <a:p>
            <a:pPr marL="0" indent="0">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Reimer's "The School is Dead" (1971</a:t>
            </a:r>
            <a:r>
              <a:rPr lang="en-US" dirty="0" smtClean="0">
                <a:latin typeface="Times New Roman" panose="02020603050405020304" pitchFamily="18" charset="0"/>
                <a:cs typeface="Times New Roman" panose="02020603050405020304" pitchFamily="18" charset="0"/>
              </a:rPr>
              <a:t>).Proponents </a:t>
            </a:r>
            <a:r>
              <a:rPr lang="en-US" dirty="0">
                <a:latin typeface="Times New Roman" panose="02020603050405020304" pitchFamily="18" charset="0"/>
                <a:cs typeface="Times New Roman" panose="02020603050405020304" pitchFamily="18" charset="0"/>
              </a:rPr>
              <a:t>of alternatives in education.</a:t>
            </a:r>
          </a:p>
          <a:p>
            <a:pPr marL="0" indent="0">
              <a:buNone/>
            </a:pPr>
            <a:r>
              <a:rPr lang="en-US" dirty="0">
                <a:latin typeface="Times New Roman" panose="02020603050405020304" pitchFamily="18" charset="0"/>
                <a:cs typeface="Times New Roman" panose="02020603050405020304" pitchFamily="18" charset="0"/>
              </a:rPr>
              <a:t> They proposed that the current school system is anti-educational because it kills creativity among learners. </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Learners </a:t>
            </a:r>
            <a:r>
              <a:rPr lang="en-US" dirty="0">
                <a:latin typeface="Times New Roman" panose="02020603050405020304" pitchFamily="18" charset="0"/>
                <a:cs typeface="Times New Roman" panose="02020603050405020304" pitchFamily="18" charset="0"/>
              </a:rPr>
              <a:t>are made to believe that they cannot learn anything unless if taught. </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According </a:t>
            </a:r>
            <a:r>
              <a:rPr lang="en-US" dirty="0">
                <a:latin typeface="Times New Roman" panose="02020603050405020304" pitchFamily="18" charset="0"/>
                <a:cs typeface="Times New Roman" panose="02020603050405020304" pitchFamily="18" charset="0"/>
              </a:rPr>
              <a:t>to </a:t>
            </a:r>
            <a:r>
              <a:rPr lang="en-US" dirty="0" err="1">
                <a:latin typeface="Times New Roman" panose="02020603050405020304" pitchFamily="18" charset="0"/>
                <a:cs typeface="Times New Roman" panose="02020603050405020304" pitchFamily="18" charset="0"/>
              </a:rPr>
              <a:t>Illich</a:t>
            </a:r>
            <a:r>
              <a:rPr lang="en-US" dirty="0">
                <a:latin typeface="Times New Roman" panose="02020603050405020304" pitchFamily="18" charset="0"/>
                <a:cs typeface="Times New Roman" panose="02020603050405020304" pitchFamily="18" charset="0"/>
              </a:rPr>
              <a:t>, most learning is not necessarily the result of teaching.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0416" y="365125"/>
            <a:ext cx="10333383" cy="244475"/>
          </a:xfrm>
        </p:spPr>
        <p:txBody>
          <a:bodyPr>
            <a:normAutofit fontScale="90000"/>
          </a:bodyPr>
          <a:lstStyle/>
          <a:p>
            <a:endParaRPr lang="en-US" dirty="0"/>
          </a:p>
        </p:txBody>
      </p:sp>
      <p:sp>
        <p:nvSpPr>
          <p:cNvPr id="3" name="Content Placeholder 2"/>
          <p:cNvSpPr>
            <a:spLocks noGrp="1"/>
          </p:cNvSpPr>
          <p:nvPr>
            <p:ph idx="1"/>
          </p:nvPr>
        </p:nvSpPr>
        <p:spPr>
          <a:xfrm>
            <a:off x="755374" y="702365"/>
            <a:ext cx="10598426" cy="5474598"/>
          </a:xfrm>
        </p:spPr>
        <p:txBody>
          <a:bodyPr/>
          <a:lstStyle/>
          <a:p>
            <a:pPr marL="0" indent="0">
              <a:buNone/>
            </a:pPr>
            <a:r>
              <a:rPr lang="en-US" dirty="0">
                <a:latin typeface="Times New Roman" panose="02020603050405020304" pitchFamily="18" charset="0"/>
                <a:cs typeface="Times New Roman" panose="02020603050405020304" pitchFamily="18" charset="0"/>
                <a:sym typeface="+mn-ea"/>
              </a:rPr>
              <a:t> </a:t>
            </a:r>
            <a:r>
              <a:rPr lang="en-US" dirty="0" err="1" smtClean="0">
                <a:latin typeface="Times New Roman" panose="02020603050405020304" pitchFamily="18" charset="0"/>
                <a:cs typeface="Times New Roman" panose="02020603050405020304" pitchFamily="18" charset="0"/>
              </a:rPr>
              <a:t>Illich</a:t>
            </a:r>
            <a:r>
              <a:rPr lang="en-US" dirty="0" smtClean="0">
                <a:latin typeface="Times New Roman" panose="02020603050405020304" pitchFamily="18" charset="0"/>
                <a:cs typeface="Times New Roman" panose="02020603050405020304" pitchFamily="18" charset="0"/>
                <a:sym typeface="+mn-ea"/>
              </a:rPr>
              <a:t> </a:t>
            </a:r>
            <a:r>
              <a:rPr lang="en-US" dirty="0">
                <a:latin typeface="Times New Roman" panose="02020603050405020304" pitchFamily="18" charset="0"/>
                <a:cs typeface="Times New Roman" panose="02020603050405020304" pitchFamily="18" charset="0"/>
                <a:sym typeface="+mn-ea"/>
              </a:rPr>
              <a:t>criticized certification; as indicators of one’s talent, skill or what one has achieved. </a:t>
            </a:r>
            <a:endParaRPr lang="en-US" dirty="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sym typeface="+mn-ea"/>
              </a:rPr>
              <a:t>He argued that ;Certification is not </a:t>
            </a:r>
            <a:r>
              <a:rPr lang="en-US" dirty="0">
                <a:latin typeface="Times New Roman" panose="02020603050405020304" pitchFamily="18" charset="0"/>
                <a:cs typeface="Times New Roman" panose="02020603050405020304" pitchFamily="18" charset="0"/>
                <a:sym typeface="+mn-ea"/>
              </a:rPr>
              <a:t>a reliable measure of achievement and capability of a learner</a:t>
            </a:r>
            <a:r>
              <a:rPr lang="en-US" dirty="0" smtClean="0">
                <a:latin typeface="Times New Roman" panose="02020603050405020304" pitchFamily="18" charset="0"/>
                <a:cs typeface="Times New Roman" panose="02020603050405020304" pitchFamily="18" charset="0"/>
                <a:sym typeface="+mn-ea"/>
              </a:rPr>
              <a:t>.</a:t>
            </a:r>
          </a:p>
          <a:p>
            <a:pPr marL="0" indent="0">
              <a:buNone/>
            </a:pPr>
            <a:r>
              <a:rPr lang="en-US" dirty="0" smtClean="0">
                <a:latin typeface="Times New Roman" panose="02020603050405020304" pitchFamily="18" charset="0"/>
                <a:cs typeface="Times New Roman" panose="02020603050405020304" pitchFamily="18" charset="0"/>
                <a:sym typeface="+mn-ea"/>
              </a:rPr>
              <a:t>He </a:t>
            </a:r>
            <a:r>
              <a:rPr lang="en-US" dirty="0">
                <a:latin typeface="Times New Roman" panose="02020603050405020304" pitchFamily="18" charset="0"/>
                <a:cs typeface="Times New Roman" panose="02020603050405020304" pitchFamily="18" charset="0"/>
                <a:sym typeface="+mn-ea"/>
              </a:rPr>
              <a:t>suggested use of learning by  experience and discovery –learners can observe, test, experiment with materials. </a:t>
            </a:r>
          </a:p>
          <a:p>
            <a:pPr marL="0" indent="0">
              <a:buNone/>
            </a:pPr>
            <a:r>
              <a:rPr lang="en-US" dirty="0">
                <a:latin typeface="Times New Roman" panose="02020603050405020304" pitchFamily="18" charset="0"/>
                <a:cs typeface="Times New Roman" panose="02020603050405020304" pitchFamily="18" charset="0"/>
                <a:sym typeface="+mn-ea"/>
              </a:rPr>
              <a:t>The role of the teacher under this approach should be passive. A teacher should not pose as the expert of knowledge.</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993912"/>
          </a:xfrm>
        </p:spPr>
        <p:txBody>
          <a:bodyPr/>
          <a:lstStyle/>
          <a:p>
            <a:r>
              <a:rPr lang="en-US" b="1" dirty="0">
                <a:latin typeface="Times New Roman" panose="02020603050405020304" pitchFamily="18" charset="0"/>
                <a:cs typeface="Times New Roman" panose="02020603050405020304" pitchFamily="18" charset="0"/>
              </a:rPr>
              <a:t>b)The Philosophy of Social Pedagogy-</a:t>
            </a:r>
            <a:r>
              <a:rPr lang="en-US" dirty="0">
                <a:latin typeface="Times New Roman" panose="02020603050405020304" pitchFamily="18" charset="0"/>
                <a:cs typeface="Times New Roman" panose="02020603050405020304" pitchFamily="18" charset="0"/>
              </a:rPr>
              <a:t>--</a:t>
            </a:r>
            <a:endParaRPr lang="en-US" dirty="0"/>
          </a:p>
        </p:txBody>
      </p:sp>
      <p:sp>
        <p:nvSpPr>
          <p:cNvPr id="3" name="Content Placeholder 2"/>
          <p:cNvSpPr>
            <a:spLocks noGrp="1"/>
          </p:cNvSpPr>
          <p:nvPr>
            <p:ph idx="1"/>
          </p:nvPr>
        </p:nvSpPr>
        <p:spPr>
          <a:xfrm>
            <a:off x="702365" y="901148"/>
            <a:ext cx="10651435" cy="5275815"/>
          </a:xfrm>
        </p:spPr>
        <p:txBody>
          <a:bodyPr>
            <a:normAutofit fontScale="97500"/>
          </a:bodyPr>
          <a:lstStyle/>
          <a:p>
            <a:pPr marL="0" indent="0">
              <a:buNone/>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philosophy was developed as an alternative to the child centered approach</a:t>
            </a:r>
            <a:r>
              <a:rPr lang="en-US" dirty="0" smtClean="0">
                <a:latin typeface="Times New Roman" panose="02020603050405020304" pitchFamily="18" charset="0"/>
                <a:cs typeface="Times New Roman" panose="02020603050405020304" pitchFamily="18" charset="0"/>
              </a:rPr>
              <a:t>.</a:t>
            </a:r>
          </a:p>
          <a:p>
            <a:pPr marL="0" indent="0">
              <a:buNone/>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major proponents were - John Dewey, </a:t>
            </a:r>
            <a:r>
              <a:rPr lang="en-US" dirty="0" err="1">
                <a:latin typeface="Times New Roman" panose="02020603050405020304" pitchFamily="18" charset="0"/>
                <a:cs typeface="Times New Roman" panose="02020603050405020304" pitchFamily="18" charset="0"/>
              </a:rPr>
              <a:t>Emille</a:t>
            </a:r>
            <a:r>
              <a:rPr lang="en-US" dirty="0">
                <a:latin typeface="Times New Roman" panose="02020603050405020304" pitchFamily="18" charset="0"/>
                <a:cs typeface="Times New Roman" panose="02020603050405020304" pitchFamily="18" charset="0"/>
              </a:rPr>
              <a:t> Durkheim and Paul </a:t>
            </a:r>
            <a:r>
              <a:rPr lang="en-US" dirty="0" err="1">
                <a:latin typeface="Times New Roman" panose="02020603050405020304" pitchFamily="18" charset="0"/>
                <a:cs typeface="Times New Roman" panose="02020603050405020304" pitchFamily="18" charset="0"/>
              </a:rPr>
              <a:t>Natrop</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approach believe that Education is a social phenomenon or process.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One </a:t>
            </a:r>
            <a:r>
              <a:rPr lang="en-US" dirty="0">
                <a:latin typeface="Times New Roman" panose="02020603050405020304" pitchFamily="18" charset="0"/>
                <a:cs typeface="Times New Roman" panose="02020603050405020304" pitchFamily="18" charset="0"/>
              </a:rPr>
              <a:t>can only become human through interaction with other people in society. Therefore, Education is socially determined in </a:t>
            </a:r>
            <a:r>
              <a:rPr lang="en-US" dirty="0" err="1">
                <a:latin typeface="Times New Roman" panose="02020603050405020304" pitchFamily="18" charset="0"/>
                <a:cs typeface="Times New Roman" panose="02020603050405020304" pitchFamily="18" charset="0"/>
              </a:rPr>
              <a:t>aims,content</a:t>
            </a:r>
            <a:r>
              <a:rPr lang="en-US" dirty="0">
                <a:latin typeface="Times New Roman" panose="02020603050405020304" pitchFamily="18" charset="0"/>
                <a:cs typeface="Times New Roman" panose="02020603050405020304" pitchFamily="18" charset="0"/>
              </a:rPr>
              <a:t> and methods – Education has to serve the needs of society.</a:t>
            </a:r>
          </a:p>
          <a:p>
            <a:r>
              <a:rPr lang="en-US" dirty="0">
                <a:latin typeface="Times New Roman" panose="02020603050405020304" pitchFamily="18" charset="0"/>
                <a:cs typeface="Times New Roman" panose="02020603050405020304" pitchFamily="18" charset="0"/>
              </a:rPr>
              <a:t>Aims – Why?</a:t>
            </a:r>
          </a:p>
          <a:p>
            <a:r>
              <a:rPr lang="en-US" dirty="0">
                <a:latin typeface="Times New Roman" panose="02020603050405020304" pitchFamily="18" charset="0"/>
                <a:cs typeface="Times New Roman" panose="02020603050405020304" pitchFamily="18" charset="0"/>
              </a:rPr>
              <a:t>Content – What?</a:t>
            </a:r>
          </a:p>
          <a:p>
            <a:r>
              <a:rPr lang="en-US" dirty="0">
                <a:latin typeface="Times New Roman" panose="02020603050405020304" pitchFamily="18" charset="0"/>
                <a:cs typeface="Times New Roman" panose="02020603050405020304" pitchFamily="18" charset="0"/>
              </a:rPr>
              <a:t>Methods – How?</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9687" y="1"/>
            <a:ext cx="10214113" cy="808382"/>
          </a:xfrm>
        </p:spPr>
        <p:txBody>
          <a:bodyPr>
            <a:normAutofit/>
          </a:bodyPr>
          <a:lstStyle/>
          <a:p>
            <a:pPr marL="0" indent="0"/>
            <a:r>
              <a:rPr lang="en-US" b="1" dirty="0" smtClean="0">
                <a:latin typeface="Times New Roman" panose="02020603050405020304" pitchFamily="18" charset="0"/>
                <a:cs typeface="Times New Roman" panose="02020603050405020304" pitchFamily="18" charset="0"/>
              </a:rPr>
              <a:t>      John </a:t>
            </a:r>
            <a:r>
              <a:rPr lang="en-US" b="1" dirty="0">
                <a:latin typeface="Times New Roman" panose="02020603050405020304" pitchFamily="18" charset="0"/>
                <a:cs typeface="Times New Roman" panose="02020603050405020304" pitchFamily="18" charset="0"/>
              </a:rPr>
              <a:t>Dewey (1859 – 1952)</a:t>
            </a:r>
          </a:p>
        </p:txBody>
      </p:sp>
      <p:sp>
        <p:nvSpPr>
          <p:cNvPr id="3" name="Content Placeholder 2"/>
          <p:cNvSpPr>
            <a:spLocks noGrp="1"/>
          </p:cNvSpPr>
          <p:nvPr>
            <p:ph idx="1"/>
          </p:nvPr>
        </p:nvSpPr>
        <p:spPr>
          <a:xfrm>
            <a:off x="1020417" y="808383"/>
            <a:ext cx="10333382" cy="5368580"/>
          </a:xfrm>
        </p:spPr>
        <p:txBody>
          <a:bodyPr>
            <a:normAutofit/>
          </a:bodyPr>
          <a:lstStyle/>
          <a:p>
            <a:r>
              <a:rPr lang="en-US" dirty="0" smtClean="0">
                <a:latin typeface="Times New Roman" panose="02020603050405020304" pitchFamily="18" charset="0"/>
                <a:cs typeface="Times New Roman" panose="02020603050405020304" pitchFamily="18" charset="0"/>
              </a:rPr>
              <a:t>He </a:t>
            </a:r>
            <a:r>
              <a:rPr lang="en-US" dirty="0">
                <a:latin typeface="Times New Roman" panose="02020603050405020304" pitchFamily="18" charset="0"/>
                <a:cs typeface="Times New Roman" panose="02020603050405020304" pitchFamily="18" charset="0"/>
              </a:rPr>
              <a:t>belongs to “American Progressive School.”</a:t>
            </a:r>
          </a:p>
          <a:p>
            <a:r>
              <a:rPr lang="en-US" dirty="0">
                <a:latin typeface="Times New Roman" panose="02020603050405020304" pitchFamily="18" charset="0"/>
                <a:cs typeface="Times New Roman" panose="02020603050405020304" pitchFamily="18" charset="0"/>
              </a:rPr>
              <a:t>He argues that Education System has a strong and direct relationship with society</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It therefore has to propagate the knowledge, skills, values that are useful to society. </a:t>
            </a:r>
          </a:p>
          <a:p>
            <a:r>
              <a:rPr lang="en-US" dirty="0">
                <a:latin typeface="Times New Roman" panose="02020603050405020304" pitchFamily="18" charset="0"/>
                <a:cs typeface="Times New Roman" panose="02020603050405020304" pitchFamily="18" charset="0"/>
              </a:rPr>
              <a:t>He recommended that society should play an active role in Educating children.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Education </a:t>
            </a:r>
            <a:r>
              <a:rPr lang="en-US" dirty="0">
                <a:latin typeface="Times New Roman" panose="02020603050405020304" pitchFamily="18" charset="0"/>
                <a:cs typeface="Times New Roman" panose="02020603050405020304" pitchFamily="18" charset="0"/>
              </a:rPr>
              <a:t>should also be practical and reflect the interests, hopes, needs and expectations of society.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1890, he started a school </a:t>
            </a:r>
            <a:r>
              <a:rPr lang="en-US" dirty="0" err="1">
                <a:latin typeface="Times New Roman" panose="02020603050405020304" pitchFamily="18" charset="0"/>
                <a:cs typeface="Times New Roman" panose="02020603050405020304" pitchFamily="18" charset="0"/>
              </a:rPr>
              <a:t>called“Ideal</a:t>
            </a:r>
            <a:r>
              <a:rPr lang="en-US" dirty="0">
                <a:latin typeface="Times New Roman" panose="02020603050405020304" pitchFamily="18" charset="0"/>
                <a:cs typeface="Times New Roman" panose="02020603050405020304" pitchFamily="18" charset="0"/>
              </a:rPr>
              <a:t>/Laboratory school”-Practiced his ideas.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0904" y="1"/>
            <a:ext cx="10412896" cy="1086678"/>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
            </a:r>
            <a:br>
              <a:rPr lang="en-US" b="1" dirty="0" smtClean="0">
                <a:latin typeface="Times New Roman" panose="02020603050405020304" pitchFamily="18" charset="0"/>
                <a:cs typeface="Times New Roman" panose="02020603050405020304" pitchFamily="18" charset="0"/>
              </a:rPr>
            </a:b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Emille</a:t>
            </a:r>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Durkheim (1858 – 1917).</a:t>
            </a:r>
            <a:br>
              <a:rPr lang="en-US" b="1"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940904" y="795130"/>
            <a:ext cx="10412896" cy="5381833"/>
          </a:xfrm>
        </p:spPr>
        <p:txBody>
          <a:bodyPr>
            <a:normAutofit/>
          </a:bodyPr>
          <a:lstStyle/>
          <a:p>
            <a:r>
              <a:rPr lang="en-US" sz="3200" dirty="0" smtClean="0">
                <a:latin typeface="Times New Roman" panose="02020603050405020304" pitchFamily="18" charset="0"/>
                <a:cs typeface="Times New Roman" panose="02020603050405020304" pitchFamily="18" charset="0"/>
              </a:rPr>
              <a:t>He </a:t>
            </a:r>
            <a:r>
              <a:rPr lang="en-US" sz="3200" dirty="0">
                <a:latin typeface="Times New Roman" panose="02020603050405020304" pitchFamily="18" charset="0"/>
                <a:cs typeface="Times New Roman" panose="02020603050405020304" pitchFamily="18" charset="0"/>
              </a:rPr>
              <a:t>recommended that Sociology as a subject should be used to </a:t>
            </a:r>
            <a:r>
              <a:rPr lang="en-US" sz="3200" dirty="0" err="1">
                <a:latin typeface="Times New Roman" panose="02020603050405020304" pitchFamily="18" charset="0"/>
                <a:cs typeface="Times New Roman" panose="02020603050405020304" pitchFamily="18" charset="0"/>
              </a:rPr>
              <a:t>interprete</a:t>
            </a:r>
            <a:r>
              <a:rPr lang="en-US" sz="3200" dirty="0">
                <a:latin typeface="Times New Roman" panose="02020603050405020304" pitchFamily="18" charset="0"/>
                <a:cs typeface="Times New Roman" panose="02020603050405020304" pitchFamily="18" charset="0"/>
              </a:rPr>
              <a:t> issues of Education because like Dewey, he saw Education as social in origin, character and function</a:t>
            </a:r>
          </a:p>
          <a:p>
            <a:r>
              <a:rPr lang="en-US" sz="3200" dirty="0">
                <a:latin typeface="Times New Roman" panose="02020603050405020304" pitchFamily="18" charset="0"/>
                <a:cs typeface="Times New Roman" panose="02020603050405020304" pitchFamily="18" charset="0"/>
              </a:rPr>
              <a:t>Durkheim: –defined Education and Sociology as -“Education is the influence exercised by adult generations on those that are not yet ready for social life.</a:t>
            </a:r>
          </a:p>
          <a:p>
            <a:r>
              <a:rPr lang="en-US" sz="3200" dirty="0">
                <a:latin typeface="Times New Roman" panose="02020603050405020304" pitchFamily="18" charset="0"/>
                <a:cs typeface="Times New Roman" panose="02020603050405020304" pitchFamily="18" charset="0"/>
              </a:rPr>
              <a:t>Its object is to arouse and develop in the child a certain number of physical, intellectual and moral </a:t>
            </a:r>
            <a:r>
              <a:rPr lang="en-US" sz="3200" dirty="0" smtClean="0">
                <a:latin typeface="Times New Roman" panose="02020603050405020304" pitchFamily="18" charset="0"/>
                <a:cs typeface="Times New Roman" panose="02020603050405020304" pitchFamily="18" charset="0"/>
              </a:rPr>
              <a:t>states </a:t>
            </a:r>
          </a:p>
          <a:p>
            <a:r>
              <a:rPr lang="en-US" sz="3200" dirty="0" smtClean="0">
                <a:latin typeface="Times New Roman" panose="02020603050405020304" pitchFamily="18" charset="0"/>
                <a:cs typeface="Times New Roman" panose="02020603050405020304" pitchFamily="18" charset="0"/>
              </a:rPr>
              <a:t>The </a:t>
            </a:r>
            <a:r>
              <a:rPr lang="en-US" sz="3200" dirty="0">
                <a:latin typeface="Times New Roman" panose="02020603050405020304" pitchFamily="18" charset="0"/>
                <a:cs typeface="Times New Roman" panose="02020603050405020304" pitchFamily="18" charset="0"/>
              </a:rPr>
              <a:t>person who needs to emerge from education is not the person made by nature”.</a:t>
            </a:r>
          </a:p>
          <a:p>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6694" y="365126"/>
            <a:ext cx="10327105" cy="100096"/>
          </a:xfrm>
        </p:spPr>
        <p:txBody>
          <a:bodyPr>
            <a:normAutofit fontScale="90000"/>
          </a:bodyPr>
          <a:lstStyle/>
          <a:p>
            <a:endParaRPr lang="en-US" dirty="0"/>
          </a:p>
        </p:txBody>
      </p:sp>
      <p:sp>
        <p:nvSpPr>
          <p:cNvPr id="3" name="Content Placeholder 2"/>
          <p:cNvSpPr>
            <a:spLocks noGrp="1"/>
          </p:cNvSpPr>
          <p:nvPr>
            <p:ph idx="1"/>
          </p:nvPr>
        </p:nvSpPr>
        <p:spPr>
          <a:xfrm>
            <a:off x="834189" y="625642"/>
            <a:ext cx="10519611" cy="5551321"/>
          </a:xfrm>
        </p:spPr>
        <p:txBody>
          <a:bodyPr>
            <a:normAutofit/>
          </a:bodyPr>
          <a:lstStyle/>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Therefore </a:t>
            </a:r>
            <a:r>
              <a:rPr lang="en-US" dirty="0">
                <a:latin typeface="Times New Roman" panose="02020603050405020304" pitchFamily="18" charset="0"/>
                <a:cs typeface="Times New Roman" panose="02020603050405020304" pitchFamily="18" charset="0"/>
              </a:rPr>
              <a:t>education has the role to socialize the youths into responsible </a:t>
            </a:r>
            <a:r>
              <a:rPr lang="en-US" dirty="0" smtClean="0">
                <a:latin typeface="Times New Roman" panose="02020603050405020304" pitchFamily="18" charset="0"/>
                <a:cs typeface="Times New Roman" panose="02020603050405020304" pitchFamily="18" charset="0"/>
              </a:rPr>
              <a:t>adults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role of socialization had to be carefully undertaken and not left to forces of Nature.</a:t>
            </a:r>
          </a:p>
          <a:p>
            <a:r>
              <a:rPr lang="en-US" dirty="0" smtClean="0">
                <a:latin typeface="Times New Roman" panose="02020603050405020304" pitchFamily="18" charset="0"/>
                <a:cs typeface="Times New Roman" panose="02020603050405020304" pitchFamily="18" charset="0"/>
              </a:rPr>
              <a:t>He </a:t>
            </a:r>
            <a:r>
              <a:rPr lang="en-US" dirty="0">
                <a:latin typeface="Times New Roman" panose="02020603050405020304" pitchFamily="18" charset="0"/>
                <a:cs typeface="Times New Roman" panose="02020603050405020304" pitchFamily="18" charset="0"/>
              </a:rPr>
              <a:t>said that education should be a deliberate attempt to develop an individual who is capable of living in harmony with others in society and contribute positively to society.</a:t>
            </a:r>
          </a:p>
          <a:p>
            <a:r>
              <a:rPr lang="en-US" dirty="0">
                <a:latin typeface="Times New Roman" panose="02020603050405020304" pitchFamily="18" charset="0"/>
                <a:cs typeface="Times New Roman" panose="02020603050405020304" pitchFamily="18" charset="0"/>
              </a:rPr>
              <a:t> To him, education was a social action</a:t>
            </a:r>
            <a:r>
              <a:rPr lang="en-US" dirty="0"/>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latin typeface="Times New Roman" panose="02020603050405020304" pitchFamily="18" charset="0"/>
                <a:cs typeface="Times New Roman" panose="02020603050405020304" pitchFamily="18" charset="0"/>
                <a:sym typeface="+mn-ea"/>
              </a:rPr>
              <a:t>Definition of Term </a:t>
            </a:r>
            <a:r>
              <a:rPr lang="en-US" b="1" dirty="0" smtClean="0">
                <a:latin typeface="Times New Roman" panose="02020603050405020304" pitchFamily="18" charset="0"/>
                <a:cs typeface="Times New Roman" panose="02020603050405020304" pitchFamily="18" charset="0"/>
              </a:rPr>
              <a:t>Education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marL="0" indent="0">
              <a:buNone/>
            </a:pPr>
            <a:r>
              <a:rPr lang="en-US" dirty="0" smtClean="0">
                <a:latin typeface="Times New Roman" panose="02020603050405020304" pitchFamily="18" charset="0"/>
                <a:cs typeface="Times New Roman" panose="02020603050405020304" pitchFamily="18" charset="0"/>
              </a:rPr>
              <a:t>Etymologically;- </a:t>
            </a:r>
          </a:p>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word "</a:t>
            </a:r>
            <a:r>
              <a:rPr lang="en-US" dirty="0">
                <a:solidFill>
                  <a:schemeClr val="accent2"/>
                </a:solidFill>
                <a:latin typeface="Times New Roman" panose="02020603050405020304" pitchFamily="18" charset="0"/>
                <a:cs typeface="Times New Roman" panose="02020603050405020304" pitchFamily="18" charset="0"/>
              </a:rPr>
              <a:t>Education" </a:t>
            </a:r>
            <a:r>
              <a:rPr lang="en-US" dirty="0">
                <a:latin typeface="Times New Roman" panose="02020603050405020304" pitchFamily="18" charset="0"/>
                <a:cs typeface="Times New Roman" panose="02020603050405020304" pitchFamily="18" charset="0"/>
              </a:rPr>
              <a:t>is derived from the Latin words </a:t>
            </a:r>
            <a:r>
              <a:rPr lang="en-US" dirty="0">
                <a:solidFill>
                  <a:srgbClr val="00B0F0"/>
                </a:solidFill>
                <a:latin typeface="Times New Roman" panose="02020603050405020304" pitchFamily="18" charset="0"/>
                <a:cs typeface="Times New Roman" panose="02020603050405020304" pitchFamily="18" charset="0"/>
              </a:rPr>
              <a:t>"</a:t>
            </a:r>
            <a:r>
              <a:rPr lang="en-US" dirty="0" err="1">
                <a:solidFill>
                  <a:srgbClr val="00B0F0"/>
                </a:solidFill>
                <a:latin typeface="Times New Roman" panose="02020603050405020304" pitchFamily="18" charset="0"/>
                <a:cs typeface="Times New Roman" panose="02020603050405020304" pitchFamily="18" charset="0"/>
              </a:rPr>
              <a:t>educare</a:t>
            </a:r>
            <a:r>
              <a:rPr lang="en-US" dirty="0">
                <a:solidFill>
                  <a:srgbClr val="00B0F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a:t>
            </a:r>
            <a:r>
              <a:rPr lang="en-US" dirty="0">
                <a:solidFill>
                  <a:srgbClr val="00B0F0"/>
                </a:solidFill>
                <a:latin typeface="Times New Roman" panose="02020603050405020304" pitchFamily="18" charset="0"/>
                <a:cs typeface="Times New Roman" panose="02020603050405020304" pitchFamily="18" charset="0"/>
              </a:rPr>
              <a:t>"</a:t>
            </a:r>
            <a:r>
              <a:rPr lang="en-US" dirty="0" err="1">
                <a:solidFill>
                  <a:srgbClr val="00B0F0"/>
                </a:solidFill>
                <a:latin typeface="Times New Roman" panose="02020603050405020304" pitchFamily="18" charset="0"/>
                <a:cs typeface="Times New Roman" panose="02020603050405020304" pitchFamily="18" charset="0"/>
              </a:rPr>
              <a:t>educere</a:t>
            </a:r>
            <a:r>
              <a:rPr lang="en-US" dirty="0">
                <a:solidFill>
                  <a:srgbClr val="00B0F0"/>
                </a:solidFill>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Educare</a:t>
            </a:r>
            <a:r>
              <a:rPr lang="en-US" dirty="0">
                <a:latin typeface="Times New Roman" panose="02020603050405020304" pitchFamily="18" charset="0"/>
                <a:cs typeface="Times New Roman" panose="02020603050405020304" pitchFamily="18" charset="0"/>
              </a:rPr>
              <a:t> refers to "to bring up' or "to nourish", whereas the word '</a:t>
            </a:r>
            <a:r>
              <a:rPr lang="en-US" dirty="0" err="1">
                <a:latin typeface="Times New Roman" panose="02020603050405020304" pitchFamily="18" charset="0"/>
                <a:cs typeface="Times New Roman" panose="02020603050405020304" pitchFamily="18" charset="0"/>
              </a:rPr>
              <a:t>educere</a:t>
            </a:r>
            <a:r>
              <a:rPr lang="en-US" dirty="0">
                <a:latin typeface="Times New Roman" panose="02020603050405020304" pitchFamily="18" charset="0"/>
                <a:cs typeface="Times New Roman" panose="02020603050405020304" pitchFamily="18" charset="0"/>
              </a:rPr>
              <a:t>" means to "to bring forth" or "to </a:t>
            </a:r>
            <a:r>
              <a:rPr lang="en-US" dirty="0" smtClean="0">
                <a:latin typeface="Times New Roman" panose="02020603050405020304" pitchFamily="18" charset="0"/>
                <a:cs typeface="Times New Roman" panose="02020603050405020304" pitchFamily="18" charset="0"/>
              </a:rPr>
              <a:t>drag </a:t>
            </a:r>
            <a:r>
              <a:rPr lang="en-US" dirty="0" err="1">
                <a:latin typeface="Times New Roman" panose="02020603050405020304" pitchFamily="18" charset="0"/>
                <a:cs typeface="Times New Roman" panose="02020603050405020304" pitchFamily="18" charset="0"/>
              </a:rPr>
              <a:t>out</a:t>
            </a:r>
            <a:r>
              <a:rPr lang="en-US" dirty="0" err="1" smtClean="0">
                <a:latin typeface="Times New Roman" panose="02020603050405020304" pitchFamily="18" charset="0"/>
                <a:cs typeface="Times New Roman" panose="02020603050405020304" pitchFamily="18" charset="0"/>
              </a:rPr>
              <a:t>".</a:t>
            </a:r>
          </a:p>
          <a:p>
            <a:r>
              <a:rPr lang="en-US" dirty="0" err="1" smtClean="0">
                <a:latin typeface="Times New Roman" panose="02020603050405020304" pitchFamily="18" charset="0"/>
                <a:cs typeface="Times New Roman" panose="02020603050405020304" pitchFamily="18" charset="0"/>
              </a:rPr>
              <a:t>Other</a:t>
            </a:r>
            <a:r>
              <a:rPr lang="en-US" dirty="0" smtClean="0">
                <a:latin typeface="Times New Roman" panose="02020603050405020304" pitchFamily="18" charset="0"/>
                <a:cs typeface="Times New Roman" panose="02020603050405020304" pitchFamily="18" charset="0"/>
              </a:rPr>
              <a:t> Scholars  believe </a:t>
            </a:r>
            <a:r>
              <a:rPr lang="en-US" dirty="0">
                <a:latin typeface="Times New Roman" panose="02020603050405020304" pitchFamily="18" charset="0"/>
                <a:cs typeface="Times New Roman" panose="02020603050405020304" pitchFamily="18" charset="0"/>
              </a:rPr>
              <a:t>that the word </a:t>
            </a:r>
            <a:r>
              <a:rPr lang="en-US" dirty="0" smtClean="0">
                <a:latin typeface="Times New Roman" panose="02020603050405020304" pitchFamily="18" charset="0"/>
                <a:cs typeface="Times New Roman" panose="02020603050405020304" pitchFamily="18" charset="0"/>
              </a:rPr>
              <a:t>is derived </a:t>
            </a:r>
            <a:r>
              <a:rPr lang="en-US" dirty="0">
                <a:latin typeface="Times New Roman" panose="02020603050405020304" pitchFamily="18" charset="0"/>
                <a:cs typeface="Times New Roman" panose="02020603050405020304" pitchFamily="18" charset="0"/>
              </a:rPr>
              <a:t>from </a:t>
            </a:r>
            <a:r>
              <a:rPr lang="en-US" dirty="0" smtClean="0">
                <a:latin typeface="Times New Roman" panose="02020603050405020304" pitchFamily="18" charset="0"/>
                <a:cs typeface="Times New Roman" panose="02020603050405020304" pitchFamily="18" charset="0"/>
              </a:rPr>
              <a:t>the Latin </a:t>
            </a:r>
            <a:r>
              <a:rPr lang="en-US" dirty="0">
                <a:latin typeface="Times New Roman" panose="02020603050405020304" pitchFamily="18" charset="0"/>
                <a:cs typeface="Times New Roman" panose="02020603050405020304" pitchFamily="18" charset="0"/>
              </a:rPr>
              <a:t>word "</a:t>
            </a:r>
            <a:r>
              <a:rPr lang="en-US" dirty="0" err="1">
                <a:latin typeface="Times New Roman" panose="02020603050405020304" pitchFamily="18" charset="0"/>
                <a:cs typeface="Times New Roman" panose="02020603050405020304" pitchFamily="18" charset="0"/>
              </a:rPr>
              <a:t>educantum</a:t>
            </a:r>
            <a:r>
              <a:rPr lang="en-US" dirty="0">
                <a:latin typeface="Times New Roman" panose="02020603050405020304" pitchFamily="18" charset="0"/>
                <a:cs typeface="Times New Roman" panose="02020603050405020304" pitchFamily="18" charset="0"/>
              </a:rPr>
              <a:t>" which has two components. "E implies a movement from inward to outward and "</a:t>
            </a:r>
            <a:r>
              <a:rPr lang="en-US" dirty="0" err="1">
                <a:latin typeface="Times New Roman" panose="02020603050405020304" pitchFamily="18" charset="0"/>
                <a:cs typeface="Times New Roman" panose="02020603050405020304" pitchFamily="18" charset="0"/>
              </a:rPr>
              <a:t>duco</a:t>
            </a:r>
            <a:r>
              <a:rPr lang="en-US" dirty="0">
                <a:latin typeface="Times New Roman" panose="02020603050405020304" pitchFamily="18" charset="0"/>
                <a:cs typeface="Times New Roman" panose="02020603050405020304" pitchFamily="18" charset="0"/>
              </a:rPr>
              <a:t>" refers to developing or progressing. </a:t>
            </a:r>
            <a:r>
              <a:rPr lang="en-US" dirty="0" smtClean="0">
                <a:latin typeface="Times New Roman" panose="02020603050405020304" pitchFamily="18" charset="0"/>
                <a:cs typeface="Times New Roman" panose="02020603050405020304" pitchFamily="18" charset="0"/>
              </a:rPr>
              <a:t>This implies that </a:t>
            </a:r>
            <a:r>
              <a:rPr lang="en-US" dirty="0">
                <a:latin typeface="Times New Roman" panose="02020603050405020304" pitchFamily="18" charset="0"/>
                <a:cs typeface="Times New Roman" panose="02020603050405020304" pitchFamily="18" charset="0"/>
              </a:rPr>
              <a:t>education aims at providing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learner </a:t>
            </a:r>
            <a:r>
              <a:rPr lang="en-US" dirty="0" smtClean="0">
                <a:latin typeface="Times New Roman" panose="02020603050405020304" pitchFamily="18" charset="0"/>
                <a:cs typeface="Times New Roman" panose="02020603050405020304" pitchFamily="18" charset="0"/>
              </a:rPr>
              <a:t>with nourishing </a:t>
            </a:r>
            <a:r>
              <a:rPr lang="en-US" dirty="0">
                <a:latin typeface="Times New Roman" panose="02020603050405020304" pitchFamily="18" charset="0"/>
                <a:cs typeface="Times New Roman" panose="02020603050405020304" pitchFamily="18" charset="0"/>
              </a:rPr>
              <a:t>environment </a:t>
            </a:r>
            <a:r>
              <a:rPr lang="en-US" dirty="0" smtClean="0">
                <a:latin typeface="Times New Roman" panose="02020603050405020304" pitchFamily="18" charset="0"/>
                <a:cs typeface="Times New Roman" panose="02020603050405020304" pitchFamily="18" charset="0"/>
              </a:rPr>
              <a:t>so as to  bring  </a:t>
            </a:r>
            <a:r>
              <a:rPr lang="en-US" dirty="0">
                <a:latin typeface="Times New Roman" panose="02020603050405020304" pitchFamily="18" charset="0"/>
                <a:cs typeface="Times New Roman" panose="02020603050405020304" pitchFamily="18" charset="0"/>
              </a:rPr>
              <a:t>out and develop the </a:t>
            </a:r>
            <a:r>
              <a:rPr lang="en-US" dirty="0" smtClean="0">
                <a:latin typeface="Times New Roman" panose="02020603050405020304" pitchFamily="18" charset="0"/>
                <a:cs typeface="Times New Roman" panose="02020603050405020304" pitchFamily="18" charset="0"/>
              </a:rPr>
              <a:t>concealed potentiality in him</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122" y="119271"/>
            <a:ext cx="10611678" cy="1571418"/>
          </a:xfrm>
        </p:spPr>
        <p:txBody>
          <a:bodyPr>
            <a:normAutofit/>
          </a:bodyPr>
          <a:lstStyle/>
          <a:p>
            <a:r>
              <a:rPr lang="en-US" b="1" dirty="0" smtClean="0">
                <a:latin typeface="Times New Roman" panose="02020603050405020304" pitchFamily="18" charset="0"/>
                <a:cs typeface="Times New Roman" panose="02020603050405020304" pitchFamily="18" charset="0"/>
              </a:rPr>
              <a:t>Other perspectives of explaining the meaning of the term Education;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77516" y="1825624"/>
            <a:ext cx="10776284" cy="5168733"/>
          </a:xfrm>
        </p:spPr>
        <p:txBody>
          <a:bodyPr>
            <a:normAutofit/>
          </a:bodyPr>
          <a:lstStyle/>
          <a:p>
            <a:pPr marL="0" indent="0">
              <a:buNone/>
            </a:pPr>
            <a:r>
              <a:rPr lang="en-US" dirty="0" smtClean="0"/>
              <a:t>(</a:t>
            </a:r>
            <a:r>
              <a:rPr lang="en-US" sz="3200" b="1" dirty="0" smtClean="0"/>
              <a:t>a</a:t>
            </a:r>
            <a:r>
              <a:rPr lang="en-US" sz="3200" dirty="0" smtClean="0">
                <a:latin typeface="Times New Roman" panose="02020603050405020304" pitchFamily="18" charset="0"/>
                <a:cs typeface="Times New Roman" panose="02020603050405020304" pitchFamily="18" charset="0"/>
              </a:rPr>
              <a:t>)   </a:t>
            </a:r>
            <a:r>
              <a:rPr lang="en-US" sz="3200" b="1" dirty="0" smtClean="0">
                <a:latin typeface="Times New Roman" panose="02020603050405020304" pitchFamily="18" charset="0"/>
                <a:cs typeface="Times New Roman" panose="02020603050405020304" pitchFamily="18" charset="0"/>
              </a:rPr>
              <a:t>Education </a:t>
            </a:r>
            <a:r>
              <a:rPr lang="en-US" sz="3200" b="1" dirty="0">
                <a:latin typeface="Times New Roman" panose="02020603050405020304" pitchFamily="18" charset="0"/>
                <a:cs typeface="Times New Roman" panose="02020603050405020304" pitchFamily="18" charset="0"/>
              </a:rPr>
              <a:t>as a Spiritual Pursuit </a:t>
            </a:r>
            <a:endParaRPr lang="en-US" sz="3200" b="1" dirty="0" smtClean="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rPr>
              <a:t>Upanishads states that ; </a:t>
            </a:r>
            <a:r>
              <a:rPr lang="en-US" sz="3200" dirty="0">
                <a:latin typeface="Times New Roman" panose="02020603050405020304" pitchFamily="18" charset="0"/>
                <a:cs typeface="Times New Roman" panose="02020603050405020304" pitchFamily="18" charset="0"/>
              </a:rPr>
              <a:t>"Education is that whose end product is </a:t>
            </a:r>
            <a:r>
              <a:rPr lang="en-US" sz="3200" dirty="0" smtClean="0">
                <a:latin typeface="Times New Roman" panose="02020603050405020304" pitchFamily="18" charset="0"/>
                <a:cs typeface="Times New Roman" panose="02020603050405020304" pitchFamily="18" charset="0"/>
              </a:rPr>
              <a:t>salvation“ </a:t>
            </a:r>
          </a:p>
          <a:p>
            <a:r>
              <a:rPr lang="en-US" sz="3200" dirty="0" err="1" smtClean="0">
                <a:latin typeface="Times New Roman" panose="02020603050405020304" pitchFamily="18" charset="0"/>
                <a:cs typeface="Times New Roman" panose="02020603050405020304" pitchFamily="18" charset="0"/>
              </a:rPr>
              <a:t>Adi</a:t>
            </a:r>
            <a:r>
              <a:rPr lang="en-US" sz="3200" dirty="0" smtClean="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Shankaracharya</a:t>
            </a:r>
            <a:r>
              <a:rPr lang="en-US" sz="3200" dirty="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observes </a:t>
            </a:r>
            <a:r>
              <a:rPr lang="en-US" sz="3200" dirty="0">
                <a:latin typeface="Times New Roman" panose="02020603050405020304" pitchFamily="18" charset="0"/>
                <a:cs typeface="Times New Roman" panose="02020603050405020304" pitchFamily="18" charset="0"/>
              </a:rPr>
              <a:t>"Education is the realization of the self'. </a:t>
            </a:r>
            <a:r>
              <a:rPr lang="en-US" sz="3200" dirty="0" smtClean="0">
                <a:latin typeface="Times New Roman" panose="02020603050405020304" pitchFamily="18" charset="0"/>
                <a:cs typeface="Times New Roman" panose="02020603050405020304" pitchFamily="18" charset="0"/>
              </a:rPr>
              <a:t> </a:t>
            </a:r>
          </a:p>
          <a:p>
            <a:r>
              <a:rPr lang="en-US" sz="3200" dirty="0" smtClean="0">
                <a:latin typeface="Times New Roman" panose="02020603050405020304" pitchFamily="18" charset="0"/>
                <a:cs typeface="Times New Roman" panose="02020603050405020304" pitchFamily="18" charset="0"/>
              </a:rPr>
              <a:t>Rigveda </a:t>
            </a:r>
            <a:r>
              <a:rPr lang="en-US" sz="3200" dirty="0">
                <a:latin typeface="Times New Roman" panose="02020603050405020304" pitchFamily="18" charset="0"/>
                <a:cs typeface="Times New Roman" panose="02020603050405020304" pitchFamily="18" charset="0"/>
              </a:rPr>
              <a:t>says, "Education is something which makes a man self-reliant and selfless". </a:t>
            </a:r>
            <a:endParaRPr lang="en-US" sz="3200" dirty="0" smtClean="0">
              <a:latin typeface="Times New Roman" panose="02020603050405020304" pitchFamily="18" charset="0"/>
              <a:cs typeface="Times New Roman" panose="02020603050405020304" pitchFamily="18" charset="0"/>
            </a:endParaRPr>
          </a:p>
          <a:p>
            <a:r>
              <a:rPr lang="en-US" sz="3200" dirty="0" err="1" smtClean="0">
                <a:latin typeface="Times New Roman" panose="02020603050405020304" pitchFamily="18" charset="0"/>
                <a:cs typeface="Times New Roman" panose="02020603050405020304" pitchFamily="18" charset="0"/>
              </a:rPr>
              <a:t>Viveknand</a:t>
            </a:r>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says, "Education is the manifestation of divine perfection already existing in man".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b="1" dirty="0" smtClean="0"/>
              <a:t>b</a:t>
            </a:r>
            <a:r>
              <a:rPr lang="en-US" dirty="0" smtClean="0"/>
              <a:t>)</a:t>
            </a:r>
            <a:r>
              <a:rPr lang="en-US" b="1" dirty="0" smtClean="0">
                <a:latin typeface="Times New Roman" panose="02020603050405020304" pitchFamily="18" charset="0"/>
                <a:cs typeface="Times New Roman" panose="02020603050405020304" pitchFamily="18" charset="0"/>
              </a:rPr>
              <a:t>Development of innate human potentialities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t>According </a:t>
            </a:r>
            <a:r>
              <a:rPr lang="en-US" dirty="0"/>
              <a:t>to some </a:t>
            </a:r>
            <a:r>
              <a:rPr lang="en-US" dirty="0" smtClean="0"/>
              <a:t>educators;</a:t>
            </a:r>
          </a:p>
          <a:p>
            <a:r>
              <a:rPr lang="en-US" dirty="0" smtClean="0"/>
              <a:t> </a:t>
            </a:r>
            <a:r>
              <a:rPr lang="en-US" dirty="0"/>
              <a:t>the human being is the embodiment of rich inherent potentialities and it is the task of education to help him develop, enhance and realize these potentialities. </a:t>
            </a:r>
            <a:endParaRPr lang="en-US" dirty="0" smtClean="0"/>
          </a:p>
          <a:p>
            <a:r>
              <a:rPr lang="en-US" dirty="0" smtClean="0"/>
              <a:t>These </a:t>
            </a:r>
            <a:r>
              <a:rPr lang="en-US" dirty="0"/>
              <a:t>innate potentialities are to be tapped right from the birth of </a:t>
            </a:r>
            <a:r>
              <a:rPr lang="en-US" dirty="0" smtClean="0"/>
              <a:t>the child </a:t>
            </a:r>
            <a:r>
              <a:rPr lang="en-US" dirty="0"/>
              <a:t>and n</a:t>
            </a:r>
            <a:r>
              <a:rPr lang="en-US" dirty="0" smtClean="0"/>
              <a:t>urtured </a:t>
            </a:r>
            <a:r>
              <a:rPr lang="en-US" dirty="0"/>
              <a:t>through his growth and development </a:t>
            </a:r>
            <a:r>
              <a:rPr lang="en-US" dirty="0" smtClean="0"/>
              <a:t>to  adulthood.</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690688"/>
          </a:xfrm>
        </p:spPr>
        <p:txBody>
          <a:bodyPr>
            <a:normAutofit fontScale="90000"/>
          </a:bodyPr>
          <a:lstStyle/>
          <a:p>
            <a:r>
              <a:rPr lang="en-US" dirty="0" smtClean="0"/>
              <a:t/>
            </a:r>
            <a:br>
              <a:rPr lang="en-US" dirty="0" smtClean="0"/>
            </a:br>
            <a:r>
              <a:rPr lang="en-US" b="1" dirty="0" smtClean="0">
                <a:latin typeface="Times New Roman" panose="02020603050405020304" pitchFamily="18" charset="0"/>
                <a:cs typeface="Times New Roman" panose="02020603050405020304" pitchFamily="18" charset="0"/>
              </a:rPr>
              <a:t>(c)Education for Social </a:t>
            </a:r>
            <a:r>
              <a:rPr lang="en-US" b="1" dirty="0">
                <a:latin typeface="Times New Roman" panose="02020603050405020304" pitchFamily="18" charset="0"/>
                <a:cs typeface="Times New Roman" panose="02020603050405020304" pitchFamily="18" charset="0"/>
              </a:rPr>
              <a:t>Orientation of the Human Being</a:t>
            </a:r>
            <a:r>
              <a:rPr lang="en-US" dirty="0"/>
              <a:t/>
            </a:r>
            <a:br>
              <a:rPr lang="en-US" dirty="0"/>
            </a:br>
            <a:endParaRPr lang="en-US" dirty="0"/>
          </a:p>
        </p:txBody>
      </p:sp>
      <p:sp>
        <p:nvSpPr>
          <p:cNvPr id="3" name="Content Placeholder 2"/>
          <p:cNvSpPr>
            <a:spLocks noGrp="1"/>
          </p:cNvSpPr>
          <p:nvPr>
            <p:ph idx="1"/>
          </p:nvPr>
        </p:nvSpPr>
        <p:spPr/>
        <p:txBody>
          <a:bodyPr/>
          <a:lstStyle/>
          <a:p>
            <a:endParaRPr lang="en-US" dirty="0" smtClean="0"/>
          </a:p>
          <a:p>
            <a:r>
              <a:rPr lang="en-US" dirty="0" smtClean="0"/>
              <a:t>Some scholars  advance that education </a:t>
            </a:r>
            <a:r>
              <a:rPr lang="en-US" dirty="0"/>
              <a:t>is a means </a:t>
            </a:r>
            <a:r>
              <a:rPr lang="en-US" dirty="0" smtClean="0"/>
              <a:t>of  achieving  </a:t>
            </a:r>
            <a:r>
              <a:rPr lang="en-US" dirty="0"/>
              <a:t>larger societal goals as </a:t>
            </a:r>
            <a:r>
              <a:rPr lang="en-US" dirty="0" smtClean="0"/>
              <a:t>it is </a:t>
            </a:r>
            <a:r>
              <a:rPr lang="en-US" dirty="0"/>
              <a:t>a sub-system of the macro societal system. </a:t>
            </a:r>
            <a:endParaRPr lang="en-US" dirty="0" smtClean="0"/>
          </a:p>
          <a:p>
            <a:endParaRPr lang="en-US" dirty="0"/>
          </a:p>
          <a:p>
            <a:r>
              <a:rPr lang="en-US" dirty="0" smtClean="0"/>
              <a:t>Hence</a:t>
            </a:r>
            <a:r>
              <a:rPr lang="en-US" dirty="0"/>
              <a:t>, education of an </a:t>
            </a:r>
            <a:r>
              <a:rPr lang="en-US" dirty="0" smtClean="0"/>
              <a:t>individual should emphasize </a:t>
            </a:r>
            <a:r>
              <a:rPr lang="en-US" dirty="0"/>
              <a:t>his orientation to achieve the social goals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dirty="0" smtClean="0"/>
              <a:t> </a:t>
            </a:r>
            <a:r>
              <a:rPr lang="en-US" dirty="0"/>
              <a:t>Rousseau </a:t>
            </a:r>
            <a:r>
              <a:rPr lang="en-US" dirty="0" err="1"/>
              <a:t>said</a:t>
            </a:r>
            <a:r>
              <a:rPr lang="en-US" dirty="0" err="1" smtClean="0"/>
              <a:t>,"</a:t>
            </a:r>
            <a:r>
              <a:rPr lang="en-US" dirty="0" err="1"/>
              <a:t>Education</a:t>
            </a:r>
            <a:r>
              <a:rPr lang="en-US" dirty="0"/>
              <a:t> is the child's development from within". </a:t>
            </a:r>
            <a:endParaRPr lang="en-US" dirty="0" smtClean="0"/>
          </a:p>
          <a:p>
            <a:pPr>
              <a:buFont typeface="Wingdings" panose="05000000000000000000" pitchFamily="2" charset="2"/>
              <a:buChar char="v"/>
            </a:pPr>
            <a:r>
              <a:rPr lang="en-US" dirty="0"/>
              <a:t> </a:t>
            </a:r>
            <a:r>
              <a:rPr lang="en-US" dirty="0" smtClean="0"/>
              <a:t>Plato </a:t>
            </a:r>
            <a:r>
              <a:rPr lang="en-US" dirty="0"/>
              <a:t>propagated that, "</a:t>
            </a:r>
            <a:r>
              <a:rPr lang="en-US" dirty="0" smtClean="0"/>
              <a:t>Education develops </a:t>
            </a:r>
            <a:r>
              <a:rPr lang="en-US" dirty="0"/>
              <a:t>in the body and soul of the pupil all the beauty and all the perfection he </a:t>
            </a:r>
            <a:r>
              <a:rPr lang="en-US" dirty="0" smtClean="0"/>
              <a:t>is capable </a:t>
            </a:r>
            <a:r>
              <a:rPr lang="en-US" dirty="0"/>
              <a:t>of ', </a:t>
            </a:r>
            <a:endParaRPr lang="en-US" dirty="0" smtClean="0"/>
          </a:p>
          <a:p>
            <a:pPr>
              <a:buFont typeface="Wingdings" panose="05000000000000000000" pitchFamily="2" charset="2"/>
              <a:buChar char="v"/>
            </a:pPr>
            <a:r>
              <a:rPr lang="en-US" dirty="0" smtClean="0"/>
              <a:t>Froebel </a:t>
            </a:r>
            <a:r>
              <a:rPr lang="en-US" dirty="0"/>
              <a:t>said, "Education is unfoldment of what is already </a:t>
            </a:r>
            <a:r>
              <a:rPr lang="en-US" dirty="0" smtClean="0"/>
              <a:t>unfolded</a:t>
            </a:r>
            <a:endParaRPr lang="en-US" dirty="0"/>
          </a:p>
          <a:p>
            <a:pPr>
              <a:buFont typeface="Wingdings" panose="05000000000000000000" pitchFamily="2" charset="2"/>
              <a:buChar char="v"/>
            </a:pPr>
            <a:r>
              <a:rPr lang="en-US" dirty="0" smtClean="0"/>
              <a:t>Mahatma Gandhi</a:t>
            </a:r>
            <a:r>
              <a:rPr lang="en-US" dirty="0"/>
              <a:t>, "By education, I mean an </a:t>
            </a:r>
            <a:r>
              <a:rPr lang="en-US" dirty="0" smtClean="0"/>
              <a:t>all-round drawing </a:t>
            </a:r>
            <a:r>
              <a:rPr lang="en-US" dirty="0"/>
              <a:t>out of </a:t>
            </a:r>
            <a:r>
              <a:rPr lang="en-US" dirty="0" err="1" smtClean="0"/>
              <a:t>the best</a:t>
            </a:r>
            <a:r>
              <a:rPr lang="en-US" dirty="0" smtClean="0"/>
              <a:t> </a:t>
            </a:r>
            <a:r>
              <a:rPr lang="en-US" dirty="0"/>
              <a:t>in the child and man - body, mind and spirit</a:t>
            </a:r>
            <a:r>
              <a:rPr lang="en-US" dirty="0" smtClean="0"/>
              <a:t>".</a:t>
            </a:r>
          </a:p>
          <a:p>
            <a:pPr>
              <a:buFont typeface="Wingdings" panose="05000000000000000000" pitchFamily="2" charset="2"/>
              <a:buChar char="v"/>
            </a:pPr>
            <a:r>
              <a:rPr lang="en-US" dirty="0" smtClean="0"/>
              <a:t> </a:t>
            </a:r>
            <a:r>
              <a:rPr lang="en-US" dirty="0"/>
              <a:t>T.P. Nunn says, "Education is </a:t>
            </a:r>
            <a:r>
              <a:rPr lang="en-US" dirty="0" smtClean="0"/>
              <a:t>the complete </a:t>
            </a:r>
            <a:r>
              <a:rPr lang="en-US" dirty="0"/>
              <a:t>development of the individuality of the child so that he can make an </a:t>
            </a:r>
            <a:r>
              <a:rPr lang="en-US" dirty="0" smtClean="0"/>
              <a:t>original contribution </a:t>
            </a:r>
            <a:r>
              <a:rPr lang="en-US" dirty="0"/>
              <a:t>to human life according to the best of his </a:t>
            </a:r>
            <a:r>
              <a:rPr lang="en-US" dirty="0" smtClean="0"/>
              <a:t>capacity</a:t>
            </a:r>
            <a:r>
              <a:rPr lang="en-US" dirty="0"/>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Link to concept of education</a:t>
            </a:r>
            <a:endParaRPr lang="en-US" dirty="0"/>
          </a:p>
        </p:txBody>
      </p:sp>
      <p:sp>
        <p:nvSpPr>
          <p:cNvPr id="3" name="Content Placeholder 2"/>
          <p:cNvSpPr>
            <a:spLocks noGrp="1"/>
          </p:cNvSpPr>
          <p:nvPr>
            <p:ph idx="1"/>
          </p:nvPr>
        </p:nvSpPr>
        <p:spPr/>
        <p:txBody>
          <a:bodyPr/>
          <a:lstStyle/>
          <a:p>
            <a:r>
              <a:rPr lang="en-US" dirty="0" smtClean="0"/>
              <a:t>https</a:t>
            </a:r>
            <a:r>
              <a:rPr lang="en-US" dirty="0"/>
              <a:t>://egyankosh.ac.in/bitstream/123456789/8266/1/Unit-1.pdf</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More definitions of the term education</a:t>
            </a:r>
            <a:endParaRPr lang="en-US" b="1" dirty="0"/>
          </a:p>
        </p:txBody>
      </p:sp>
      <p:sp>
        <p:nvSpPr>
          <p:cNvPr id="3" name="Content Placeholder 2"/>
          <p:cNvSpPr>
            <a:spLocks noGrp="1"/>
          </p:cNvSpPr>
          <p:nvPr>
            <p:ph idx="1"/>
          </p:nvPr>
        </p:nvSpPr>
        <p:spPr>
          <a:xfrm>
            <a:off x="838200" y="1838325"/>
            <a:ext cx="10515600" cy="4351338"/>
          </a:xfrm>
        </p:spPr>
        <p:txBody>
          <a:bodyPr>
            <a:normAutofit fontScale="92500" lnSpcReduction="10000"/>
          </a:bodyPr>
          <a:lstStyle/>
          <a:p>
            <a:pPr marL="0" indent="0" fontAlgn="base">
              <a:buNone/>
            </a:pPr>
            <a:endParaRPr lang="en-US" dirty="0"/>
          </a:p>
          <a:p>
            <a:pPr fontAlgn="base"/>
            <a:r>
              <a:rPr lang="en-US" dirty="0"/>
              <a:t>Definition of Education by Different Authors :</a:t>
            </a:r>
          </a:p>
          <a:p>
            <a:pPr fontAlgn="base"/>
            <a:r>
              <a:rPr lang="en-US" dirty="0"/>
              <a:t>According to Socrates "Education means </a:t>
            </a:r>
            <a:r>
              <a:rPr lang="en-US" dirty="0" smtClean="0"/>
              <a:t>to  </a:t>
            </a:r>
            <a:r>
              <a:rPr lang="en-US" dirty="0"/>
              <a:t>bring out </a:t>
            </a:r>
            <a:r>
              <a:rPr lang="en-US" dirty="0" smtClean="0"/>
              <a:t> </a:t>
            </a:r>
            <a:r>
              <a:rPr lang="en-US" dirty="0"/>
              <a:t>the ideas of universal validity which are latent in the mind of every man."</a:t>
            </a:r>
          </a:p>
          <a:p>
            <a:pPr fontAlgn="base"/>
            <a:r>
              <a:rPr lang="en-US" dirty="0"/>
              <a:t>According to Plato "Education is the capacity to feel pleasure and pain at the right </a:t>
            </a:r>
            <a:r>
              <a:rPr lang="en-US" dirty="0" smtClean="0"/>
              <a:t>moment… </a:t>
            </a:r>
            <a:r>
              <a:rPr lang="en-US" dirty="0"/>
              <a:t>it develops in the body and in the soul of the student all the beauty and all the perfection which </a:t>
            </a:r>
            <a:r>
              <a:rPr lang="en-US" dirty="0" smtClean="0"/>
              <a:t>he is capable </a:t>
            </a:r>
            <a:r>
              <a:rPr lang="en-US" dirty="0"/>
              <a:t>of."</a:t>
            </a:r>
          </a:p>
          <a:p>
            <a:pPr fontAlgn="base"/>
            <a:r>
              <a:rPr lang="en-US" dirty="0"/>
              <a:t>According to Aristotle "Education is the creation of a sound mind in a sound </a:t>
            </a:r>
            <a:r>
              <a:rPr lang="en-US" dirty="0" smtClean="0"/>
              <a:t>body…. </a:t>
            </a:r>
            <a:r>
              <a:rPr lang="en-US" dirty="0"/>
              <a:t>it </a:t>
            </a:r>
            <a:r>
              <a:rPr lang="en-US" dirty="0" smtClean="0"/>
              <a:t>develops </a:t>
            </a:r>
            <a:r>
              <a:rPr lang="en-US" dirty="0"/>
              <a:t>men faculty especially his mind so that he may be able to enjoy the implementation of </a:t>
            </a:r>
            <a:r>
              <a:rPr lang="en-US" dirty="0" smtClean="0"/>
              <a:t>supreme </a:t>
            </a:r>
            <a:r>
              <a:rPr lang="en-US" dirty="0"/>
              <a:t>goodness and beauty of which perfect happiness essentially consist."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According to John Dewey "Education is the development of all those capacities in the individual which will enable him to control his environment and fulfil his responsibilities.</a:t>
            </a:r>
          </a:p>
          <a:p>
            <a:r>
              <a:rPr lang="en-US" dirty="0"/>
              <a:t>According to Heinrich Pestalozzi "Education is natural harmonious and progressive development of man's innate powers."</a:t>
            </a:r>
          </a:p>
          <a:p>
            <a:r>
              <a:rPr lang="en-US" dirty="0"/>
              <a:t>According to Rousseau "Education of man </a:t>
            </a:r>
            <a:r>
              <a:rPr lang="en-US" dirty="0" smtClean="0"/>
              <a:t>commences </a:t>
            </a:r>
            <a:r>
              <a:rPr lang="en-US" dirty="0"/>
              <a:t>at his birth before he can speak, before he can understand he is already instructed. Experience is </a:t>
            </a:r>
            <a:r>
              <a:rPr lang="en-US" dirty="0" smtClean="0"/>
              <a:t>the </a:t>
            </a:r>
            <a:r>
              <a:rPr lang="en-US" dirty="0"/>
              <a:t>forerunner of precept."</a:t>
            </a:r>
          </a:p>
          <a:p>
            <a:r>
              <a:rPr lang="en-US" dirty="0"/>
              <a:t>According to Martin Luther King junior "The function of education is to teach one to think intensively and to think critically. Intelligence Plus character </a:t>
            </a:r>
            <a:r>
              <a:rPr lang="en-US" dirty="0" smtClean="0"/>
              <a:t> </a:t>
            </a:r>
            <a:r>
              <a:rPr lang="en-US" dirty="0"/>
              <a:t>is the goal of true education."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dirty="0" smtClean="0"/>
              <a:t>According </a:t>
            </a:r>
            <a:r>
              <a:rPr lang="en-US" dirty="0"/>
              <a:t>to H B Adams "Education make" people easy to lead, but difficult to drive, easy to govern but impossible to enslave.</a:t>
            </a:r>
          </a:p>
          <a:p>
            <a:pPr>
              <a:buFont typeface="Wingdings" panose="05000000000000000000" pitchFamily="2" charset="2"/>
              <a:buChar char="v"/>
            </a:pPr>
            <a:r>
              <a:rPr lang="en-US" dirty="0"/>
              <a:t>According to Friedrich William Froebel "Education is enfolded of what is already in faltered in the germ. It is the process through which the child makes the internal-external."</a:t>
            </a:r>
          </a:p>
          <a:p>
            <a:pPr>
              <a:buFont typeface="Wingdings" panose="05000000000000000000" pitchFamily="2" charset="2"/>
              <a:buChar char="v"/>
            </a:pPr>
            <a:r>
              <a:rPr lang="en-US" dirty="0"/>
              <a:t>Herbert Spencer "Education is complete living."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a:t>•Singh, Y. M. (1992). Sociological Foundations of Education, </a:t>
            </a:r>
            <a:r>
              <a:rPr lang="en-US" dirty="0" err="1"/>
              <a:t>Sheth</a:t>
            </a:r>
            <a:r>
              <a:rPr lang="en-US" dirty="0"/>
              <a:t> Publishers, Bombay • </a:t>
            </a:r>
            <a:endParaRPr lang="en-US" dirty="0" smtClean="0"/>
          </a:p>
          <a:p>
            <a:pPr>
              <a:buFont typeface="Wingdings" panose="05000000000000000000" pitchFamily="2" charset="2"/>
              <a:buChar char="v"/>
            </a:pPr>
            <a:r>
              <a:rPr lang="en-US" dirty="0" err="1" smtClean="0"/>
              <a:t>Mathur</a:t>
            </a:r>
            <a:r>
              <a:rPr lang="en-US" dirty="0" smtClean="0"/>
              <a:t> </a:t>
            </a:r>
            <a:r>
              <a:rPr lang="en-US" dirty="0"/>
              <a:t>S.S. A Sociological Approach to Indian Education </a:t>
            </a:r>
            <a:endParaRPr lang="en-US" dirty="0" smtClean="0"/>
          </a:p>
          <a:p>
            <a:pPr>
              <a:buFont typeface="Wingdings" panose="05000000000000000000" pitchFamily="2" charset="2"/>
              <a:buChar char="v"/>
            </a:pPr>
            <a:r>
              <a:rPr lang="en-US" dirty="0" smtClean="0"/>
              <a:t> </a:t>
            </a:r>
            <a:r>
              <a:rPr lang="en-US" dirty="0"/>
              <a:t>Aggarwal J. C. Theory and Principles of Education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Origins and </a:t>
            </a:r>
            <a:r>
              <a:rPr lang="en-US" b="1" dirty="0" smtClean="0"/>
              <a:t>Development/Definition </a:t>
            </a:r>
            <a:r>
              <a:rPr lang="en-US" b="1" dirty="0"/>
              <a:t>of Sociology of Education</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smtClean="0"/>
              <a:t>Sociology of Education; It’s a branch of sociology </a:t>
            </a:r>
          </a:p>
          <a:p>
            <a:pPr>
              <a:buFont typeface="Wingdings" panose="05000000000000000000" pitchFamily="2" charset="2"/>
              <a:buChar char="v"/>
            </a:pPr>
            <a:r>
              <a:rPr lang="en-US" dirty="0" smtClean="0"/>
              <a:t>studies how social institutions affect educational processes and outcomes.</a:t>
            </a:r>
          </a:p>
          <a:p>
            <a:pPr>
              <a:buFont typeface="Wingdings" panose="05000000000000000000" pitchFamily="2" charset="2"/>
              <a:buChar char="v"/>
            </a:pPr>
            <a:r>
              <a:rPr lang="en-US" dirty="0" smtClean="0"/>
              <a:t>Investigates the functions of education, that is, what education does, its methods, institutions, administration and curricula in relation to other parts of the society such as the economy, government, religion and the family. </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dirty="0" smtClean="0"/>
              <a:t>The </a:t>
            </a:r>
            <a:r>
              <a:rPr lang="en-US" dirty="0"/>
              <a:t>sociology of education is the study of how public institutions and individual experiences affect education and its outcomes. It is most concerned with the public schooling systems of modern industrial societies, including the expansion of higher, further, adult, and continuing education</a:t>
            </a:r>
            <a:r>
              <a:rPr lang="en-US" dirty="0" smtClean="0"/>
              <a:t>.</a:t>
            </a:r>
          </a:p>
          <a:p>
            <a:pPr>
              <a:buFont typeface="Wingdings" panose="05000000000000000000" pitchFamily="2" charset="2"/>
              <a:buChar char="v"/>
            </a:pPr>
            <a:r>
              <a:rPr lang="en-US" dirty="0" smtClean="0"/>
              <a:t>It  is the scientific </a:t>
            </a:r>
            <a:r>
              <a:rPr lang="en-US" dirty="0"/>
              <a:t>analysis of the social processes and social patterns involved in the educational system. </a:t>
            </a:r>
            <a:r>
              <a:rPr lang="en-US" dirty="0" smtClean="0">
                <a:sym typeface="+mn-ea"/>
              </a:rPr>
              <a:t>The </a:t>
            </a:r>
            <a:r>
              <a:rPr lang="en-US" dirty="0">
                <a:sym typeface="+mn-ea"/>
              </a:rPr>
              <a:t>sociology of education also seeks to establish how the educational outcomes are influenced by the religion, cultural heritage, beliefs and traditions</a:t>
            </a:r>
            <a:endParaRPr lang="en-US" dirty="0"/>
          </a:p>
          <a:p>
            <a:pPr>
              <a:buFont typeface="Wingdings" panose="05000000000000000000" pitchFamily="2" charset="2"/>
              <a:buChar char="v"/>
            </a:pPr>
            <a:endParaRPr lang="en-US" dirty="0" smtClean="0"/>
          </a:p>
          <a:p>
            <a:pPr>
              <a:buFont typeface="Wingdings" panose="05000000000000000000" pitchFamily="2" charset="2"/>
              <a:buChar char="v"/>
            </a:pP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dirty="0" smtClean="0"/>
              <a:t>The origin and the development of Sociology of Education could be traced majorly to the works and theories of these two Sociologist; Emile Durkheim and Max Weber. …most especially Durkheim, his work on sociology of education set a standard for this subfield of Sociology.</a:t>
            </a:r>
          </a:p>
          <a:p>
            <a:pPr>
              <a:buFont typeface="Wingdings" panose="05000000000000000000" pitchFamily="2" charset="2"/>
              <a:buChar char="v"/>
            </a:pPr>
            <a:r>
              <a:rPr lang="en-US" dirty="0" smtClean="0"/>
              <a:t>Other scholars include Karl Mannheim and John Dewey. </a:t>
            </a:r>
          </a:p>
          <a:p>
            <a:pPr>
              <a:buFont typeface="Wingdings" panose="05000000000000000000" pitchFamily="2" charset="2"/>
              <a:buChar char="v"/>
            </a:pPr>
            <a:r>
              <a:rPr lang="en-US" dirty="0" smtClean="0"/>
              <a:t>Emile Durkheim (1858 - 1917) was a distinguished French scholar. </a:t>
            </a:r>
            <a:endParaRPr lang="en-US" dirty="0"/>
          </a:p>
          <a:p>
            <a:pPr>
              <a:buFont typeface="Wingdings" panose="05000000000000000000" pitchFamily="2" charset="2"/>
              <a:buChar char="v"/>
            </a:pP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Structure of Society</a:t>
            </a:r>
          </a:p>
        </p:txBody>
      </p:sp>
      <p:sp>
        <p:nvSpPr>
          <p:cNvPr id="3" name="Content Placeholder 2"/>
          <p:cNvSpPr>
            <a:spLocks noGrp="1"/>
          </p:cNvSpPr>
          <p:nvPr>
            <p:ph idx="1"/>
          </p:nvPr>
        </p:nvSpPr>
        <p:spPr/>
        <p:txBody>
          <a:bodyPr>
            <a:normAutofit/>
          </a:bodyPr>
          <a:lstStyle/>
          <a:p>
            <a:r>
              <a:rPr lang="en-US" dirty="0" smtClean="0"/>
              <a:t>According to Ballantine ;the structure of the society (</a:t>
            </a:r>
            <a:r>
              <a:rPr lang="en-US" dirty="0" err="1" smtClean="0"/>
              <a:t>ie</a:t>
            </a:r>
            <a:r>
              <a:rPr lang="en-US" dirty="0" smtClean="0"/>
              <a:t> the recurring patterns of behavior and ordered interrelationships to achieve the needs of the people is represented by six institutions namely </a:t>
            </a:r>
          </a:p>
          <a:p>
            <a:pPr>
              <a:buFont typeface="Wingdings" panose="05000000000000000000" pitchFamily="2" charset="2"/>
              <a:buChar char="v"/>
            </a:pPr>
            <a:r>
              <a:rPr lang="en-US" dirty="0" smtClean="0"/>
              <a:t>The family </a:t>
            </a:r>
          </a:p>
          <a:p>
            <a:pPr>
              <a:buFont typeface="Wingdings" panose="05000000000000000000" pitchFamily="2" charset="2"/>
              <a:buChar char="v"/>
            </a:pPr>
            <a:r>
              <a:rPr lang="en-US" dirty="0" smtClean="0"/>
              <a:t>The School/Education </a:t>
            </a:r>
          </a:p>
          <a:p>
            <a:pPr>
              <a:buFont typeface="Wingdings" panose="05000000000000000000" pitchFamily="2" charset="2"/>
              <a:buChar char="v"/>
            </a:pPr>
            <a:r>
              <a:rPr lang="en-US" dirty="0" smtClean="0"/>
              <a:t> Religion </a:t>
            </a:r>
          </a:p>
          <a:p>
            <a:pPr>
              <a:buFont typeface="Wingdings" panose="05000000000000000000" pitchFamily="2" charset="2"/>
              <a:buChar char="v"/>
            </a:pPr>
            <a:r>
              <a:rPr lang="en-US" dirty="0" smtClean="0"/>
              <a:t> Politics</a:t>
            </a:r>
          </a:p>
          <a:p>
            <a:pPr>
              <a:buFont typeface="Wingdings" panose="05000000000000000000" pitchFamily="2" charset="2"/>
              <a:buChar char="v"/>
            </a:pPr>
            <a:r>
              <a:rPr lang="en-US" dirty="0" smtClean="0"/>
              <a:t> Economics </a:t>
            </a:r>
          </a:p>
          <a:p>
            <a:pPr>
              <a:buFont typeface="Wingdings" panose="05000000000000000000" pitchFamily="2" charset="2"/>
              <a:buChar char="v"/>
            </a:pPr>
            <a:r>
              <a:rPr lang="en-US" dirty="0" smtClean="0"/>
              <a:t> Health</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Various processes (</a:t>
            </a:r>
            <a:r>
              <a:rPr lang="en-US" dirty="0" err="1" smtClean="0"/>
              <a:t>ie</a:t>
            </a:r>
            <a:r>
              <a:rPr lang="en-US" dirty="0" smtClean="0"/>
              <a:t> the action part of society)bring the structures alive  .This processes are (a)</a:t>
            </a:r>
            <a:r>
              <a:rPr lang="en-US" b="1" dirty="0" smtClean="0"/>
              <a:t>Socialization</a:t>
            </a:r>
            <a:r>
              <a:rPr lang="en-US" dirty="0" smtClean="0"/>
              <a:t> ;this where members of the society learn how to fit in their society  and what role is expected of them.</a:t>
            </a:r>
          </a:p>
          <a:p>
            <a:r>
              <a:rPr lang="en-US" dirty="0" smtClean="0"/>
              <a:t>(b)</a:t>
            </a:r>
            <a:r>
              <a:rPr lang="en-US" b="1" dirty="0" smtClean="0"/>
              <a:t>Stratification</a:t>
            </a:r>
            <a:r>
              <a:rPr lang="en-US" dirty="0" smtClean="0"/>
              <a:t>; This is what determines where a member of the society will fit in the social structure and </a:t>
            </a:r>
            <a:r>
              <a:rPr lang="en-US" dirty="0" err="1" smtClean="0"/>
              <a:t>their</a:t>
            </a:r>
            <a:r>
              <a:rPr lang="en-US" dirty="0" smtClean="0"/>
              <a:t> resultant lifestyle.</a:t>
            </a:r>
          </a:p>
          <a:p>
            <a:r>
              <a:rPr lang="en-US" dirty="0" smtClean="0"/>
              <a:t>(c) </a:t>
            </a:r>
            <a:r>
              <a:rPr lang="en-US" b="1" dirty="0" smtClean="0"/>
              <a:t>Change</a:t>
            </a:r>
            <a:r>
              <a:rPr lang="en-US" dirty="0" smtClean="0"/>
              <a:t> ;it is an ever present process that constantly forces the structures to keep adjusting to new demands. Learning is either achieved formally or informally.</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have we learnt</a:t>
            </a:r>
            <a:endParaRPr lang="en-US" dirty="0"/>
          </a:p>
        </p:txBody>
      </p:sp>
      <p:pic>
        <p:nvPicPr>
          <p:cNvPr id="4" name="Content Placeholder 3"/>
          <p:cNvPicPr>
            <a:picLocks noGrp="1" noChangeAspect="1"/>
          </p:cNvPicPr>
          <p:nvPr>
            <p:ph idx="1"/>
          </p:nvPr>
        </p:nvPicPr>
        <p:blipFill>
          <a:blip r:embed="rId2"/>
          <a:stretch>
            <a:fillRect/>
          </a:stretch>
        </p:blipFill>
        <p:spPr>
          <a:xfrm>
            <a:off x="3179342" y="1825625"/>
            <a:ext cx="5833315" cy="4351338"/>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 </a:t>
            </a:r>
            <a:r>
              <a:rPr lang="en-US" dirty="0" smtClean="0"/>
              <a:t> </a:t>
            </a:r>
            <a:r>
              <a:rPr lang="en-US" dirty="0"/>
              <a:t>discussed the following-:</a:t>
            </a:r>
          </a:p>
        </p:txBody>
      </p:sp>
      <p:sp>
        <p:nvSpPr>
          <p:cNvPr id="3" name="Content Placeholder 2"/>
          <p:cNvSpPr>
            <a:spLocks noGrp="1"/>
          </p:cNvSpPr>
          <p:nvPr>
            <p:ph idx="1"/>
          </p:nvPr>
        </p:nvSpPr>
        <p:spPr/>
        <p:txBody>
          <a:bodyPr/>
          <a:lstStyle/>
          <a:p>
            <a:r>
              <a:rPr lang="en-US" dirty="0" smtClean="0"/>
              <a:t>Assumptions made in Sociology of Education</a:t>
            </a:r>
          </a:p>
          <a:p>
            <a:r>
              <a:rPr lang="en-US" dirty="0" smtClean="0"/>
              <a:t>How various scholars have defined Education</a:t>
            </a:r>
          </a:p>
          <a:p>
            <a:r>
              <a:rPr lang="en-US" dirty="0" smtClean="0"/>
              <a:t>What sociology of </a:t>
            </a:r>
            <a:r>
              <a:rPr lang="en-US" dirty="0" err="1" smtClean="0"/>
              <a:t>educ</a:t>
            </a:r>
            <a:r>
              <a:rPr lang="en-US" dirty="0" smtClean="0"/>
              <a:t> is …..</a:t>
            </a:r>
          </a:p>
          <a:p>
            <a:r>
              <a:rPr lang="en-US" dirty="0" smtClean="0"/>
              <a:t>Origins of sociology of education</a:t>
            </a:r>
          </a:p>
          <a:p>
            <a:r>
              <a:rPr lang="en-US" dirty="0" smtClean="0"/>
              <a:t>Reasons for studying sociology of Education</a:t>
            </a:r>
          </a:p>
          <a:p>
            <a:r>
              <a:rPr lang="en-US" dirty="0" smtClean="0"/>
              <a:t>Structures and processes in the society</a:t>
            </a:r>
          </a:p>
          <a:p>
            <a:pPr marL="0" indent="0">
              <a:buNone/>
            </a:pPr>
            <a:r>
              <a:rPr lang="en-US" b="1" dirty="0" smtClean="0"/>
              <a:t>Self exercise ;construct questions at knowledge and application levels using the above subtitles for your revision</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t>
            </a:r>
            <a:r>
              <a:rPr lang="en-US" b="1" dirty="0" smtClean="0">
                <a:latin typeface="Times New Roman" panose="02020603050405020304" pitchFamily="18" charset="0"/>
                <a:cs typeface="Times New Roman" panose="02020603050405020304" pitchFamily="18" charset="0"/>
              </a:rPr>
              <a:t>LESSON 2</a:t>
            </a:r>
            <a:r>
              <a:rPr lang="en-US" b="1" dirty="0" smtClean="0"/>
              <a:t/>
            </a:r>
            <a:br>
              <a:rPr lang="en-US" b="1" dirty="0" smtClean="0"/>
            </a:br>
            <a:r>
              <a:rPr lang="en-US" b="1" dirty="0" smtClean="0">
                <a:latin typeface="Times New Roman" panose="02020603050405020304" pitchFamily="18" charset="0"/>
                <a:cs typeface="Times New Roman" panose="02020603050405020304" pitchFamily="18" charset="0"/>
              </a:rPr>
              <a:t>Sociological Perspectives /Sociological theory?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690688"/>
            <a:ext cx="12192000" cy="5167311"/>
          </a:xfrm>
        </p:spPr>
        <p:txBody>
          <a:bodyPr>
            <a:noAutofit/>
          </a:bodyPr>
          <a:lstStyle/>
          <a:p>
            <a:pPr marL="0" indent="0">
              <a:buNone/>
            </a:pPr>
            <a:r>
              <a:rPr lang="en-US" sz="3600" dirty="0" smtClean="0">
                <a:latin typeface="Times New Roman" panose="02020603050405020304" pitchFamily="18" charset="0"/>
                <a:cs typeface="Times New Roman" panose="02020603050405020304" pitchFamily="18" charset="0"/>
              </a:rPr>
              <a:t>Generally a theory is understood as systematic </a:t>
            </a:r>
            <a:r>
              <a:rPr lang="en-US" sz="3600" dirty="0">
                <a:latin typeface="Times New Roman" panose="02020603050405020304" pitchFamily="18" charset="0"/>
                <a:cs typeface="Times New Roman" panose="02020603050405020304" pitchFamily="18" charset="0"/>
              </a:rPr>
              <a:t>explanations of the underlying phenomenon or behaviors</a:t>
            </a:r>
          </a:p>
          <a:p>
            <a:pPr marL="0" indent="0">
              <a:buNone/>
            </a:pPr>
            <a:r>
              <a:rPr lang="en-US" sz="3600" dirty="0" smtClean="0">
                <a:latin typeface="Times New Roman" panose="02020603050405020304" pitchFamily="18" charset="0"/>
                <a:cs typeface="Times New Roman" panose="02020603050405020304" pitchFamily="18" charset="0"/>
              </a:rPr>
              <a:t>It is a Set </a:t>
            </a:r>
            <a:r>
              <a:rPr lang="en-US" sz="3600" dirty="0">
                <a:latin typeface="Times New Roman" panose="02020603050405020304" pitchFamily="18" charset="0"/>
                <a:cs typeface="Times New Roman" panose="02020603050405020304" pitchFamily="18" charset="0"/>
              </a:rPr>
              <a:t>of systematically interrelated constructs and propositions intended to explain or predict a </a:t>
            </a:r>
            <a:r>
              <a:rPr lang="en-US" sz="3600" dirty="0" smtClean="0">
                <a:latin typeface="Times New Roman" panose="02020603050405020304" pitchFamily="18" charset="0"/>
                <a:cs typeface="Times New Roman" panose="02020603050405020304" pitchFamily="18" charset="0"/>
              </a:rPr>
              <a:t>phenomenon </a:t>
            </a:r>
            <a:r>
              <a:rPr lang="en-US" sz="3600" dirty="0">
                <a:latin typeface="Times New Roman" panose="02020603050405020304" pitchFamily="18" charset="0"/>
                <a:cs typeface="Times New Roman" panose="02020603050405020304" pitchFamily="18" charset="0"/>
              </a:rPr>
              <a:t>behavior of interest </a:t>
            </a:r>
            <a:r>
              <a:rPr lang="en-US" sz="3600" dirty="0" smtClean="0">
                <a:latin typeface="Times New Roman" panose="02020603050405020304" pitchFamily="18" charset="0"/>
                <a:cs typeface="Times New Roman" panose="02020603050405020304" pitchFamily="18" charset="0"/>
              </a:rPr>
              <a:t>within certain </a:t>
            </a:r>
            <a:r>
              <a:rPr lang="en-US" sz="3600" dirty="0">
                <a:latin typeface="Times New Roman" panose="02020603050405020304" pitchFamily="18" charset="0"/>
                <a:cs typeface="Times New Roman" panose="02020603050405020304" pitchFamily="18" charset="0"/>
              </a:rPr>
              <a:t>boundary conditions and assumptions (</a:t>
            </a:r>
            <a:r>
              <a:rPr lang="en-US" sz="3600" dirty="0" err="1">
                <a:latin typeface="Times New Roman" panose="02020603050405020304" pitchFamily="18" charset="0"/>
                <a:cs typeface="Times New Roman" panose="02020603050405020304" pitchFamily="18" charset="0"/>
              </a:rPr>
              <a:t>Bhartacherjee</a:t>
            </a:r>
            <a:r>
              <a:rPr lang="en-US" sz="3600" dirty="0">
                <a:latin typeface="Times New Roman" panose="02020603050405020304" pitchFamily="18" charset="0"/>
                <a:cs typeface="Times New Roman" panose="02020603050405020304" pitchFamily="18" charset="0"/>
              </a:rPr>
              <a:t>, 2012.) </a:t>
            </a:r>
            <a:endParaRPr lang="en-US" sz="3600" dirty="0" smtClean="0">
              <a:latin typeface="Times New Roman" panose="02020603050405020304" pitchFamily="18" charset="0"/>
              <a:cs typeface="Times New Roman" panose="02020603050405020304" pitchFamily="18" charset="0"/>
            </a:endParaRPr>
          </a:p>
          <a:p>
            <a:pPr marL="0" indent="0">
              <a:buNone/>
            </a:pPr>
            <a:r>
              <a:rPr lang="en-US" sz="3600" dirty="0" smtClean="0">
                <a:latin typeface="Times New Roman" panose="02020603050405020304" pitchFamily="18" charset="0"/>
                <a:cs typeface="Times New Roman" panose="02020603050405020304" pitchFamily="18" charset="0"/>
              </a:rPr>
              <a:t>As </a:t>
            </a:r>
            <a:r>
              <a:rPr lang="en-US" sz="3600" dirty="0" err="1" smtClean="0">
                <a:latin typeface="Times New Roman" panose="02020603050405020304" pitchFamily="18" charset="0"/>
                <a:cs typeface="Times New Roman" panose="02020603050405020304" pitchFamily="18" charset="0"/>
              </a:rPr>
              <a:t>Kibera</a:t>
            </a:r>
            <a:r>
              <a:rPr lang="en-US" sz="3600" dirty="0" smtClean="0">
                <a:latin typeface="Times New Roman" panose="02020603050405020304" pitchFamily="18" charset="0"/>
                <a:cs typeface="Times New Roman" panose="02020603050405020304" pitchFamily="18" charset="0"/>
              </a:rPr>
              <a:t> ,L. &amp; Agnes K,( 2007) put it sociological </a:t>
            </a:r>
            <a:r>
              <a:rPr lang="en-US" sz="3600" dirty="0">
                <a:latin typeface="Times New Roman" panose="02020603050405020304" pitchFamily="18" charset="0"/>
                <a:cs typeface="Times New Roman" panose="02020603050405020304" pitchFamily="18" charset="0"/>
              </a:rPr>
              <a:t>theory </a:t>
            </a:r>
            <a:r>
              <a:rPr lang="en-US" sz="3600" dirty="0" smtClean="0">
                <a:latin typeface="Times New Roman" panose="02020603050405020304" pitchFamily="18" charset="0"/>
                <a:cs typeface="Times New Roman" panose="02020603050405020304" pitchFamily="18" charset="0"/>
              </a:rPr>
              <a:t>refers to the  </a:t>
            </a:r>
            <a:r>
              <a:rPr lang="en-US" sz="3600" dirty="0">
                <a:latin typeface="Times New Roman" panose="02020603050405020304" pitchFamily="18" charset="0"/>
                <a:cs typeface="Times New Roman" panose="02020603050405020304" pitchFamily="18" charset="0"/>
              </a:rPr>
              <a:t>facts, ideas, and principles that </a:t>
            </a:r>
            <a:r>
              <a:rPr lang="en-US" sz="3600" dirty="0" smtClean="0">
                <a:latin typeface="Times New Roman" panose="02020603050405020304" pitchFamily="18" charset="0"/>
                <a:cs typeface="Times New Roman" panose="02020603050405020304" pitchFamily="18" charset="0"/>
              </a:rPr>
              <a:t>attempt </a:t>
            </a:r>
            <a:r>
              <a:rPr lang="en-US" sz="3600" dirty="0">
                <a:latin typeface="Times New Roman" panose="02020603050405020304" pitchFamily="18" charset="0"/>
                <a:cs typeface="Times New Roman" panose="02020603050405020304" pitchFamily="18" charset="0"/>
              </a:rPr>
              <a:t>to explain the nature of society, its organizations, structures </a:t>
            </a:r>
            <a:r>
              <a:rPr lang="en-US" sz="3600" dirty="0" smtClean="0">
                <a:latin typeface="Times New Roman" panose="02020603050405020304" pitchFamily="18" charset="0"/>
                <a:cs typeface="Times New Roman" panose="02020603050405020304" pitchFamily="18" charset="0"/>
              </a:rPr>
              <a:t>and </a:t>
            </a:r>
            <a:r>
              <a:rPr lang="en-US" sz="3600" dirty="0">
                <a:latin typeface="Times New Roman" panose="02020603050405020304" pitchFamily="18" charset="0"/>
                <a:cs typeface="Times New Roman" panose="02020603050405020304" pitchFamily="18" charset="0"/>
              </a:rPr>
              <a:t>patterns of </a:t>
            </a:r>
            <a:r>
              <a:rPr lang="en-US" sz="3600" dirty="0" smtClean="0">
                <a:latin typeface="Times New Roman" panose="02020603050405020304" pitchFamily="18" charset="0"/>
                <a:cs typeface="Times New Roman" panose="02020603050405020304" pitchFamily="18" charset="0"/>
              </a:rPr>
              <a:t>behavior.</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Major Sociological theories</a:t>
            </a:r>
            <a:endParaRPr lang="en-US" dirty="0"/>
          </a:p>
        </p:txBody>
      </p:sp>
      <p:sp>
        <p:nvSpPr>
          <p:cNvPr id="3" name="Content Placeholder 2"/>
          <p:cNvSpPr>
            <a:spLocks noGrp="1"/>
          </p:cNvSpPr>
          <p:nvPr>
            <p:ph idx="1"/>
          </p:nvPr>
        </p:nvSpPr>
        <p:spPr>
          <a:xfrm>
            <a:off x="208547" y="1825624"/>
            <a:ext cx="11983453" cy="5032375"/>
          </a:xfrm>
        </p:spPr>
        <p:txBody>
          <a:bodyPr/>
          <a:lstStyle/>
          <a:p>
            <a:pPr>
              <a:buFont typeface="Wingdings" panose="05000000000000000000" pitchFamily="2" charset="2"/>
              <a:buChar char="v"/>
            </a:pPr>
            <a:r>
              <a:rPr lang="en-US" sz="3200" dirty="0" smtClean="0">
                <a:latin typeface="Times New Roman" panose="02020603050405020304" pitchFamily="18" charset="0"/>
                <a:cs typeface="Times New Roman" panose="02020603050405020304" pitchFamily="18" charset="0"/>
              </a:rPr>
              <a:t>Structural-Functionalism/Consensus</a:t>
            </a:r>
          </a:p>
          <a:p>
            <a:pPr>
              <a:buFont typeface="Wingdings" panose="05000000000000000000" pitchFamily="2" charset="2"/>
              <a:buChar char="v"/>
            </a:pPr>
            <a:r>
              <a:rPr lang="en-US" sz="3200" dirty="0" smtClean="0">
                <a:latin typeface="Times New Roman" panose="02020603050405020304" pitchFamily="18" charset="0"/>
                <a:cs typeface="Times New Roman" panose="02020603050405020304" pitchFamily="18" charset="0"/>
              </a:rPr>
              <a:t>Conflict </a:t>
            </a:r>
            <a:r>
              <a:rPr lang="en-US" sz="3200" dirty="0">
                <a:latin typeface="Times New Roman" panose="02020603050405020304" pitchFamily="18" charset="0"/>
                <a:cs typeface="Times New Roman" panose="02020603050405020304" pitchFamily="18" charset="0"/>
              </a:rPr>
              <a:t>Theory </a:t>
            </a:r>
          </a:p>
          <a:p>
            <a:pPr>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Symbolic Interaction Theory </a:t>
            </a:r>
            <a:endParaRPr lang="en-US" sz="3200" dirty="0" smtClean="0">
              <a:latin typeface="Times New Roman" panose="02020603050405020304" pitchFamily="18" charset="0"/>
              <a:cs typeface="Times New Roman" panose="02020603050405020304" pitchFamily="18" charset="0"/>
            </a:endParaRPr>
          </a:p>
          <a:p>
            <a:pPr marL="0" indent="0">
              <a:buNone/>
            </a:pPr>
            <a:r>
              <a:rPr lang="en-US" sz="3200" dirty="0" err="1" smtClean="0">
                <a:latin typeface="Times New Roman" panose="02020603050405020304" pitchFamily="18" charset="0"/>
                <a:cs typeface="Times New Roman" panose="02020603050405020304" pitchFamily="18" charset="0"/>
              </a:rPr>
              <a:t>NB.There</a:t>
            </a:r>
            <a:r>
              <a:rPr lang="en-US" sz="3200" dirty="0" smtClean="0">
                <a:latin typeface="Times New Roman" panose="02020603050405020304" pitchFamily="18" charset="0"/>
                <a:cs typeface="Times New Roman" panose="02020603050405020304" pitchFamily="18" charset="0"/>
              </a:rPr>
              <a:t> are more theories and will be mentioned at a later stage</a:t>
            </a:r>
          </a:p>
          <a:p>
            <a:pPr marL="0" indent="0">
              <a:buNone/>
            </a:pPr>
            <a:r>
              <a:rPr lang="en-US" sz="3200" b="1" dirty="0" smtClean="0">
                <a:latin typeface="Times New Roman" panose="02020603050405020304" pitchFamily="18" charset="0"/>
                <a:cs typeface="Times New Roman" panose="02020603050405020304" pitchFamily="18" charset="0"/>
              </a:rPr>
              <a:t>Structural-Functionalism/Consensus</a:t>
            </a:r>
          </a:p>
          <a:p>
            <a:pPr marL="0" indent="0">
              <a:buNone/>
            </a:pPr>
            <a:r>
              <a:rPr lang="en-US" sz="3200" dirty="0" smtClean="0">
                <a:latin typeface="Times New Roman" panose="02020603050405020304" pitchFamily="18" charset="0"/>
                <a:cs typeface="Times New Roman" panose="02020603050405020304" pitchFamily="18" charset="0"/>
              </a:rPr>
              <a:t>Among the  </a:t>
            </a:r>
            <a:r>
              <a:rPr lang="en-US" sz="3200" dirty="0" err="1" smtClean="0">
                <a:latin typeface="Times New Roman" panose="02020603050405020304" pitchFamily="18" charset="0"/>
                <a:cs typeface="Times New Roman" panose="02020603050405020304" pitchFamily="18" charset="0"/>
              </a:rPr>
              <a:t>proponets</a:t>
            </a:r>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of this theory </a:t>
            </a:r>
            <a:r>
              <a:rPr lang="en-US" sz="3200" dirty="0" smtClean="0">
                <a:latin typeface="Times New Roman" panose="02020603050405020304" pitchFamily="18" charset="0"/>
                <a:cs typeface="Times New Roman" panose="02020603050405020304" pitchFamily="18" charset="0"/>
              </a:rPr>
              <a:t>include </a:t>
            </a:r>
            <a:r>
              <a:rPr lang="en-US" sz="3200" dirty="0" err="1">
                <a:latin typeface="Times New Roman" panose="02020603050405020304" pitchFamily="18" charset="0"/>
                <a:cs typeface="Times New Roman" panose="02020603050405020304" pitchFamily="18" charset="0"/>
              </a:rPr>
              <a:t>Auguste</a:t>
            </a:r>
            <a:r>
              <a:rPr lang="en-US" sz="3200" dirty="0">
                <a:latin typeface="Times New Roman" panose="02020603050405020304" pitchFamily="18" charset="0"/>
                <a:cs typeface="Times New Roman" panose="02020603050405020304" pitchFamily="18" charset="0"/>
              </a:rPr>
              <a:t> Comte, Emile Durkheim, </a:t>
            </a:r>
            <a:r>
              <a:rPr lang="en-US" sz="3200" dirty="0" smtClean="0">
                <a:latin typeface="Times New Roman" panose="02020603050405020304" pitchFamily="18" charset="0"/>
                <a:cs typeface="Times New Roman" panose="02020603050405020304" pitchFamily="18" charset="0"/>
              </a:rPr>
              <a:t>Herbert </a:t>
            </a:r>
            <a:r>
              <a:rPr lang="en-US" sz="3200" dirty="0">
                <a:latin typeface="Times New Roman" panose="02020603050405020304" pitchFamily="18" charset="0"/>
                <a:cs typeface="Times New Roman" panose="02020603050405020304" pitchFamily="18" charset="0"/>
              </a:rPr>
              <a:t>Spencer, and Talcott Parsons.</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Word </a:t>
            </a:r>
            <a:r>
              <a:rPr lang="en-US" dirty="0" err="1" smtClean="0"/>
              <a:t>fuctionalism</a:t>
            </a:r>
            <a:r>
              <a:rPr lang="en-US" dirty="0" smtClean="0"/>
              <a:t> derived from the word function.</a:t>
            </a:r>
          </a:p>
          <a:p>
            <a:r>
              <a:rPr lang="en-US" dirty="0" smtClean="0"/>
              <a:t>Term function in sociology </a:t>
            </a:r>
            <a:r>
              <a:rPr lang="en-US" dirty="0" err="1" smtClean="0"/>
              <a:t>sugests;different</a:t>
            </a:r>
            <a:r>
              <a:rPr lang="en-US" dirty="0" smtClean="0"/>
              <a:t> parts of the society meets societal needs ;</a:t>
            </a:r>
          </a:p>
          <a:p>
            <a:r>
              <a:rPr lang="en-US" dirty="0" smtClean="0"/>
              <a:t>Society conceptualized as made of interdependent parts</a:t>
            </a:r>
          </a:p>
          <a:p>
            <a:r>
              <a:rPr lang="en-US" dirty="0" smtClean="0"/>
              <a:t>Who are the main proponents?</a:t>
            </a:r>
          </a:p>
          <a:p>
            <a:r>
              <a:rPr lang="en-US" dirty="0" smtClean="0"/>
              <a:t>A contribution from a few?</a:t>
            </a:r>
          </a:p>
          <a:p>
            <a:r>
              <a:rPr lang="en-US" dirty="0" smtClean="0"/>
              <a:t>Key features of functionalism</a:t>
            </a:r>
            <a:endParaRPr lang="en-US" dirty="0"/>
          </a:p>
        </p:txBody>
      </p:sp>
    </p:spTree>
    <p:extLst>
      <p:ext uri="{BB962C8B-B14F-4D97-AF65-F5344CB8AC3E}">
        <p14:creationId xmlns:p14="http://schemas.microsoft.com/office/powerpoint/2010/main" val="39212575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6904" y="365126"/>
            <a:ext cx="10246895" cy="84054"/>
          </a:xfrm>
        </p:spPr>
        <p:txBody>
          <a:bodyPr>
            <a:normAutofit fontScale="90000"/>
          </a:bodyPr>
          <a:lstStyle/>
          <a:p>
            <a:endParaRPr lang="en-US" dirty="0"/>
          </a:p>
        </p:txBody>
      </p:sp>
      <p:sp>
        <p:nvSpPr>
          <p:cNvPr id="3" name="Content Placeholder 2"/>
          <p:cNvSpPr>
            <a:spLocks noGrp="1"/>
          </p:cNvSpPr>
          <p:nvPr>
            <p:ph idx="1"/>
          </p:nvPr>
        </p:nvSpPr>
        <p:spPr>
          <a:xfrm>
            <a:off x="850232" y="641684"/>
            <a:ext cx="10503568" cy="6216315"/>
          </a:xfrm>
        </p:spPr>
        <p:txBody>
          <a:bodyPr>
            <a:noAutofit/>
          </a:bodyPr>
          <a:lstStyle/>
          <a:p>
            <a:r>
              <a:rPr lang="en-US" sz="3200" dirty="0" smtClean="0">
                <a:latin typeface="Times New Roman" panose="02020603050405020304" pitchFamily="18" charset="0"/>
                <a:cs typeface="Times New Roman" panose="02020603050405020304" pitchFamily="18" charset="0"/>
              </a:rPr>
              <a:t>Emphasizes individuals contribution to the social structures in the society</a:t>
            </a:r>
          </a:p>
          <a:p>
            <a:r>
              <a:rPr lang="en-US" sz="3200" dirty="0" smtClean="0">
                <a:latin typeface="Times New Roman" panose="02020603050405020304" pitchFamily="18" charset="0"/>
                <a:cs typeface="Times New Roman" panose="02020603050405020304" pitchFamily="18" charset="0"/>
              </a:rPr>
              <a:t>Relates to how the different parts of the body of an organism functions and compares this to how the different structures within the society works and avoids conflict.</a:t>
            </a:r>
          </a:p>
          <a:p>
            <a:r>
              <a:rPr lang="en-US" sz="3200" dirty="0" smtClean="0">
                <a:latin typeface="Times New Roman" panose="02020603050405020304" pitchFamily="18" charset="0"/>
                <a:cs typeface="Times New Roman" panose="02020603050405020304" pitchFamily="18" charset="0"/>
              </a:rPr>
              <a:t>Functionalists emphasize that the society is like the human body with different parts working in relationship with others</a:t>
            </a:r>
          </a:p>
          <a:p>
            <a:r>
              <a:rPr lang="en-US" sz="3200" dirty="0" smtClean="0">
                <a:latin typeface="Times New Roman" panose="02020603050405020304" pitchFamily="18" charset="0"/>
                <a:cs typeface="Times New Roman" panose="02020603050405020304" pitchFamily="18" charset="0"/>
              </a:rPr>
              <a:t>Each part has specific role or roles to play and are dependent upon one another</a:t>
            </a:r>
            <a:r>
              <a:rPr lang="en-US" sz="3200" dirty="0">
                <a:latin typeface="Times New Roman" panose="02020603050405020304" pitchFamily="18" charset="0"/>
                <a:cs typeface="Times New Roman" panose="02020603050405020304" pitchFamily="18" charset="0"/>
              </a:rPr>
              <a:t>. </a:t>
            </a:r>
            <a:endParaRPr lang="en-US" sz="3200" dirty="0" smtClean="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rPr>
              <a:t>Each </a:t>
            </a:r>
            <a:r>
              <a:rPr lang="en-US" sz="3200" dirty="0">
                <a:latin typeface="Times New Roman" panose="02020603050405020304" pitchFamily="18" charset="0"/>
                <a:cs typeface="Times New Roman" panose="02020603050405020304" pitchFamily="18" charset="0"/>
              </a:rPr>
              <a:t>institution again is a complex structure in itself and is further made up of semi units</a:t>
            </a:r>
          </a:p>
          <a:p>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725" y="0"/>
            <a:ext cx="10696075" cy="737938"/>
          </a:xfrm>
        </p:spPr>
        <p:txBody>
          <a:bodyPr>
            <a:normAutofit/>
          </a:bodyPr>
          <a:lstStyle/>
          <a:p>
            <a:pPr marL="0" indent="0"/>
            <a:r>
              <a:rPr lang="en-US" b="1" dirty="0" smtClean="0">
                <a:latin typeface="Times New Roman" panose="02020603050405020304" pitchFamily="18" charset="0"/>
                <a:cs typeface="Times New Roman" panose="02020603050405020304" pitchFamily="18" charset="0"/>
              </a:rPr>
              <a:t>   Contribution </a:t>
            </a:r>
            <a:r>
              <a:rPr lang="en-US" b="1" dirty="0">
                <a:latin typeface="Times New Roman" panose="02020603050405020304" pitchFamily="18" charset="0"/>
                <a:cs typeface="Times New Roman" panose="02020603050405020304" pitchFamily="18" charset="0"/>
              </a:rPr>
              <a:t>from </a:t>
            </a:r>
            <a:r>
              <a:rPr lang="en-US" b="1" dirty="0" err="1">
                <a:latin typeface="Times New Roman" panose="02020603050405020304" pitchFamily="18" charset="0"/>
                <a:cs typeface="Times New Roman" panose="02020603050405020304" pitchFamily="18" charset="0"/>
              </a:rPr>
              <a:t>Auguste</a:t>
            </a:r>
            <a:r>
              <a:rPr lang="en-US" b="1" dirty="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Compte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1" y="737938"/>
            <a:ext cx="11049000" cy="6120061"/>
          </a:xfrm>
        </p:spPr>
        <p:txBody>
          <a:bodyPr>
            <a:noAutofit/>
          </a:bodyPr>
          <a:lstStyle/>
          <a:p>
            <a:pPr marL="0" indent="0">
              <a:buNone/>
            </a:pPr>
            <a:r>
              <a:rPr lang="en-US" sz="3600" dirty="0" err="1" smtClean="0">
                <a:latin typeface="Times New Roman" panose="02020603050405020304" pitchFamily="18" charset="0"/>
                <a:cs typeface="Times New Roman" panose="02020603050405020304" pitchFamily="18" charset="0"/>
              </a:rPr>
              <a:t>Auguste</a:t>
            </a:r>
            <a:r>
              <a:rPr lang="en-US" sz="3600" dirty="0" smtClean="0">
                <a:latin typeface="Times New Roman" panose="02020603050405020304" pitchFamily="18" charset="0"/>
                <a:cs typeface="Times New Roman" panose="02020603050405020304" pitchFamily="18" charset="0"/>
              </a:rPr>
              <a:t> </a:t>
            </a:r>
            <a:r>
              <a:rPr lang="en-US" sz="3600" dirty="0" err="1" smtClean="0">
                <a:latin typeface="Times New Roman" panose="02020603050405020304" pitchFamily="18" charset="0"/>
                <a:cs typeface="Times New Roman" panose="02020603050405020304" pitchFamily="18" charset="0"/>
              </a:rPr>
              <a:t>Compte</a:t>
            </a:r>
            <a:r>
              <a:rPr lang="en-US" sz="3600" dirty="0" smtClean="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believed in </a:t>
            </a:r>
            <a:r>
              <a:rPr lang="en-US" sz="3600" dirty="0" smtClean="0">
                <a:latin typeface="Times New Roman" panose="02020603050405020304" pitchFamily="18" charset="0"/>
                <a:cs typeface="Times New Roman" panose="02020603050405020304" pitchFamily="18" charset="0"/>
              </a:rPr>
              <a:t>social </a:t>
            </a:r>
            <a:r>
              <a:rPr lang="en-US" sz="3600" dirty="0">
                <a:latin typeface="Times New Roman" panose="02020603050405020304" pitchFamily="18" charset="0"/>
                <a:cs typeface="Times New Roman" panose="02020603050405020304" pitchFamily="18" charset="0"/>
              </a:rPr>
              <a:t>integration and emphasized the interrelatedness of the various </a:t>
            </a:r>
            <a:r>
              <a:rPr lang="en-US" sz="3600" dirty="0" smtClean="0">
                <a:latin typeface="Times New Roman" panose="02020603050405020304" pitchFamily="18" charset="0"/>
                <a:cs typeface="Times New Roman" panose="02020603050405020304" pitchFamily="18" charset="0"/>
              </a:rPr>
              <a:t>parts </a:t>
            </a:r>
            <a:r>
              <a:rPr lang="en-US" sz="3600" dirty="0">
                <a:latin typeface="Times New Roman" panose="02020603050405020304" pitchFamily="18" charset="0"/>
                <a:cs typeface="Times New Roman" panose="02020603050405020304" pitchFamily="18" charset="0"/>
              </a:rPr>
              <a:t>of the society in the same way the different parts of the body </a:t>
            </a:r>
            <a:r>
              <a:rPr lang="en-US" sz="3600" dirty="0" smtClean="0">
                <a:latin typeface="Times New Roman" panose="02020603050405020304" pitchFamily="18" charset="0"/>
                <a:cs typeface="Times New Roman" panose="02020603050405020304" pitchFamily="18" charset="0"/>
              </a:rPr>
              <a:t>relate </a:t>
            </a:r>
            <a:r>
              <a:rPr lang="en-US" sz="3600" dirty="0">
                <a:latin typeface="Times New Roman" panose="02020603050405020304" pitchFamily="18" charset="0"/>
                <a:cs typeface="Times New Roman" panose="02020603050405020304" pitchFamily="18" charset="0"/>
              </a:rPr>
              <a:t>to each other to produce a harmonious working of the body. </a:t>
            </a:r>
            <a:endParaRPr lang="en-US" sz="3600" dirty="0" smtClean="0">
              <a:latin typeface="Times New Roman" panose="02020603050405020304" pitchFamily="18" charset="0"/>
              <a:cs typeface="Times New Roman" panose="02020603050405020304" pitchFamily="18" charset="0"/>
            </a:endParaRPr>
          </a:p>
          <a:p>
            <a:r>
              <a:rPr lang="en-US" sz="3600" dirty="0" smtClean="0">
                <a:latin typeface="Times New Roman" panose="02020603050405020304" pitchFamily="18" charset="0"/>
                <a:cs typeface="Times New Roman" panose="02020603050405020304" pitchFamily="18" charset="0"/>
              </a:rPr>
              <a:t>The </a:t>
            </a:r>
            <a:r>
              <a:rPr lang="en-US" sz="3600" dirty="0">
                <a:latin typeface="Times New Roman" panose="02020603050405020304" pitchFamily="18" charset="0"/>
                <a:cs typeface="Times New Roman" panose="02020603050405020304" pitchFamily="18" charset="0"/>
              </a:rPr>
              <a:t>interrelatedness of the various societal parts work toward </a:t>
            </a:r>
            <a:r>
              <a:rPr lang="en-US" sz="3600" dirty="0" smtClean="0">
                <a:latin typeface="Times New Roman" panose="02020603050405020304" pitchFamily="18" charset="0"/>
                <a:cs typeface="Times New Roman" panose="02020603050405020304" pitchFamily="18" charset="0"/>
              </a:rPr>
              <a:t>progress</a:t>
            </a:r>
            <a:r>
              <a:rPr lang="en-US" sz="36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439400" cy="689812"/>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          Emile </a:t>
            </a:r>
            <a:r>
              <a:rPr lang="en-US" b="1" dirty="0">
                <a:latin typeface="Times New Roman" panose="02020603050405020304" pitchFamily="18" charset="0"/>
                <a:cs typeface="Times New Roman" panose="02020603050405020304" pitchFamily="18" charset="0"/>
              </a:rPr>
              <a:t>Durkheim (1858 - 1917),</a:t>
            </a:r>
            <a:endParaRPr lang="en-US" dirty="0"/>
          </a:p>
        </p:txBody>
      </p:sp>
      <p:sp>
        <p:nvSpPr>
          <p:cNvPr id="3" name="Content Placeholder 2"/>
          <p:cNvSpPr>
            <a:spLocks noGrp="1"/>
          </p:cNvSpPr>
          <p:nvPr>
            <p:ph idx="1"/>
          </p:nvPr>
        </p:nvSpPr>
        <p:spPr>
          <a:xfrm>
            <a:off x="224589" y="689812"/>
            <a:ext cx="12059653" cy="5967662"/>
          </a:xfrm>
        </p:spPr>
        <p:txBody>
          <a:bodyPr>
            <a:noAutofit/>
          </a:bodyPr>
          <a:lstStyle/>
          <a:p>
            <a:r>
              <a:rPr lang="en-US" sz="3200" dirty="0" smtClean="0">
                <a:latin typeface="Times New Roman" panose="02020603050405020304" pitchFamily="18" charset="0"/>
                <a:cs typeface="Times New Roman" panose="02020603050405020304" pitchFamily="18" charset="0"/>
              </a:rPr>
              <a:t>an </a:t>
            </a:r>
            <a:r>
              <a:rPr lang="en-US" sz="3200" dirty="0">
                <a:latin typeface="Times New Roman" panose="02020603050405020304" pitchFamily="18" charset="0"/>
                <a:cs typeface="Times New Roman" panose="02020603050405020304" pitchFamily="18" charset="0"/>
              </a:rPr>
              <a:t>astute advocator of the </a:t>
            </a:r>
          </a:p>
          <a:p>
            <a:pPr marL="0" indent="0">
              <a:buNone/>
            </a:pPr>
            <a:r>
              <a:rPr lang="en-US" sz="3200" dirty="0">
                <a:latin typeface="Times New Roman" panose="02020603050405020304" pitchFamily="18" charset="0"/>
                <a:cs typeface="Times New Roman" panose="02020603050405020304" pitchFamily="18" charset="0"/>
              </a:rPr>
              <a:t>functionalist theory, </a:t>
            </a:r>
            <a:r>
              <a:rPr lang="en-US" sz="3200" dirty="0" err="1">
                <a:latin typeface="Times New Roman" panose="02020603050405020304" pitchFamily="18" charset="0"/>
                <a:cs typeface="Times New Roman" panose="02020603050405020304" pitchFamily="18" charset="0"/>
              </a:rPr>
              <a:t>analysed</a:t>
            </a:r>
            <a:r>
              <a:rPr lang="en-US" sz="3200" dirty="0">
                <a:latin typeface="Times New Roman" panose="02020603050405020304" pitchFamily="18" charset="0"/>
                <a:cs typeface="Times New Roman" panose="02020603050405020304" pitchFamily="18" charset="0"/>
              </a:rPr>
              <a:t> suicidal cases during the industrial </a:t>
            </a:r>
          </a:p>
          <a:p>
            <a:pPr marL="0" indent="0">
              <a:buNone/>
            </a:pPr>
            <a:r>
              <a:rPr lang="en-US" sz="3200" dirty="0">
                <a:latin typeface="Times New Roman" panose="02020603050405020304" pitchFamily="18" charset="0"/>
                <a:cs typeface="Times New Roman" panose="02020603050405020304" pitchFamily="18" charset="0"/>
              </a:rPr>
              <a:t>revolution in Europe. </a:t>
            </a:r>
            <a:endParaRPr lang="en-US" sz="3200" dirty="0" smtClean="0">
              <a:latin typeface="Times New Roman" panose="02020603050405020304" pitchFamily="18" charset="0"/>
              <a:cs typeface="Times New Roman" panose="02020603050405020304" pitchFamily="18" charset="0"/>
            </a:endParaRPr>
          </a:p>
          <a:p>
            <a:pPr marL="0" indent="0">
              <a:buNone/>
            </a:pPr>
            <a:r>
              <a:rPr lang="en-US" sz="3200" dirty="0" smtClean="0">
                <a:latin typeface="Times New Roman" panose="02020603050405020304" pitchFamily="18" charset="0"/>
                <a:cs typeface="Times New Roman" panose="02020603050405020304" pitchFamily="18" charset="0"/>
              </a:rPr>
              <a:t>He </a:t>
            </a:r>
            <a:r>
              <a:rPr lang="en-US" sz="3200" dirty="0">
                <a:latin typeface="Times New Roman" panose="02020603050405020304" pitchFamily="18" charset="0"/>
                <a:cs typeface="Times New Roman" panose="02020603050405020304" pitchFamily="18" charset="0"/>
              </a:rPr>
              <a:t>looked at suicide not through the action </a:t>
            </a:r>
          </a:p>
          <a:p>
            <a:pPr marL="0" indent="0">
              <a:buNone/>
            </a:pPr>
            <a:r>
              <a:rPr lang="en-US" sz="3200" dirty="0">
                <a:latin typeface="Times New Roman" panose="02020603050405020304" pitchFamily="18" charset="0"/>
                <a:cs typeface="Times New Roman" panose="02020603050405020304" pitchFamily="18" charset="0"/>
              </a:rPr>
              <a:t>and motivation of individual actors, but through the attributes of </a:t>
            </a:r>
          </a:p>
          <a:p>
            <a:pPr marL="0" indent="0">
              <a:buNone/>
            </a:pPr>
            <a:r>
              <a:rPr lang="en-US" sz="3200" dirty="0">
                <a:latin typeface="Times New Roman" panose="02020603050405020304" pitchFamily="18" charset="0"/>
                <a:cs typeface="Times New Roman" panose="02020603050405020304" pitchFamily="18" charset="0"/>
              </a:rPr>
              <a:t>various social groups, forces and social context in which the action </a:t>
            </a:r>
          </a:p>
          <a:p>
            <a:pPr marL="0" indent="0">
              <a:buNone/>
            </a:pPr>
            <a:r>
              <a:rPr lang="en-US" sz="3200" dirty="0">
                <a:latin typeface="Times New Roman" panose="02020603050405020304" pitchFamily="18" charset="0"/>
                <a:cs typeface="Times New Roman" panose="02020603050405020304" pitchFamily="18" charset="0"/>
              </a:rPr>
              <a:t>took place. </a:t>
            </a:r>
            <a:endParaRPr lang="en-US" sz="3200" dirty="0" smtClean="0">
              <a:latin typeface="Times New Roman" panose="02020603050405020304" pitchFamily="18" charset="0"/>
              <a:cs typeface="Times New Roman" panose="02020603050405020304" pitchFamily="18" charset="0"/>
            </a:endParaRPr>
          </a:p>
          <a:p>
            <a:pPr marL="0" indent="0">
              <a:buNone/>
            </a:pPr>
            <a:r>
              <a:rPr lang="en-US" sz="3200" dirty="0" smtClean="0">
                <a:latin typeface="Times New Roman" panose="02020603050405020304" pitchFamily="18" charset="0"/>
                <a:cs typeface="Times New Roman" panose="02020603050405020304" pitchFamily="18" charset="0"/>
              </a:rPr>
              <a:t>Durkheim</a:t>
            </a:r>
            <a:r>
              <a:rPr lang="en-US" sz="3200" dirty="0">
                <a:latin typeface="Times New Roman" panose="02020603050405020304" pitchFamily="18" charset="0"/>
                <a:cs typeface="Times New Roman" panose="02020603050405020304" pitchFamily="18" charset="0"/>
              </a:rPr>
              <a:t>, like Comte, stressed the interrelatedness of </a:t>
            </a:r>
          </a:p>
          <a:p>
            <a:pPr marL="0" indent="0">
              <a:buNone/>
            </a:pPr>
            <a:r>
              <a:rPr lang="en-US" sz="3200" dirty="0">
                <a:latin typeface="Times New Roman" panose="02020603050405020304" pitchFamily="18" charset="0"/>
                <a:cs typeface="Times New Roman" panose="02020603050405020304" pitchFamily="18" charset="0"/>
              </a:rPr>
              <a:t>social facts.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               Herbert Spencer</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sz="3200" dirty="0" smtClean="0">
                <a:latin typeface="Times New Roman" panose="02020603050405020304" pitchFamily="18" charset="0"/>
                <a:cs typeface="Times New Roman" panose="02020603050405020304" pitchFamily="18" charset="0"/>
              </a:rPr>
              <a:t>like </a:t>
            </a:r>
            <a:r>
              <a:rPr lang="en-US" sz="3200" dirty="0">
                <a:latin typeface="Times New Roman" panose="02020603050405020304" pitchFamily="18" charset="0"/>
                <a:cs typeface="Times New Roman" panose="02020603050405020304" pitchFamily="18" charset="0"/>
              </a:rPr>
              <a:t>biologists, likened society to a </a:t>
            </a:r>
            <a:r>
              <a:rPr lang="en-US" sz="3200" dirty="0" smtClean="0">
                <a:latin typeface="Times New Roman" panose="02020603050405020304" pitchFamily="18" charset="0"/>
                <a:cs typeface="Times New Roman" panose="02020603050405020304" pitchFamily="18" charset="0"/>
              </a:rPr>
              <a:t>living </a:t>
            </a:r>
            <a:r>
              <a:rPr lang="en-US" sz="3200" dirty="0">
                <a:latin typeface="Times New Roman" panose="02020603050405020304" pitchFamily="18" charset="0"/>
                <a:cs typeface="Times New Roman" panose="02020603050405020304" pitchFamily="18" charset="0"/>
              </a:rPr>
              <a:t>organism whose parts must work together in order to sustain it. </a:t>
            </a:r>
          </a:p>
          <a:p>
            <a:endParaRPr lang="en-US" sz="3200" dirty="0" smtClean="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rPr>
              <a:t>For </a:t>
            </a:r>
            <a:r>
              <a:rPr lang="en-US" sz="3200" dirty="0">
                <a:latin typeface="Times New Roman" panose="02020603050405020304" pitchFamily="18" charset="0"/>
                <a:cs typeface="Times New Roman" panose="02020603050405020304" pitchFamily="18" charset="0"/>
              </a:rPr>
              <a:t>example, the heart, brain, lungs, kidneys and all other parts of the </a:t>
            </a:r>
            <a:r>
              <a:rPr lang="en-US" sz="3200" dirty="0" smtClean="0">
                <a:latin typeface="Times New Roman" panose="02020603050405020304" pitchFamily="18" charset="0"/>
                <a:cs typeface="Times New Roman" panose="02020603050405020304" pitchFamily="18" charset="0"/>
              </a:rPr>
              <a:t>body </a:t>
            </a:r>
            <a:r>
              <a:rPr lang="en-US" sz="3200" dirty="0">
                <a:latin typeface="Times New Roman" panose="02020603050405020304" pitchFamily="18" charset="0"/>
                <a:cs typeface="Times New Roman" panose="02020603050405020304" pitchFamily="18" charset="0"/>
              </a:rPr>
              <a:t>must work in harmony for the body to be in good health and </a:t>
            </a:r>
            <a:r>
              <a:rPr lang="en-US" sz="3200" dirty="0" smtClean="0">
                <a:latin typeface="Times New Roman" panose="02020603050405020304" pitchFamily="18" charset="0"/>
                <a:cs typeface="Times New Roman" panose="02020603050405020304" pitchFamily="18" charset="0"/>
              </a:rPr>
              <a:t>to function properly</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Merton (</a:t>
            </a:r>
            <a:r>
              <a:rPr lang="en-US" dirty="0" smtClean="0"/>
              <a:t>1957) noted that </a:t>
            </a:r>
            <a:r>
              <a:rPr lang="en-US" dirty="0"/>
              <a:t>there is rationale in </a:t>
            </a:r>
            <a:r>
              <a:rPr lang="en-US" dirty="0" smtClean="0"/>
              <a:t>distinguishing </a:t>
            </a:r>
            <a:r>
              <a:rPr lang="en-US" dirty="0"/>
              <a:t>between manifest and latent functions. </a:t>
            </a:r>
            <a:r>
              <a:rPr lang="en-US" dirty="0" smtClean="0"/>
              <a:t>Manifest </a:t>
            </a:r>
            <a:r>
              <a:rPr lang="en-US" dirty="0"/>
              <a:t>functions refer to those objective consequences </a:t>
            </a:r>
            <a:r>
              <a:rPr lang="en-US" dirty="0" smtClean="0"/>
              <a:t>for </a:t>
            </a:r>
            <a:r>
              <a:rPr lang="en-US" dirty="0"/>
              <a:t>a specific unit which contribute to its adjustment or </a:t>
            </a:r>
            <a:r>
              <a:rPr lang="en-US" dirty="0" smtClean="0"/>
              <a:t>adaptation. </a:t>
            </a:r>
            <a:endParaRPr lang="en-US" dirty="0"/>
          </a:p>
          <a:p>
            <a:r>
              <a:rPr lang="en-US" dirty="0"/>
              <a:t>Latent functions refer to unintended and unrecognized </a:t>
            </a:r>
            <a:r>
              <a:rPr lang="en-US" dirty="0" smtClean="0"/>
              <a:t>consequences</a:t>
            </a:r>
            <a:r>
              <a:rPr lang="en-US" dirty="0"/>
              <a:t>. </a:t>
            </a:r>
            <a:r>
              <a:rPr lang="en-US" dirty="0" smtClean="0"/>
              <a:t>An example is in the event  </a:t>
            </a:r>
            <a:r>
              <a:rPr lang="en-US" dirty="0"/>
              <a:t>political </a:t>
            </a:r>
            <a:r>
              <a:rPr lang="en-US" dirty="0" smtClean="0"/>
              <a:t>lecture is delivered bordering on the political situation in </a:t>
            </a:r>
            <a:r>
              <a:rPr lang="en-US" dirty="0"/>
              <a:t>a </a:t>
            </a:r>
            <a:r>
              <a:rPr lang="en-US" dirty="0" smtClean="0"/>
              <a:t>nation it may have </a:t>
            </a:r>
            <a:r>
              <a:rPr lang="en-US" dirty="0"/>
              <a:t>specific purpose, which is imparting </a:t>
            </a:r>
            <a:r>
              <a:rPr lang="en-US" dirty="0" smtClean="0"/>
              <a:t>knowledge </a:t>
            </a:r>
            <a:r>
              <a:rPr lang="en-US" dirty="0"/>
              <a:t>(manifest function), but it may have the </a:t>
            </a:r>
            <a:r>
              <a:rPr lang="en-US" dirty="0" smtClean="0"/>
              <a:t>unintended </a:t>
            </a:r>
            <a:r>
              <a:rPr lang="en-US" dirty="0"/>
              <a:t>consequences (latent function) </a:t>
            </a:r>
            <a:r>
              <a:rPr lang="en-US" dirty="0" smtClean="0"/>
              <a:t>of citizens becoming rebellious .</a:t>
            </a: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Dysfunctions </a:t>
            </a:r>
            <a:endParaRPr lang="en-US" dirty="0"/>
          </a:p>
        </p:txBody>
      </p:sp>
      <p:sp>
        <p:nvSpPr>
          <p:cNvPr id="3" name="Content Placeholder 2"/>
          <p:cNvSpPr>
            <a:spLocks noGrp="1"/>
          </p:cNvSpPr>
          <p:nvPr>
            <p:ph idx="1"/>
          </p:nvPr>
        </p:nvSpPr>
        <p:spPr/>
        <p:txBody>
          <a:bodyPr/>
          <a:lstStyle/>
          <a:p>
            <a:r>
              <a:rPr lang="en-US" dirty="0" smtClean="0"/>
              <a:t>Also happen---not all sub systems function appropriately at all times</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MAJOR POSTULATIONS BY FUNCTIONALISTS</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err="1" smtClean="0"/>
              <a:t>Kibera</a:t>
            </a:r>
            <a:r>
              <a:rPr lang="en-US" dirty="0" smtClean="0"/>
              <a:t> </a:t>
            </a:r>
            <a:r>
              <a:rPr lang="en-US" dirty="0"/>
              <a:t>,L. &amp; Agnes K,( 2007) </a:t>
            </a:r>
            <a:r>
              <a:rPr lang="en-US" dirty="0" smtClean="0"/>
              <a:t>summarizes </a:t>
            </a:r>
            <a:r>
              <a:rPr lang="en-US" dirty="0" err="1" smtClean="0"/>
              <a:t>fuctionalists</a:t>
            </a:r>
            <a:r>
              <a:rPr lang="en-US" dirty="0" smtClean="0"/>
              <a:t> postulations as  follows</a:t>
            </a:r>
          </a:p>
          <a:p>
            <a:pPr marL="0" indent="0">
              <a:buNone/>
            </a:pPr>
            <a:r>
              <a:rPr lang="en-US" dirty="0" smtClean="0"/>
              <a:t>that; </a:t>
            </a:r>
          </a:p>
          <a:p>
            <a:pPr>
              <a:buFont typeface="Wingdings" panose="05000000000000000000" pitchFamily="2" charset="2"/>
              <a:buChar char="v"/>
            </a:pPr>
            <a:r>
              <a:rPr lang="en-US" dirty="0" smtClean="0"/>
              <a:t>    Value consensus, hold the society together </a:t>
            </a:r>
            <a:r>
              <a:rPr lang="en-US" dirty="0" err="1" smtClean="0"/>
              <a:t>ie</a:t>
            </a:r>
            <a:r>
              <a:rPr lang="en-US" dirty="0" smtClean="0"/>
              <a:t> agreement regarding the goals of a system and the means to achieve it. </a:t>
            </a:r>
          </a:p>
          <a:p>
            <a:pPr>
              <a:buFont typeface="Wingdings" panose="05000000000000000000" pitchFamily="2" charset="2"/>
              <a:buChar char="v"/>
            </a:pPr>
            <a:r>
              <a:rPr lang="en-US" dirty="0" smtClean="0"/>
              <a:t> Without a harmonious social order, there would be conflict and discord. Therefore, this harmonious social order should be saved and passed from generation to generation; </a:t>
            </a:r>
          </a:p>
          <a:p>
            <a:pPr>
              <a:buFont typeface="Wingdings" panose="05000000000000000000" pitchFamily="2" charset="2"/>
              <a:buChar char="v"/>
            </a:pPr>
            <a:r>
              <a:rPr lang="en-US" dirty="0" smtClean="0"/>
              <a:t> Every social structure of the society has a purpose; Social structures form social systems. Social systems refer to a set of persons or groups; these are dependent on each other. Each set of persons or groups is conceived as a social unit distinct from particular individuals who compose it; </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Various roles in a society should be assigned to qualified people </a:t>
            </a:r>
          </a:p>
          <a:p>
            <a:pPr marL="0" indent="0">
              <a:buNone/>
            </a:pPr>
            <a:r>
              <a:rPr lang="en-US" dirty="0"/>
              <a:t>to avoid the collapse of social structures or social systems. For </a:t>
            </a:r>
          </a:p>
          <a:p>
            <a:pPr marL="0" indent="0">
              <a:buNone/>
            </a:pPr>
            <a:r>
              <a:rPr lang="en-US" dirty="0"/>
              <a:t>example, teachers should have the knowledge and skills for the </a:t>
            </a:r>
          </a:p>
          <a:p>
            <a:pPr marL="0" indent="0">
              <a:buNone/>
            </a:pPr>
            <a:r>
              <a:rPr lang="en-US" dirty="0"/>
              <a:t>job. Likewise, doctors should have knowledge of medicine while </a:t>
            </a:r>
          </a:p>
          <a:p>
            <a:pPr marL="0" indent="0">
              <a:buNone/>
            </a:pPr>
            <a:r>
              <a:rPr lang="en-US" dirty="0"/>
              <a:t>bankers should be well equipped for the banking industry; </a:t>
            </a:r>
          </a:p>
          <a:p>
            <a:pPr marL="0" indent="0">
              <a:buNone/>
            </a:pPr>
            <a:r>
              <a:rPr lang="en-US" dirty="0" smtClean="0"/>
              <a:t>            </a:t>
            </a:r>
          </a:p>
          <a:p>
            <a:r>
              <a:rPr lang="en-US" dirty="0" smtClean="0"/>
              <a:t> </a:t>
            </a:r>
            <a:r>
              <a:rPr lang="en-US" dirty="0"/>
              <a:t>Society should be bound by goals known to all and should guide </a:t>
            </a:r>
          </a:p>
          <a:p>
            <a:pPr marL="0" indent="0">
              <a:buNone/>
            </a:pPr>
            <a:r>
              <a:rPr lang="en-US" dirty="0"/>
              <a:t>all regardless of their social and economic status</a:t>
            </a:r>
            <a:r>
              <a:rPr lang="en-US" dirty="0" smtClean="0"/>
              <a:t>;</a:t>
            </a: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Implications of Functional Theory to Education</a:t>
            </a:r>
            <a:endParaRPr lang="en-US" dirty="0"/>
          </a:p>
        </p:txBody>
      </p:sp>
      <p:sp>
        <p:nvSpPr>
          <p:cNvPr id="3" name="Content Placeholder 2"/>
          <p:cNvSpPr>
            <a:spLocks noGrp="1"/>
          </p:cNvSpPr>
          <p:nvPr>
            <p:ph idx="1"/>
          </p:nvPr>
        </p:nvSpPr>
        <p:spPr/>
        <p:txBody>
          <a:bodyPr/>
          <a:lstStyle/>
          <a:p>
            <a:r>
              <a:rPr lang="en-US" dirty="0" smtClean="0"/>
              <a:t>With regards to structure of society ,education is seen as subsystem of the society</a:t>
            </a:r>
          </a:p>
          <a:p>
            <a:r>
              <a:rPr lang="en-US" dirty="0" smtClean="0"/>
              <a:t>Education works towards </a:t>
            </a:r>
            <a:r>
              <a:rPr lang="en-US" dirty="0"/>
              <a:t>p</a:t>
            </a:r>
            <a:r>
              <a:rPr lang="en-US" dirty="0" smtClean="0"/>
              <a:t>reservation of the society and stresses to achieve solidarity other than disintegration.</a:t>
            </a:r>
          </a:p>
          <a:p>
            <a:r>
              <a:rPr lang="en-US" dirty="0" smtClean="0"/>
              <a:t>This position influences the key areas of education and training in regard of the  a)The teacher</a:t>
            </a:r>
          </a:p>
          <a:p>
            <a:r>
              <a:rPr lang="en-US" dirty="0"/>
              <a:t> </a:t>
            </a:r>
            <a:r>
              <a:rPr lang="en-US" dirty="0" smtClean="0"/>
              <a:t>b)The curriculum</a:t>
            </a:r>
          </a:p>
          <a:p>
            <a:r>
              <a:rPr lang="en-US" dirty="0" smtClean="0"/>
              <a:t>C)The student/pupil</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Curriculum</a:t>
            </a:r>
            <a:endParaRPr lang="en-US" dirty="0"/>
          </a:p>
        </p:txBody>
      </p:sp>
      <p:sp>
        <p:nvSpPr>
          <p:cNvPr id="3" name="Content Placeholder 2"/>
          <p:cNvSpPr>
            <a:spLocks noGrp="1"/>
          </p:cNvSpPr>
          <p:nvPr>
            <p:ph idx="1"/>
          </p:nvPr>
        </p:nvSpPr>
        <p:spPr/>
        <p:txBody>
          <a:bodyPr/>
          <a:lstStyle/>
          <a:p>
            <a:r>
              <a:rPr lang="en-US" dirty="0" smtClean="0"/>
              <a:t> What is taught is only what benefits the society …stability ,existence </a:t>
            </a:r>
            <a:r>
              <a:rPr lang="en-US" dirty="0" err="1" smtClean="0"/>
              <a:t>etc</a:t>
            </a:r>
            <a:endParaRPr lang="en-US" dirty="0" smtClean="0"/>
          </a:p>
          <a:p>
            <a:r>
              <a:rPr lang="en-US" dirty="0" smtClean="0"/>
              <a:t>What is unwanted cannot be in the curriculum.eg the debate on sex education/Family life education</a:t>
            </a:r>
          </a:p>
          <a:p>
            <a:r>
              <a:rPr lang="en-US" dirty="0" err="1" smtClean="0"/>
              <a:t>Therefore,functionalists</a:t>
            </a:r>
            <a:r>
              <a:rPr lang="en-US" dirty="0" smtClean="0"/>
              <a:t> position is that the  school curriculum enables realization of individuals who the society wants and not what nature dictates  </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Teacher</a:t>
            </a:r>
            <a:endParaRPr lang="en-US" b="1" dirty="0"/>
          </a:p>
        </p:txBody>
      </p:sp>
      <p:sp>
        <p:nvSpPr>
          <p:cNvPr id="3" name="Content Placeholder 2"/>
          <p:cNvSpPr>
            <a:spLocks noGrp="1"/>
          </p:cNvSpPr>
          <p:nvPr>
            <p:ph idx="1"/>
          </p:nvPr>
        </p:nvSpPr>
        <p:spPr/>
        <p:txBody>
          <a:bodyPr/>
          <a:lstStyle/>
          <a:p>
            <a:r>
              <a:rPr lang="en-US" dirty="0" smtClean="0"/>
              <a:t>Role is to ensure pupils realize allegiance to the society </a:t>
            </a:r>
            <a:r>
              <a:rPr lang="en-US" dirty="0" err="1" smtClean="0"/>
              <a:t>interms</a:t>
            </a:r>
            <a:r>
              <a:rPr lang="en-US" dirty="0" smtClean="0"/>
              <a:t> of values </a:t>
            </a:r>
            <a:r>
              <a:rPr lang="en-US" dirty="0"/>
              <a:t>and goals </a:t>
            </a:r>
            <a:endParaRPr lang="en-US" dirty="0" smtClean="0"/>
          </a:p>
          <a:p>
            <a:pPr marL="0" indent="0">
              <a:buNone/>
            </a:pPr>
            <a:r>
              <a:rPr lang="en-US" dirty="0" smtClean="0"/>
              <a:t>                                              </a:t>
            </a:r>
            <a:r>
              <a:rPr lang="en-US" b="1" dirty="0" smtClean="0"/>
              <a:t>PUPIL</a:t>
            </a:r>
            <a:endParaRPr lang="en-US" b="1" dirty="0"/>
          </a:p>
          <a:p>
            <a:r>
              <a:rPr lang="en-US" dirty="0" smtClean="0"/>
              <a:t>The pupil in terms of  </a:t>
            </a:r>
            <a:r>
              <a:rPr lang="en-US" dirty="0"/>
              <a:t>functional theory is </a:t>
            </a:r>
            <a:r>
              <a:rPr lang="en-US" dirty="0" smtClean="0"/>
              <a:t>seen as a </a:t>
            </a:r>
            <a:r>
              <a:rPr lang="en-US" dirty="0"/>
              <a:t>passive being with restraint; who is selfless, self-disciplined, and cooperative; one who identifies with the common social good</a:t>
            </a:r>
            <a:r>
              <a:rPr lang="en-US" dirty="0" smtClean="0"/>
              <a:t>.</a:t>
            </a:r>
          </a:p>
          <a:p>
            <a:r>
              <a:rPr lang="en-US" dirty="0" smtClean="0"/>
              <a:t>Education should produce well disciplined beings and experts (Talcott,1959)</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 another </a:t>
            </a:r>
            <a:r>
              <a:rPr lang="en-US" dirty="0" err="1" smtClean="0"/>
              <a:t>lense;educ</a:t>
            </a:r>
            <a:r>
              <a:rPr lang="en-US" dirty="0" smtClean="0"/>
              <a:t> implications of functionalists ;-</a:t>
            </a:r>
            <a:endParaRPr lang="en-US" dirty="0"/>
          </a:p>
        </p:txBody>
      </p:sp>
      <p:sp>
        <p:nvSpPr>
          <p:cNvPr id="3" name="Content Placeholder 2"/>
          <p:cNvSpPr>
            <a:spLocks noGrp="1"/>
          </p:cNvSpPr>
          <p:nvPr>
            <p:ph idx="1"/>
          </p:nvPr>
        </p:nvSpPr>
        <p:spPr/>
        <p:txBody>
          <a:bodyPr/>
          <a:lstStyle/>
          <a:p>
            <a:pPr lvl="0"/>
            <a:r>
              <a:rPr lang="en-US" dirty="0"/>
              <a:t>Supports </a:t>
            </a:r>
            <a:r>
              <a:rPr lang="en-US" b="1" dirty="0"/>
              <a:t>structured curriculum</a:t>
            </a:r>
            <a:r>
              <a:rPr lang="en-US" dirty="0"/>
              <a:t> emphasizing shared values and civic education.</a:t>
            </a:r>
          </a:p>
          <a:p>
            <a:pPr lvl="0"/>
            <a:r>
              <a:rPr lang="en-US" dirty="0"/>
              <a:t>Promotes </a:t>
            </a:r>
            <a:r>
              <a:rPr lang="en-US" b="1" dirty="0"/>
              <a:t>examinations and grading systems</a:t>
            </a:r>
            <a:r>
              <a:rPr lang="en-US" dirty="0"/>
              <a:t> as fair measures of merit and ability.</a:t>
            </a:r>
          </a:p>
          <a:p>
            <a:pPr lvl="0"/>
            <a:r>
              <a:rPr lang="en-US" dirty="0"/>
              <a:t>Encourages </a:t>
            </a:r>
            <a:r>
              <a:rPr lang="en-US" b="1" dirty="0"/>
              <a:t>vocational and academic streaming</a:t>
            </a:r>
            <a:r>
              <a:rPr lang="en-US" dirty="0"/>
              <a:t> to prepare learners for diverse social roles.</a:t>
            </a:r>
          </a:p>
          <a:p>
            <a:pPr lvl="0"/>
            <a:r>
              <a:rPr lang="en-US" dirty="0"/>
              <a:t>Emphasizes </a:t>
            </a:r>
            <a:r>
              <a:rPr lang="en-US" b="1" dirty="0"/>
              <a:t>teacher authority and discipline</a:t>
            </a:r>
            <a:r>
              <a:rPr lang="en-US" dirty="0"/>
              <a:t> to maintain social order.</a:t>
            </a:r>
          </a:p>
          <a:p>
            <a:endParaRPr lang="en-US" dirty="0"/>
          </a:p>
        </p:txBody>
      </p:sp>
    </p:spTree>
    <p:extLst>
      <p:ext uri="{BB962C8B-B14F-4D97-AF65-F5344CB8AC3E}">
        <p14:creationId xmlns:p14="http://schemas.microsoft.com/office/powerpoint/2010/main" val="38207387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Criticisms against Functionalist Theory</a:t>
            </a:r>
            <a:endParaRPr lang="en-US" dirty="0"/>
          </a:p>
        </p:txBody>
      </p:sp>
      <p:sp>
        <p:nvSpPr>
          <p:cNvPr id="3" name="Content Placeholder 2"/>
          <p:cNvSpPr>
            <a:spLocks noGrp="1"/>
          </p:cNvSpPr>
          <p:nvPr>
            <p:ph idx="1"/>
          </p:nvPr>
        </p:nvSpPr>
        <p:spPr/>
        <p:txBody>
          <a:bodyPr>
            <a:normAutofit/>
          </a:bodyPr>
          <a:lstStyle/>
          <a:p>
            <a:r>
              <a:rPr lang="en-US" dirty="0" smtClean="0"/>
              <a:t>(a)the  </a:t>
            </a:r>
            <a:r>
              <a:rPr lang="en-US" dirty="0"/>
              <a:t>emphasizes </a:t>
            </a:r>
            <a:r>
              <a:rPr lang="en-US" dirty="0" smtClean="0"/>
              <a:t>is the </a:t>
            </a:r>
            <a:r>
              <a:rPr lang="en-US" dirty="0"/>
              <a:t>status quo and maintenance of order </a:t>
            </a:r>
            <a:r>
              <a:rPr lang="en-US" dirty="0" smtClean="0"/>
              <a:t>and does not recognize conflict. Therefore success of a school can only be seen in the way it </a:t>
            </a:r>
            <a:r>
              <a:rPr lang="en-US" dirty="0" err="1" smtClean="0"/>
              <a:t>satisfys</a:t>
            </a:r>
            <a:r>
              <a:rPr lang="en-US" dirty="0" smtClean="0"/>
              <a:t> the society</a:t>
            </a:r>
          </a:p>
          <a:p>
            <a:r>
              <a:rPr lang="en-US" dirty="0" smtClean="0"/>
              <a:t> Such position is not </a:t>
            </a:r>
            <a:r>
              <a:rPr lang="en-US" dirty="0"/>
              <a:t>wholly right because consensus is only one way </a:t>
            </a:r>
            <a:r>
              <a:rPr lang="en-US" dirty="0" smtClean="0"/>
              <a:t>of </a:t>
            </a:r>
            <a:r>
              <a:rPr lang="en-US" dirty="0"/>
              <a:t>maintaining social order. In other instances, social order is </a:t>
            </a:r>
            <a:r>
              <a:rPr lang="en-US" dirty="0" smtClean="0"/>
              <a:t>maintained </a:t>
            </a:r>
            <a:r>
              <a:rPr lang="en-US" dirty="0"/>
              <a:t>by use of threats. </a:t>
            </a:r>
            <a:r>
              <a:rPr lang="en-US" dirty="0" smtClean="0"/>
              <a:t>Today the idea of pluralism in </a:t>
            </a:r>
            <a:r>
              <a:rPr lang="en-US" dirty="0"/>
              <a:t>education, </a:t>
            </a:r>
            <a:r>
              <a:rPr lang="en-US" dirty="0" smtClean="0"/>
              <a:t>politics, health and </a:t>
            </a:r>
            <a:r>
              <a:rPr lang="en-US" dirty="0"/>
              <a:t>in the economy is </a:t>
            </a:r>
            <a:r>
              <a:rPr lang="en-US" dirty="0" smtClean="0"/>
              <a:t>acceptable</a:t>
            </a:r>
          </a:p>
          <a:p>
            <a:pPr marL="0" indent="0">
              <a:buNone/>
            </a:pP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(b)It  emphasizes on a holistic </a:t>
            </a:r>
            <a:r>
              <a:rPr lang="en-US" dirty="0"/>
              <a:t>view of the society </a:t>
            </a:r>
            <a:r>
              <a:rPr lang="en-US" dirty="0" smtClean="0"/>
              <a:t>instead of also  </a:t>
            </a:r>
            <a:r>
              <a:rPr lang="en-US" dirty="0"/>
              <a:t>tracing historical development of certain social forces and effects. </a:t>
            </a:r>
            <a:r>
              <a:rPr lang="en-US" dirty="0" smtClean="0"/>
              <a:t>It offers a </a:t>
            </a:r>
            <a:r>
              <a:rPr lang="en-US" dirty="0"/>
              <a:t>deterministic view of the relationship between </a:t>
            </a:r>
            <a:r>
              <a:rPr lang="en-US" dirty="0" smtClean="0"/>
              <a:t>society and the individual. Its as if Society </a:t>
            </a:r>
            <a:r>
              <a:rPr lang="en-US" dirty="0"/>
              <a:t>and culture </a:t>
            </a:r>
            <a:r>
              <a:rPr lang="en-US" dirty="0" smtClean="0"/>
              <a:t>are never shaped </a:t>
            </a:r>
            <a:r>
              <a:rPr lang="en-US" dirty="0"/>
              <a:t>by </a:t>
            </a:r>
            <a:r>
              <a:rPr lang="en-US" dirty="0" smtClean="0"/>
              <a:t>individuals </a:t>
            </a:r>
          </a:p>
          <a:p>
            <a:r>
              <a:rPr lang="en-US" dirty="0" smtClean="0"/>
              <a:t>The theory therefore ignores individuals contribution to the society</a:t>
            </a:r>
          </a:p>
          <a:p>
            <a:r>
              <a:rPr lang="en-US" dirty="0" smtClean="0"/>
              <a:t>(c)Does not recognize innovation</a:t>
            </a:r>
          </a:p>
          <a:p>
            <a:pPr marL="0" indent="0">
              <a:buNone/>
            </a:pPr>
            <a:endParaRPr lang="en-US" dirty="0" smtClean="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Criticisms of </a:t>
            </a:r>
            <a:r>
              <a:rPr lang="en-US" dirty="0" err="1" smtClean="0"/>
              <a:t>fuctionalists</a:t>
            </a:r>
            <a:r>
              <a:rPr lang="en-US" dirty="0" smtClean="0"/>
              <a:t>;-</a:t>
            </a:r>
            <a:endParaRPr lang="en-US" dirty="0"/>
          </a:p>
        </p:txBody>
      </p:sp>
      <p:sp>
        <p:nvSpPr>
          <p:cNvPr id="3" name="Content Placeholder 2"/>
          <p:cNvSpPr>
            <a:spLocks noGrp="1"/>
          </p:cNvSpPr>
          <p:nvPr>
            <p:ph idx="1"/>
          </p:nvPr>
        </p:nvSpPr>
        <p:spPr/>
        <p:txBody>
          <a:bodyPr/>
          <a:lstStyle/>
          <a:p>
            <a:pPr lvl="0"/>
            <a:r>
              <a:rPr lang="en-US" dirty="0"/>
              <a:t>Overemphasizes </a:t>
            </a:r>
            <a:r>
              <a:rPr lang="en-US" b="1" dirty="0"/>
              <a:t>consensus and stability</a:t>
            </a:r>
            <a:r>
              <a:rPr lang="en-US" dirty="0"/>
              <a:t>, ignoring inequalities and conflicts.</a:t>
            </a:r>
          </a:p>
          <a:p>
            <a:pPr lvl="0"/>
            <a:r>
              <a:rPr lang="en-US" dirty="0"/>
              <a:t>Assumes </a:t>
            </a:r>
            <a:r>
              <a:rPr lang="en-US" b="1" dirty="0"/>
              <a:t>education is meritocratic</a:t>
            </a:r>
            <a:r>
              <a:rPr lang="en-US" dirty="0"/>
              <a:t>, while in reality, social class, gender, and race affect educational opportunities.</a:t>
            </a:r>
          </a:p>
          <a:p>
            <a:pPr lvl="0"/>
            <a:r>
              <a:rPr lang="en-US" dirty="0"/>
              <a:t>Ignores how education can reproduce </a:t>
            </a:r>
            <a:r>
              <a:rPr lang="en-US" b="1" dirty="0"/>
              <a:t>social inequality</a:t>
            </a:r>
            <a:r>
              <a:rPr lang="en-US" dirty="0"/>
              <a:t> rather than reduce it.</a:t>
            </a:r>
          </a:p>
          <a:p>
            <a:pPr lvl="0"/>
            <a:r>
              <a:rPr lang="en-US" dirty="0"/>
              <a:t>Treats individuals as </a:t>
            </a:r>
            <a:r>
              <a:rPr lang="en-US" b="1" dirty="0"/>
              <a:t>passive recipients</a:t>
            </a:r>
            <a:r>
              <a:rPr lang="en-US" dirty="0"/>
              <a:t> of norms and values.</a:t>
            </a:r>
          </a:p>
          <a:p>
            <a:endParaRPr lang="en-US" dirty="0"/>
          </a:p>
        </p:txBody>
      </p:sp>
    </p:spTree>
    <p:extLst>
      <p:ext uri="{BB962C8B-B14F-4D97-AF65-F5344CB8AC3E}">
        <p14:creationId xmlns:p14="http://schemas.microsoft.com/office/powerpoint/2010/main" val="2148151926"/>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CONFLICT THEORY</a:t>
            </a:r>
          </a:p>
        </p:txBody>
      </p:sp>
      <p:sp>
        <p:nvSpPr>
          <p:cNvPr id="3" name="Content Placeholder 2"/>
          <p:cNvSpPr>
            <a:spLocks noGrp="1"/>
          </p:cNvSpPr>
          <p:nvPr>
            <p:ph idx="1"/>
          </p:nvPr>
        </p:nvSpPr>
        <p:spPr/>
        <p:txBody>
          <a:bodyPr>
            <a:normAutofit/>
          </a:bodyPr>
          <a:lstStyle/>
          <a:p>
            <a:r>
              <a:rPr lang="en-US"/>
              <a:t>The functionalist assumptions that schools are ideologically and politically neutral ……………that schools operate based on meritocracy where each child is able to achieve to the highest level of his or her own ability so as to better meet the needs of society……. </a:t>
            </a:r>
          </a:p>
          <a:p>
            <a:pPr marL="0" indent="0">
              <a:buNone/>
            </a:pPr>
            <a:r>
              <a:rPr lang="en-US"/>
              <a:t>      IS CHALLENGED BY</a:t>
            </a:r>
          </a:p>
          <a:p>
            <a:r>
              <a:rPr lang="en-US"/>
              <a:t>Conflict theorists, who instead, argue that inequality is based on one’s position in the social system, not merit, and that schooling privileges some children and disadvantages others.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conflict theory has various other roots, such as Marxian theory, Simmers work on social conflict and Max Weber's social theory of </a:t>
            </a:r>
            <a:r>
              <a:rPr lang="en-US" dirty="0" smtClean="0"/>
              <a:t>change</a:t>
            </a:r>
          </a:p>
          <a:p>
            <a:r>
              <a:rPr lang="en-US" dirty="0" smtClean="0"/>
              <a:t>Conflict </a:t>
            </a:r>
            <a:r>
              <a:rPr lang="en-US" dirty="0"/>
              <a:t>theory is a theory_ of society open to social stratification</a:t>
            </a:r>
            <a:r>
              <a:rPr lang="en-US" dirty="0" smtClean="0"/>
              <a:t>.</a:t>
            </a:r>
          </a:p>
          <a:p>
            <a:r>
              <a:rPr lang="en-US" dirty="0"/>
              <a:t>Conflict theory focuses on inequality, and overemphasizes </a:t>
            </a:r>
            <a:r>
              <a:rPr lang="en-US" dirty="0" err="1"/>
              <a:t>social</a:t>
            </a:r>
            <a:r>
              <a:rPr lang="en-US" dirty="0"/>
              <a:t> class inequality.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dirty="0"/>
              <a:t>What is a conflict?</a:t>
            </a:r>
          </a:p>
          <a:p>
            <a:r>
              <a:rPr lang="en-US" dirty="0"/>
              <a:t>Conflict can be defined as any action that obstructs, prevents, interferes or in some way makes one's activity less likely or less effective than </a:t>
            </a:r>
            <a:r>
              <a:rPr lang="en-US" dirty="0" err="1"/>
              <a:t>another's.For</a:t>
            </a:r>
            <a:r>
              <a:rPr lang="en-US" dirty="0"/>
              <a:t> example, there is struggle between</a:t>
            </a:r>
          </a:p>
          <a:p>
            <a:r>
              <a:rPr lang="en-US" dirty="0" smtClean="0"/>
              <a:t>Those </a:t>
            </a:r>
            <a:r>
              <a:rPr lang="en-US" dirty="0"/>
              <a:t>in power and the ruled,</a:t>
            </a:r>
          </a:p>
          <a:p>
            <a:r>
              <a:rPr lang="en-US" dirty="0" smtClean="0"/>
              <a:t>Rich </a:t>
            </a:r>
            <a:r>
              <a:rPr lang="en-US" dirty="0"/>
              <a:t>and poor,</a:t>
            </a:r>
          </a:p>
          <a:p>
            <a:pPr marL="0" indent="0">
              <a:buNone/>
            </a:pPr>
            <a:r>
              <a:rPr lang="en-US" dirty="0" smtClean="0"/>
              <a:t>   Educated </a:t>
            </a:r>
            <a:r>
              <a:rPr lang="en-US" dirty="0"/>
              <a:t>and uneducated</a:t>
            </a:r>
          </a:p>
          <a:p>
            <a:r>
              <a:rPr lang="en-US" dirty="0" smtClean="0"/>
              <a:t>Rich </a:t>
            </a:r>
            <a:r>
              <a:rPr lang="en-US" dirty="0"/>
              <a:t>powerful and the poor.</a:t>
            </a:r>
          </a:p>
          <a:p>
            <a:r>
              <a:rPr lang="en-US" dirty="0"/>
              <a:t>He claimed that the structure of the industrial society is such that it</a:t>
            </a:r>
          </a:p>
          <a:p>
            <a:pPr marL="0" indent="0">
              <a:buNone/>
            </a:pPr>
            <a:r>
              <a:rPr lang="en-US" dirty="0"/>
              <a:t>breeds conflict in every stage.</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954156" y="365126"/>
            <a:ext cx="10399643" cy="297484"/>
          </a:xfrm>
        </p:spPr>
        <p:txBody>
          <a:bodyPr>
            <a:normAutofit fontScale="90000"/>
          </a:bodyPr>
          <a:lstStyle/>
          <a:p>
            <a:endParaRPr lang="en-US" dirty="0"/>
          </a:p>
        </p:txBody>
      </p:sp>
      <p:sp>
        <p:nvSpPr>
          <p:cNvPr id="3" name="Content Placeholder 2"/>
          <p:cNvSpPr>
            <a:spLocks noGrp="1"/>
          </p:cNvSpPr>
          <p:nvPr>
            <p:ph idx="1"/>
          </p:nvPr>
        </p:nvSpPr>
        <p:spPr>
          <a:xfrm>
            <a:off x="768626" y="781878"/>
            <a:ext cx="10585174" cy="5395085"/>
          </a:xfrm>
        </p:spPr>
        <p:txBody>
          <a:bodyPr>
            <a:noAutofit/>
          </a:bodyPr>
          <a:lstStyle/>
          <a:p>
            <a:pPr marL="0" indent="0">
              <a:buNone/>
            </a:pPr>
            <a:endParaRPr lang="en-US" sz="2000" dirty="0"/>
          </a:p>
          <a:p>
            <a:pPr marL="0" indent="0">
              <a:buNone/>
            </a:pPr>
            <a:r>
              <a:rPr lang="en-US" sz="2400" dirty="0">
                <a:latin typeface="Times New Roman" panose="02020603050405020304" pitchFamily="18" charset="0"/>
                <a:cs typeface="Times New Roman" panose="02020603050405020304" pitchFamily="18" charset="0"/>
              </a:rPr>
              <a:t>Origins of conflict theory are situated in the writings of Marx (1847/1955) and later Max Weber (1948a, 1948b, 1961). </a:t>
            </a:r>
          </a:p>
          <a:p>
            <a:pPr marL="0" indent="0">
              <a:buNone/>
            </a:pPr>
            <a:r>
              <a:rPr lang="en-US" sz="2400" dirty="0">
                <a:latin typeface="Times New Roman" panose="02020603050405020304" pitchFamily="18" charset="0"/>
                <a:cs typeface="Times New Roman" panose="02020603050405020304" pitchFamily="18" charset="0"/>
              </a:rPr>
              <a:t> States there is tension in society which is created by the competing interests of groups in society.</a:t>
            </a:r>
          </a:p>
          <a:p>
            <a:pPr marL="0" indent="0">
              <a:buNone/>
            </a:pPr>
            <a:r>
              <a:rPr lang="en-US" sz="2400" dirty="0">
                <a:latin typeface="Times New Roman" panose="02020603050405020304" pitchFamily="18" charset="0"/>
                <a:cs typeface="Times New Roman" panose="02020603050405020304" pitchFamily="18" charset="0"/>
              </a:rPr>
              <a:t> Despite agreeing on rules conflicts still occur among teachers, students, parents, and </a:t>
            </a:r>
          </a:p>
          <a:p>
            <a:pPr marL="0" indent="0">
              <a:buNone/>
            </a:pPr>
            <a:r>
              <a:rPr lang="en-US" sz="2400" dirty="0">
                <a:latin typeface="Times New Roman" panose="02020603050405020304" pitchFamily="18" charset="0"/>
                <a:cs typeface="Times New Roman" panose="02020603050405020304" pitchFamily="18" charset="0"/>
              </a:rPr>
              <a:t>administrators in institutions</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However, conflict theorists disagree on whether participants in the education system generally conform to the rules, rebel against them, or feel they have no choices.</a:t>
            </a:r>
          </a:p>
          <a:p>
            <a:pPr marL="0" indent="0">
              <a:buNone/>
            </a:pPr>
            <a:r>
              <a:rPr lang="en-US" sz="2400" dirty="0">
                <a:latin typeface="Times New Roman" panose="02020603050405020304" pitchFamily="18" charset="0"/>
                <a:cs typeface="Times New Roman" panose="02020603050405020304" pitchFamily="18" charset="0"/>
              </a:rPr>
              <a:t>Marx argued that schools create and maintain inequality by teaching students an ideology that serves the interests of the rich and instills in students a sense of “false consciousness.”</a:t>
            </a:r>
          </a:p>
          <a:p>
            <a:pPr marL="0" indent="0">
              <a:buNone/>
            </a:pPr>
            <a:endParaRPr lang="en-US" sz="20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a:sym typeface="+mn-ea"/>
              </a:rPr>
              <a:t> That is, students in schools learn to accept the myth of meritocracy, that all have an equal chance of achieving. Those who buy into this ideology and fail often believe that their failure is due to their own shortcomings and lack of ability. Students learn to internalize their own lower position in society and their lowly fate, thus accepting a false consciousness and legitimizing the wealth and power of capitalists.</a:t>
            </a:r>
            <a:endParaRPr lang="en-US"/>
          </a:p>
          <a:p>
            <a:pPr marL="0" indent="0">
              <a:buNone/>
            </a:pPr>
            <a:r>
              <a:rPr lang="en-US">
                <a:sym typeface="+mn-ea"/>
              </a:rPr>
              <a:t> Marx would also argue that the organization of schooling is set up in such a way that all students will not receive the same quality of education; thus, some students coming out of the educational system will work in factories for less pay.</a:t>
            </a:r>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954156" y="0"/>
            <a:ext cx="10399643" cy="848139"/>
          </a:xfrm>
        </p:spPr>
        <p:txBody>
          <a:bodyPr>
            <a:normAutofit fontScale="90000"/>
          </a:bodyPr>
          <a:lstStyle/>
          <a:p>
            <a:r>
              <a:rPr lang="en-US" dirty="0" smtClean="0">
                <a:sym typeface="+mn-ea"/>
              </a:rPr>
              <a:t/>
            </a:r>
            <a:br>
              <a:rPr lang="en-US" dirty="0" smtClean="0">
                <a:sym typeface="+mn-ea"/>
              </a:rPr>
            </a:br>
            <a:r>
              <a:rPr lang="en-US" dirty="0" smtClean="0">
                <a:sym typeface="+mn-ea"/>
              </a:rPr>
              <a:t>ASSUMPTIONS </a:t>
            </a:r>
            <a:r>
              <a:rPr lang="en-US" dirty="0">
                <a:sym typeface="+mn-ea"/>
              </a:rPr>
              <a:t>OF CONFLICT THEORISTS</a:t>
            </a:r>
            <a:r>
              <a:rPr lang="en-US" dirty="0"/>
              <a:t/>
            </a:r>
            <a:br>
              <a:rPr lang="en-US" dirty="0"/>
            </a:br>
            <a:endParaRPr lang="en-US" dirty="0"/>
          </a:p>
        </p:txBody>
      </p:sp>
      <p:sp>
        <p:nvSpPr>
          <p:cNvPr id="3" name="Content Placeholder 2"/>
          <p:cNvSpPr>
            <a:spLocks noGrp="1"/>
          </p:cNvSpPr>
          <p:nvPr>
            <p:ph idx="1"/>
          </p:nvPr>
        </p:nvSpPr>
        <p:spPr>
          <a:xfrm>
            <a:off x="649357" y="848138"/>
            <a:ext cx="10704443" cy="6009861"/>
          </a:xfrm>
        </p:spPr>
        <p:txBody>
          <a:bodyPr>
            <a:noAutofit/>
          </a:bodyPr>
          <a:lstStyle/>
          <a:p>
            <a:r>
              <a:rPr lang="en-US" sz="2400" dirty="0">
                <a:latin typeface="Times New Roman" panose="02020603050405020304" pitchFamily="18" charset="0"/>
                <a:cs typeface="Times New Roman" panose="02020603050405020304" pitchFamily="18" charset="0"/>
              </a:rPr>
              <a:t>That conflict is manifested in social life between members of the different social groups .Each </a:t>
            </a:r>
            <a:r>
              <a:rPr lang="en-US" sz="2400" dirty="0" smtClean="0">
                <a:latin typeface="Times New Roman" panose="02020603050405020304" pitchFamily="18" charset="0"/>
                <a:cs typeface="Times New Roman" panose="02020603050405020304" pitchFamily="18" charset="0"/>
              </a:rPr>
              <a:t>group </a:t>
            </a:r>
            <a:r>
              <a:rPr lang="en-US" sz="2400" dirty="0">
                <a:latin typeface="Times New Roman" panose="02020603050405020304" pitchFamily="18" charset="0"/>
                <a:cs typeface="Times New Roman" panose="02020603050405020304" pitchFamily="18" charset="0"/>
              </a:rPr>
              <a:t>has different interests.</a:t>
            </a:r>
          </a:p>
          <a:p>
            <a:r>
              <a:rPr lang="en-US" sz="2400" dirty="0">
                <a:latin typeface="Times New Roman" panose="02020603050405020304" pitchFamily="18" charset="0"/>
                <a:cs typeface="Times New Roman" panose="02020603050405020304" pitchFamily="18" charset="0"/>
              </a:rPr>
              <a:t>Social life involves coercion, persuasion, division and inequalities. There are various divisions in the society </a:t>
            </a:r>
            <a:r>
              <a:rPr lang="en-US" sz="2400" dirty="0" err="1" smtClean="0">
                <a:latin typeface="Times New Roman" panose="02020603050405020304" pitchFamily="18" charset="0"/>
                <a:cs typeface="Times New Roman" panose="02020603050405020304" pitchFamily="18" charset="0"/>
              </a:rPr>
              <a:t>between;the</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poor and the rich,</a:t>
            </a:r>
          </a:p>
          <a:p>
            <a:r>
              <a:rPr lang="en-US" sz="2400" dirty="0">
                <a:latin typeface="Times New Roman" panose="02020603050405020304" pitchFamily="18" charset="0"/>
                <a:cs typeface="Times New Roman" panose="02020603050405020304" pitchFamily="18" charset="0"/>
              </a:rPr>
              <a:t>rural and urban dwellers,</a:t>
            </a:r>
          </a:p>
          <a:p>
            <a:r>
              <a:rPr lang="en-US" sz="2400" dirty="0">
                <a:latin typeface="Times New Roman" panose="02020603050405020304" pitchFamily="18" charset="0"/>
                <a:cs typeface="Times New Roman" panose="02020603050405020304" pitchFamily="18" charset="0"/>
              </a:rPr>
              <a:t>high-cost versus low-cost schools,</a:t>
            </a:r>
          </a:p>
          <a:p>
            <a:r>
              <a:rPr lang="en-US" sz="2400" dirty="0">
                <a:latin typeface="Times New Roman" panose="02020603050405020304" pitchFamily="18" charset="0"/>
                <a:cs typeface="Times New Roman" panose="02020603050405020304" pitchFamily="18" charset="0"/>
              </a:rPr>
              <a:t>Public universities versus private universities, men and women, people of different races and </a:t>
            </a:r>
            <a:r>
              <a:rPr lang="en-US" sz="2400" dirty="0" smtClean="0">
                <a:latin typeface="Times New Roman" panose="02020603050405020304" pitchFamily="18" charset="0"/>
                <a:cs typeface="Times New Roman" panose="02020603050405020304" pitchFamily="18" charset="0"/>
              </a:rPr>
              <a:t>tribes</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Social differentiation involving power and political leadership is maintained through </a:t>
            </a:r>
          </a:p>
          <a:p>
            <a:pPr marL="0" indent="0">
              <a:buNone/>
            </a:pPr>
            <a:r>
              <a:rPr lang="en-US" sz="2400" dirty="0">
                <a:latin typeface="Times New Roman" panose="02020603050405020304" pitchFamily="18" charset="0"/>
                <a:cs typeface="Times New Roman" panose="02020603050405020304" pitchFamily="18" charset="0"/>
              </a:rPr>
              <a:t>force;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5000" lnSpcReduction="20000"/>
          </a:bodyPr>
          <a:lstStyle/>
          <a:p>
            <a:pPr marL="0" indent="0">
              <a:buNone/>
            </a:pPr>
            <a:r>
              <a:rPr lang="en-US"/>
              <a:t>Force is used to keep the power and political leadership at near equilibrium. The society structures are ever changing and change is not resistible. The powerful in the society are the ones who influence all the structures within the society. The society is always divided into two parts; the haves and have nots</a:t>
            </a:r>
          </a:p>
          <a:p>
            <a:pPr marL="0" indent="0">
              <a:buNone/>
            </a:pPr>
            <a:r>
              <a:rPr lang="en-US"/>
              <a:t>The status quo is always maintained through coercion Functions of Conflict theory in society. Conflicts leads to modification processes in the society thus avoiding stagnation of the society.Conflict propel members to look for solutions to the problems. Conflict is a medium through which problems can be aired. Conflict leads to establishment of new social order.</a:t>
            </a:r>
          </a:p>
          <a:p>
            <a:pPr marL="0" indent="0">
              <a:buNone/>
            </a:pPr>
            <a:r>
              <a:rPr lang="en-US"/>
              <a:t>Implications of Conflict Theory to Education.</a:t>
            </a:r>
          </a:p>
          <a:p>
            <a:r>
              <a:rPr lang="en-US"/>
              <a:t>The education reforms should be carried out often and be preceded with economic and political </a:t>
            </a:r>
          </a:p>
          <a:p>
            <a:r>
              <a:rPr lang="en-US"/>
              <a:t>reforms. The reforms should be inclusive of all interested groups and be done by experts. The </a:t>
            </a:r>
          </a:p>
          <a:p>
            <a:r>
              <a:rPr lang="en-US"/>
              <a:t>difference in performance by students is due to unequal allocation of resources and not due to </a:t>
            </a:r>
          </a:p>
          <a:p>
            <a:r>
              <a:rPr lang="en-US"/>
              <a:t>intellectual endowments.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a:sym typeface="+mn-ea"/>
              </a:rPr>
              <a:t>Implications of Conflict Theory to Education.</a:t>
            </a:r>
            <a:endParaRPr lang="en-US"/>
          </a:p>
          <a:p>
            <a:r>
              <a:rPr lang="en-US">
                <a:sym typeface="+mn-ea"/>
              </a:rPr>
              <a:t>The education reforms should be carried out often and be preceded with economic and political reforms. The reforms should be inclusive of all interested groups and be done by experts. The difference in performance by students is due to unequal allocation of resources and not due to intellectual endowments.</a:t>
            </a:r>
            <a:endParaRPr lang="en-US"/>
          </a:p>
          <a:p>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implications of conflict theory;-</a:t>
            </a:r>
            <a:endParaRPr lang="en-US" dirty="0"/>
          </a:p>
        </p:txBody>
      </p:sp>
      <p:sp>
        <p:nvSpPr>
          <p:cNvPr id="3" name="Content Placeholder 2"/>
          <p:cNvSpPr>
            <a:spLocks noGrp="1"/>
          </p:cNvSpPr>
          <p:nvPr>
            <p:ph idx="1"/>
          </p:nvPr>
        </p:nvSpPr>
        <p:spPr/>
        <p:txBody>
          <a:bodyPr/>
          <a:lstStyle/>
          <a:p>
            <a:pPr lvl="0"/>
            <a:r>
              <a:rPr lang="en-US" dirty="0" smtClean="0"/>
              <a:t>Calls </a:t>
            </a:r>
            <a:r>
              <a:rPr lang="en-US" dirty="0"/>
              <a:t>for </a:t>
            </a:r>
            <a:r>
              <a:rPr lang="en-US" b="1" dirty="0"/>
              <a:t>curriculum reform</a:t>
            </a:r>
            <a:r>
              <a:rPr lang="en-US" dirty="0"/>
              <a:t> to promote equality and social justice.</a:t>
            </a:r>
          </a:p>
          <a:p>
            <a:pPr lvl="0"/>
            <a:r>
              <a:rPr lang="en-US" dirty="0"/>
              <a:t>Supports </a:t>
            </a:r>
            <a:r>
              <a:rPr lang="en-US" b="1" dirty="0"/>
              <a:t>critical pedagogy</a:t>
            </a:r>
            <a:r>
              <a:rPr lang="en-US" dirty="0"/>
              <a:t>—teaching students to question authority and challenge oppression (Freire’s ideas).</a:t>
            </a:r>
          </a:p>
          <a:p>
            <a:pPr lvl="0"/>
            <a:r>
              <a:rPr lang="en-US" dirty="0"/>
              <a:t>Encourages </a:t>
            </a:r>
            <a:r>
              <a:rPr lang="en-US" b="1" dirty="0"/>
              <a:t>inclusive education</a:t>
            </a:r>
            <a:r>
              <a:rPr lang="en-US" dirty="0"/>
              <a:t> that values diversity and equity.</a:t>
            </a:r>
          </a:p>
          <a:p>
            <a:pPr lvl="0"/>
            <a:r>
              <a:rPr lang="en-US" dirty="0"/>
              <a:t>Suggests teachers should act as </a:t>
            </a:r>
            <a:r>
              <a:rPr lang="en-US" b="1" dirty="0"/>
              <a:t>agents of social change</a:t>
            </a:r>
            <a:r>
              <a:rPr lang="en-US" dirty="0"/>
              <a:t>, not just transmitters of knowledge.</a:t>
            </a:r>
          </a:p>
          <a:p>
            <a:endParaRPr lang="en-US" dirty="0"/>
          </a:p>
        </p:txBody>
      </p:sp>
    </p:spTree>
    <p:extLst>
      <p:ext uri="{BB962C8B-B14F-4D97-AF65-F5344CB8AC3E}">
        <p14:creationId xmlns:p14="http://schemas.microsoft.com/office/powerpoint/2010/main" val="21228343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243" y="-166369"/>
            <a:ext cx="9869556" cy="1319308"/>
          </a:xfrm>
        </p:spPr>
        <p:txBody>
          <a:bodyPr>
            <a:normAutofit fontScale="90000"/>
          </a:bodyPr>
          <a:lstStyle/>
          <a:p>
            <a:r>
              <a:rPr lang="en-US" dirty="0" smtClean="0">
                <a:sym typeface="+mn-ea"/>
              </a:rPr>
              <a:t/>
            </a:r>
            <a:br>
              <a:rPr lang="en-US" dirty="0" smtClean="0">
                <a:sym typeface="+mn-ea"/>
              </a:rPr>
            </a:br>
            <a:r>
              <a:rPr lang="en-US" dirty="0" smtClean="0">
                <a:sym typeface="+mn-ea"/>
              </a:rPr>
              <a:t>APPLICATION </a:t>
            </a:r>
            <a:r>
              <a:rPr lang="en-US" dirty="0">
                <a:sym typeface="+mn-ea"/>
              </a:rPr>
              <a:t>OF CONFLICT THEORY TO EDUCATION</a:t>
            </a:r>
            <a:r>
              <a:rPr lang="en-US" dirty="0"/>
              <a:t/>
            </a:r>
            <a:br>
              <a:rPr lang="en-US" dirty="0"/>
            </a:br>
            <a:endParaRPr lang="en-US" dirty="0"/>
          </a:p>
        </p:txBody>
      </p:sp>
      <p:sp>
        <p:nvSpPr>
          <p:cNvPr id="3" name="Content Placeholder 2"/>
          <p:cNvSpPr>
            <a:spLocks noGrp="1"/>
          </p:cNvSpPr>
          <p:nvPr>
            <p:ph idx="1"/>
          </p:nvPr>
        </p:nvSpPr>
        <p:spPr>
          <a:xfrm>
            <a:off x="1033670" y="980661"/>
            <a:ext cx="10320130" cy="5196302"/>
          </a:xfrm>
        </p:spPr>
        <p:txBody>
          <a:bodyPr>
            <a:normAutofit fontScale="95000"/>
          </a:bodyPr>
          <a:lstStyle/>
          <a:p>
            <a:pPr marL="0" indent="0">
              <a:buNone/>
            </a:pPr>
            <a:r>
              <a:rPr lang="en-US" dirty="0" smtClean="0"/>
              <a:t>The </a:t>
            </a:r>
            <a:r>
              <a:rPr lang="en-US" dirty="0"/>
              <a:t>Marxists view education as the main societal structure promoting classes. Education </a:t>
            </a:r>
          </a:p>
          <a:p>
            <a:r>
              <a:rPr lang="en-US" dirty="0"/>
              <a:t>equips members with skills and expertise to work </a:t>
            </a:r>
            <a:r>
              <a:rPr lang="en-US" dirty="0" smtClean="0"/>
              <a:t>for </a:t>
            </a:r>
            <a:r>
              <a:rPr lang="en-US" dirty="0"/>
              <a:t>the capitalists hence perpetrating </a:t>
            </a:r>
            <a:r>
              <a:rPr lang="en-US" dirty="0" smtClean="0"/>
              <a:t>classes </a:t>
            </a:r>
            <a:r>
              <a:rPr lang="en-US" dirty="0"/>
              <a:t>in the society.</a:t>
            </a:r>
          </a:p>
          <a:p>
            <a:r>
              <a:rPr lang="en-US" dirty="0" smtClean="0"/>
              <a:t> </a:t>
            </a:r>
            <a:r>
              <a:rPr lang="en-US" dirty="0"/>
              <a:t>Education socializes members to accept the norms and values of the dominating class.</a:t>
            </a:r>
          </a:p>
          <a:p>
            <a:r>
              <a:rPr lang="en-US" dirty="0" smtClean="0"/>
              <a:t>Marxists </a:t>
            </a:r>
            <a:r>
              <a:rPr lang="en-US" dirty="0"/>
              <a:t>view education as a tool used to maintain the status quo i.e. through curriculum </a:t>
            </a:r>
            <a:r>
              <a:rPr lang="en-US" dirty="0" smtClean="0"/>
              <a:t>which </a:t>
            </a:r>
            <a:r>
              <a:rPr lang="en-US" dirty="0"/>
              <a:t>originates from ruling class. </a:t>
            </a:r>
            <a:r>
              <a:rPr lang="en-US" dirty="0" smtClean="0"/>
              <a:t>Education </a:t>
            </a:r>
            <a:r>
              <a:rPr lang="en-US" dirty="0"/>
              <a:t>leads to cultural production whereby the people are trained to fit in the industrial </a:t>
            </a:r>
            <a:r>
              <a:rPr lang="en-US" dirty="0" smtClean="0"/>
              <a:t>set </a:t>
            </a:r>
            <a:r>
              <a:rPr lang="en-US" dirty="0"/>
              <a:t>up.</a:t>
            </a:r>
          </a:p>
          <a:p>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ym typeface="+mn-ea"/>
              </a:rPr>
              <a:t>Cont.; APPLICATION TO EDUC</a:t>
            </a:r>
            <a:r>
              <a:rPr lang="en-US"/>
              <a:t/>
            </a:r>
            <a:br>
              <a:rPr lang="en-US"/>
            </a:br>
            <a:endParaRPr lang="en-US"/>
          </a:p>
        </p:txBody>
      </p:sp>
      <p:sp>
        <p:nvSpPr>
          <p:cNvPr id="3" name="Content Placeholder 2"/>
          <p:cNvSpPr>
            <a:spLocks noGrp="1"/>
          </p:cNvSpPr>
          <p:nvPr>
            <p:ph idx="1"/>
          </p:nvPr>
        </p:nvSpPr>
        <p:spPr/>
        <p:txBody>
          <a:bodyPr>
            <a:normAutofit/>
          </a:bodyPr>
          <a:lstStyle/>
          <a:p>
            <a:pPr marL="0" indent="0">
              <a:buNone/>
            </a:pPr>
            <a:r>
              <a:rPr lang="en-US" dirty="0" smtClean="0">
                <a:sym typeface="+mn-ea"/>
              </a:rPr>
              <a:t>Learning </a:t>
            </a:r>
            <a:r>
              <a:rPr lang="en-US" dirty="0">
                <a:sym typeface="+mn-ea"/>
              </a:rPr>
              <a:t>institutions are divided into classes with the rich attending private schools which charge vey high fees so that the poor cannot afford. </a:t>
            </a:r>
            <a:endParaRPr lang="en-US" dirty="0" smtClean="0">
              <a:sym typeface="+mn-ea"/>
            </a:endParaRPr>
          </a:p>
          <a:p>
            <a:pPr marL="0" indent="0">
              <a:buNone/>
            </a:pPr>
            <a:r>
              <a:rPr lang="en-US" dirty="0" smtClean="0">
                <a:sym typeface="+mn-ea"/>
              </a:rPr>
              <a:t>The </a:t>
            </a:r>
            <a:r>
              <a:rPr lang="en-US" dirty="0">
                <a:sym typeface="+mn-ea"/>
              </a:rPr>
              <a:t>poor attend Government schools with meagre resources.</a:t>
            </a:r>
            <a:endParaRPr lang="en-US" dirty="0"/>
          </a:p>
          <a:p>
            <a:pPr marL="0" indent="0">
              <a:buNone/>
            </a:pPr>
            <a:r>
              <a:rPr lang="en-US" dirty="0">
                <a:sym typeface="+mn-ea"/>
              </a:rPr>
              <a:t> All subjects taught in English. Language of the ruling class. The poor speak their native language. </a:t>
            </a:r>
          </a:p>
          <a:p>
            <a:pPr marL="0" indent="0">
              <a:buNone/>
            </a:pPr>
            <a:r>
              <a:rPr lang="en-US" dirty="0">
                <a:sym typeface="+mn-ea"/>
              </a:rPr>
              <a:t>Curriculum favors the children of the rich. Its extension of home.</a:t>
            </a:r>
            <a:endParaRPr lang="en-US" dirty="0"/>
          </a:p>
          <a:p>
            <a:pPr marL="0" indent="0">
              <a:buNone/>
            </a:pPr>
            <a:r>
              <a:rPr lang="en-US" dirty="0">
                <a:sym typeface="+mn-ea"/>
              </a:rPr>
              <a:t>Streaming people according to ability will perpetuates classes.</a:t>
            </a:r>
            <a:endParaRPr lang="en-US" dirty="0"/>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REMEDIES</a:t>
            </a:r>
          </a:p>
          <a:p>
            <a:r>
              <a:rPr lang="en-US" dirty="0" smtClean="0"/>
              <a:t>Ensure </a:t>
            </a:r>
            <a:r>
              <a:rPr lang="en-US" dirty="0"/>
              <a:t>syllabus is relevant</a:t>
            </a:r>
          </a:p>
          <a:p>
            <a:r>
              <a:rPr lang="en-US" dirty="0" smtClean="0"/>
              <a:t>Find </a:t>
            </a:r>
            <a:r>
              <a:rPr lang="en-US" dirty="0"/>
              <a:t>appropriate content. e.g. entrepreneurial studies…they will set businesses</a:t>
            </a:r>
          </a:p>
          <a:p>
            <a:r>
              <a:rPr lang="en-US" dirty="0" smtClean="0"/>
              <a:t> </a:t>
            </a:r>
            <a:r>
              <a:rPr lang="en-US" dirty="0"/>
              <a:t>Ensure all schools have resources. </a:t>
            </a:r>
            <a:r>
              <a:rPr lang="en-US" dirty="0" smtClean="0"/>
              <a:t>Relax </a:t>
            </a:r>
            <a:r>
              <a:rPr lang="en-US" dirty="0"/>
              <a:t>requirements for disadvantaged students.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Criticisms against Conflict theory</a:t>
            </a:r>
            <a:endParaRPr lang="en-US" dirty="0"/>
          </a:p>
        </p:txBody>
      </p:sp>
      <p:sp>
        <p:nvSpPr>
          <p:cNvPr id="3" name="Content Placeholder 2"/>
          <p:cNvSpPr>
            <a:spLocks noGrp="1"/>
          </p:cNvSpPr>
          <p:nvPr>
            <p:ph idx="1"/>
          </p:nvPr>
        </p:nvSpPr>
        <p:spPr/>
        <p:txBody>
          <a:bodyPr/>
          <a:lstStyle/>
          <a:p>
            <a:pPr lvl="0"/>
            <a:r>
              <a:rPr lang="en-US" dirty="0"/>
              <a:t>Overemphasizes the negative aspects of education and </a:t>
            </a:r>
            <a:r>
              <a:rPr lang="en-US" b="1" dirty="0"/>
              <a:t>ignores its integrative functions</a:t>
            </a:r>
            <a:r>
              <a:rPr lang="en-US" dirty="0"/>
              <a:t>.</a:t>
            </a:r>
          </a:p>
          <a:p>
            <a:pPr lvl="0"/>
            <a:r>
              <a:rPr lang="en-US" dirty="0"/>
              <a:t>Views students and teachers as </a:t>
            </a:r>
            <a:r>
              <a:rPr lang="en-US" b="1" dirty="0"/>
              <a:t>powerless victims</a:t>
            </a:r>
            <a:r>
              <a:rPr lang="en-US" dirty="0"/>
              <a:t>, overlooking their agency and creativity.</a:t>
            </a:r>
          </a:p>
          <a:p>
            <a:pPr lvl="0"/>
            <a:r>
              <a:rPr lang="en-US" dirty="0"/>
              <a:t>Fails to explain how some students </a:t>
            </a:r>
            <a:r>
              <a:rPr lang="en-US" b="1" dirty="0"/>
              <a:t>succeed despite social disadvantage</a:t>
            </a:r>
            <a:r>
              <a:rPr lang="en-US" dirty="0"/>
              <a:t>.</a:t>
            </a:r>
          </a:p>
          <a:p>
            <a:pPr lvl="0"/>
            <a:r>
              <a:rPr lang="en-US" dirty="0"/>
              <a:t>Too focused on </a:t>
            </a:r>
            <a:r>
              <a:rPr lang="en-US" b="1" dirty="0"/>
              <a:t>economic inequality</a:t>
            </a:r>
            <a:r>
              <a:rPr lang="en-US" dirty="0"/>
              <a:t>, ignoring other factors like culture and gender.</a:t>
            </a:r>
          </a:p>
          <a:p>
            <a:endParaRPr lang="en-US" dirty="0"/>
          </a:p>
        </p:txBody>
      </p:sp>
    </p:spTree>
    <p:extLst>
      <p:ext uri="{BB962C8B-B14F-4D97-AF65-F5344CB8AC3E}">
        <p14:creationId xmlns:p14="http://schemas.microsoft.com/office/powerpoint/2010/main" val="1310313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527</TotalTime>
  <Words>5623</Words>
  <Application>Microsoft Office PowerPoint</Application>
  <PresentationFormat>Widescreen</PresentationFormat>
  <Paragraphs>432</Paragraphs>
  <Slides>86</Slides>
  <Notes>0</Notes>
  <HiddenSlides>9</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86</vt:i4>
      </vt:variant>
    </vt:vector>
  </HeadingPairs>
  <TitlesOfParts>
    <vt:vector size="92" baseType="lpstr">
      <vt:lpstr>Arial</vt:lpstr>
      <vt:lpstr>Calibri</vt:lpstr>
      <vt:lpstr>Calibri Light</vt:lpstr>
      <vt:lpstr>Times New Roman</vt:lpstr>
      <vt:lpstr>Wingdings</vt:lpstr>
      <vt:lpstr>Office Theme</vt:lpstr>
      <vt:lpstr>     DEPARTMENT OF TECHNOLOGY EDUCATION</vt:lpstr>
      <vt:lpstr>Resourses</vt:lpstr>
      <vt:lpstr>What is in the course outline for Sociology of Education</vt:lpstr>
      <vt:lpstr>We want to find out  -;</vt:lpstr>
      <vt:lpstr>The learner should be able to;-</vt:lpstr>
      <vt:lpstr>PowerPoint Presentation</vt:lpstr>
      <vt:lpstr>PowerPoint Presentation</vt:lpstr>
      <vt:lpstr>PowerPoint Presentation</vt:lpstr>
      <vt:lpstr>PowerPoint Presentation</vt:lpstr>
      <vt:lpstr>PowerPoint Presentation</vt:lpstr>
      <vt:lpstr>What about Sociology of Education</vt:lpstr>
      <vt:lpstr>By the end this discussion we expect you to be able to:</vt:lpstr>
      <vt:lpstr>PowerPoint Presentation</vt:lpstr>
      <vt:lpstr>PowerPoint Presentation</vt:lpstr>
      <vt:lpstr>Sociology of Education;Overview of Main Content</vt:lpstr>
      <vt:lpstr>cont,</vt:lpstr>
      <vt:lpstr>               Assessment methods </vt:lpstr>
      <vt:lpstr>ASSUMPTIONS MADE IN SOCIOLOGY OF EDUCATION</vt:lpstr>
      <vt:lpstr>Reasons for studying sociology of  education</vt:lpstr>
      <vt:lpstr>PowerPoint Presentation</vt:lpstr>
      <vt:lpstr>Meaning of the term Sociology in General </vt:lpstr>
      <vt:lpstr>PowerPoint Presentation</vt:lpstr>
      <vt:lpstr> QUIZ</vt:lpstr>
      <vt:lpstr>PowerPoint Presentation</vt:lpstr>
      <vt:lpstr>PowerPoint Presentation</vt:lpstr>
      <vt:lpstr>             BRANCHES OF SOCIOLOGY</vt:lpstr>
      <vt:lpstr>PowerPoint Presentation</vt:lpstr>
      <vt:lpstr>PowerPoint Presentation</vt:lpstr>
      <vt:lpstr>PowerPoint Presentation</vt:lpstr>
      <vt:lpstr> DEVELOPMENT OF SOCIOLOGY </vt:lpstr>
      <vt:lpstr>Philosophical Roots of Sociology of Education</vt:lpstr>
      <vt:lpstr>PowerPoint Presentation</vt:lpstr>
      <vt:lpstr>Ivan Illich (1926-2002) and Everett Reimer (1910-1998)</vt:lpstr>
      <vt:lpstr>PowerPoint Presentation</vt:lpstr>
      <vt:lpstr>b)The Philosophy of Social Pedagogy---</vt:lpstr>
      <vt:lpstr>      John Dewey (1859 – 1952)</vt:lpstr>
      <vt:lpstr>          Emille Durkheim (1858 – 1917). </vt:lpstr>
      <vt:lpstr>PowerPoint Presentation</vt:lpstr>
      <vt:lpstr>Definition of Term Education  </vt:lpstr>
      <vt:lpstr>Other perspectives of explaining the meaning of the term Education; </vt:lpstr>
      <vt:lpstr>(b)Development of innate human potentialities</vt:lpstr>
      <vt:lpstr> (c)Education for Social Orientation of the Human Being </vt:lpstr>
      <vt:lpstr>PowerPoint Presentation</vt:lpstr>
      <vt:lpstr>Link to concept of education</vt:lpstr>
      <vt:lpstr>More definitions of the term education</vt:lpstr>
      <vt:lpstr>PowerPoint Presentation</vt:lpstr>
      <vt:lpstr>PowerPoint Presentation</vt:lpstr>
      <vt:lpstr>References</vt:lpstr>
      <vt:lpstr>Origins and Development/Definition of Sociology of Education</vt:lpstr>
      <vt:lpstr>PowerPoint Presentation</vt:lpstr>
      <vt:lpstr>PowerPoint Presentation</vt:lpstr>
      <vt:lpstr>Structure of Society</vt:lpstr>
      <vt:lpstr>PowerPoint Presentation</vt:lpstr>
      <vt:lpstr>What have we learnt</vt:lpstr>
      <vt:lpstr>We  discussed the following-:</vt:lpstr>
      <vt:lpstr>                            LESSON 2 Sociological Perspectives /Sociological theory?</vt:lpstr>
      <vt:lpstr>Major Sociological theories</vt:lpstr>
      <vt:lpstr>PowerPoint Presentation</vt:lpstr>
      <vt:lpstr>PowerPoint Presentation</vt:lpstr>
      <vt:lpstr>   Contribution from Auguste Compte</vt:lpstr>
      <vt:lpstr>          Emile Durkheim (1858 - 1917),</vt:lpstr>
      <vt:lpstr>               Herbert Spencer</vt:lpstr>
      <vt:lpstr>PowerPoint Presentation</vt:lpstr>
      <vt:lpstr>Dysfunctions </vt:lpstr>
      <vt:lpstr>MAJOR POSTULATIONS BY FUNCTIONALISTS</vt:lpstr>
      <vt:lpstr>PowerPoint Presentation</vt:lpstr>
      <vt:lpstr>Implications of Functional Theory to Education</vt:lpstr>
      <vt:lpstr>Curriculum</vt:lpstr>
      <vt:lpstr>                          Teacher</vt:lpstr>
      <vt:lpstr>In another lense;educ implications of functionalists ;-</vt:lpstr>
      <vt:lpstr>Criticisms against Functionalist Theory</vt:lpstr>
      <vt:lpstr>PowerPoint Presentation</vt:lpstr>
      <vt:lpstr>Further Criticisms of fuctionalists;-</vt:lpstr>
      <vt:lpstr>       CONFLICT THEORY</vt:lpstr>
      <vt:lpstr>PowerPoint Presentation</vt:lpstr>
      <vt:lpstr>PowerPoint Presentation</vt:lpstr>
      <vt:lpstr>PowerPoint Presentation</vt:lpstr>
      <vt:lpstr>PowerPoint Presentation</vt:lpstr>
      <vt:lpstr> ASSUMPTIONS OF CONFLICT THEORISTS </vt:lpstr>
      <vt:lpstr>PowerPoint Presentation</vt:lpstr>
      <vt:lpstr>PowerPoint Presentation</vt:lpstr>
      <vt:lpstr>Further implications of conflict theory;-</vt:lpstr>
      <vt:lpstr> APPLICATION OF CONFLICT THEORY TO EDUCATION </vt:lpstr>
      <vt:lpstr>Cont.; APPLICATION TO EDUC </vt:lpstr>
      <vt:lpstr>PowerPoint Presentation</vt:lpstr>
      <vt:lpstr>Criticisms against Conflict theory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Origins and Development of Sociology of Education</dc:title>
  <dc:creator>ADMIN</dc:creator>
  <cp:lastModifiedBy>Dr. Gatembu</cp:lastModifiedBy>
  <cp:revision>96</cp:revision>
  <dcterms:created xsi:type="dcterms:W3CDTF">2022-03-01T19:12:00Z</dcterms:created>
  <dcterms:modified xsi:type="dcterms:W3CDTF">2026-03-17T11:07:01Z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3494DB7434DC4FDBA376EF824E495FEA</vt:lpwstr>
  </property>
  <property fmtid="{D5CDD505-2E9C-101B-9397-08002B2CF9AE}" pid="3" name="KSOProductBuildVer">
    <vt:lpwstr>1033-11.2.0.11537</vt:lpwstr>
  </property>
</Properties>
</file>