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0" r:id="rId2"/>
    <p:sldId id="256" r:id="rId3"/>
    <p:sldId id="257" r:id="rId4"/>
    <p:sldId id="258" r:id="rId5"/>
    <p:sldId id="260" r:id="rId6"/>
    <p:sldId id="259" r:id="rId7"/>
    <p:sldId id="261" r:id="rId8"/>
    <p:sldId id="262" r:id="rId9"/>
    <p:sldId id="263" r:id="rId10"/>
    <p:sldId id="264" r:id="rId11"/>
    <p:sldId id="265" r:id="rId12"/>
    <p:sldId id="266" r:id="rId13"/>
    <p:sldId id="279" r:id="rId14"/>
    <p:sldId id="270" r:id="rId15"/>
    <p:sldId id="267" r:id="rId16"/>
    <p:sldId id="271" r:id="rId17"/>
    <p:sldId id="272" r:id="rId18"/>
    <p:sldId id="273" r:id="rId19"/>
    <p:sldId id="274" r:id="rId20"/>
    <p:sldId id="275" r:id="rId21"/>
    <p:sldId id="269"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3" autoAdjust="0"/>
    <p:restoredTop sz="94660"/>
  </p:normalViewPr>
  <p:slideViewPr>
    <p:cSldViewPr snapToGrid="0">
      <p:cViewPr varScale="1">
        <p:scale>
          <a:sx n="64" d="100"/>
          <a:sy n="64" d="100"/>
        </p:scale>
        <p:origin x="29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AAD70B-62A2-480B-B1BD-7EAF56AB791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AAD70B-62A2-480B-B1BD-7EAF56AB791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4AAD70B-62A2-480B-B1BD-7EAF56AB791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AAD70B-62A2-480B-B1BD-7EAF56AB791B}"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AAD70B-62A2-480B-B1BD-7EAF56AB791B}"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AAD70B-62A2-480B-B1BD-7EAF56AB791B}"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AAD70B-62A2-480B-B1BD-7EAF56AB791B}"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4AAD70B-62A2-480B-B1BD-7EAF56AB791B}"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4AAD70B-62A2-480B-B1BD-7EAF56AB791B}"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AAD70B-62A2-480B-B1BD-7EAF56AB791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AAD70B-62A2-480B-B1BD-7EAF56AB791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AAD70B-62A2-480B-B1BD-7EAF56AB791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AEDBCA-3298-4C01-9B8F-26FC539F017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AAD70B-62A2-480B-B1BD-7EAF56AB791B}" type="datetimeFigureOut">
              <a:rPr lang="en-US" smtClean="0"/>
              <a:t>4/2/2026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AEDBCA-3298-4C01-9B8F-26FC539F017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SOCIOLOGY </a:t>
            </a:r>
            <a:r>
              <a:rPr lang="en-US" dirty="0"/>
              <a:t>OF THE CLASSROOM</a:t>
            </a:r>
          </a:p>
        </p:txBody>
      </p:sp>
      <p:sp>
        <p:nvSpPr>
          <p:cNvPr id="5" name="Content Placeholder 4"/>
          <p:cNvSpPr>
            <a:spLocks noGrp="1"/>
          </p:cNvSpPr>
          <p:nvPr>
            <p:ph idx="1"/>
          </p:nvPr>
        </p:nvSpPr>
        <p:spPr/>
        <p:txBody>
          <a:bodyPr/>
          <a:lstStyle/>
          <a:p>
            <a:pPr marL="0" indent="0">
              <a:buNone/>
            </a:pPr>
            <a:endParaRPr lang="en-US" b="1" dirty="0"/>
          </a:p>
          <a:p>
            <a:pPr marL="0" indent="0">
              <a:buNone/>
            </a:pPr>
            <a:r>
              <a:rPr lang="en-US" b="1" dirty="0"/>
              <a:t>               Brief Summary</a:t>
            </a:r>
          </a:p>
          <a:p>
            <a:r>
              <a:rPr lang="en-US" dirty="0"/>
              <a:t>Definition of a classroom</a:t>
            </a:r>
          </a:p>
          <a:p>
            <a:r>
              <a:rPr lang="en-US" dirty="0"/>
              <a:t>Role of Teacher</a:t>
            </a:r>
          </a:p>
          <a:p>
            <a:r>
              <a:rPr lang="en-US" dirty="0"/>
              <a:t>What teacher should do to command authority</a:t>
            </a:r>
          </a:p>
          <a:p>
            <a:r>
              <a:rPr lang="en-US" dirty="0"/>
              <a:t>Teacher and Teaching profession</a:t>
            </a:r>
          </a:p>
          <a:p>
            <a:r>
              <a:rPr lang="en-US" dirty="0"/>
              <a:t>Characteristics of a profession</a:t>
            </a:r>
          </a:p>
          <a:p>
            <a:r>
              <a:rPr lang="en-US" dirty="0"/>
              <a:t>Profession Prestige </a:t>
            </a:r>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4107" y="1"/>
            <a:ext cx="10143893" cy="1828799"/>
          </a:xfrm>
        </p:spPr>
        <p:txBody>
          <a:bodyPr/>
          <a:lstStyle/>
          <a:p>
            <a:r>
              <a:rPr lang="en-US" dirty="0" smtClean="0"/>
              <a:t>SOCIOLOGY OF THE CLASSROOM </a:t>
            </a:r>
            <a:endParaRPr lang="en-US" dirty="0"/>
          </a:p>
        </p:txBody>
      </p:sp>
      <p:sp>
        <p:nvSpPr>
          <p:cNvPr id="3" name="Subtitle 2"/>
          <p:cNvSpPr>
            <a:spLocks noGrp="1"/>
          </p:cNvSpPr>
          <p:nvPr>
            <p:ph type="subTitle" idx="1"/>
          </p:nvPr>
        </p:nvSpPr>
        <p:spPr>
          <a:xfrm>
            <a:off x="524107" y="1605776"/>
            <a:ext cx="10143893" cy="4998224"/>
          </a:xfrm>
        </p:spPr>
        <p:txBody>
          <a:bodyPr>
            <a:normAutofit/>
          </a:bodyPr>
          <a:lstStyle/>
          <a:p>
            <a:r>
              <a:rPr lang="en-US" sz="4000" dirty="0" smtClean="0"/>
              <a:t>What is a classroom?</a:t>
            </a:r>
            <a:r>
              <a:rPr lang="en-US" sz="4000" dirty="0"/>
              <a:t> </a:t>
            </a:r>
            <a:endParaRPr lang="en-US" sz="4000" dirty="0" smtClean="0"/>
          </a:p>
          <a:p>
            <a:r>
              <a:rPr lang="en-US" sz="4000" dirty="0" smtClean="0"/>
              <a:t>The </a:t>
            </a:r>
            <a:r>
              <a:rPr lang="en-US" sz="4000" dirty="0"/>
              <a:t>classroom means a room in which a group of pupils who are more or less in the same position, in terms of age or class within a </a:t>
            </a:r>
            <a:r>
              <a:rPr lang="en-US" sz="4000" dirty="0" smtClean="0"/>
              <a:t>school </a:t>
            </a:r>
            <a:r>
              <a:rPr lang="en-US" sz="4000" dirty="0"/>
              <a:t>system are taught. </a:t>
            </a:r>
            <a:endParaRPr lang="en-US" sz="4000"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132" y="365126"/>
            <a:ext cx="10606668" cy="192436"/>
          </a:xfrm>
        </p:spPr>
        <p:txBody>
          <a:bodyPr>
            <a:normAutofit fontScale="90000"/>
          </a:bodyPr>
          <a:lstStyle/>
          <a:p>
            <a:endParaRPr lang="en-US" dirty="0"/>
          </a:p>
        </p:txBody>
      </p:sp>
      <p:sp>
        <p:nvSpPr>
          <p:cNvPr id="3" name="Content Placeholder 2"/>
          <p:cNvSpPr>
            <a:spLocks noGrp="1"/>
          </p:cNvSpPr>
          <p:nvPr>
            <p:ph idx="1"/>
          </p:nvPr>
        </p:nvSpPr>
        <p:spPr>
          <a:xfrm>
            <a:off x="412595" y="557562"/>
            <a:ext cx="10941205" cy="5619401"/>
          </a:xfrm>
        </p:spPr>
        <p:txBody>
          <a:bodyPr/>
          <a:lstStyle/>
          <a:p>
            <a:pPr marL="0" indent="0">
              <a:buNone/>
            </a:pPr>
            <a:endParaRPr lang="en-US" dirty="0"/>
          </a:p>
          <a:p>
            <a:pPr marL="0" indent="0">
              <a:buNone/>
            </a:pPr>
            <a:r>
              <a:rPr lang="en-US" dirty="0" smtClean="0"/>
              <a:t> </a:t>
            </a:r>
            <a:r>
              <a:rPr lang="en-US" dirty="0"/>
              <a:t>In the classroom setting, students develop relationships over time </a:t>
            </a:r>
            <a:r>
              <a:rPr lang="en-US" dirty="0" smtClean="0"/>
              <a:t>based on  </a:t>
            </a:r>
            <a:r>
              <a:rPr lang="en-US" dirty="0"/>
              <a:t>interaction and common </a:t>
            </a:r>
            <a:r>
              <a:rPr lang="en-US" dirty="0" smtClean="0"/>
              <a:t>goals. This leads to emergence of </a:t>
            </a:r>
            <a:r>
              <a:rPr lang="en-US" b="1" dirty="0" smtClean="0">
                <a:solidFill>
                  <a:srgbClr val="FF0000"/>
                </a:solidFill>
              </a:rPr>
              <a:t>social forces </a:t>
            </a:r>
            <a:r>
              <a:rPr lang="en-US" b="1" dirty="0">
                <a:solidFill>
                  <a:srgbClr val="FF0000"/>
                </a:solidFill>
              </a:rPr>
              <a:t>that either facilitate or impede </a:t>
            </a:r>
            <a:r>
              <a:rPr lang="en-US" b="1" dirty="0" smtClean="0">
                <a:solidFill>
                  <a:srgbClr val="FF0000"/>
                </a:solidFill>
              </a:rPr>
              <a:t>learning</a:t>
            </a:r>
            <a:endParaRPr lang="en-US" dirty="0" smtClean="0">
              <a:solidFill>
                <a:srgbClr val="FF0000"/>
              </a:solidFill>
            </a:endParaRPr>
          </a:p>
          <a:p>
            <a:pPr marL="0" indent="0">
              <a:buNone/>
            </a:pPr>
            <a:r>
              <a:rPr lang="en-US" dirty="0" smtClean="0"/>
              <a:t>The </a:t>
            </a:r>
            <a:r>
              <a:rPr lang="en-US" b="1" dirty="0">
                <a:solidFill>
                  <a:schemeClr val="accent1"/>
                </a:solidFill>
              </a:rPr>
              <a:t>main role of the teacher</a:t>
            </a:r>
            <a:r>
              <a:rPr lang="en-US" dirty="0">
                <a:solidFill>
                  <a:schemeClr val="accent1"/>
                </a:solidFill>
              </a:rPr>
              <a:t> </a:t>
            </a:r>
            <a:r>
              <a:rPr lang="en-US" dirty="0" smtClean="0"/>
              <a:t>in the classroom is </a:t>
            </a:r>
            <a:r>
              <a:rPr lang="en-US" b="1" dirty="0" smtClean="0"/>
              <a:t>(a) </a:t>
            </a:r>
            <a:r>
              <a:rPr lang="en-US" dirty="0"/>
              <a:t>instruct and assess pupils who may have come from different socio-economic status and with diverse intellectual endowments in cognitive skills and in terms of facts and skills. </a:t>
            </a:r>
            <a:r>
              <a:rPr lang="en-US" b="1" dirty="0" smtClean="0"/>
              <a:t>(b)</a:t>
            </a:r>
            <a:r>
              <a:rPr lang="en-US" dirty="0"/>
              <a:t>R</a:t>
            </a:r>
            <a:r>
              <a:rPr lang="en-US" dirty="0" smtClean="0"/>
              <a:t>epresent </a:t>
            </a:r>
            <a:r>
              <a:rPr lang="en-US" dirty="0"/>
              <a:t>the adult world of authority and is expected to acquaint pupils with proper codes of </a:t>
            </a:r>
            <a:r>
              <a:rPr lang="en-US" dirty="0" err="1"/>
              <a:t>behaviour</a:t>
            </a:r>
            <a:r>
              <a:rPr lang="en-US" dirty="0"/>
              <a:t> in the classroom, school, and the </a:t>
            </a:r>
            <a:r>
              <a:rPr lang="en-US" dirty="0" smtClean="0"/>
              <a:t>society</a:t>
            </a:r>
            <a:r>
              <a:rPr lang="en-US" dirty="0"/>
              <a:t> </a:t>
            </a:r>
            <a:r>
              <a:rPr lang="en-US" dirty="0" smtClean="0"/>
              <a:t>at large</a:t>
            </a:r>
            <a:endParaRPr lang="en-US" dirty="0"/>
          </a:p>
          <a:p>
            <a:pPr marL="0" indent="0">
              <a:buNone/>
            </a:pPr>
            <a:endParaRPr lang="en-US" dirty="0" smtClean="0"/>
          </a:p>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59343"/>
          </a:xfrm>
        </p:spPr>
        <p:txBody>
          <a:bodyPr>
            <a:normAutofit fontScale="90000"/>
          </a:bodyPr>
          <a:lstStyle/>
          <a:p>
            <a:endParaRPr lang="en-US" dirty="0"/>
          </a:p>
        </p:txBody>
      </p:sp>
      <p:sp>
        <p:nvSpPr>
          <p:cNvPr id="3" name="Content Placeholder 2"/>
          <p:cNvSpPr>
            <a:spLocks noGrp="1"/>
          </p:cNvSpPr>
          <p:nvPr>
            <p:ph idx="1"/>
          </p:nvPr>
        </p:nvSpPr>
        <p:spPr>
          <a:xfrm>
            <a:off x="838200" y="724829"/>
            <a:ext cx="10515600" cy="5452134"/>
          </a:xfrm>
        </p:spPr>
        <p:txBody>
          <a:bodyPr/>
          <a:lstStyle/>
          <a:p>
            <a:pPr marL="0" indent="0">
              <a:buNone/>
            </a:pPr>
            <a:r>
              <a:rPr lang="en-US" b="1" dirty="0" smtClean="0"/>
              <a:t>(c)</a:t>
            </a:r>
            <a:r>
              <a:rPr lang="en-US" dirty="0" smtClean="0"/>
              <a:t>Management -the </a:t>
            </a:r>
            <a:r>
              <a:rPr lang="en-US" dirty="0"/>
              <a:t>teacher is the manager. The teacher, therefore, has the responsibility of harnessing the energies of pupils so that they can effectively acquire necessary knowledge skills and value systems that will </a:t>
            </a:r>
            <a:r>
              <a:rPr lang="en-US" b="1" dirty="0">
                <a:solidFill>
                  <a:schemeClr val="accent1"/>
                </a:solidFill>
              </a:rPr>
              <a:t>help them to become productive members of the society</a:t>
            </a:r>
            <a:r>
              <a:rPr lang="en-US" dirty="0" smtClean="0"/>
              <a:t>.</a:t>
            </a:r>
          </a:p>
          <a:p>
            <a:pPr marL="0" indent="0">
              <a:buNone/>
            </a:pPr>
            <a:r>
              <a:rPr lang="en-US" dirty="0" smtClean="0"/>
              <a:t> </a:t>
            </a:r>
            <a:r>
              <a:rPr lang="en-US" dirty="0"/>
              <a:t>The teacher must guide the pupils to acquire proper conduct of </a:t>
            </a:r>
            <a:r>
              <a:rPr lang="en-US" dirty="0" err="1"/>
              <a:t>behaviour</a:t>
            </a:r>
            <a:r>
              <a:rPr lang="en-US" dirty="0"/>
              <a:t> for social </a:t>
            </a:r>
            <a:r>
              <a:rPr lang="en-US" dirty="0" smtClean="0"/>
              <a:t>living</a:t>
            </a:r>
          </a:p>
          <a:p>
            <a:pPr marL="0" indent="0">
              <a:buNone/>
            </a:pPr>
            <a:r>
              <a:rPr lang="en-US" b="1" dirty="0" smtClean="0"/>
              <a:t>DISCIPLINE ISSUES</a:t>
            </a:r>
          </a:p>
          <a:p>
            <a:pPr marL="0" indent="0">
              <a:buNone/>
            </a:pPr>
            <a:r>
              <a:rPr lang="en-US" dirty="0" err="1" smtClean="0"/>
              <a:t>Farrant</a:t>
            </a:r>
            <a:r>
              <a:rPr lang="en-US" dirty="0" smtClean="0"/>
              <a:t> </a:t>
            </a:r>
            <a:r>
              <a:rPr lang="en-US" dirty="0"/>
              <a:t>(1964) suggested that some of the most common disorders in the classroom originate from teachers' inability to exercise authority and unpreparedness to teach</a:t>
            </a:r>
            <a:endParaRPr lang="en-US" dirty="0" smtClean="0"/>
          </a:p>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pPr marL="0" indent="0">
              <a:buNone/>
            </a:pPr>
            <a:r>
              <a:rPr lang="en-US" b="1" dirty="0" smtClean="0"/>
              <a:t>Authority</a:t>
            </a:r>
            <a:r>
              <a:rPr lang="en-US" dirty="0" smtClean="0"/>
              <a:t> </a:t>
            </a:r>
            <a:r>
              <a:rPr lang="en-US" dirty="0"/>
              <a:t>is the ability to enforce obedience</a:t>
            </a:r>
            <a:r>
              <a:rPr lang="en-US" dirty="0" smtClean="0"/>
              <a:t>.</a:t>
            </a:r>
          </a:p>
          <a:p>
            <a:pPr marL="0" indent="0">
              <a:buNone/>
            </a:pPr>
            <a:r>
              <a:rPr lang="en-US" dirty="0" smtClean="0"/>
              <a:t>Without </a:t>
            </a:r>
            <a:r>
              <a:rPr lang="en-US" dirty="0"/>
              <a:t>authority, management of a classroom is bound to break </a:t>
            </a:r>
            <a:r>
              <a:rPr lang="en-US" dirty="0" smtClean="0"/>
              <a:t>down.</a:t>
            </a:r>
          </a:p>
          <a:p>
            <a:pPr marL="0" indent="0">
              <a:buNone/>
            </a:pPr>
            <a:r>
              <a:rPr lang="en-US" dirty="0" smtClean="0"/>
              <a:t>Discipline problems can also emanate from lack of co-operation between other members of staff, parents and community in general.</a:t>
            </a:r>
          </a:p>
          <a:p>
            <a:pPr marL="0" indent="0">
              <a:buNone/>
            </a:pPr>
            <a:r>
              <a:rPr lang="en-US" dirty="0" smtClean="0"/>
              <a:t> </a:t>
            </a:r>
          </a:p>
          <a:p>
            <a:pPr marL="0" indent="0">
              <a:buNone/>
            </a:pPr>
            <a:endParaRPr lang="en-US" dirty="0" smtClean="0"/>
          </a:p>
          <a:p>
            <a:pPr marL="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indent="0"/>
            <a:r>
              <a:rPr lang="en-US" b="1" dirty="0" smtClean="0"/>
              <a:t>What should the  teacher do to command respect and wield authority over pupils,  </a:t>
            </a:r>
          </a:p>
        </p:txBody>
      </p:sp>
      <p:sp>
        <p:nvSpPr>
          <p:cNvPr id="3" name="Content Placeholder 2"/>
          <p:cNvSpPr>
            <a:spLocks noGrp="1"/>
          </p:cNvSpPr>
          <p:nvPr>
            <p:ph idx="1"/>
          </p:nvPr>
        </p:nvSpPr>
        <p:spPr/>
        <p:txBody>
          <a:bodyPr/>
          <a:lstStyle/>
          <a:p>
            <a:r>
              <a:rPr lang="en-US" dirty="0"/>
              <a:t>Formulate Reasonable </a:t>
            </a:r>
            <a:r>
              <a:rPr lang="en-US" dirty="0" smtClean="0"/>
              <a:t>Rules which are known to all pupils; </a:t>
            </a:r>
            <a:r>
              <a:rPr lang="en-US" dirty="0"/>
              <a:t>Harmony in the classroom is dependent on keeping rules. Such rules should outline the expected </a:t>
            </a:r>
            <a:r>
              <a:rPr lang="en-US" dirty="0" err="1"/>
              <a:t>behaviour</a:t>
            </a:r>
            <a:r>
              <a:rPr lang="en-US" dirty="0"/>
              <a:t> of pupils in the </a:t>
            </a:r>
            <a:r>
              <a:rPr lang="en-US" dirty="0" smtClean="0"/>
              <a:t>classroom Moreover</a:t>
            </a:r>
            <a:r>
              <a:rPr lang="en-US" dirty="0"/>
              <a:t>, such rules should specify how pupils for instance, should show their intention to respond to questions, handing in their written work, coming in and going out of the </a:t>
            </a:r>
            <a:r>
              <a:rPr lang="en-US" dirty="0" smtClean="0"/>
              <a:t>classroom.</a:t>
            </a:r>
          </a:p>
          <a:p>
            <a:r>
              <a:rPr lang="en-US" dirty="0" smtClean="0"/>
              <a:t> </a:t>
            </a:r>
            <a:r>
              <a:rPr lang="en-US" dirty="0"/>
              <a:t>Maintain Dignity A teacher should not be  involved in unwarranted arguments or physical struggles with children. </a:t>
            </a:r>
            <a:endParaRPr lang="en-US" dirty="0" smtClean="0"/>
          </a:p>
          <a:p>
            <a:endParaRPr lang="en-US" dirty="0" smtClean="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The teacher should </a:t>
            </a:r>
            <a:r>
              <a:rPr lang="en-US" b="1" dirty="0"/>
              <a:t>avoid trying to be popular</a:t>
            </a:r>
            <a:r>
              <a:rPr lang="en-US" dirty="0"/>
              <a:t> with the children because this is likely to make the teacher not to demand that pupils adhere to the set out rules. A</a:t>
            </a:r>
            <a:r>
              <a:rPr lang="en-US" b="1" dirty="0"/>
              <a:t> teacher should also set good examples</a:t>
            </a:r>
            <a:r>
              <a:rPr lang="en-US" dirty="0"/>
              <a:t> to pupils through his words, actions and </a:t>
            </a:r>
            <a:r>
              <a:rPr lang="en-US" dirty="0" err="1"/>
              <a:t>behaviour</a:t>
            </a:r>
            <a:r>
              <a:rPr lang="en-US" dirty="0" smtClean="0"/>
              <a:t>.</a:t>
            </a:r>
            <a:r>
              <a:rPr lang="en-US" dirty="0"/>
              <a:t> </a:t>
            </a:r>
          </a:p>
          <a:p>
            <a:pPr marL="0" indent="0">
              <a:buNone/>
            </a:pPr>
            <a:r>
              <a:rPr lang="en-US" dirty="0" smtClean="0"/>
              <a:t>For </a:t>
            </a:r>
            <a:r>
              <a:rPr lang="en-US" dirty="0"/>
              <a:t>example, a teacher should dress up appropriately </a:t>
            </a:r>
            <a:r>
              <a:rPr lang="en-US" dirty="0" smtClean="0"/>
              <a:t>.</a:t>
            </a:r>
          </a:p>
          <a:p>
            <a:pPr marL="0" indent="0">
              <a:buNone/>
            </a:pPr>
            <a:r>
              <a:rPr lang="en-US" dirty="0" smtClean="0"/>
              <a:t> </a:t>
            </a:r>
            <a:r>
              <a:rPr lang="en-US" b="1" dirty="0" smtClean="0"/>
              <a:t>Consistent</a:t>
            </a:r>
            <a:r>
              <a:rPr lang="en-US" dirty="0" smtClean="0"/>
              <a:t>-- </a:t>
            </a:r>
            <a:r>
              <a:rPr lang="en-US" dirty="0"/>
              <a:t>A teacher must be consistent in applying disciplinary measurers all the times. However, the punishment should be commensurate </a:t>
            </a:r>
            <a:r>
              <a:rPr lang="en-US" dirty="0" smtClean="0"/>
              <a:t>with </a:t>
            </a:r>
            <a:r>
              <a:rPr lang="en-US" dirty="0"/>
              <a:t>the </a:t>
            </a:r>
            <a:r>
              <a:rPr lang="en-US" dirty="0" smtClean="0"/>
              <a:t>offence</a:t>
            </a:r>
            <a:r>
              <a:rPr lang="en-US" dirty="0"/>
              <a:t> . </a:t>
            </a:r>
            <a:endParaRPr lang="en-US" dirty="0" smtClean="0"/>
          </a:p>
          <a:p>
            <a:pPr marL="0" indent="0">
              <a:buNone/>
            </a:pPr>
            <a:r>
              <a:rPr lang="en-US" dirty="0" smtClean="0"/>
              <a:t>Discipline </a:t>
            </a:r>
            <a:r>
              <a:rPr lang="en-US" dirty="0"/>
              <a:t>should be applied to all without exceptions.</a:t>
            </a:r>
            <a:endParaRPr lang="en-US" dirty="0" smtClean="0"/>
          </a:p>
          <a:p>
            <a:pPr marL="0" indent="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 </a:t>
            </a:r>
            <a:r>
              <a:rPr lang="en-US" b="1" dirty="0" smtClean="0"/>
              <a:t>Firmness; </a:t>
            </a:r>
            <a:r>
              <a:rPr lang="en-US" dirty="0"/>
              <a:t>The teacher’s authority will be weakened if he/she appears to waiver on certain decisions. The teacher must make decisions after careful consideration and carry them out. Particularly, when beginning to teach a new </a:t>
            </a:r>
            <a:r>
              <a:rPr lang="en-US" dirty="0" smtClean="0"/>
              <a:t>class</a:t>
            </a:r>
            <a:r>
              <a:rPr lang="en-US" dirty="0"/>
              <a:t>, teachers must establish their authority firmly</a:t>
            </a:r>
            <a:r>
              <a:rPr lang="en-US" dirty="0" smtClean="0"/>
              <a:t>.</a:t>
            </a:r>
            <a:r>
              <a:rPr lang="en-US" dirty="0"/>
              <a:t> . </a:t>
            </a:r>
            <a:r>
              <a:rPr lang="en-US" b="1" dirty="0" smtClean="0"/>
              <a:t>Act quickly on </a:t>
            </a:r>
            <a:r>
              <a:rPr lang="en-US" b="1" dirty="0" err="1" smtClean="0"/>
              <a:t>disorders;</a:t>
            </a:r>
            <a:r>
              <a:rPr lang="en-US" dirty="0" err="1" smtClean="0"/>
              <a:t>Disorders</a:t>
            </a:r>
            <a:r>
              <a:rPr lang="en-US" b="1" dirty="0" smtClean="0"/>
              <a:t> </a:t>
            </a:r>
            <a:r>
              <a:rPr lang="en-US" dirty="0"/>
              <a:t>in the classroom should be tackled immediately; otherwise delay may be interpreted by pupils as a weakness. When a teacher promises to do something, she/he must carry it out otherwise the children will not be able to take what the teacher says seriously</a:t>
            </a:r>
            <a:endParaRPr lang="en-US" dirty="0" smtClean="0"/>
          </a:p>
          <a:p>
            <a:pPr marL="0" indent="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a:t>Be </a:t>
            </a:r>
            <a:r>
              <a:rPr lang="en-US" b="1" dirty="0" smtClean="0"/>
              <a:t>Self-Critical; </a:t>
            </a:r>
            <a:r>
              <a:rPr lang="en-US" dirty="0"/>
              <a:t>To ensure that authority prevails, the teacher must be able to reflect on his strong and weak points. This way, the teacher is able to give better guidance. A teacher must also avoid some forms of mannerism that might reduce his authority such as crying in front of the children, biting one’s finger nails and other forms of emotional outbursts</a:t>
            </a:r>
            <a:r>
              <a:rPr lang="en-US" dirty="0" smtClean="0"/>
              <a:t>.</a:t>
            </a:r>
          </a:p>
          <a:p>
            <a:r>
              <a:rPr lang="en-US" dirty="0" smtClean="0"/>
              <a:t> </a:t>
            </a:r>
            <a:r>
              <a:rPr lang="en-US" dirty="0"/>
              <a:t>To maintain authority, teachers must strive to</a:t>
            </a:r>
            <a:r>
              <a:rPr lang="en-US" b="1" dirty="0"/>
              <a:t> cultivate good relations with other members of staff, parents of the pupils and members of the community at large</a:t>
            </a:r>
            <a:r>
              <a:rPr lang="en-US" dirty="0"/>
              <a:t>. These people interact with pupils and if the teachers' demands of discipline are not congruent with those of other stakeholders, their authority may be undermined. In the recent past, for instance, some parents in Kenya have beaten up teachers under the pretext that their demands on children are unreasonable</a:t>
            </a:r>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b="1" dirty="0"/>
              <a:t>Efficiency </a:t>
            </a:r>
            <a:r>
              <a:rPr lang="en-US" sz="3200" b="1" dirty="0" smtClean="0"/>
              <a:t>;</a:t>
            </a:r>
            <a:r>
              <a:rPr lang="en-US" dirty="0" smtClean="0"/>
              <a:t>A </a:t>
            </a:r>
            <a:r>
              <a:rPr lang="en-US" dirty="0"/>
              <a:t>teacher must prepare well for all lessons, be methodical, that is, the lesson must be logically organized; and must have all items needed during the teaching time. Poor teaching too, is the major cause of discipline. Poor teaching may arise from teacher's failure to prepare properly for the lessons in terms of content and presentation. If the material prepared for instance, is beyond the understanding of children or not challenging enough, children will lose interest and are likely to become restless and noisy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03948"/>
          </a:xfrm>
        </p:spPr>
        <p:txBody>
          <a:bodyPr>
            <a:normAutofit fontScale="90000"/>
          </a:bodyPr>
          <a:lstStyle/>
          <a:p>
            <a:endParaRPr lang="en-US" dirty="0"/>
          </a:p>
        </p:txBody>
      </p:sp>
      <p:sp>
        <p:nvSpPr>
          <p:cNvPr id="3" name="Content Placeholder 2"/>
          <p:cNvSpPr>
            <a:spLocks noGrp="1"/>
          </p:cNvSpPr>
          <p:nvPr>
            <p:ph idx="1"/>
          </p:nvPr>
        </p:nvSpPr>
        <p:spPr>
          <a:xfrm>
            <a:off x="758283" y="814039"/>
            <a:ext cx="10595517" cy="5362924"/>
          </a:xfrm>
        </p:spPr>
        <p:txBody>
          <a:bodyPr/>
          <a:lstStyle/>
          <a:p>
            <a:pPr marL="0" indent="0">
              <a:buNone/>
            </a:pPr>
            <a:r>
              <a:rPr lang="en-US" dirty="0" smtClean="0"/>
              <a:t>A </a:t>
            </a:r>
            <a:r>
              <a:rPr lang="en-US" dirty="0"/>
              <a:t>lesson may also be boring because the children are not involved in the learning due to lack of teaching aids. All the </a:t>
            </a:r>
            <a:r>
              <a:rPr lang="en-US" dirty="0">
                <a:solidFill>
                  <a:schemeClr val="accent1"/>
                </a:solidFill>
              </a:rPr>
              <a:t>human senses </a:t>
            </a:r>
            <a:r>
              <a:rPr lang="en-US" dirty="0"/>
              <a:t>of </a:t>
            </a:r>
            <a:r>
              <a:rPr lang="en-US" dirty="0">
                <a:solidFill>
                  <a:schemeClr val="accent1"/>
                </a:solidFill>
              </a:rPr>
              <a:t>touch, sight, hearing, smell and taste </a:t>
            </a:r>
            <a:r>
              <a:rPr lang="en-US" dirty="0"/>
              <a:t>should be engaged in the learning process. </a:t>
            </a:r>
            <a:endParaRPr lang="en-US" dirty="0" smtClean="0"/>
          </a:p>
          <a:p>
            <a:pPr marL="0" indent="0">
              <a:buNone/>
            </a:pPr>
            <a:r>
              <a:rPr lang="en-US" dirty="0" smtClean="0"/>
              <a:t>Teaching </a:t>
            </a:r>
            <a:r>
              <a:rPr lang="en-US" dirty="0"/>
              <a:t>aids help to bring to use all these senses in the learning process. Success in learning is one of the most valuable weapons against disorder in the classroom. Success breeds success and is a confidence builder. </a:t>
            </a:r>
            <a:endParaRPr lang="en-US" dirty="0" smtClean="0"/>
          </a:p>
          <a:p>
            <a:pPr marL="0" indent="0">
              <a:buNone/>
            </a:pPr>
            <a:r>
              <a:rPr lang="en-US" dirty="0" smtClean="0"/>
              <a:t>The </a:t>
            </a:r>
            <a:r>
              <a:rPr lang="en-US" dirty="0"/>
              <a:t>teacher, therefore, must prepare for lessons properly, and involve the pupils in the learning process</a:t>
            </a:r>
            <a:r>
              <a:rPr lang="en-US" dirty="0" smtClean="0"/>
              <a:t>.</a:t>
            </a:r>
            <a:r>
              <a:rPr lang="en-US" dirty="0"/>
              <a:t> </a:t>
            </a:r>
          </a:p>
          <a:p>
            <a:pPr marL="0" indent="0">
              <a:buNone/>
            </a:pPr>
            <a:r>
              <a:rPr lang="en-US" dirty="0" smtClean="0"/>
              <a:t>Busy </a:t>
            </a:r>
            <a:r>
              <a:rPr lang="en-US" dirty="0"/>
              <a:t>pupils will have very little time for mischief.</a:t>
            </a:r>
            <a:endParaRPr lang="en-US" dirty="0" smtClean="0"/>
          </a:p>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PUNCTUALITY</a:t>
            </a:r>
            <a:r>
              <a:rPr lang="en-US" dirty="0" smtClean="0"/>
              <a:t>; Every teacher </a:t>
            </a:r>
            <a:r>
              <a:rPr lang="en-US" dirty="0"/>
              <a:t>must observe punctuality. </a:t>
            </a:r>
            <a:endParaRPr lang="en-US" dirty="0" smtClean="0"/>
          </a:p>
          <a:p>
            <a:r>
              <a:rPr lang="en-US" dirty="0" smtClean="0"/>
              <a:t>Children </a:t>
            </a:r>
            <a:r>
              <a:rPr lang="en-US" dirty="0"/>
              <a:t>often make noise and cause trouble when the teacher is late for class.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                  LESSON </a:t>
            </a:r>
            <a:r>
              <a:rPr lang="en-US" smtClean="0"/>
              <a:t>5B </a:t>
            </a:r>
            <a:endParaRPr lang="en-US"/>
          </a:p>
        </p:txBody>
      </p:sp>
      <p:sp>
        <p:nvSpPr>
          <p:cNvPr id="5" name="Content Placeholder 4"/>
          <p:cNvSpPr>
            <a:spLocks noGrp="1"/>
          </p:cNvSpPr>
          <p:nvPr>
            <p:ph idx="1"/>
          </p:nvPr>
        </p:nvSpPr>
        <p:spPr/>
        <p:txBody>
          <a:bodyPr/>
          <a:lstStyle/>
          <a:p>
            <a:endParaRPr lang="en-US"/>
          </a:p>
          <a:p>
            <a:endParaRPr lang="en-US"/>
          </a:p>
          <a:p>
            <a:endParaRPr lang="en-US"/>
          </a:p>
          <a:p>
            <a:pPr marL="0" indent="0">
              <a:buNone/>
            </a:pPr>
            <a:r>
              <a:rPr lang="en-US"/>
              <a:t> </a:t>
            </a:r>
            <a:r>
              <a:rPr lang="en-US" sz="5400"/>
              <a:t>TEACHER AND TEACHING                       PROFESSION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Teacher and the Teaching Profession;</a:t>
            </a:r>
            <a:br>
              <a:rPr lang="en-US" b="1" dirty="0" smtClean="0"/>
            </a:br>
            <a:r>
              <a:rPr lang="en-US" b="1" dirty="0" smtClean="0"/>
              <a:t> Is Teaching a Profession? </a:t>
            </a:r>
            <a:endParaRPr lang="en-US" dirty="0"/>
          </a:p>
        </p:txBody>
      </p:sp>
      <p:sp>
        <p:nvSpPr>
          <p:cNvPr id="3" name="Content Placeholder 2"/>
          <p:cNvSpPr>
            <a:spLocks noGrp="1"/>
          </p:cNvSpPr>
          <p:nvPr>
            <p:ph idx="1"/>
          </p:nvPr>
        </p:nvSpPr>
        <p:spPr/>
        <p:txBody>
          <a:bodyPr/>
          <a:lstStyle/>
          <a:p>
            <a:r>
              <a:rPr lang="en-US" dirty="0" smtClean="0"/>
              <a:t>Teaching </a:t>
            </a:r>
            <a:r>
              <a:rPr lang="en-US" dirty="0"/>
              <a:t>is a profession for both men and women who have undertaken a teacher education </a:t>
            </a:r>
            <a:r>
              <a:rPr lang="en-US" dirty="0" err="1"/>
              <a:t>programme</a:t>
            </a:r>
            <a:r>
              <a:rPr lang="en-US" dirty="0"/>
              <a:t> for the purposes of instructing pupils and students within the school system. A teacher education course is expected to equip individuals with knowledge in their subject area of </a:t>
            </a:r>
            <a:r>
              <a:rPr lang="en-US" dirty="0" err="1"/>
              <a:t>specialisation</a:t>
            </a:r>
            <a:r>
              <a:rPr lang="en-US" dirty="0"/>
              <a:t> as well as appropriate skills pertaining to their mode of instruction</a:t>
            </a:r>
            <a:endParaRPr lang="en-US" dirty="0" smtClean="0"/>
          </a:p>
          <a:p>
            <a:r>
              <a:rPr lang="en-US" dirty="0" smtClean="0"/>
              <a:t>It </a:t>
            </a:r>
            <a:r>
              <a:rPr lang="en-US" dirty="0"/>
              <a:t>has been noted that teaching is the largest and probably the most important profession in the world. About two-thirds of the world's population are at one time in direct contact with a teacher</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r>
              <a:rPr lang="en-US" b="1" dirty="0"/>
              <a:t>C</a:t>
            </a:r>
            <a:r>
              <a:rPr lang="en-US" b="1" dirty="0" smtClean="0"/>
              <a:t>haracteristics of a profession</a:t>
            </a:r>
            <a:endParaRPr lang="en-US" dirty="0"/>
          </a:p>
        </p:txBody>
      </p:sp>
      <p:sp>
        <p:nvSpPr>
          <p:cNvPr id="3" name="Content Placeholder 2"/>
          <p:cNvSpPr>
            <a:spLocks noGrp="1"/>
          </p:cNvSpPr>
          <p:nvPr>
            <p:ph idx="1"/>
          </p:nvPr>
        </p:nvSpPr>
        <p:spPr/>
        <p:txBody>
          <a:bodyPr>
            <a:normAutofit lnSpcReduction="10000"/>
          </a:bodyPr>
          <a:lstStyle/>
          <a:p>
            <a:pPr marL="0" indent="0">
              <a:buNone/>
            </a:pPr>
            <a:endParaRPr lang="en-US" dirty="0"/>
          </a:p>
          <a:p>
            <a:pPr marL="0" indent="0">
              <a:buNone/>
            </a:pPr>
            <a:r>
              <a:rPr lang="en-US" dirty="0"/>
              <a:t> The general characteristics of professions are as follows;</a:t>
            </a:r>
          </a:p>
          <a:p>
            <a:pPr marL="571500" lvl="0" indent="-571500">
              <a:buFont typeface="+mj-lt"/>
              <a:buAutoNum type="romanUcPeriod"/>
            </a:pPr>
            <a:r>
              <a:rPr lang="en-US" dirty="0"/>
              <a:t>Professions claim a monopoly of a major branch of theoretical knowledge.</a:t>
            </a:r>
          </a:p>
          <a:p>
            <a:pPr marL="571500" lvl="0" indent="-571500">
              <a:buFont typeface="+mj-lt"/>
              <a:buAutoNum type="romanUcPeriod"/>
            </a:pPr>
            <a:r>
              <a:rPr lang="en-US" dirty="0"/>
              <a:t>Professions claim expertise in its application. </a:t>
            </a:r>
          </a:p>
          <a:p>
            <a:pPr marL="571500" lvl="0" indent="-571500">
              <a:buFont typeface="+mj-lt"/>
              <a:buAutoNum type="romanUcPeriod"/>
            </a:pPr>
            <a:r>
              <a:rPr lang="en-US" dirty="0"/>
              <a:t>Professions usually have unified organizations, which speak authoritatively on behalf of the members and represent their interests.</a:t>
            </a:r>
          </a:p>
          <a:p>
            <a:pPr marL="571500" indent="-571500">
              <a:buFont typeface="+mj-lt"/>
              <a:buAutoNum type="romanUcPeriod"/>
            </a:pPr>
            <a:r>
              <a:rPr lang="en-US" dirty="0" smtClean="0"/>
              <a:t>   </a:t>
            </a:r>
            <a:r>
              <a:rPr lang="en-US" dirty="0"/>
              <a:t>Professions have a code of ethics, which is enforceable among the members who subscribe to it.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V)They do have a professional journal, which serves as a means of communication among the members and projects the image of the profession to the general public. </a:t>
            </a:r>
          </a:p>
          <a:p>
            <a:pPr marL="0" indent="0">
              <a:buNone/>
            </a:pPr>
            <a:r>
              <a:rPr lang="en-US" dirty="0" smtClean="0"/>
              <a:t>Vi)There is usually a long period of training. This helps to eliminate quacks in the profession, and restrict their entry, thus, safeguarding income as both are influenced by each other.</a:t>
            </a:r>
          </a:p>
          <a:p>
            <a:pPr marL="0" indent="0">
              <a:buNone/>
            </a:pPr>
            <a:r>
              <a:rPr lang="en-US" dirty="0" smtClean="0"/>
              <a:t>Vii) There is a fee chargeable for services rendered and the professionals determine the fee themselves.</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Why Teaching </a:t>
            </a:r>
            <a:r>
              <a:rPr lang="en-US" dirty="0"/>
              <a:t>falls short in </a:t>
            </a:r>
            <a:r>
              <a:rPr lang="en-US" dirty="0" smtClean="0"/>
              <a:t>the </a:t>
            </a:r>
            <a:r>
              <a:rPr lang="en-US" dirty="0"/>
              <a:t>aspect of power and autonomy </a:t>
            </a:r>
          </a:p>
        </p:txBody>
      </p:sp>
      <p:sp>
        <p:nvSpPr>
          <p:cNvPr id="3" name="Content Placeholder 2"/>
          <p:cNvSpPr>
            <a:spLocks noGrp="1"/>
          </p:cNvSpPr>
          <p:nvPr>
            <p:ph idx="1"/>
          </p:nvPr>
        </p:nvSpPr>
        <p:spPr>
          <a:xfrm>
            <a:off x="838200" y="1838325"/>
            <a:ext cx="10515600" cy="4351338"/>
          </a:xfrm>
        </p:spPr>
        <p:txBody>
          <a:bodyPr>
            <a:normAutofit fontScale="92500" lnSpcReduction="10000"/>
          </a:bodyPr>
          <a:lstStyle/>
          <a:p>
            <a:pPr marL="0" indent="0">
              <a:buNone/>
            </a:pPr>
            <a:r>
              <a:rPr lang="en-US" dirty="0"/>
              <a:t>The reference here is there is independence on the part of practitioners to make critical decisions about their profession. </a:t>
            </a:r>
            <a:endParaRPr lang="en-US" dirty="0" smtClean="0"/>
          </a:p>
          <a:p>
            <a:pPr marL="0" indent="0">
              <a:buNone/>
            </a:pPr>
            <a:r>
              <a:rPr lang="en-US" dirty="0" smtClean="0"/>
              <a:t>For </a:t>
            </a:r>
            <a:r>
              <a:rPr lang="en-US" dirty="0"/>
              <a:t>instance, doctors control the conditions and contents of their own training and </a:t>
            </a:r>
            <a:r>
              <a:rPr lang="en-US" dirty="0" smtClean="0"/>
              <a:t>licensing</a:t>
            </a:r>
          </a:p>
          <a:p>
            <a:pPr marL="0" indent="0">
              <a:buNone/>
            </a:pPr>
            <a:r>
              <a:rPr lang="en-US" dirty="0" smtClean="0">
                <a:solidFill>
                  <a:schemeClr val="accent1"/>
                </a:solidFill>
              </a:rPr>
              <a:t>Teachers </a:t>
            </a:r>
            <a:r>
              <a:rPr lang="en-US" dirty="0">
                <a:solidFill>
                  <a:schemeClr val="accent1"/>
                </a:solidFill>
              </a:rPr>
              <a:t>are often subject to rules, regulations, terms, and conditions of service</a:t>
            </a:r>
            <a:r>
              <a:rPr lang="en-US" b="1" dirty="0">
                <a:solidFill>
                  <a:schemeClr val="accent1"/>
                </a:solidFill>
              </a:rPr>
              <a:t> DECIDED</a:t>
            </a:r>
            <a:r>
              <a:rPr lang="en-US" dirty="0">
                <a:solidFill>
                  <a:schemeClr val="accent1"/>
                </a:solidFill>
              </a:rPr>
              <a:t> even by non-teachers</a:t>
            </a:r>
            <a:r>
              <a:rPr lang="en-US" dirty="0" smtClean="0">
                <a:solidFill>
                  <a:schemeClr val="accent1"/>
                </a:solidFill>
              </a:rPr>
              <a:t>.</a:t>
            </a:r>
          </a:p>
          <a:p>
            <a:pPr marL="0" indent="0">
              <a:buNone/>
            </a:pPr>
            <a:r>
              <a:rPr lang="en-US" dirty="0" smtClean="0"/>
              <a:t> </a:t>
            </a:r>
            <a:r>
              <a:rPr lang="en-US" dirty="0">
                <a:solidFill>
                  <a:schemeClr val="accent1"/>
                </a:solidFill>
              </a:rPr>
              <a:t>Many Government bureaucrats and politicians who exercise authority over teachers are not trained teachers. </a:t>
            </a:r>
            <a:endParaRPr lang="en-US" dirty="0" smtClean="0">
              <a:solidFill>
                <a:schemeClr val="accent1"/>
              </a:solidFill>
            </a:endParaRPr>
          </a:p>
          <a:p>
            <a:pPr marL="0" indent="0">
              <a:buNone/>
            </a:pPr>
            <a:r>
              <a:rPr lang="en-US" dirty="0" smtClean="0"/>
              <a:t>They </a:t>
            </a:r>
            <a:r>
              <a:rPr lang="en-US" dirty="0"/>
              <a:t>do not therefore sympathize with the plight of teachers. There should be regulatory body recognized by law which empowers the body to examine, admit, discipline or suspend its members into and from </a:t>
            </a:r>
            <a:r>
              <a:rPr lang="en-US" dirty="0" err="1"/>
              <a:t>practising</a:t>
            </a:r>
            <a:r>
              <a:rPr lang="en-US" dirty="0"/>
              <a:t>.</a:t>
            </a:r>
            <a:endParaRPr lang="en-US" dirty="0" smtClean="0"/>
          </a:p>
          <a:p>
            <a:pPr marL="0" indent="0">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dirty="0" smtClean="0"/>
              <a:t> </a:t>
            </a:r>
            <a:r>
              <a:rPr lang="en-US" dirty="0">
                <a:solidFill>
                  <a:schemeClr val="accent1"/>
                </a:solidFill>
              </a:rPr>
              <a:t>Many teachers have very low commitment to teaching as a career</a:t>
            </a:r>
            <a:r>
              <a:rPr lang="en-US" dirty="0"/>
              <a:t>. </a:t>
            </a:r>
            <a:endParaRPr lang="en-US" dirty="0" smtClean="0"/>
          </a:p>
          <a:p>
            <a:pPr marL="0" indent="0">
              <a:buNone/>
            </a:pPr>
            <a:r>
              <a:rPr lang="en-US" dirty="0" smtClean="0"/>
              <a:t>This </a:t>
            </a:r>
            <a:r>
              <a:rPr lang="en-US" dirty="0"/>
              <a:t>is attributed to the low remunerations they receive that make them lack the incentive to be committed to their career</a:t>
            </a:r>
            <a:r>
              <a:rPr lang="en-US" dirty="0" smtClean="0"/>
              <a:t>.</a:t>
            </a:r>
          </a:p>
          <a:p>
            <a:pPr marL="0" indent="0">
              <a:buNone/>
            </a:pPr>
            <a:r>
              <a:rPr lang="en-US" dirty="0" smtClean="0">
                <a:solidFill>
                  <a:schemeClr val="accent1"/>
                </a:solidFill>
              </a:rPr>
              <a:t> </a:t>
            </a:r>
            <a:r>
              <a:rPr lang="en-US" dirty="0">
                <a:solidFill>
                  <a:schemeClr val="accent1"/>
                </a:solidFill>
              </a:rPr>
              <a:t>Teaching is characterized by long hours of work and low </a:t>
            </a:r>
            <a:r>
              <a:rPr lang="en-US" dirty="0" smtClean="0">
                <a:solidFill>
                  <a:schemeClr val="accent1"/>
                </a:solidFill>
              </a:rPr>
              <a:t>pay</a:t>
            </a:r>
          </a:p>
          <a:p>
            <a:pPr marL="0" indent="0">
              <a:buNone/>
            </a:pPr>
            <a:r>
              <a:rPr lang="en-US" dirty="0" smtClean="0"/>
              <a:t>Due </a:t>
            </a:r>
            <a:r>
              <a:rPr lang="en-US" dirty="0"/>
              <a:t>to low salaries and poor working conditions, teaching is usually seen as a stepping stone to other better jobs or careers, or simply a means of financing studies for higher level and better-paid careers where </a:t>
            </a:r>
            <a:r>
              <a:rPr lang="en-US" dirty="0" smtClean="0"/>
              <a:t>possible</a:t>
            </a:r>
          </a:p>
          <a:p>
            <a:pPr marL="0" indent="0">
              <a:buNone/>
            </a:pPr>
            <a:r>
              <a:rPr lang="en-US" dirty="0">
                <a:solidFill>
                  <a:schemeClr val="accent1"/>
                </a:solidFill>
              </a:rPr>
              <a:t>Profession and Social Prestige </a:t>
            </a:r>
            <a:r>
              <a:rPr lang="en-US" dirty="0"/>
              <a:t>Members of a particular profession have to be seen by the public as enjoying prestige and high social status.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2782"/>
            <a:ext cx="10515600" cy="1325563"/>
          </a:xfrm>
        </p:spPr>
        <p:txBody>
          <a:bodyPr/>
          <a:lstStyle/>
          <a:p>
            <a:endParaRPr lang="en-US"/>
          </a:p>
        </p:txBody>
      </p:sp>
      <p:sp>
        <p:nvSpPr>
          <p:cNvPr id="3" name="Content Placeholder 2"/>
          <p:cNvSpPr>
            <a:spLocks noGrp="1"/>
          </p:cNvSpPr>
          <p:nvPr>
            <p:ph idx="1"/>
          </p:nvPr>
        </p:nvSpPr>
        <p:spPr>
          <a:xfrm>
            <a:off x="78059" y="662781"/>
            <a:ext cx="11275741" cy="5514182"/>
          </a:xfrm>
        </p:spPr>
        <p:txBody>
          <a:bodyPr>
            <a:normAutofit/>
          </a:bodyPr>
          <a:lstStyle/>
          <a:p>
            <a:r>
              <a:rPr lang="en-US" dirty="0"/>
              <a:t>However, the teaching profession worldwide, and particularly in developing countries does not enjoy a lot </a:t>
            </a:r>
            <a:r>
              <a:rPr lang="en-US" b="1" dirty="0"/>
              <a:t>of social prestige due to a number of </a:t>
            </a:r>
            <a:r>
              <a:rPr lang="en-US" b="1" dirty="0" smtClean="0"/>
              <a:t>factors</a:t>
            </a:r>
            <a:endParaRPr lang="en-US" dirty="0" smtClean="0"/>
          </a:p>
          <a:p>
            <a:r>
              <a:rPr lang="en-US" dirty="0" smtClean="0"/>
              <a:t>Untrained </a:t>
            </a:r>
            <a:r>
              <a:rPr lang="en-US" dirty="0"/>
              <a:t>teachers are engaged in teaching. Teaching therefore does not appear to be as specialized as that of doctors and lawyers</a:t>
            </a:r>
            <a:r>
              <a:rPr lang="en-US" dirty="0" smtClean="0"/>
              <a:t>.</a:t>
            </a:r>
            <a:r>
              <a:rPr lang="en-US" dirty="0"/>
              <a:t> </a:t>
            </a:r>
            <a:endParaRPr lang="en-US" dirty="0" smtClean="0"/>
          </a:p>
          <a:p>
            <a:r>
              <a:rPr lang="en-US" dirty="0" smtClean="0"/>
              <a:t>One </a:t>
            </a:r>
            <a:r>
              <a:rPr lang="en-US" dirty="0"/>
              <a:t>cannot </a:t>
            </a:r>
            <a:r>
              <a:rPr lang="en-US" dirty="0" err="1"/>
              <a:t>practise</a:t>
            </a:r>
            <a:r>
              <a:rPr lang="en-US" dirty="0"/>
              <a:t> as a doctor or lawyer unless trained and licensed by their respective regulatory </a:t>
            </a:r>
            <a:r>
              <a:rPr lang="en-US" dirty="0" smtClean="0"/>
              <a:t>bodies</a:t>
            </a:r>
          </a:p>
          <a:p>
            <a:r>
              <a:rPr lang="en-US" dirty="0" smtClean="0"/>
              <a:t>Teaching </a:t>
            </a:r>
            <a:r>
              <a:rPr lang="en-US" dirty="0"/>
              <a:t>in Kenya and elsewhere in the world is a low paying profession. Consequently, it attracts people of low academic ability. Such individuals make teaching be associated with mediocrity and less prestige.</a:t>
            </a:r>
            <a:endParaRPr lang="en-US" dirty="0" smtClean="0"/>
          </a:p>
          <a:p>
            <a:r>
              <a:rPr lang="en-US" dirty="0" smtClean="0"/>
              <a:t>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Teaching in Kenya seems to enjoy very little autonomy. For instance, what teachers teach, how they teach and evaluate is largely determined by bodies outside the teaching profession. Indeed teachers code of conduct and terms of service are developed by Teachers Service Commission, which is under the Ministry of Education and Human Resource Development rather than a teachers' professional body. Teachers in Kenya have a </a:t>
            </a:r>
            <a:r>
              <a:rPr lang="en-US" b="1" dirty="0"/>
              <a:t>Trade Union Body </a:t>
            </a:r>
            <a:r>
              <a:rPr lang="en-US" dirty="0"/>
              <a:t>(Kenya National Union of Teachers) rather than a </a:t>
            </a:r>
            <a:r>
              <a:rPr lang="en-US" b="1" dirty="0" smtClean="0"/>
              <a:t>professional </a:t>
            </a:r>
            <a:r>
              <a:rPr lang="en-US" b="1" dirty="0"/>
              <a:t>body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1575</Words>
  <Application>Microsoft Office PowerPoint</Application>
  <PresentationFormat>Widescreen</PresentationFormat>
  <Paragraphs>76</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SOCIOLOGY OF THE CLASSROOM</vt:lpstr>
      <vt:lpstr>SOCIOLOGY OF THE CLASSROOM </vt:lpstr>
      <vt:lpstr>PowerPoint Presentation</vt:lpstr>
      <vt:lpstr>PowerPoint Presentation</vt:lpstr>
      <vt:lpstr>PowerPoint Presentation</vt:lpstr>
      <vt:lpstr>What should the  teacher do to command respect and wield authority over pupils,  </vt:lpstr>
      <vt:lpstr>PowerPoint Presentation</vt:lpstr>
      <vt:lpstr>PowerPoint Presentation</vt:lpstr>
      <vt:lpstr>PowerPoint Presentation</vt:lpstr>
      <vt:lpstr>PowerPoint Presentation</vt:lpstr>
      <vt:lpstr>PowerPoint Presentation</vt:lpstr>
      <vt:lpstr>PowerPoint Presentation</vt:lpstr>
      <vt:lpstr>                  LESSON 5B </vt:lpstr>
      <vt:lpstr>The Teacher and the Teaching Profession;  Is Teaching a Profession? </vt:lpstr>
      <vt:lpstr> Characteristics of a profession</vt:lpstr>
      <vt:lpstr>PowerPoint Presentation</vt:lpstr>
      <vt:lpstr> Why Teaching falls short in the aspect of power and autonomy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SOCIOLOGY OF THE CLASSROOM</dc:title>
  <dc:creator>ADMIN</dc:creator>
  <cp:lastModifiedBy>Dr. Gatembu</cp:lastModifiedBy>
  <cp:revision>23</cp:revision>
  <dcterms:created xsi:type="dcterms:W3CDTF">2022-04-14T00:10:00Z</dcterms:created>
  <dcterms:modified xsi:type="dcterms:W3CDTF">2026-04-02T09:11:29Z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E886845E682D4FF7909161CB92697F3C</vt:lpwstr>
  </property>
  <property fmtid="{D5CDD505-2E9C-101B-9397-08002B2CF9AE}" pid="3" name="KSOProductBuildVer">
    <vt:lpwstr>1033-11.2.0.11440</vt:lpwstr>
  </property>
</Properties>
</file>