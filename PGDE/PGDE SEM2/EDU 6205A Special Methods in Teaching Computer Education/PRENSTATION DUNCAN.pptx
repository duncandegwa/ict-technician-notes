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4" r:id="rId2"/>
    <p:sldId id="272" r:id="rId3"/>
    <p:sldId id="273" r:id="rId4"/>
    <p:sldId id="278" r:id="rId5"/>
    <p:sldId id="279" r:id="rId6"/>
    <p:sldId id="257" r:id="rId7"/>
    <p:sldId id="258" r:id="rId8"/>
    <p:sldId id="280" r:id="rId9"/>
    <p:sldId id="281" r:id="rId10"/>
    <p:sldId id="259" r:id="rId11"/>
    <p:sldId id="27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795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203379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F6B520A-1FCA-4037-949E-D77156967E4F}"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901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6B520A-1FCA-4037-949E-D77156967E4F}"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233380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6B520A-1FCA-4037-949E-D77156967E4F}"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189130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6B520A-1FCA-4037-949E-D77156967E4F}"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032231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6B520A-1FCA-4037-949E-D77156967E4F}" type="datetimeFigureOut">
              <a:rPr lang="en-US" smtClean="0"/>
              <a:t>4/28/2026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739764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F6B520A-1FCA-4037-949E-D77156967E4F}" type="datetimeFigureOut">
              <a:rPr lang="en-US" smtClean="0"/>
              <a:t>4/28/2026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E7F254-85B1-4DAC-A555-7E9BDA560469}" type="slidenum">
              <a:rPr lang="en-US" smtClean="0"/>
              <a:t>‹#›</a:t>
            </a:fld>
            <a:endParaRPr lang="en-US"/>
          </a:p>
        </p:txBody>
      </p:sp>
    </p:spTree>
    <p:extLst>
      <p:ext uri="{BB962C8B-B14F-4D97-AF65-F5344CB8AC3E}">
        <p14:creationId xmlns:p14="http://schemas.microsoft.com/office/powerpoint/2010/main" val="1469699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F6B520A-1FCA-4037-949E-D77156967E4F}"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3853228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70776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1793939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F6B520A-1FCA-4037-949E-D77156967E4F}" type="datetimeFigureOut">
              <a:rPr lang="en-US" smtClean="0"/>
              <a:t>4/28/2026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AE7F254-85B1-4DAC-A555-7E9BDA56046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6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b="1" dirty="0" smtClean="0"/>
          </a:p>
          <a:p>
            <a:pPr marL="0" indent="0" algn="ctr">
              <a:buNone/>
            </a:pPr>
            <a:r>
              <a:rPr lang="en-US" b="1" dirty="0" smtClean="0"/>
              <a:t>PGDE </a:t>
            </a:r>
            <a:r>
              <a:rPr lang="en-US" b="1" dirty="0"/>
              <a:t>COHORT TEN </a:t>
            </a:r>
            <a:endParaRPr lang="en-US" b="1" dirty="0" smtClean="0"/>
          </a:p>
          <a:p>
            <a:pPr algn="ctr"/>
            <a:r>
              <a:rPr lang="en-US" b="1" dirty="0"/>
              <a:t>EDU 6205A </a:t>
            </a:r>
            <a:endParaRPr lang="en-US" b="1" dirty="0" smtClean="0"/>
          </a:p>
          <a:p>
            <a:pPr algn="ctr"/>
            <a:r>
              <a:rPr lang="en-US" b="1" dirty="0" smtClean="0"/>
              <a:t>SPECIAL METHODS IN TEACHING COMPUTER EDUCATION</a:t>
            </a:r>
          </a:p>
          <a:p>
            <a:pPr algn="ctr"/>
            <a:r>
              <a:rPr lang="en-US" b="1" dirty="0" smtClean="0"/>
              <a:t>Question 2:</a:t>
            </a:r>
          </a:p>
          <a:p>
            <a:pPr lvl="0" algn="ctr"/>
            <a:r>
              <a:rPr lang="en-US" dirty="0" smtClean="0"/>
              <a:t>Comparative Analysis of Cognitive Paths: Research when it is most effective to use the Inductive Path versus the Deductive Path when teaching complex engineering formulas</a:t>
            </a:r>
          </a:p>
          <a:p>
            <a:pPr lvl="0" algn="ctr"/>
            <a:endParaRPr lang="en-US" dirty="0"/>
          </a:p>
          <a:p>
            <a:pPr algn="ctr"/>
            <a:r>
              <a:rPr lang="en-US" b="1" dirty="0">
                <a:latin typeface="Times New Roman" panose="02020603050405020304" pitchFamily="18" charset="0"/>
                <a:cs typeface="Times New Roman" panose="02020603050405020304" pitchFamily="18" charset="0"/>
              </a:rPr>
              <a:t>Duncan Ndegwa  </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E228-01-2866/2024</a:t>
            </a:r>
          </a:p>
          <a:p>
            <a:pPr lvl="0" algn="ctr"/>
            <a:endParaRPr lang="en-US" dirty="0"/>
          </a:p>
        </p:txBody>
      </p:sp>
      <p:pic>
        <p:nvPicPr>
          <p:cNvPr id="4" name="Picture 3"/>
          <p:cNvPicPr/>
          <p:nvPr/>
        </p:nvPicPr>
        <p:blipFill>
          <a:blip r:embed="rId2"/>
          <a:stretch>
            <a:fillRect/>
          </a:stretch>
        </p:blipFill>
        <p:spPr>
          <a:xfrm>
            <a:off x="4045435" y="535205"/>
            <a:ext cx="3317358" cy="1222951"/>
          </a:xfrm>
          <a:prstGeom prst="rect">
            <a:avLst/>
          </a:prstGeom>
        </p:spPr>
      </p:pic>
    </p:spTree>
    <p:extLst>
      <p:ext uri="{BB962C8B-B14F-4D97-AF65-F5344CB8AC3E}">
        <p14:creationId xmlns:p14="http://schemas.microsoft.com/office/powerpoint/2010/main" val="642700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dirty="0" smtClean="0"/>
              <a:t>The </a:t>
            </a:r>
            <a:r>
              <a:rPr lang="en-US" sz="3200" dirty="0"/>
              <a:t>inductive approach is "bottom-up." </a:t>
            </a:r>
            <a:endParaRPr lang="en-US" sz="3200" dirty="0" smtClean="0"/>
          </a:p>
          <a:p>
            <a:r>
              <a:rPr lang="en-US" sz="3200" dirty="0" smtClean="0"/>
              <a:t>It </a:t>
            </a:r>
            <a:r>
              <a:rPr lang="en-US" sz="3200" dirty="0"/>
              <a:t>starts with specific observations, data, or experiments and leads the student to "discover" the formula</a:t>
            </a:r>
            <a:r>
              <a:rPr lang="en-US" sz="3200" dirty="0" smtClean="0"/>
              <a:t>.</a:t>
            </a:r>
          </a:p>
          <a:p>
            <a:endParaRPr lang="en-US" sz="3200" dirty="0"/>
          </a:p>
          <a:p>
            <a:r>
              <a:rPr lang="en-US" b="1" dirty="0"/>
              <a:t>The Flow:</a:t>
            </a:r>
            <a:r>
              <a:rPr lang="en-US" dirty="0"/>
              <a:t> Observe Phenomenon → Collect Data → Identify Patterns → Formalize the Formula.</a:t>
            </a:r>
          </a:p>
          <a:p>
            <a:endParaRPr lang="en-US" dirty="0"/>
          </a:p>
        </p:txBody>
      </p:sp>
      <p:sp>
        <p:nvSpPr>
          <p:cNvPr id="6" name="Title 5"/>
          <p:cNvSpPr>
            <a:spLocks noGrp="1"/>
          </p:cNvSpPr>
          <p:nvPr>
            <p:ph type="title"/>
          </p:nvPr>
        </p:nvSpPr>
        <p:spPr/>
        <p:txBody>
          <a:bodyPr/>
          <a:lstStyle/>
          <a:p>
            <a:r>
              <a:rPr lang="en-US" b="1" dirty="0">
                <a:solidFill>
                  <a:srgbClr val="FF0000"/>
                </a:solidFill>
              </a:rPr>
              <a:t>The Inductive Path: "Example to Rule"</a:t>
            </a:r>
            <a:endParaRPr lang="en-US" b="1" dirty="0">
              <a:solidFill>
                <a:srgbClr val="FF0000"/>
              </a:solidFill>
            </a:endParaRPr>
          </a:p>
        </p:txBody>
      </p:sp>
    </p:spTree>
    <p:extLst>
      <p:ext uri="{BB962C8B-B14F-4D97-AF65-F5344CB8AC3E}">
        <p14:creationId xmlns:p14="http://schemas.microsoft.com/office/powerpoint/2010/main" val="1745702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When it is most effective:</a:t>
            </a:r>
            <a:endParaRPr lang="en-US" b="1" dirty="0">
              <a:solidFill>
                <a:srgbClr val="FF0000"/>
              </a:solidFill>
            </a:endParaRPr>
          </a:p>
        </p:txBody>
      </p:sp>
      <p:sp>
        <p:nvSpPr>
          <p:cNvPr id="3" name="Content Placeholder 2"/>
          <p:cNvSpPr>
            <a:spLocks noGrp="1"/>
          </p:cNvSpPr>
          <p:nvPr>
            <p:ph idx="1"/>
          </p:nvPr>
        </p:nvSpPr>
        <p:spPr>
          <a:xfrm>
            <a:off x="1097280" y="1845733"/>
            <a:ext cx="10058400" cy="4293809"/>
          </a:xfrm>
        </p:spPr>
        <p:txBody>
          <a:bodyPr>
            <a:normAutofit/>
          </a:bodyPr>
          <a:lstStyle/>
          <a:p>
            <a:pPr lvl="0"/>
            <a:r>
              <a:rPr lang="en-US" sz="3600" b="1" dirty="0" smtClean="0"/>
              <a:t>Conceptual Moments</a:t>
            </a:r>
            <a:r>
              <a:rPr lang="en-US" sz="3600" b="1" dirty="0"/>
              <a:t>:</a:t>
            </a:r>
            <a:r>
              <a:rPr lang="en-US" sz="3600" dirty="0"/>
              <a:t> Inductive paths are superior when the formula describes a tangible physical relationship, such as Hooke’s Law (F=</a:t>
            </a:r>
            <a:r>
              <a:rPr lang="en-US" sz="3600" dirty="0" err="1"/>
              <a:t>kx</a:t>
            </a:r>
            <a:r>
              <a:rPr lang="en-US" sz="3600" dirty="0"/>
              <a:t>). By stretching springs of different </a:t>
            </a:r>
            <a:r>
              <a:rPr lang="en-US" sz="3600" dirty="0" err="1"/>
              <a:t>stiffnesses</a:t>
            </a:r>
            <a:r>
              <a:rPr lang="en-US" sz="3600" dirty="0"/>
              <a:t>, students "feel" the relationship before seeing the math.</a:t>
            </a:r>
          </a:p>
          <a:p>
            <a:pPr marL="0" lvl="0" indent="0">
              <a:buNone/>
            </a:pPr>
            <a:endParaRPr lang="en-US" sz="2800" dirty="0"/>
          </a:p>
        </p:txBody>
      </p:sp>
    </p:spTree>
    <p:extLst>
      <p:ext uri="{BB962C8B-B14F-4D97-AF65-F5344CB8AC3E}">
        <p14:creationId xmlns:p14="http://schemas.microsoft.com/office/powerpoint/2010/main" val="2333899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When it is most effective:</a:t>
            </a:r>
            <a:endParaRPr lang="en-US" b="1" dirty="0">
              <a:solidFill>
                <a:srgbClr val="FF0000"/>
              </a:solidFill>
            </a:endParaRPr>
          </a:p>
        </p:txBody>
      </p:sp>
      <p:sp>
        <p:nvSpPr>
          <p:cNvPr id="3" name="Content Placeholder 2"/>
          <p:cNvSpPr>
            <a:spLocks noGrp="1"/>
          </p:cNvSpPr>
          <p:nvPr>
            <p:ph idx="1"/>
          </p:nvPr>
        </p:nvSpPr>
        <p:spPr>
          <a:xfrm>
            <a:off x="1097280" y="1845733"/>
            <a:ext cx="10058400" cy="4293809"/>
          </a:xfrm>
        </p:spPr>
        <p:txBody>
          <a:bodyPr>
            <a:normAutofit/>
          </a:bodyPr>
          <a:lstStyle/>
          <a:p>
            <a:pPr lvl="0"/>
            <a:r>
              <a:rPr lang="en-US" sz="3600" b="1" dirty="0" smtClean="0"/>
              <a:t>Long-term </a:t>
            </a:r>
            <a:r>
              <a:rPr lang="en-US" sz="3600" b="1" dirty="0"/>
              <a:t>Retention:</a:t>
            </a:r>
            <a:r>
              <a:rPr lang="en-US" sz="3600" dirty="0"/>
              <a:t> Because the student has to actively construct the logic, the neural pathways formed are generally stronger. This is excellent for core engineering concepts that serve as building blocks for later years</a:t>
            </a:r>
            <a:r>
              <a:rPr lang="en-US" sz="3600" dirty="0" smtClean="0"/>
              <a:t>.</a:t>
            </a:r>
            <a:endParaRPr lang="en-US" sz="3600" dirty="0"/>
          </a:p>
          <a:p>
            <a:pPr marL="0" lvl="0" indent="0">
              <a:buNone/>
            </a:pPr>
            <a:endParaRPr lang="en-US" sz="2800" dirty="0"/>
          </a:p>
        </p:txBody>
      </p:sp>
    </p:spTree>
    <p:extLst>
      <p:ext uri="{BB962C8B-B14F-4D97-AF65-F5344CB8AC3E}">
        <p14:creationId xmlns:p14="http://schemas.microsoft.com/office/powerpoint/2010/main" val="2834103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When it is most effective:</a:t>
            </a:r>
            <a:endParaRPr lang="en-US" b="1" dirty="0">
              <a:solidFill>
                <a:srgbClr val="FF0000"/>
              </a:solidFill>
            </a:endParaRPr>
          </a:p>
        </p:txBody>
      </p:sp>
      <p:sp>
        <p:nvSpPr>
          <p:cNvPr id="3" name="Content Placeholder 2"/>
          <p:cNvSpPr>
            <a:spLocks noGrp="1"/>
          </p:cNvSpPr>
          <p:nvPr>
            <p:ph idx="1"/>
          </p:nvPr>
        </p:nvSpPr>
        <p:spPr>
          <a:xfrm>
            <a:off x="1097280" y="1845733"/>
            <a:ext cx="10058400" cy="4293809"/>
          </a:xfrm>
        </p:spPr>
        <p:txBody>
          <a:bodyPr>
            <a:normAutofit/>
          </a:bodyPr>
          <a:lstStyle/>
          <a:p>
            <a:pPr lvl="0"/>
            <a:r>
              <a:rPr lang="en-US" sz="4400" b="1" dirty="0"/>
              <a:t>Developing Problem-Solving Intuition:</a:t>
            </a:r>
            <a:r>
              <a:rPr lang="en-US" sz="4400" dirty="0"/>
              <a:t> It teaches students how to look at raw data and identify patterns—a crucial skill for R&amp;D (Research &amp; Development) engineering.</a:t>
            </a:r>
          </a:p>
          <a:p>
            <a:pPr marL="0" lvl="0" indent="0">
              <a:buNone/>
            </a:pPr>
            <a:endParaRPr lang="en-US" sz="2800" dirty="0"/>
          </a:p>
        </p:txBody>
      </p:sp>
    </p:spTree>
    <p:extLst>
      <p:ext uri="{BB962C8B-B14F-4D97-AF65-F5344CB8AC3E}">
        <p14:creationId xmlns:p14="http://schemas.microsoft.com/office/powerpoint/2010/main" val="33098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 </a:t>
            </a:r>
            <a:r>
              <a:rPr lang="en-US" b="1" dirty="0">
                <a:solidFill>
                  <a:srgbClr val="FF0000"/>
                </a:solidFill>
              </a:rPr>
              <a:t>The Deductive Path: "Rule to Example"</a:t>
            </a:r>
          </a:p>
        </p:txBody>
      </p:sp>
      <p:sp>
        <p:nvSpPr>
          <p:cNvPr id="3" name="Content Placeholder 2"/>
          <p:cNvSpPr>
            <a:spLocks noGrp="1"/>
          </p:cNvSpPr>
          <p:nvPr>
            <p:ph idx="1"/>
          </p:nvPr>
        </p:nvSpPr>
        <p:spPr>
          <a:xfrm>
            <a:off x="838200" y="1825624"/>
            <a:ext cx="10515600" cy="4875621"/>
          </a:xfrm>
        </p:spPr>
        <p:txBody>
          <a:bodyPr>
            <a:normAutofit/>
          </a:bodyPr>
          <a:lstStyle/>
          <a:p>
            <a:r>
              <a:rPr lang="en-US" sz="3600" dirty="0"/>
              <a:t>The deductive approach starts with the generalized formula or principle and moves toward specific applications. This is the traditional "top-down" method often seen in university lectures</a:t>
            </a:r>
            <a:r>
              <a:rPr lang="en-US" sz="3600" dirty="0" smtClean="0"/>
              <a:t>.</a:t>
            </a:r>
            <a:endParaRPr lang="en-US" dirty="0" smtClean="0"/>
          </a:p>
          <a:p>
            <a:endParaRPr lang="en-US" dirty="0"/>
          </a:p>
          <a:p>
            <a:endParaRPr lang="en-US" dirty="0"/>
          </a:p>
          <a:p>
            <a:r>
              <a:rPr lang="en-US" b="1" dirty="0"/>
              <a:t>The Flow:</a:t>
            </a:r>
            <a:r>
              <a:rPr lang="en-US" dirty="0"/>
              <a:t> State the Formula → Define Variables → Show Worked Examples → Student Practice.</a:t>
            </a:r>
          </a:p>
          <a:p>
            <a:endParaRPr lang="en-US" dirty="0"/>
          </a:p>
        </p:txBody>
      </p:sp>
    </p:spTree>
    <p:extLst>
      <p:ext uri="{BB962C8B-B14F-4D97-AF65-F5344CB8AC3E}">
        <p14:creationId xmlns:p14="http://schemas.microsoft.com/office/powerpoint/2010/main" val="75203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When it is most effective:</a:t>
            </a:r>
            <a:endParaRPr lang="en-US" b="1" dirty="0">
              <a:solidFill>
                <a:srgbClr val="FF0000"/>
              </a:solidFill>
            </a:endParaRPr>
          </a:p>
        </p:txBody>
      </p:sp>
      <p:sp>
        <p:nvSpPr>
          <p:cNvPr id="3" name="Content Placeholder 2"/>
          <p:cNvSpPr>
            <a:spLocks noGrp="1"/>
          </p:cNvSpPr>
          <p:nvPr>
            <p:ph idx="1"/>
          </p:nvPr>
        </p:nvSpPr>
        <p:spPr>
          <a:xfrm>
            <a:off x="1250768" y="1786436"/>
            <a:ext cx="9690463" cy="4351338"/>
          </a:xfrm>
        </p:spPr>
        <p:txBody>
          <a:bodyPr>
            <a:normAutofit/>
          </a:bodyPr>
          <a:lstStyle/>
          <a:p>
            <a:pPr lvl="0"/>
            <a:r>
              <a:rPr lang="en-US" sz="3200" b="1" dirty="0" smtClean="0"/>
              <a:t>High </a:t>
            </a:r>
            <a:r>
              <a:rPr lang="en-US" sz="3200" b="1" dirty="0"/>
              <a:t>Complexity, Low Time:</a:t>
            </a:r>
            <a:r>
              <a:rPr lang="en-US" sz="3200" dirty="0"/>
              <a:t> If a formula (like the </a:t>
            </a:r>
            <a:r>
              <a:rPr lang="en-US" sz="3200" dirty="0" err="1"/>
              <a:t>Navier</a:t>
            </a:r>
            <a:r>
              <a:rPr lang="en-US" sz="3200" dirty="0"/>
              <a:t>-Stokes equations) is mathematically dense and requires hours to derive, a deductive start saves time by establishing the "what" before the "why."</a:t>
            </a:r>
          </a:p>
          <a:p>
            <a:endParaRPr lang="en-US" sz="2800" dirty="0"/>
          </a:p>
        </p:txBody>
      </p:sp>
    </p:spTree>
    <p:extLst>
      <p:ext uri="{BB962C8B-B14F-4D97-AF65-F5344CB8AC3E}">
        <p14:creationId xmlns:p14="http://schemas.microsoft.com/office/powerpoint/2010/main" val="2994239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When it is most effective:</a:t>
            </a:r>
            <a:endParaRPr lang="en-US" b="1" dirty="0">
              <a:solidFill>
                <a:srgbClr val="FF0000"/>
              </a:solidFill>
            </a:endParaRPr>
          </a:p>
        </p:txBody>
      </p:sp>
      <p:sp>
        <p:nvSpPr>
          <p:cNvPr id="3" name="Content Placeholder 2"/>
          <p:cNvSpPr>
            <a:spLocks noGrp="1"/>
          </p:cNvSpPr>
          <p:nvPr>
            <p:ph idx="1"/>
          </p:nvPr>
        </p:nvSpPr>
        <p:spPr>
          <a:xfrm>
            <a:off x="1250768" y="1786436"/>
            <a:ext cx="9690463" cy="4351338"/>
          </a:xfrm>
        </p:spPr>
        <p:txBody>
          <a:bodyPr>
            <a:normAutofit/>
          </a:bodyPr>
          <a:lstStyle/>
          <a:p>
            <a:pPr lvl="0"/>
            <a:r>
              <a:rPr lang="en-US" sz="4000" b="1" dirty="0" smtClean="0"/>
              <a:t>Expert </a:t>
            </a:r>
            <a:r>
              <a:rPr lang="en-US" sz="4000" b="1" dirty="0"/>
              <a:t>Learners:</a:t>
            </a:r>
            <a:r>
              <a:rPr lang="en-US" sz="4000" dirty="0"/>
              <a:t> Students with a strong foundational schema can quickly integrate a new formula into their existing knowledge base without needing a "discovery" phase.</a:t>
            </a:r>
          </a:p>
          <a:p>
            <a:pPr lvl="0"/>
            <a:endParaRPr lang="en-US" dirty="0"/>
          </a:p>
          <a:p>
            <a:endParaRPr lang="en-US" sz="2800" dirty="0"/>
          </a:p>
        </p:txBody>
      </p:sp>
    </p:spTree>
    <p:extLst>
      <p:ext uri="{BB962C8B-B14F-4D97-AF65-F5344CB8AC3E}">
        <p14:creationId xmlns:p14="http://schemas.microsoft.com/office/powerpoint/2010/main" val="573929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When it is most effective:</a:t>
            </a:r>
            <a:endParaRPr lang="en-US" b="1" dirty="0">
              <a:solidFill>
                <a:srgbClr val="FF0000"/>
              </a:solidFill>
            </a:endParaRPr>
          </a:p>
        </p:txBody>
      </p:sp>
      <p:sp>
        <p:nvSpPr>
          <p:cNvPr id="3" name="Content Placeholder 2"/>
          <p:cNvSpPr>
            <a:spLocks noGrp="1"/>
          </p:cNvSpPr>
          <p:nvPr>
            <p:ph idx="1"/>
          </p:nvPr>
        </p:nvSpPr>
        <p:spPr>
          <a:xfrm>
            <a:off x="1250768" y="1786436"/>
            <a:ext cx="9690463" cy="4351338"/>
          </a:xfrm>
        </p:spPr>
        <p:txBody>
          <a:bodyPr>
            <a:normAutofit/>
          </a:bodyPr>
          <a:lstStyle/>
          <a:p>
            <a:pPr lvl="0"/>
            <a:r>
              <a:rPr lang="en-US" sz="3600" b="1" dirty="0" smtClean="0"/>
              <a:t>Safety-Critical </a:t>
            </a:r>
            <a:r>
              <a:rPr lang="en-US" sz="3600" b="1" dirty="0"/>
              <a:t>Procedures:</a:t>
            </a:r>
            <a:r>
              <a:rPr lang="en-US" sz="3600" dirty="0"/>
              <a:t> When teaching formulas related to structural integrity or electrical load limits, clarity and precision are paramount. Deductive teaching reduces the risk of students "discovering" a wrong or dangerous version of a principle.</a:t>
            </a:r>
          </a:p>
          <a:p>
            <a:endParaRPr lang="en-US" sz="2800" dirty="0"/>
          </a:p>
        </p:txBody>
      </p:sp>
    </p:spTree>
    <p:extLst>
      <p:ext uri="{BB962C8B-B14F-4D97-AF65-F5344CB8AC3E}">
        <p14:creationId xmlns:p14="http://schemas.microsoft.com/office/powerpoint/2010/main" val="252052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834" y="0"/>
            <a:ext cx="10515600" cy="1325563"/>
          </a:xfrm>
        </p:spPr>
        <p:txBody>
          <a:bodyPr>
            <a:normAutofit fontScale="90000"/>
          </a:bodyPr>
          <a:lstStyle/>
          <a:p>
            <a:r>
              <a:rPr lang="en-US" b="1" dirty="0">
                <a:solidFill>
                  <a:srgbClr val="FF0000"/>
                </a:solidFill>
              </a:rPr>
              <a:t>Comparative Analysis for Engineering Education</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462123235"/>
              </p:ext>
            </p:extLst>
          </p:nvPr>
        </p:nvGraphicFramePr>
        <p:xfrm>
          <a:off x="849086" y="2088149"/>
          <a:ext cx="9953897" cy="3489692"/>
        </p:xfrm>
        <a:graphic>
          <a:graphicData uri="http://schemas.openxmlformats.org/drawingml/2006/table">
            <a:tbl>
              <a:tblPr firstRow="1" firstCol="1" bandRow="1">
                <a:tableStyleId>{5C22544A-7EE6-4342-B048-85BDC9FD1C3A}</a:tableStyleId>
              </a:tblPr>
              <a:tblGrid>
                <a:gridCol w="1763485">
                  <a:extLst>
                    <a:ext uri="{9D8B030D-6E8A-4147-A177-3AD203B41FA5}">
                      <a16:colId xmlns:a16="http://schemas.microsoft.com/office/drawing/2014/main" val="2375904116"/>
                    </a:ext>
                  </a:extLst>
                </a:gridCol>
                <a:gridCol w="3304903">
                  <a:extLst>
                    <a:ext uri="{9D8B030D-6E8A-4147-A177-3AD203B41FA5}">
                      <a16:colId xmlns:a16="http://schemas.microsoft.com/office/drawing/2014/main" val="2449849521"/>
                    </a:ext>
                  </a:extLst>
                </a:gridCol>
                <a:gridCol w="4885509">
                  <a:extLst>
                    <a:ext uri="{9D8B030D-6E8A-4147-A177-3AD203B41FA5}">
                      <a16:colId xmlns:a16="http://schemas.microsoft.com/office/drawing/2014/main" val="346005064"/>
                    </a:ext>
                  </a:extLst>
                </a:gridCol>
              </a:tblGrid>
              <a:tr h="498528">
                <a:tc>
                  <a:txBody>
                    <a:bodyPr/>
                    <a:lstStyle/>
                    <a:p>
                      <a:pPr marL="0" marR="0" algn="ctr">
                        <a:lnSpc>
                          <a:spcPct val="107000"/>
                        </a:lnSpc>
                        <a:spcBef>
                          <a:spcPts val="0"/>
                        </a:spcBef>
                        <a:spcAft>
                          <a:spcPts val="0"/>
                        </a:spcAft>
                      </a:pPr>
                      <a:r>
                        <a:rPr lang="en-US" sz="2100">
                          <a:effectLst/>
                        </a:rPr>
                        <a:t>Feature</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gn="ctr">
                        <a:lnSpc>
                          <a:spcPct val="107000"/>
                        </a:lnSpc>
                        <a:spcBef>
                          <a:spcPts val="0"/>
                        </a:spcBef>
                        <a:spcAft>
                          <a:spcPts val="0"/>
                        </a:spcAft>
                      </a:pPr>
                      <a:r>
                        <a:rPr lang="en-US" sz="2100">
                          <a:effectLst/>
                        </a:rPr>
                        <a:t>Inductive Path</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gn="ctr">
                        <a:lnSpc>
                          <a:spcPct val="107000"/>
                        </a:lnSpc>
                        <a:spcBef>
                          <a:spcPts val="0"/>
                        </a:spcBef>
                        <a:spcAft>
                          <a:spcPts val="0"/>
                        </a:spcAft>
                      </a:pPr>
                      <a:r>
                        <a:rPr lang="en-US" sz="2100">
                          <a:effectLst/>
                        </a:rPr>
                        <a:t>Deductive Path</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extLst>
                  <a:ext uri="{0D108BD9-81ED-4DB2-BD59-A6C34878D82A}">
                    <a16:rowId xmlns:a16="http://schemas.microsoft.com/office/drawing/2014/main" val="1402882297"/>
                  </a:ext>
                </a:extLst>
              </a:tr>
              <a:tr h="997054">
                <a:tc>
                  <a:txBody>
                    <a:bodyPr/>
                    <a:lstStyle/>
                    <a:p>
                      <a:pPr marL="0" marR="0">
                        <a:lnSpc>
                          <a:spcPct val="107000"/>
                        </a:lnSpc>
                        <a:spcBef>
                          <a:spcPts val="0"/>
                        </a:spcBef>
                        <a:spcAft>
                          <a:spcPts val="0"/>
                        </a:spcAft>
                      </a:pPr>
                      <a:r>
                        <a:rPr lang="en-US" sz="2100">
                          <a:effectLst/>
                        </a:rPr>
                        <a:t>Cognitive Load</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High (Initial struggle)</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Low (Initial clarity)</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extLst>
                  <a:ext uri="{0D108BD9-81ED-4DB2-BD59-A6C34878D82A}">
                    <a16:rowId xmlns:a16="http://schemas.microsoft.com/office/drawing/2014/main" val="2474534075"/>
                  </a:ext>
                </a:extLst>
              </a:tr>
              <a:tr h="997054">
                <a:tc>
                  <a:txBody>
                    <a:bodyPr/>
                    <a:lstStyle/>
                    <a:p>
                      <a:pPr marL="0" marR="0">
                        <a:lnSpc>
                          <a:spcPct val="107000"/>
                        </a:lnSpc>
                        <a:spcBef>
                          <a:spcPts val="0"/>
                        </a:spcBef>
                        <a:spcAft>
                          <a:spcPts val="0"/>
                        </a:spcAft>
                      </a:pPr>
                      <a:r>
                        <a:rPr lang="en-US" sz="2100">
                          <a:effectLst/>
                        </a:rPr>
                        <a:t>Student Role</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Active Explorer</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Receptive Learner</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extLst>
                  <a:ext uri="{0D108BD9-81ED-4DB2-BD59-A6C34878D82A}">
                    <a16:rowId xmlns:a16="http://schemas.microsoft.com/office/drawing/2014/main" val="2488016389"/>
                  </a:ext>
                </a:extLst>
              </a:tr>
              <a:tr h="498528">
                <a:tc>
                  <a:txBody>
                    <a:bodyPr/>
                    <a:lstStyle/>
                    <a:p>
                      <a:pPr marL="0" marR="0">
                        <a:lnSpc>
                          <a:spcPct val="107000"/>
                        </a:lnSpc>
                        <a:spcBef>
                          <a:spcPts val="0"/>
                        </a:spcBef>
                        <a:spcAft>
                          <a:spcPts val="0"/>
                        </a:spcAft>
                      </a:pPr>
                      <a:r>
                        <a:rPr lang="en-US" sz="2100">
                          <a:effectLst/>
                        </a:rPr>
                        <a:t>Best For</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Discovery of basic laws</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Application of complex math</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extLst>
                  <a:ext uri="{0D108BD9-81ED-4DB2-BD59-A6C34878D82A}">
                    <a16:rowId xmlns:a16="http://schemas.microsoft.com/office/drawing/2014/main" val="212254090"/>
                  </a:ext>
                </a:extLst>
              </a:tr>
              <a:tr h="498528">
                <a:tc>
                  <a:txBody>
                    <a:bodyPr/>
                    <a:lstStyle/>
                    <a:p>
                      <a:pPr marL="0" marR="0">
                        <a:lnSpc>
                          <a:spcPct val="107000"/>
                        </a:lnSpc>
                        <a:spcBef>
                          <a:spcPts val="0"/>
                        </a:spcBef>
                        <a:spcAft>
                          <a:spcPts val="0"/>
                        </a:spcAft>
                      </a:pPr>
                      <a:r>
                        <a:rPr lang="en-US" sz="2100" dirty="0">
                          <a:effectLst/>
                        </a:rPr>
                        <a:t>Time Req.</a:t>
                      </a:r>
                      <a:endParaRPr lang="en-US"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a:effectLst/>
                        </a:rPr>
                        <a:t>Significant</a:t>
                      </a:r>
                      <a:endParaRPr lang="en-US" sz="210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tc>
                  <a:txBody>
                    <a:bodyPr/>
                    <a:lstStyle/>
                    <a:p>
                      <a:pPr marL="0" marR="0">
                        <a:lnSpc>
                          <a:spcPct val="107000"/>
                        </a:lnSpc>
                        <a:spcBef>
                          <a:spcPts val="0"/>
                        </a:spcBef>
                        <a:spcAft>
                          <a:spcPts val="0"/>
                        </a:spcAft>
                      </a:pPr>
                      <a:r>
                        <a:rPr lang="en-US" sz="2100" dirty="0">
                          <a:effectLst/>
                        </a:rPr>
                        <a:t>Minimal</a:t>
                      </a:r>
                      <a:endParaRPr lang="en-US"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131" marR="129131" marT="0" marB="0"/>
                </a:tc>
                <a:extLst>
                  <a:ext uri="{0D108BD9-81ED-4DB2-BD59-A6C34878D82A}">
                    <a16:rowId xmlns:a16="http://schemas.microsoft.com/office/drawing/2014/main" val="412642202"/>
                  </a:ext>
                </a:extLst>
              </a:tr>
            </a:tbl>
          </a:graphicData>
        </a:graphic>
      </p:graphicFrame>
    </p:spTree>
    <p:extLst>
      <p:ext uri="{BB962C8B-B14F-4D97-AF65-F5344CB8AC3E}">
        <p14:creationId xmlns:p14="http://schemas.microsoft.com/office/powerpoint/2010/main" val="5771044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132" y="2611936"/>
            <a:ext cx="10515600" cy="1325563"/>
          </a:xfrm>
        </p:spPr>
        <p:txBody>
          <a:bodyPr/>
          <a:lstStyle/>
          <a:p>
            <a:pPr algn="ctr"/>
            <a:r>
              <a:rPr lang="en-US" b="1" dirty="0" smtClean="0">
                <a:solidFill>
                  <a:srgbClr val="FF0000"/>
                </a:solidFill>
              </a:rPr>
              <a:t>THE END</a:t>
            </a:r>
            <a:endParaRPr lang="en-US" b="1" dirty="0">
              <a:solidFill>
                <a:srgbClr val="FF0000"/>
              </a:solidFill>
            </a:endParaRPr>
          </a:p>
        </p:txBody>
      </p:sp>
    </p:spTree>
    <p:extLst>
      <p:ext uri="{BB962C8B-B14F-4D97-AF65-F5344CB8AC3E}">
        <p14:creationId xmlns:p14="http://schemas.microsoft.com/office/powerpoint/2010/main" val="40113129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109</TotalTime>
  <Words>448</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Retrospect</vt:lpstr>
      <vt:lpstr>PowerPoint Presentation</vt:lpstr>
      <vt:lpstr>The Inductive Path: "Example to Rule"</vt:lpstr>
      <vt:lpstr>When it is most effective:</vt:lpstr>
      <vt:lpstr>When it is most effective:</vt:lpstr>
      <vt:lpstr>When it is most effective:</vt:lpstr>
      <vt:lpstr> The Deductive Path: "Rule to Example"</vt:lpstr>
      <vt:lpstr>When it is most effective:</vt:lpstr>
      <vt:lpstr>When it is most effective:</vt:lpstr>
      <vt:lpstr>When it is most effective:</vt:lpstr>
      <vt:lpstr>Comparative Analysis for Engineering Education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DUNCAN</dc:creator>
  <cp:lastModifiedBy>DUNCAN</cp:lastModifiedBy>
  <cp:revision>17</cp:revision>
  <dcterms:created xsi:type="dcterms:W3CDTF">2025-12-04T11:45:41Z</dcterms:created>
  <dcterms:modified xsi:type="dcterms:W3CDTF">2026-04-28T12:11:02Z</dcterms:modified>
</cp:coreProperties>
</file>